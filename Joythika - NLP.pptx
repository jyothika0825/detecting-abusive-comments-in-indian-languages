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65" r:id="rId5"/>
  </p:sldMasterIdLst>
  <p:notesMasterIdLst>
    <p:notesMasterId r:id="rId111"/>
  </p:notesMasterIdLst>
  <p:handoutMasterIdLst>
    <p:handoutMasterId r:id="rId112"/>
  </p:handoutMasterIdLst>
  <p:sldIdLst>
    <p:sldId id="257" r:id="rId6"/>
    <p:sldId id="437" r:id="rId7"/>
    <p:sldId id="310" r:id="rId8"/>
    <p:sldId id="258" r:id="rId9"/>
    <p:sldId id="359" r:id="rId10"/>
    <p:sldId id="262" r:id="rId11"/>
    <p:sldId id="393" r:id="rId12"/>
    <p:sldId id="351" r:id="rId13"/>
    <p:sldId id="356" r:id="rId14"/>
    <p:sldId id="264" r:id="rId15"/>
    <p:sldId id="353" r:id="rId16"/>
    <p:sldId id="316" r:id="rId17"/>
    <p:sldId id="315" r:id="rId18"/>
    <p:sldId id="290" r:id="rId19"/>
    <p:sldId id="325" r:id="rId20"/>
    <p:sldId id="421" r:id="rId21"/>
    <p:sldId id="366" r:id="rId22"/>
    <p:sldId id="298" r:id="rId23"/>
    <p:sldId id="347" r:id="rId24"/>
    <p:sldId id="348" r:id="rId25"/>
    <p:sldId id="354" r:id="rId26"/>
    <p:sldId id="360" r:id="rId27"/>
    <p:sldId id="313" r:id="rId28"/>
    <p:sldId id="326" r:id="rId29"/>
    <p:sldId id="332" r:id="rId30"/>
    <p:sldId id="334" r:id="rId31"/>
    <p:sldId id="335" r:id="rId32"/>
    <p:sldId id="336" r:id="rId33"/>
    <p:sldId id="337" r:id="rId34"/>
    <p:sldId id="338" r:id="rId35"/>
    <p:sldId id="339" r:id="rId36"/>
    <p:sldId id="340" r:id="rId37"/>
    <p:sldId id="327" r:id="rId38"/>
    <p:sldId id="363" r:id="rId39"/>
    <p:sldId id="414" r:id="rId40"/>
    <p:sldId id="416" r:id="rId41"/>
    <p:sldId id="425" r:id="rId42"/>
    <p:sldId id="417" r:id="rId43"/>
    <p:sldId id="365" r:id="rId44"/>
    <p:sldId id="424" r:id="rId45"/>
    <p:sldId id="419" r:id="rId46"/>
    <p:sldId id="420" r:id="rId47"/>
    <p:sldId id="341" r:id="rId48"/>
    <p:sldId id="342" r:id="rId49"/>
    <p:sldId id="328" r:id="rId50"/>
    <p:sldId id="343" r:id="rId51"/>
    <p:sldId id="330" r:id="rId52"/>
    <p:sldId id="352" r:id="rId53"/>
    <p:sldId id="344" r:id="rId54"/>
    <p:sldId id="285" r:id="rId55"/>
    <p:sldId id="331" r:id="rId56"/>
    <p:sldId id="288" r:id="rId57"/>
    <p:sldId id="284" r:id="rId58"/>
    <p:sldId id="286" r:id="rId59"/>
    <p:sldId id="394" r:id="rId60"/>
    <p:sldId id="362" r:id="rId61"/>
    <p:sldId id="395" r:id="rId62"/>
    <p:sldId id="345" r:id="rId63"/>
    <p:sldId id="355" r:id="rId64"/>
    <p:sldId id="289" r:id="rId65"/>
    <p:sldId id="350" r:id="rId66"/>
    <p:sldId id="412" r:id="rId67"/>
    <p:sldId id="367" r:id="rId68"/>
    <p:sldId id="398" r:id="rId69"/>
    <p:sldId id="405" r:id="rId70"/>
    <p:sldId id="406" r:id="rId71"/>
    <p:sldId id="422" r:id="rId72"/>
    <p:sldId id="401" r:id="rId73"/>
    <p:sldId id="402" r:id="rId74"/>
    <p:sldId id="397" r:id="rId75"/>
    <p:sldId id="403" r:id="rId76"/>
    <p:sldId id="404" r:id="rId77"/>
    <p:sldId id="368" r:id="rId78"/>
    <p:sldId id="375" r:id="rId79"/>
    <p:sldId id="376" r:id="rId80"/>
    <p:sldId id="377" r:id="rId81"/>
    <p:sldId id="380" r:id="rId82"/>
    <p:sldId id="407" r:id="rId83"/>
    <p:sldId id="379" r:id="rId84"/>
    <p:sldId id="378" r:id="rId85"/>
    <p:sldId id="381" r:id="rId86"/>
    <p:sldId id="382" r:id="rId87"/>
    <p:sldId id="408" r:id="rId88"/>
    <p:sldId id="383" r:id="rId89"/>
    <p:sldId id="384" r:id="rId90"/>
    <p:sldId id="385" r:id="rId91"/>
    <p:sldId id="386" r:id="rId92"/>
    <p:sldId id="387" r:id="rId93"/>
    <p:sldId id="389" r:id="rId94"/>
    <p:sldId id="390" r:id="rId95"/>
    <p:sldId id="391" r:id="rId96"/>
    <p:sldId id="426" r:id="rId97"/>
    <p:sldId id="427" r:id="rId98"/>
    <p:sldId id="428" r:id="rId99"/>
    <p:sldId id="429" r:id="rId100"/>
    <p:sldId id="430" r:id="rId101"/>
    <p:sldId id="431" r:id="rId102"/>
    <p:sldId id="432" r:id="rId103"/>
    <p:sldId id="435" r:id="rId104"/>
    <p:sldId id="434" r:id="rId105"/>
    <p:sldId id="436" r:id="rId106"/>
    <p:sldId id="410" r:id="rId107"/>
    <p:sldId id="411" r:id="rId108"/>
    <p:sldId id="392" r:id="rId109"/>
    <p:sldId id="396" r:id="rId1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06BD733-4AB4-4040-8463-CDA61FD71D0A}" name="ram balthu" initials="rb" userId="567b1fa032324782"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FFFFF"/>
    <a:srgbClr val="FF3399"/>
    <a:srgbClr val="FF8200"/>
    <a:srgbClr val="00A3D8"/>
    <a:srgbClr val="FF7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101DBC0-9E0E-42B0-B4A1-CB9F31C8C823}" v="88" dt="2025-10-04T17:49:11.28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74"/>
  </p:normalViewPr>
  <p:slideViewPr>
    <p:cSldViewPr snapToGrid="0" snapToObjects="1">
      <p:cViewPr>
        <p:scale>
          <a:sx n="82" d="100"/>
          <a:sy n="82" d="100"/>
        </p:scale>
        <p:origin x="1502" y="10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117" Type="http://schemas.microsoft.com/office/2015/10/relationships/revisionInfo" Target="revisionInfo.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slide" Target="slides/slide79.xml"/><Relationship Id="rId89" Type="http://schemas.openxmlformats.org/officeDocument/2006/relationships/slide" Target="slides/slide84.xml"/><Relationship Id="rId112" Type="http://schemas.openxmlformats.org/officeDocument/2006/relationships/handoutMaster" Target="handoutMasters/handoutMaster1.xml"/><Relationship Id="rId16" Type="http://schemas.openxmlformats.org/officeDocument/2006/relationships/slide" Target="slides/slide11.xml"/><Relationship Id="rId107" Type="http://schemas.openxmlformats.org/officeDocument/2006/relationships/slide" Target="slides/slide102.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slide" Target="slides/slide74.xml"/><Relationship Id="rId102" Type="http://schemas.openxmlformats.org/officeDocument/2006/relationships/slide" Target="slides/slide97.xml"/><Relationship Id="rId5" Type="http://schemas.openxmlformats.org/officeDocument/2006/relationships/slideMaster" Target="slideMasters/slideMaster1.xml"/><Relationship Id="rId90" Type="http://schemas.openxmlformats.org/officeDocument/2006/relationships/slide" Target="slides/slide85.xml"/><Relationship Id="rId95" Type="http://schemas.openxmlformats.org/officeDocument/2006/relationships/slide" Target="slides/slide90.xml"/><Relationship Id="rId22" Type="http://schemas.openxmlformats.org/officeDocument/2006/relationships/slide" Target="slides/slide17.xml"/><Relationship Id="rId27" Type="http://schemas.openxmlformats.org/officeDocument/2006/relationships/slide" Target="slides/slide22.xml"/><Relationship Id="rId43" Type="http://schemas.openxmlformats.org/officeDocument/2006/relationships/slide" Target="slides/slide38.xml"/><Relationship Id="rId48" Type="http://schemas.openxmlformats.org/officeDocument/2006/relationships/slide" Target="slides/slide43.xml"/><Relationship Id="rId64" Type="http://schemas.openxmlformats.org/officeDocument/2006/relationships/slide" Target="slides/slide59.xml"/><Relationship Id="rId69" Type="http://schemas.openxmlformats.org/officeDocument/2006/relationships/slide" Target="slides/slide64.xml"/><Relationship Id="rId113" Type="http://schemas.openxmlformats.org/officeDocument/2006/relationships/presProps" Target="presProps.xml"/><Relationship Id="rId118" Type="http://schemas.microsoft.com/office/2018/10/relationships/authors" Target="authors.xml"/><Relationship Id="rId80" Type="http://schemas.openxmlformats.org/officeDocument/2006/relationships/slide" Target="slides/slide75.xml"/><Relationship Id="rId85" Type="http://schemas.openxmlformats.org/officeDocument/2006/relationships/slide" Target="slides/slide80.xml"/><Relationship Id="rId12" Type="http://schemas.openxmlformats.org/officeDocument/2006/relationships/slide" Target="slides/slide7.xml"/><Relationship Id="rId17" Type="http://schemas.openxmlformats.org/officeDocument/2006/relationships/slide" Target="slides/slide12.xml"/><Relationship Id="rId33" Type="http://schemas.openxmlformats.org/officeDocument/2006/relationships/slide" Target="slides/slide28.xml"/><Relationship Id="rId38" Type="http://schemas.openxmlformats.org/officeDocument/2006/relationships/slide" Target="slides/slide33.xml"/><Relationship Id="rId59" Type="http://schemas.openxmlformats.org/officeDocument/2006/relationships/slide" Target="slides/slide54.xml"/><Relationship Id="rId103" Type="http://schemas.openxmlformats.org/officeDocument/2006/relationships/slide" Target="slides/slide98.xml"/><Relationship Id="rId108" Type="http://schemas.openxmlformats.org/officeDocument/2006/relationships/slide" Target="slides/slide103.xml"/><Relationship Id="rId54" Type="http://schemas.openxmlformats.org/officeDocument/2006/relationships/slide" Target="slides/slide49.xml"/><Relationship Id="rId70" Type="http://schemas.openxmlformats.org/officeDocument/2006/relationships/slide" Target="slides/slide65.xml"/><Relationship Id="rId75" Type="http://schemas.openxmlformats.org/officeDocument/2006/relationships/slide" Target="slides/slide70.xml"/><Relationship Id="rId91" Type="http://schemas.openxmlformats.org/officeDocument/2006/relationships/slide" Target="slides/slide86.xml"/><Relationship Id="rId96" Type="http://schemas.openxmlformats.org/officeDocument/2006/relationships/slide" Target="slides/slide91.xml"/><Relationship Id="rId1" Type="http://schemas.openxmlformats.org/officeDocument/2006/relationships/customXml" Target="../customXml/item1.xml"/><Relationship Id="rId6" Type="http://schemas.openxmlformats.org/officeDocument/2006/relationships/slide" Target="slides/slide1.xml"/><Relationship Id="rId23" Type="http://schemas.openxmlformats.org/officeDocument/2006/relationships/slide" Target="slides/slide18.xml"/><Relationship Id="rId28" Type="http://schemas.openxmlformats.org/officeDocument/2006/relationships/slide" Target="slides/slide23.xml"/><Relationship Id="rId49" Type="http://schemas.openxmlformats.org/officeDocument/2006/relationships/slide" Target="slides/slide44.xml"/><Relationship Id="rId114" Type="http://schemas.openxmlformats.org/officeDocument/2006/relationships/viewProps" Target="viewProps.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slide" Target="slides/slide73.xml"/><Relationship Id="rId81" Type="http://schemas.openxmlformats.org/officeDocument/2006/relationships/slide" Target="slides/slide76.xml"/><Relationship Id="rId86" Type="http://schemas.openxmlformats.org/officeDocument/2006/relationships/slide" Target="slides/slide81.xml"/><Relationship Id="rId94" Type="http://schemas.openxmlformats.org/officeDocument/2006/relationships/slide" Target="slides/slide89.xml"/><Relationship Id="rId99" Type="http://schemas.openxmlformats.org/officeDocument/2006/relationships/slide" Target="slides/slide94.xml"/><Relationship Id="rId101" Type="http://schemas.openxmlformats.org/officeDocument/2006/relationships/slide" Target="slides/slide96.xml"/><Relationship Id="rId4" Type="http://schemas.openxmlformats.org/officeDocument/2006/relationships/customXml" Target="../customXml/item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109" Type="http://schemas.openxmlformats.org/officeDocument/2006/relationships/slide" Target="slides/slide10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97" Type="http://schemas.openxmlformats.org/officeDocument/2006/relationships/slide" Target="slides/slide92.xml"/><Relationship Id="rId104" Type="http://schemas.openxmlformats.org/officeDocument/2006/relationships/slide" Target="slides/slide99.xml"/><Relationship Id="rId7" Type="http://schemas.openxmlformats.org/officeDocument/2006/relationships/slide" Target="slides/slide2.xml"/><Relationship Id="rId71" Type="http://schemas.openxmlformats.org/officeDocument/2006/relationships/slide" Target="slides/slide66.xml"/><Relationship Id="rId92" Type="http://schemas.openxmlformats.org/officeDocument/2006/relationships/slide" Target="slides/slide87.xml"/><Relationship Id="rId2" Type="http://schemas.openxmlformats.org/officeDocument/2006/relationships/customXml" Target="../customXml/item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slide" Target="slides/slide82.xml"/><Relationship Id="rId110" Type="http://schemas.openxmlformats.org/officeDocument/2006/relationships/slide" Target="slides/slide105.xml"/><Relationship Id="rId115" Type="http://schemas.openxmlformats.org/officeDocument/2006/relationships/theme" Target="theme/theme1.xml"/><Relationship Id="rId61" Type="http://schemas.openxmlformats.org/officeDocument/2006/relationships/slide" Target="slides/slide56.xml"/><Relationship Id="rId82" Type="http://schemas.openxmlformats.org/officeDocument/2006/relationships/slide" Target="slides/slide77.xml"/><Relationship Id="rId19" Type="http://schemas.openxmlformats.org/officeDocument/2006/relationships/slide" Target="slides/slide14.xml"/><Relationship Id="rId14" Type="http://schemas.openxmlformats.org/officeDocument/2006/relationships/slide" Target="slides/slide9.xml"/><Relationship Id="rId30" Type="http://schemas.openxmlformats.org/officeDocument/2006/relationships/slide" Target="slides/slide25.xml"/><Relationship Id="rId35" Type="http://schemas.openxmlformats.org/officeDocument/2006/relationships/slide" Target="slides/slide30.xml"/><Relationship Id="rId56" Type="http://schemas.openxmlformats.org/officeDocument/2006/relationships/slide" Target="slides/slide51.xml"/><Relationship Id="rId77" Type="http://schemas.openxmlformats.org/officeDocument/2006/relationships/slide" Target="slides/slide72.xml"/><Relationship Id="rId100" Type="http://schemas.openxmlformats.org/officeDocument/2006/relationships/slide" Target="slides/slide95.xml"/><Relationship Id="rId105" Type="http://schemas.openxmlformats.org/officeDocument/2006/relationships/slide" Target="slides/slide100.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93" Type="http://schemas.openxmlformats.org/officeDocument/2006/relationships/slide" Target="slides/slide88.xml"/><Relationship Id="rId98" Type="http://schemas.openxmlformats.org/officeDocument/2006/relationships/slide" Target="slides/slide93.xml"/><Relationship Id="rId3" Type="http://schemas.openxmlformats.org/officeDocument/2006/relationships/customXml" Target="../customXml/item3.xml"/><Relationship Id="rId25" Type="http://schemas.openxmlformats.org/officeDocument/2006/relationships/slide" Target="slides/slide20.xml"/><Relationship Id="rId46" Type="http://schemas.openxmlformats.org/officeDocument/2006/relationships/slide" Target="slides/slide41.xml"/><Relationship Id="rId67" Type="http://schemas.openxmlformats.org/officeDocument/2006/relationships/slide" Target="slides/slide62.xml"/><Relationship Id="rId116" Type="http://schemas.openxmlformats.org/officeDocument/2006/relationships/tableStyles" Target="tableStyles.xml"/><Relationship Id="rId20" Type="http://schemas.openxmlformats.org/officeDocument/2006/relationships/slide" Target="slides/slide15.xml"/><Relationship Id="rId41" Type="http://schemas.openxmlformats.org/officeDocument/2006/relationships/slide" Target="slides/slide36.xml"/><Relationship Id="rId62" Type="http://schemas.openxmlformats.org/officeDocument/2006/relationships/slide" Target="slides/slide57.xml"/><Relationship Id="rId83" Type="http://schemas.openxmlformats.org/officeDocument/2006/relationships/slide" Target="slides/slide78.xml"/><Relationship Id="rId88" Type="http://schemas.openxmlformats.org/officeDocument/2006/relationships/slide" Target="slides/slide83.xml"/><Relationship Id="rId111" Type="http://schemas.openxmlformats.org/officeDocument/2006/relationships/notesMaster" Target="notesMasters/notesMaster1.xml"/><Relationship Id="rId15" Type="http://schemas.openxmlformats.org/officeDocument/2006/relationships/slide" Target="slides/slide10.xml"/><Relationship Id="rId36" Type="http://schemas.openxmlformats.org/officeDocument/2006/relationships/slide" Target="slides/slide31.xml"/><Relationship Id="rId57" Type="http://schemas.openxmlformats.org/officeDocument/2006/relationships/slide" Target="slides/slide52.xml"/><Relationship Id="rId106" Type="http://schemas.openxmlformats.org/officeDocument/2006/relationships/slide" Target="slides/slide101.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01DE300-CEC7-4148-B76C-090F62F5BDAF}" type="doc">
      <dgm:prSet loTypeId="urn:microsoft.com/office/officeart/2005/8/layout/vList2" loCatId="list" qsTypeId="urn:microsoft.com/office/officeart/2005/8/quickstyle/simple4" qsCatId="simple" csTypeId="urn:microsoft.com/office/officeart/2005/8/colors/colorful5" csCatId="colorful"/>
      <dgm:spPr/>
      <dgm:t>
        <a:bodyPr/>
        <a:lstStyle/>
        <a:p>
          <a:endParaRPr lang="en-US"/>
        </a:p>
      </dgm:t>
    </dgm:pt>
    <dgm:pt modelId="{FF3F18DD-ECA6-4531-9D79-20426284AD20}">
      <dgm:prSet/>
      <dgm:spPr/>
      <dgm:t>
        <a:bodyPr/>
        <a:lstStyle/>
        <a:p>
          <a:r>
            <a:rPr lang="en-US"/>
            <a:t>Overarching Question: Can a machine learning model effectively detect abusive comments in Hindi? </a:t>
          </a:r>
        </a:p>
      </dgm:t>
    </dgm:pt>
    <dgm:pt modelId="{ADB52203-5684-431B-A7D4-1B3F33A45D93}" type="parTrans" cxnId="{1926F0CF-FA88-4DB4-B4B8-80332FDB54F9}">
      <dgm:prSet/>
      <dgm:spPr/>
      <dgm:t>
        <a:bodyPr/>
        <a:lstStyle/>
        <a:p>
          <a:endParaRPr lang="en-US"/>
        </a:p>
      </dgm:t>
    </dgm:pt>
    <dgm:pt modelId="{2044BFE5-F993-4BA5-ADBF-65919192716E}" type="sibTrans" cxnId="{1926F0CF-FA88-4DB4-B4B8-80332FDB54F9}">
      <dgm:prSet/>
      <dgm:spPr/>
      <dgm:t>
        <a:bodyPr/>
        <a:lstStyle/>
        <a:p>
          <a:endParaRPr lang="en-US"/>
        </a:p>
      </dgm:t>
    </dgm:pt>
    <dgm:pt modelId="{12824C31-AB10-4EBD-A3D4-12B7939AEB87}">
      <dgm:prSet/>
      <dgm:spPr/>
      <dgm:t>
        <a:bodyPr/>
        <a:lstStyle/>
        <a:p>
          <a:r>
            <a:rPr lang="en-US"/>
            <a:t>Of the two models studied, which model worked best for detecting abusive Hindi comments?</a:t>
          </a:r>
        </a:p>
      </dgm:t>
    </dgm:pt>
    <dgm:pt modelId="{A99BBB74-8182-439F-809D-400147C92F78}" type="parTrans" cxnId="{B75CA550-7DEF-4D03-89ED-215BFEBB4904}">
      <dgm:prSet/>
      <dgm:spPr/>
      <dgm:t>
        <a:bodyPr/>
        <a:lstStyle/>
        <a:p>
          <a:endParaRPr lang="en-US"/>
        </a:p>
      </dgm:t>
    </dgm:pt>
    <dgm:pt modelId="{3A5CBAC8-4F0C-4BBB-BA60-8445C200F37A}" type="sibTrans" cxnId="{B75CA550-7DEF-4D03-89ED-215BFEBB4904}">
      <dgm:prSet/>
      <dgm:spPr/>
      <dgm:t>
        <a:bodyPr/>
        <a:lstStyle/>
        <a:p>
          <a:endParaRPr lang="en-US"/>
        </a:p>
      </dgm:t>
    </dgm:pt>
    <dgm:pt modelId="{C07886A6-4C51-4B22-8058-7EDB4FE8F2D7}">
      <dgm:prSet/>
      <dgm:spPr/>
      <dgm:t>
        <a:bodyPr/>
        <a:lstStyle/>
        <a:p>
          <a:r>
            <a:rPr lang="en-US"/>
            <a:t>What challenges occur when detecting abusive language in Hindi?</a:t>
          </a:r>
        </a:p>
      </dgm:t>
    </dgm:pt>
    <dgm:pt modelId="{856ABEEE-C1E1-4D9B-865F-45F297D9AD73}" type="parTrans" cxnId="{D8B8D708-1763-45E9-994E-44370798DD5F}">
      <dgm:prSet/>
      <dgm:spPr/>
      <dgm:t>
        <a:bodyPr/>
        <a:lstStyle/>
        <a:p>
          <a:endParaRPr lang="en-US"/>
        </a:p>
      </dgm:t>
    </dgm:pt>
    <dgm:pt modelId="{75A37D6D-601D-4578-93AD-27B456282BB4}" type="sibTrans" cxnId="{D8B8D708-1763-45E9-994E-44370798DD5F}">
      <dgm:prSet/>
      <dgm:spPr/>
      <dgm:t>
        <a:bodyPr/>
        <a:lstStyle/>
        <a:p>
          <a:endParaRPr lang="en-US"/>
        </a:p>
      </dgm:t>
    </dgm:pt>
    <dgm:pt modelId="{61BAF5B0-D90C-43F5-B87F-C6F964DB126E}" type="pres">
      <dgm:prSet presAssocID="{C01DE300-CEC7-4148-B76C-090F62F5BDAF}" presName="linear" presStyleCnt="0">
        <dgm:presLayoutVars>
          <dgm:animLvl val="lvl"/>
          <dgm:resizeHandles val="exact"/>
        </dgm:presLayoutVars>
      </dgm:prSet>
      <dgm:spPr/>
    </dgm:pt>
    <dgm:pt modelId="{31390361-FBF9-431B-BC3B-5093A2DA6443}" type="pres">
      <dgm:prSet presAssocID="{FF3F18DD-ECA6-4531-9D79-20426284AD20}" presName="parentText" presStyleLbl="node1" presStyleIdx="0" presStyleCnt="3">
        <dgm:presLayoutVars>
          <dgm:chMax val="0"/>
          <dgm:bulletEnabled val="1"/>
        </dgm:presLayoutVars>
      </dgm:prSet>
      <dgm:spPr/>
    </dgm:pt>
    <dgm:pt modelId="{6EAC41D0-CC69-4603-A8BC-D478E3B1EDB4}" type="pres">
      <dgm:prSet presAssocID="{2044BFE5-F993-4BA5-ADBF-65919192716E}" presName="spacer" presStyleCnt="0"/>
      <dgm:spPr/>
    </dgm:pt>
    <dgm:pt modelId="{D78B7B99-53F1-41BC-9974-CB2F7360DA31}" type="pres">
      <dgm:prSet presAssocID="{12824C31-AB10-4EBD-A3D4-12B7939AEB87}" presName="parentText" presStyleLbl="node1" presStyleIdx="1" presStyleCnt="3">
        <dgm:presLayoutVars>
          <dgm:chMax val="0"/>
          <dgm:bulletEnabled val="1"/>
        </dgm:presLayoutVars>
      </dgm:prSet>
      <dgm:spPr/>
    </dgm:pt>
    <dgm:pt modelId="{025FAF37-24D3-44E4-8E8B-F69D388AB2F3}" type="pres">
      <dgm:prSet presAssocID="{3A5CBAC8-4F0C-4BBB-BA60-8445C200F37A}" presName="spacer" presStyleCnt="0"/>
      <dgm:spPr/>
    </dgm:pt>
    <dgm:pt modelId="{11B26722-BB86-48C1-837C-22896AB63F4C}" type="pres">
      <dgm:prSet presAssocID="{C07886A6-4C51-4B22-8058-7EDB4FE8F2D7}" presName="parentText" presStyleLbl="node1" presStyleIdx="2" presStyleCnt="3">
        <dgm:presLayoutVars>
          <dgm:chMax val="0"/>
          <dgm:bulletEnabled val="1"/>
        </dgm:presLayoutVars>
      </dgm:prSet>
      <dgm:spPr/>
    </dgm:pt>
  </dgm:ptLst>
  <dgm:cxnLst>
    <dgm:cxn modelId="{D12DCA03-D3AF-4451-9C5E-39D45B130043}" type="presOf" srcId="{C01DE300-CEC7-4148-B76C-090F62F5BDAF}" destId="{61BAF5B0-D90C-43F5-B87F-C6F964DB126E}" srcOrd="0" destOrd="0" presId="urn:microsoft.com/office/officeart/2005/8/layout/vList2"/>
    <dgm:cxn modelId="{D8B8D708-1763-45E9-994E-44370798DD5F}" srcId="{C01DE300-CEC7-4148-B76C-090F62F5BDAF}" destId="{C07886A6-4C51-4B22-8058-7EDB4FE8F2D7}" srcOrd="2" destOrd="0" parTransId="{856ABEEE-C1E1-4D9B-865F-45F297D9AD73}" sibTransId="{75A37D6D-601D-4578-93AD-27B456282BB4}"/>
    <dgm:cxn modelId="{92B2515B-7F54-44A9-A5E2-1EBAF935F571}" type="presOf" srcId="{FF3F18DD-ECA6-4531-9D79-20426284AD20}" destId="{31390361-FBF9-431B-BC3B-5093A2DA6443}" srcOrd="0" destOrd="0" presId="urn:microsoft.com/office/officeart/2005/8/layout/vList2"/>
    <dgm:cxn modelId="{B75CA550-7DEF-4D03-89ED-215BFEBB4904}" srcId="{C01DE300-CEC7-4148-B76C-090F62F5BDAF}" destId="{12824C31-AB10-4EBD-A3D4-12B7939AEB87}" srcOrd="1" destOrd="0" parTransId="{A99BBB74-8182-439F-809D-400147C92F78}" sibTransId="{3A5CBAC8-4F0C-4BBB-BA60-8445C200F37A}"/>
    <dgm:cxn modelId="{72A0E87B-3BA9-4B65-93D1-4A6EA0718B10}" type="presOf" srcId="{C07886A6-4C51-4B22-8058-7EDB4FE8F2D7}" destId="{11B26722-BB86-48C1-837C-22896AB63F4C}" srcOrd="0" destOrd="0" presId="urn:microsoft.com/office/officeart/2005/8/layout/vList2"/>
    <dgm:cxn modelId="{1926F0CF-FA88-4DB4-B4B8-80332FDB54F9}" srcId="{C01DE300-CEC7-4148-B76C-090F62F5BDAF}" destId="{FF3F18DD-ECA6-4531-9D79-20426284AD20}" srcOrd="0" destOrd="0" parTransId="{ADB52203-5684-431B-A7D4-1B3F33A45D93}" sibTransId="{2044BFE5-F993-4BA5-ADBF-65919192716E}"/>
    <dgm:cxn modelId="{495C9BE5-264B-47B7-AF1C-E084E80CDB29}" type="presOf" srcId="{12824C31-AB10-4EBD-A3D4-12B7939AEB87}" destId="{D78B7B99-53F1-41BC-9974-CB2F7360DA31}" srcOrd="0" destOrd="0" presId="urn:microsoft.com/office/officeart/2005/8/layout/vList2"/>
    <dgm:cxn modelId="{03CF4969-917E-4F2B-93EF-EC0E87E61EAF}" type="presParOf" srcId="{61BAF5B0-D90C-43F5-B87F-C6F964DB126E}" destId="{31390361-FBF9-431B-BC3B-5093A2DA6443}" srcOrd="0" destOrd="0" presId="urn:microsoft.com/office/officeart/2005/8/layout/vList2"/>
    <dgm:cxn modelId="{84056B04-BFA7-483C-B5F9-EC9E1448F9B6}" type="presParOf" srcId="{61BAF5B0-D90C-43F5-B87F-C6F964DB126E}" destId="{6EAC41D0-CC69-4603-A8BC-D478E3B1EDB4}" srcOrd="1" destOrd="0" presId="urn:microsoft.com/office/officeart/2005/8/layout/vList2"/>
    <dgm:cxn modelId="{3BFA68F6-A9DF-4A8E-9902-F7656479E642}" type="presParOf" srcId="{61BAF5B0-D90C-43F5-B87F-C6F964DB126E}" destId="{D78B7B99-53F1-41BC-9974-CB2F7360DA31}" srcOrd="2" destOrd="0" presId="urn:microsoft.com/office/officeart/2005/8/layout/vList2"/>
    <dgm:cxn modelId="{80E34263-57B7-49BA-A91B-169D40954849}" type="presParOf" srcId="{61BAF5B0-D90C-43F5-B87F-C6F964DB126E}" destId="{025FAF37-24D3-44E4-8E8B-F69D388AB2F3}" srcOrd="3" destOrd="0" presId="urn:microsoft.com/office/officeart/2005/8/layout/vList2"/>
    <dgm:cxn modelId="{466B4C92-BC12-4786-A4D4-84AB9FF4B415}" type="presParOf" srcId="{61BAF5B0-D90C-43F5-B87F-C6F964DB126E}" destId="{11B26722-BB86-48C1-837C-22896AB63F4C}"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28EC3CA-A228-4F5A-8DEC-D136EC70BA61}" type="doc">
      <dgm:prSet loTypeId="urn:microsoft.com/office/officeart/2005/8/layout/vProcess5" loCatId="process" qsTypeId="urn:microsoft.com/office/officeart/2005/8/quickstyle/simple4" qsCatId="simple" csTypeId="urn:microsoft.com/office/officeart/2005/8/colors/colorful2" csCatId="colorful"/>
      <dgm:spPr/>
      <dgm:t>
        <a:bodyPr/>
        <a:lstStyle/>
        <a:p>
          <a:endParaRPr lang="en-US"/>
        </a:p>
      </dgm:t>
    </dgm:pt>
    <dgm:pt modelId="{817A32A3-D52F-4C13-98B5-BE4CD5C528AD}">
      <dgm:prSet/>
      <dgm:spPr/>
      <dgm:t>
        <a:bodyPr/>
        <a:lstStyle/>
        <a:p>
          <a:r>
            <a:rPr lang="en-US"/>
            <a:t>Social media platforms in India include comments written in many languages and dialects, making abusive content detection difficult.</a:t>
          </a:r>
        </a:p>
      </dgm:t>
    </dgm:pt>
    <dgm:pt modelId="{DBB56D2E-689F-4969-B7F2-88B4861C547B}" type="parTrans" cxnId="{4030B4B5-74DD-4293-8DA8-48C641132D9F}">
      <dgm:prSet/>
      <dgm:spPr/>
      <dgm:t>
        <a:bodyPr/>
        <a:lstStyle/>
        <a:p>
          <a:endParaRPr lang="en-US"/>
        </a:p>
      </dgm:t>
    </dgm:pt>
    <dgm:pt modelId="{11B8A011-2D29-4912-BF1F-EEC23931C1FB}" type="sibTrans" cxnId="{4030B4B5-74DD-4293-8DA8-48C641132D9F}">
      <dgm:prSet/>
      <dgm:spPr/>
      <dgm:t>
        <a:bodyPr/>
        <a:lstStyle/>
        <a:p>
          <a:endParaRPr lang="en-US"/>
        </a:p>
      </dgm:t>
    </dgm:pt>
    <dgm:pt modelId="{20413395-63B8-48EC-AEB7-E1C376A370F7}">
      <dgm:prSet/>
      <dgm:spPr/>
      <dgm:t>
        <a:bodyPr/>
        <a:lstStyle/>
        <a:p>
          <a:r>
            <a:rPr lang="en-US"/>
            <a:t>This project focuses on Hindi, chosen because it is widely used and has a large presence on social media.</a:t>
          </a:r>
        </a:p>
      </dgm:t>
    </dgm:pt>
    <dgm:pt modelId="{D8F84849-8ED5-4234-818F-AB2EF7B44EDA}" type="parTrans" cxnId="{9A4926B0-CDF1-4C27-9D45-3C47705C6024}">
      <dgm:prSet/>
      <dgm:spPr/>
      <dgm:t>
        <a:bodyPr/>
        <a:lstStyle/>
        <a:p>
          <a:endParaRPr lang="en-US"/>
        </a:p>
      </dgm:t>
    </dgm:pt>
    <dgm:pt modelId="{EB092135-E53E-4D07-BB8A-EF84523B1796}" type="sibTrans" cxnId="{9A4926B0-CDF1-4C27-9D45-3C47705C6024}">
      <dgm:prSet/>
      <dgm:spPr/>
      <dgm:t>
        <a:bodyPr/>
        <a:lstStyle/>
        <a:p>
          <a:endParaRPr lang="en-US"/>
        </a:p>
      </dgm:t>
    </dgm:pt>
    <dgm:pt modelId="{2C9C90A9-C414-418E-B59E-B2AD14DA01CE}">
      <dgm:prSet/>
      <dgm:spPr/>
      <dgm:t>
        <a:bodyPr/>
        <a:lstStyle/>
        <a:p>
          <a:r>
            <a:rPr lang="en-US"/>
            <a:t>The goal is to develop an NLP-based model that classifies Hindi comments as abusive or non-abusive.</a:t>
          </a:r>
        </a:p>
      </dgm:t>
    </dgm:pt>
    <dgm:pt modelId="{4D0E425B-3D06-4127-8440-EA3F1B5C4090}" type="parTrans" cxnId="{51DEABB8-A204-475F-8434-D5B1C5BEA1A9}">
      <dgm:prSet/>
      <dgm:spPr/>
      <dgm:t>
        <a:bodyPr/>
        <a:lstStyle/>
        <a:p>
          <a:endParaRPr lang="en-US"/>
        </a:p>
      </dgm:t>
    </dgm:pt>
    <dgm:pt modelId="{A11D227A-FD80-4314-AF05-982C2F28373B}" type="sibTrans" cxnId="{51DEABB8-A204-475F-8434-D5B1C5BEA1A9}">
      <dgm:prSet/>
      <dgm:spPr/>
      <dgm:t>
        <a:bodyPr/>
        <a:lstStyle/>
        <a:p>
          <a:endParaRPr lang="en-US"/>
        </a:p>
      </dgm:t>
    </dgm:pt>
    <dgm:pt modelId="{1A0E8E1C-325B-42C5-BFC4-6CE90B528462}" type="pres">
      <dgm:prSet presAssocID="{828EC3CA-A228-4F5A-8DEC-D136EC70BA61}" presName="outerComposite" presStyleCnt="0">
        <dgm:presLayoutVars>
          <dgm:chMax val="5"/>
          <dgm:dir/>
          <dgm:resizeHandles val="exact"/>
        </dgm:presLayoutVars>
      </dgm:prSet>
      <dgm:spPr/>
    </dgm:pt>
    <dgm:pt modelId="{5358004E-F2E2-4262-8DCC-EC13987F5274}" type="pres">
      <dgm:prSet presAssocID="{828EC3CA-A228-4F5A-8DEC-D136EC70BA61}" presName="dummyMaxCanvas" presStyleCnt="0">
        <dgm:presLayoutVars/>
      </dgm:prSet>
      <dgm:spPr/>
    </dgm:pt>
    <dgm:pt modelId="{8EFE74C6-8978-4D93-9DD3-EF771923C787}" type="pres">
      <dgm:prSet presAssocID="{828EC3CA-A228-4F5A-8DEC-D136EC70BA61}" presName="ThreeNodes_1" presStyleLbl="node1" presStyleIdx="0" presStyleCnt="3">
        <dgm:presLayoutVars>
          <dgm:bulletEnabled val="1"/>
        </dgm:presLayoutVars>
      </dgm:prSet>
      <dgm:spPr/>
    </dgm:pt>
    <dgm:pt modelId="{60DA8C0C-EEC3-4916-867F-A0A0F4F8F0B8}" type="pres">
      <dgm:prSet presAssocID="{828EC3CA-A228-4F5A-8DEC-D136EC70BA61}" presName="ThreeNodes_2" presStyleLbl="node1" presStyleIdx="1" presStyleCnt="3">
        <dgm:presLayoutVars>
          <dgm:bulletEnabled val="1"/>
        </dgm:presLayoutVars>
      </dgm:prSet>
      <dgm:spPr/>
    </dgm:pt>
    <dgm:pt modelId="{712F7E6F-72D6-42DE-A89E-C277FBEF8006}" type="pres">
      <dgm:prSet presAssocID="{828EC3CA-A228-4F5A-8DEC-D136EC70BA61}" presName="ThreeNodes_3" presStyleLbl="node1" presStyleIdx="2" presStyleCnt="3">
        <dgm:presLayoutVars>
          <dgm:bulletEnabled val="1"/>
        </dgm:presLayoutVars>
      </dgm:prSet>
      <dgm:spPr/>
    </dgm:pt>
    <dgm:pt modelId="{328B27CE-8BDE-4B10-B042-6B77CA67099E}" type="pres">
      <dgm:prSet presAssocID="{828EC3CA-A228-4F5A-8DEC-D136EC70BA61}" presName="ThreeConn_1-2" presStyleLbl="fgAccFollowNode1" presStyleIdx="0" presStyleCnt="2">
        <dgm:presLayoutVars>
          <dgm:bulletEnabled val="1"/>
        </dgm:presLayoutVars>
      </dgm:prSet>
      <dgm:spPr/>
    </dgm:pt>
    <dgm:pt modelId="{BE19FF33-9276-40C5-AED0-157411328E7D}" type="pres">
      <dgm:prSet presAssocID="{828EC3CA-A228-4F5A-8DEC-D136EC70BA61}" presName="ThreeConn_2-3" presStyleLbl="fgAccFollowNode1" presStyleIdx="1" presStyleCnt="2">
        <dgm:presLayoutVars>
          <dgm:bulletEnabled val="1"/>
        </dgm:presLayoutVars>
      </dgm:prSet>
      <dgm:spPr/>
    </dgm:pt>
    <dgm:pt modelId="{9B8DF8FD-6AD1-4C95-A200-377018ACB556}" type="pres">
      <dgm:prSet presAssocID="{828EC3CA-A228-4F5A-8DEC-D136EC70BA61}" presName="ThreeNodes_1_text" presStyleLbl="node1" presStyleIdx="2" presStyleCnt="3">
        <dgm:presLayoutVars>
          <dgm:bulletEnabled val="1"/>
        </dgm:presLayoutVars>
      </dgm:prSet>
      <dgm:spPr/>
    </dgm:pt>
    <dgm:pt modelId="{0E680A56-807F-4E91-BA6D-2A9B166FE257}" type="pres">
      <dgm:prSet presAssocID="{828EC3CA-A228-4F5A-8DEC-D136EC70BA61}" presName="ThreeNodes_2_text" presStyleLbl="node1" presStyleIdx="2" presStyleCnt="3">
        <dgm:presLayoutVars>
          <dgm:bulletEnabled val="1"/>
        </dgm:presLayoutVars>
      </dgm:prSet>
      <dgm:spPr/>
    </dgm:pt>
    <dgm:pt modelId="{F10BCBF3-B502-4A6B-864D-D183B6B51F4F}" type="pres">
      <dgm:prSet presAssocID="{828EC3CA-A228-4F5A-8DEC-D136EC70BA61}" presName="ThreeNodes_3_text" presStyleLbl="node1" presStyleIdx="2" presStyleCnt="3">
        <dgm:presLayoutVars>
          <dgm:bulletEnabled val="1"/>
        </dgm:presLayoutVars>
      </dgm:prSet>
      <dgm:spPr/>
    </dgm:pt>
  </dgm:ptLst>
  <dgm:cxnLst>
    <dgm:cxn modelId="{02787C1D-05A5-4F63-AB4E-C3194315C72C}" type="presOf" srcId="{817A32A3-D52F-4C13-98B5-BE4CD5C528AD}" destId="{9B8DF8FD-6AD1-4C95-A200-377018ACB556}" srcOrd="1" destOrd="0" presId="urn:microsoft.com/office/officeart/2005/8/layout/vProcess5"/>
    <dgm:cxn modelId="{C2B3835C-1C5D-4D15-93E6-EAA850D5BB69}" type="presOf" srcId="{11B8A011-2D29-4912-BF1F-EEC23931C1FB}" destId="{328B27CE-8BDE-4B10-B042-6B77CA67099E}" srcOrd="0" destOrd="0" presId="urn:microsoft.com/office/officeart/2005/8/layout/vProcess5"/>
    <dgm:cxn modelId="{E5304153-20C5-458E-9825-3047988516C5}" type="presOf" srcId="{20413395-63B8-48EC-AEB7-E1C376A370F7}" destId="{0E680A56-807F-4E91-BA6D-2A9B166FE257}" srcOrd="1" destOrd="0" presId="urn:microsoft.com/office/officeart/2005/8/layout/vProcess5"/>
    <dgm:cxn modelId="{DDC15D9A-8D1C-4FCA-98BB-A784B6F025C5}" type="presOf" srcId="{EB092135-E53E-4D07-BB8A-EF84523B1796}" destId="{BE19FF33-9276-40C5-AED0-157411328E7D}" srcOrd="0" destOrd="0" presId="urn:microsoft.com/office/officeart/2005/8/layout/vProcess5"/>
    <dgm:cxn modelId="{C05470A5-381D-4400-B390-F685A3FE83FC}" type="presOf" srcId="{2C9C90A9-C414-418E-B59E-B2AD14DA01CE}" destId="{712F7E6F-72D6-42DE-A89E-C277FBEF8006}" srcOrd="0" destOrd="0" presId="urn:microsoft.com/office/officeart/2005/8/layout/vProcess5"/>
    <dgm:cxn modelId="{CE3648A7-82D4-4897-8F26-7DB36C247F7F}" type="presOf" srcId="{817A32A3-D52F-4C13-98B5-BE4CD5C528AD}" destId="{8EFE74C6-8978-4D93-9DD3-EF771923C787}" srcOrd="0" destOrd="0" presId="urn:microsoft.com/office/officeart/2005/8/layout/vProcess5"/>
    <dgm:cxn modelId="{9A4926B0-CDF1-4C27-9D45-3C47705C6024}" srcId="{828EC3CA-A228-4F5A-8DEC-D136EC70BA61}" destId="{20413395-63B8-48EC-AEB7-E1C376A370F7}" srcOrd="1" destOrd="0" parTransId="{D8F84849-8ED5-4234-818F-AB2EF7B44EDA}" sibTransId="{EB092135-E53E-4D07-BB8A-EF84523B1796}"/>
    <dgm:cxn modelId="{4030B4B5-74DD-4293-8DA8-48C641132D9F}" srcId="{828EC3CA-A228-4F5A-8DEC-D136EC70BA61}" destId="{817A32A3-D52F-4C13-98B5-BE4CD5C528AD}" srcOrd="0" destOrd="0" parTransId="{DBB56D2E-689F-4969-B7F2-88B4861C547B}" sibTransId="{11B8A011-2D29-4912-BF1F-EEC23931C1FB}"/>
    <dgm:cxn modelId="{51DEABB8-A204-475F-8434-D5B1C5BEA1A9}" srcId="{828EC3CA-A228-4F5A-8DEC-D136EC70BA61}" destId="{2C9C90A9-C414-418E-B59E-B2AD14DA01CE}" srcOrd="2" destOrd="0" parTransId="{4D0E425B-3D06-4127-8440-EA3F1B5C4090}" sibTransId="{A11D227A-FD80-4314-AF05-982C2F28373B}"/>
    <dgm:cxn modelId="{A2F1DADB-FB4A-4990-BCE7-F98401996F28}" type="presOf" srcId="{20413395-63B8-48EC-AEB7-E1C376A370F7}" destId="{60DA8C0C-EEC3-4916-867F-A0A0F4F8F0B8}" srcOrd="0" destOrd="0" presId="urn:microsoft.com/office/officeart/2005/8/layout/vProcess5"/>
    <dgm:cxn modelId="{2A7348F1-ABD2-47A8-BCA0-46F2263D2FFB}" type="presOf" srcId="{828EC3CA-A228-4F5A-8DEC-D136EC70BA61}" destId="{1A0E8E1C-325B-42C5-BFC4-6CE90B528462}" srcOrd="0" destOrd="0" presId="urn:microsoft.com/office/officeart/2005/8/layout/vProcess5"/>
    <dgm:cxn modelId="{684CAEFF-AFB8-41B5-9D60-1CAC67DCD0C3}" type="presOf" srcId="{2C9C90A9-C414-418E-B59E-B2AD14DA01CE}" destId="{F10BCBF3-B502-4A6B-864D-D183B6B51F4F}" srcOrd="1" destOrd="0" presId="urn:microsoft.com/office/officeart/2005/8/layout/vProcess5"/>
    <dgm:cxn modelId="{81324D20-CF13-44E6-AA7B-DD9735026C02}" type="presParOf" srcId="{1A0E8E1C-325B-42C5-BFC4-6CE90B528462}" destId="{5358004E-F2E2-4262-8DCC-EC13987F5274}" srcOrd="0" destOrd="0" presId="urn:microsoft.com/office/officeart/2005/8/layout/vProcess5"/>
    <dgm:cxn modelId="{ADA3DC6C-739C-4DCA-A96B-CD4F16B9E7BE}" type="presParOf" srcId="{1A0E8E1C-325B-42C5-BFC4-6CE90B528462}" destId="{8EFE74C6-8978-4D93-9DD3-EF771923C787}" srcOrd="1" destOrd="0" presId="urn:microsoft.com/office/officeart/2005/8/layout/vProcess5"/>
    <dgm:cxn modelId="{69D66037-2CA0-4758-8224-B3899DE85174}" type="presParOf" srcId="{1A0E8E1C-325B-42C5-BFC4-6CE90B528462}" destId="{60DA8C0C-EEC3-4916-867F-A0A0F4F8F0B8}" srcOrd="2" destOrd="0" presId="urn:microsoft.com/office/officeart/2005/8/layout/vProcess5"/>
    <dgm:cxn modelId="{EB96BCD0-379E-4510-B27E-7EBF4205FB0D}" type="presParOf" srcId="{1A0E8E1C-325B-42C5-BFC4-6CE90B528462}" destId="{712F7E6F-72D6-42DE-A89E-C277FBEF8006}" srcOrd="3" destOrd="0" presId="urn:microsoft.com/office/officeart/2005/8/layout/vProcess5"/>
    <dgm:cxn modelId="{4524EAB5-EFA1-48A6-BC90-91416E381374}" type="presParOf" srcId="{1A0E8E1C-325B-42C5-BFC4-6CE90B528462}" destId="{328B27CE-8BDE-4B10-B042-6B77CA67099E}" srcOrd="4" destOrd="0" presId="urn:microsoft.com/office/officeart/2005/8/layout/vProcess5"/>
    <dgm:cxn modelId="{606D3880-9121-4B99-8CED-16784B43A025}" type="presParOf" srcId="{1A0E8E1C-325B-42C5-BFC4-6CE90B528462}" destId="{BE19FF33-9276-40C5-AED0-157411328E7D}" srcOrd="5" destOrd="0" presId="urn:microsoft.com/office/officeart/2005/8/layout/vProcess5"/>
    <dgm:cxn modelId="{6A97AD53-7F3A-42B0-8276-573F28C92273}" type="presParOf" srcId="{1A0E8E1C-325B-42C5-BFC4-6CE90B528462}" destId="{9B8DF8FD-6AD1-4C95-A200-377018ACB556}" srcOrd="6" destOrd="0" presId="urn:microsoft.com/office/officeart/2005/8/layout/vProcess5"/>
    <dgm:cxn modelId="{76C42118-7FE6-408D-B867-A8E08EDA0880}" type="presParOf" srcId="{1A0E8E1C-325B-42C5-BFC4-6CE90B528462}" destId="{0E680A56-807F-4E91-BA6D-2A9B166FE257}" srcOrd="7" destOrd="0" presId="urn:microsoft.com/office/officeart/2005/8/layout/vProcess5"/>
    <dgm:cxn modelId="{719A415C-1928-49E4-A584-43BE22B1E60A}" type="presParOf" srcId="{1A0E8E1C-325B-42C5-BFC4-6CE90B528462}" destId="{F10BCBF3-B502-4A6B-864D-D183B6B51F4F}" srcOrd="8"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390361-FBF9-431B-BC3B-5093A2DA6443}">
      <dsp:nvSpPr>
        <dsp:cNvPr id="0" name=""/>
        <dsp:cNvSpPr/>
      </dsp:nvSpPr>
      <dsp:spPr>
        <a:xfrm>
          <a:off x="0" y="516608"/>
          <a:ext cx="4435078" cy="1157130"/>
        </a:xfrm>
        <a:prstGeom prst="roundRect">
          <a:avLst/>
        </a:prstGeom>
        <a:gradFill rotWithShape="0">
          <a:gsLst>
            <a:gs pos="0">
              <a:schemeClr val="accent5">
                <a:hueOff val="0"/>
                <a:satOff val="0"/>
                <a:lumOff val="0"/>
                <a:alphaOff val="0"/>
                <a:tint val="94000"/>
                <a:satMod val="105000"/>
                <a:lumMod val="102000"/>
              </a:schemeClr>
            </a:gs>
            <a:gs pos="100000">
              <a:schemeClr val="accent5">
                <a:hueOff val="0"/>
                <a:satOff val="0"/>
                <a:lumOff val="0"/>
                <a:alphaOff val="0"/>
                <a:shade val="74000"/>
                <a:satMod val="128000"/>
                <a:lumMod val="100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Overarching Question: Can a machine learning model effectively detect abusive comments in Hindi? </a:t>
          </a:r>
        </a:p>
      </dsp:txBody>
      <dsp:txXfrm>
        <a:off x="56486" y="573094"/>
        <a:ext cx="4322106" cy="1044158"/>
      </dsp:txXfrm>
    </dsp:sp>
    <dsp:sp modelId="{D78B7B99-53F1-41BC-9974-CB2F7360DA31}">
      <dsp:nvSpPr>
        <dsp:cNvPr id="0" name=""/>
        <dsp:cNvSpPr/>
      </dsp:nvSpPr>
      <dsp:spPr>
        <a:xfrm>
          <a:off x="0" y="1739979"/>
          <a:ext cx="4435078" cy="1157130"/>
        </a:xfrm>
        <a:prstGeom prst="roundRect">
          <a:avLst/>
        </a:prstGeom>
        <a:gradFill rotWithShape="0">
          <a:gsLst>
            <a:gs pos="0">
              <a:schemeClr val="accent5">
                <a:hueOff val="-1654278"/>
                <a:satOff val="-8885"/>
                <a:lumOff val="3039"/>
                <a:alphaOff val="0"/>
                <a:tint val="94000"/>
                <a:satMod val="105000"/>
                <a:lumMod val="102000"/>
              </a:schemeClr>
            </a:gs>
            <a:gs pos="100000">
              <a:schemeClr val="accent5">
                <a:hueOff val="-1654278"/>
                <a:satOff val="-8885"/>
                <a:lumOff val="3039"/>
                <a:alphaOff val="0"/>
                <a:shade val="74000"/>
                <a:satMod val="128000"/>
                <a:lumMod val="100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Of the two models studied, which model worked best for detecting abusive Hindi comments?</a:t>
          </a:r>
        </a:p>
      </dsp:txBody>
      <dsp:txXfrm>
        <a:off x="56486" y="1796465"/>
        <a:ext cx="4322106" cy="1044158"/>
      </dsp:txXfrm>
    </dsp:sp>
    <dsp:sp modelId="{11B26722-BB86-48C1-837C-22896AB63F4C}">
      <dsp:nvSpPr>
        <dsp:cNvPr id="0" name=""/>
        <dsp:cNvSpPr/>
      </dsp:nvSpPr>
      <dsp:spPr>
        <a:xfrm>
          <a:off x="0" y="2963348"/>
          <a:ext cx="4435078" cy="1157130"/>
        </a:xfrm>
        <a:prstGeom prst="roundRect">
          <a:avLst/>
        </a:prstGeom>
        <a:gradFill rotWithShape="0">
          <a:gsLst>
            <a:gs pos="0">
              <a:schemeClr val="accent5">
                <a:hueOff val="-3308557"/>
                <a:satOff val="-17770"/>
                <a:lumOff val="6078"/>
                <a:alphaOff val="0"/>
                <a:tint val="94000"/>
                <a:satMod val="105000"/>
                <a:lumMod val="102000"/>
              </a:schemeClr>
            </a:gs>
            <a:gs pos="100000">
              <a:schemeClr val="accent5">
                <a:hueOff val="-3308557"/>
                <a:satOff val="-17770"/>
                <a:lumOff val="6078"/>
                <a:alphaOff val="0"/>
                <a:shade val="74000"/>
                <a:satMod val="128000"/>
                <a:lumMod val="100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What challenges occur when detecting abusive language in Hindi?</a:t>
          </a:r>
        </a:p>
      </dsp:txBody>
      <dsp:txXfrm>
        <a:off x="56486" y="3019834"/>
        <a:ext cx="4322106" cy="104415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EFE74C6-8978-4D93-9DD3-EF771923C787}">
      <dsp:nvSpPr>
        <dsp:cNvPr id="0" name=""/>
        <dsp:cNvSpPr/>
      </dsp:nvSpPr>
      <dsp:spPr>
        <a:xfrm>
          <a:off x="0" y="0"/>
          <a:ext cx="6315074" cy="1075455"/>
        </a:xfrm>
        <a:prstGeom prst="roundRect">
          <a:avLst>
            <a:gd name="adj" fmla="val 10000"/>
          </a:avLst>
        </a:prstGeom>
        <a:gradFill rotWithShape="0">
          <a:gsLst>
            <a:gs pos="0">
              <a:schemeClr val="accent2">
                <a:hueOff val="0"/>
                <a:satOff val="0"/>
                <a:lumOff val="0"/>
                <a:alphaOff val="0"/>
                <a:tint val="94000"/>
                <a:satMod val="105000"/>
                <a:lumMod val="102000"/>
              </a:schemeClr>
            </a:gs>
            <a:gs pos="100000">
              <a:schemeClr val="accent2">
                <a:hueOff val="0"/>
                <a:satOff val="0"/>
                <a:lumOff val="0"/>
                <a:alphaOff val="0"/>
                <a:shade val="74000"/>
                <a:satMod val="128000"/>
                <a:lumMod val="100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Social media platforms in India include comments written in many languages and dialects, making abusive content detection difficult.</a:t>
          </a:r>
        </a:p>
      </dsp:txBody>
      <dsp:txXfrm>
        <a:off x="31499" y="31499"/>
        <a:ext cx="5154574" cy="1012457"/>
      </dsp:txXfrm>
    </dsp:sp>
    <dsp:sp modelId="{60DA8C0C-EEC3-4916-867F-A0A0F4F8F0B8}">
      <dsp:nvSpPr>
        <dsp:cNvPr id="0" name=""/>
        <dsp:cNvSpPr/>
      </dsp:nvSpPr>
      <dsp:spPr>
        <a:xfrm>
          <a:off x="557212" y="1254697"/>
          <a:ext cx="6315074" cy="1075455"/>
        </a:xfrm>
        <a:prstGeom prst="roundRect">
          <a:avLst>
            <a:gd name="adj" fmla="val 10000"/>
          </a:avLst>
        </a:prstGeom>
        <a:gradFill rotWithShape="0">
          <a:gsLst>
            <a:gs pos="0">
              <a:schemeClr val="accent2">
                <a:hueOff val="-734515"/>
                <a:satOff val="-16247"/>
                <a:lumOff val="-3235"/>
                <a:alphaOff val="0"/>
                <a:tint val="94000"/>
                <a:satMod val="105000"/>
                <a:lumMod val="102000"/>
              </a:schemeClr>
            </a:gs>
            <a:gs pos="100000">
              <a:schemeClr val="accent2">
                <a:hueOff val="-734515"/>
                <a:satOff val="-16247"/>
                <a:lumOff val="-3235"/>
                <a:alphaOff val="0"/>
                <a:shade val="74000"/>
                <a:satMod val="128000"/>
                <a:lumMod val="100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This project focuses on Hindi, chosen because it is widely used and has a large presence on social media.</a:t>
          </a:r>
        </a:p>
      </dsp:txBody>
      <dsp:txXfrm>
        <a:off x="588711" y="1286196"/>
        <a:ext cx="4995817" cy="1012457"/>
      </dsp:txXfrm>
    </dsp:sp>
    <dsp:sp modelId="{712F7E6F-72D6-42DE-A89E-C277FBEF8006}">
      <dsp:nvSpPr>
        <dsp:cNvPr id="0" name=""/>
        <dsp:cNvSpPr/>
      </dsp:nvSpPr>
      <dsp:spPr>
        <a:xfrm>
          <a:off x="1114424" y="2509395"/>
          <a:ext cx="6315074" cy="1075455"/>
        </a:xfrm>
        <a:prstGeom prst="roundRect">
          <a:avLst>
            <a:gd name="adj" fmla="val 10000"/>
          </a:avLst>
        </a:prstGeom>
        <a:gradFill rotWithShape="0">
          <a:gsLst>
            <a:gs pos="0">
              <a:schemeClr val="accent2">
                <a:hueOff val="-1469031"/>
                <a:satOff val="-32495"/>
                <a:lumOff val="-6470"/>
                <a:alphaOff val="0"/>
                <a:tint val="94000"/>
                <a:satMod val="105000"/>
                <a:lumMod val="102000"/>
              </a:schemeClr>
            </a:gs>
            <a:gs pos="100000">
              <a:schemeClr val="accent2">
                <a:hueOff val="-1469031"/>
                <a:satOff val="-32495"/>
                <a:lumOff val="-6470"/>
                <a:alphaOff val="0"/>
                <a:shade val="74000"/>
                <a:satMod val="128000"/>
                <a:lumMod val="100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The goal is to develop an NLP-based model that classifies Hindi comments as abusive or non-abusive.</a:t>
          </a:r>
        </a:p>
      </dsp:txBody>
      <dsp:txXfrm>
        <a:off x="1145923" y="2540894"/>
        <a:ext cx="4995817" cy="1012457"/>
      </dsp:txXfrm>
    </dsp:sp>
    <dsp:sp modelId="{328B27CE-8BDE-4B10-B042-6B77CA67099E}">
      <dsp:nvSpPr>
        <dsp:cNvPr id="0" name=""/>
        <dsp:cNvSpPr/>
      </dsp:nvSpPr>
      <dsp:spPr>
        <a:xfrm>
          <a:off x="5616028" y="815553"/>
          <a:ext cx="699045" cy="699045"/>
        </a:xfrm>
        <a:prstGeom prst="downArrow">
          <a:avLst>
            <a:gd name="adj1" fmla="val 55000"/>
            <a:gd name="adj2" fmla="val 45000"/>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4450" tIns="44450" rIns="44450" bIns="44450" numCol="1" spcCol="1270" anchor="ctr" anchorCtr="0">
          <a:noAutofit/>
        </a:bodyPr>
        <a:lstStyle/>
        <a:p>
          <a:pPr marL="0" lvl="0" indent="0" algn="ctr" defTabSz="1555750">
            <a:lnSpc>
              <a:spcPct val="90000"/>
            </a:lnSpc>
            <a:spcBef>
              <a:spcPct val="0"/>
            </a:spcBef>
            <a:spcAft>
              <a:spcPct val="35000"/>
            </a:spcAft>
            <a:buNone/>
          </a:pPr>
          <a:endParaRPr lang="en-US" sz="3500" kern="1200"/>
        </a:p>
      </dsp:txBody>
      <dsp:txXfrm>
        <a:off x="5773313" y="815553"/>
        <a:ext cx="384475" cy="526031"/>
      </dsp:txXfrm>
    </dsp:sp>
    <dsp:sp modelId="{BE19FF33-9276-40C5-AED0-157411328E7D}">
      <dsp:nvSpPr>
        <dsp:cNvPr id="0" name=""/>
        <dsp:cNvSpPr/>
      </dsp:nvSpPr>
      <dsp:spPr>
        <a:xfrm>
          <a:off x="6173240" y="2063081"/>
          <a:ext cx="699045" cy="699045"/>
        </a:xfrm>
        <a:prstGeom prst="downArrow">
          <a:avLst>
            <a:gd name="adj1" fmla="val 55000"/>
            <a:gd name="adj2" fmla="val 45000"/>
          </a:avLst>
        </a:prstGeom>
        <a:solidFill>
          <a:schemeClr val="accent2">
            <a:tint val="40000"/>
            <a:alpha val="90000"/>
            <a:hueOff val="-1195736"/>
            <a:satOff val="-42564"/>
            <a:lumOff val="-2706"/>
            <a:alphaOff val="0"/>
          </a:schemeClr>
        </a:solidFill>
        <a:ln w="9525" cap="flat" cmpd="sng" algn="ctr">
          <a:solidFill>
            <a:schemeClr val="accent2">
              <a:tint val="40000"/>
              <a:alpha val="90000"/>
              <a:hueOff val="-1195736"/>
              <a:satOff val="-42564"/>
              <a:lumOff val="-2706"/>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4450" tIns="44450" rIns="44450" bIns="44450" numCol="1" spcCol="1270" anchor="ctr" anchorCtr="0">
          <a:noAutofit/>
        </a:bodyPr>
        <a:lstStyle/>
        <a:p>
          <a:pPr marL="0" lvl="0" indent="0" algn="ctr" defTabSz="1555750">
            <a:lnSpc>
              <a:spcPct val="90000"/>
            </a:lnSpc>
            <a:spcBef>
              <a:spcPct val="0"/>
            </a:spcBef>
            <a:spcAft>
              <a:spcPct val="35000"/>
            </a:spcAft>
            <a:buNone/>
          </a:pPr>
          <a:endParaRPr lang="en-US" sz="3500" kern="1200"/>
        </a:p>
      </dsp:txBody>
      <dsp:txXfrm>
        <a:off x="6330525" y="2063081"/>
        <a:ext cx="384475" cy="526031"/>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453A507-A90B-70F7-93C1-7ED47993905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5A7D9C95-7140-49F5-E1B7-B733D5E0AB8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700ABC7-2275-46D0-977B-9545C693502D}" type="datetimeFigureOut">
              <a:rPr lang="en-US" smtClean="0"/>
              <a:t>2/21/2026</a:t>
            </a:fld>
            <a:endParaRPr lang="en-US" dirty="0"/>
          </a:p>
        </p:txBody>
      </p:sp>
      <p:sp>
        <p:nvSpPr>
          <p:cNvPr id="4" name="Footer Placeholder 3">
            <a:extLst>
              <a:ext uri="{FF2B5EF4-FFF2-40B4-BE49-F238E27FC236}">
                <a16:creationId xmlns:a16="http://schemas.microsoft.com/office/drawing/2014/main" id="{F00AF980-3A21-6A52-A78D-56B2505D840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9896BA9D-5462-EC9B-E9E7-3B7AD58C30C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C5688D6-D04E-43F1-9BEA-E46C8F5C6862}" type="slidenum">
              <a:rPr lang="en-US" smtClean="0"/>
              <a:t>‹#›</a:t>
            </a:fld>
            <a:endParaRPr lang="en-US" dirty="0"/>
          </a:p>
        </p:txBody>
      </p:sp>
    </p:spTree>
    <p:extLst>
      <p:ext uri="{BB962C8B-B14F-4D97-AF65-F5344CB8AC3E}">
        <p14:creationId xmlns:p14="http://schemas.microsoft.com/office/powerpoint/2010/main" val="621623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6FCB015-0A10-4D8A-BE12-C0F120A55510}" type="datetimeFigureOut">
              <a:rPr lang="en-US" smtClean="0"/>
              <a:t>2/21/2026</a:t>
            </a:fld>
            <a:endParaRPr lang="en-US"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1ED220A-D4E5-48D0-94D0-FCB57642F238}" type="slidenum">
              <a:rPr lang="en-US" smtClean="0"/>
              <a:t>‹#›</a:t>
            </a:fld>
            <a:endParaRPr lang="en-US" dirty="0"/>
          </a:p>
        </p:txBody>
      </p:sp>
    </p:spTree>
    <p:extLst>
      <p:ext uri="{BB962C8B-B14F-4D97-AF65-F5344CB8AC3E}">
        <p14:creationId xmlns:p14="http://schemas.microsoft.com/office/powerpoint/2010/main" val="9233443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2" name="Picture 2" descr="\\DROBO-FS\QuickDrops\JB\PPTX NG\Droplets\LightingOverlay.png"/>
          <p:cNvPicPr>
            <a:picLocks noChangeAspect="1" noChangeArrowheads="1"/>
          </p:cNvPicPr>
          <p:nvPr/>
        </p:nvPicPr>
        <p:blipFill>
          <a:blip r:embed="rId2">
            <a:alphaModFix amt="30000"/>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 y="-1"/>
            <a:ext cx="9144002"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66" name="Group 65"/>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67"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68"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9"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70"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71"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72"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73"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74"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75"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76"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77"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78"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79"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80"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81"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82"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83"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84"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85"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86"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87"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88"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89"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90"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91"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92"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93"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94"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95"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96"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97"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98"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99"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00"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01"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02"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03"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04"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05"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06"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07"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08"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09"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10"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11"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12"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13"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14"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15"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16"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17"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18"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19"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0"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900238" y="1122363"/>
            <a:ext cx="6593681"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900238" y="3602038"/>
            <a:ext cx="6593681"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5801052" y="5410202"/>
            <a:ext cx="2057400" cy="365125"/>
          </a:xfrm>
        </p:spPr>
        <p:txBody>
          <a:bodyPr/>
          <a:lstStyle/>
          <a:p>
            <a:fld id="{B0CC04F0-D33E-4612-B4AF-6C29CE1B553D}" type="datetime1">
              <a:rPr lang="en-US" smtClean="0"/>
              <a:t>2/21/2026</a:t>
            </a:fld>
            <a:endParaRPr lang="en-US" dirty="0"/>
          </a:p>
        </p:txBody>
      </p:sp>
      <p:sp>
        <p:nvSpPr>
          <p:cNvPr id="5" name="Footer Placeholder 4"/>
          <p:cNvSpPr>
            <a:spLocks noGrp="1"/>
          </p:cNvSpPr>
          <p:nvPr>
            <p:ph type="ftr" sz="quarter" idx="11"/>
          </p:nvPr>
        </p:nvSpPr>
        <p:spPr>
          <a:xfrm>
            <a:off x="1900237" y="5410202"/>
            <a:ext cx="3843665" cy="365125"/>
          </a:xfrm>
        </p:spPr>
        <p:txBody>
          <a:bodyPr/>
          <a:lstStyle/>
          <a:p>
            <a:endParaRPr lang="en-US" dirty="0"/>
          </a:p>
        </p:txBody>
      </p:sp>
      <p:sp>
        <p:nvSpPr>
          <p:cNvPr id="6" name="Slide Number Placeholder 5"/>
          <p:cNvSpPr>
            <a:spLocks noGrp="1"/>
          </p:cNvSpPr>
          <p:nvPr>
            <p:ph type="sldNum" sz="quarter" idx="12"/>
          </p:nvPr>
        </p:nvSpPr>
        <p:spPr>
          <a:xfrm>
            <a:off x="7915603" y="5410200"/>
            <a:ext cx="578317" cy="365125"/>
          </a:xfrm>
        </p:spPr>
        <p:txBody>
          <a:bodyPr/>
          <a:lstStyle/>
          <a:p>
            <a:fld id="{B1DD23E2-BA1B-8049-8B7E-58F2712DF32D}" type="slidenum">
              <a:rPr lang="en-US" smtClean="0"/>
              <a:t>‹#›</a:t>
            </a:fld>
            <a:endParaRPr lang="en-US" dirty="0"/>
          </a:p>
        </p:txBody>
      </p:sp>
    </p:spTree>
    <p:extLst>
      <p:ext uri="{BB962C8B-B14F-4D97-AF65-F5344CB8AC3E}">
        <p14:creationId xmlns:p14="http://schemas.microsoft.com/office/powerpoint/2010/main" val="26011148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7" name="Title 1"/>
          <p:cNvSpPr>
            <a:spLocks noGrp="1"/>
          </p:cNvSpPr>
          <p:nvPr>
            <p:ph type="title"/>
          </p:nvPr>
        </p:nvSpPr>
        <p:spPr>
          <a:xfrm>
            <a:off x="856060" y="618518"/>
            <a:ext cx="7429499" cy="1478570"/>
          </a:xfrm>
        </p:spPr>
        <p:txBody>
          <a:bodyPr/>
          <a:lstStyle/>
          <a:p>
            <a:r>
              <a:rPr lang="en-US"/>
              <a:t>Click to edit Master title style</a:t>
            </a:r>
            <a:endParaRPr lang="en-US" dirty="0"/>
          </a:p>
        </p:txBody>
      </p:sp>
      <p:sp>
        <p:nvSpPr>
          <p:cNvPr id="48" name="Content Placeholder 2"/>
          <p:cNvSpPr>
            <a:spLocks noGrp="1"/>
          </p:cNvSpPr>
          <p:nvPr>
            <p:ph idx="1"/>
          </p:nvPr>
        </p:nvSpPr>
        <p:spPr>
          <a:xfrm>
            <a:off x="856060" y="2249487"/>
            <a:ext cx="742949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Date Placeholder 3"/>
          <p:cNvSpPr>
            <a:spLocks noGrp="1"/>
          </p:cNvSpPr>
          <p:nvPr>
            <p:ph type="dt" sz="half" idx="10"/>
          </p:nvPr>
        </p:nvSpPr>
        <p:spPr>
          <a:xfrm>
            <a:off x="5592691" y="5883277"/>
            <a:ext cx="2057400" cy="365125"/>
          </a:xfrm>
        </p:spPr>
        <p:txBody>
          <a:bodyPr/>
          <a:lstStyle/>
          <a:p>
            <a:fld id="{80D636C3-13A2-435A-8927-DBF788CB1DC8}" type="datetime1">
              <a:rPr lang="en-US" smtClean="0"/>
              <a:t>2/21/2026</a:t>
            </a:fld>
            <a:endParaRPr lang="en-US" dirty="0"/>
          </a:p>
        </p:txBody>
      </p:sp>
      <p:sp>
        <p:nvSpPr>
          <p:cNvPr id="50" name="Footer Placeholder 4"/>
          <p:cNvSpPr>
            <a:spLocks noGrp="1"/>
          </p:cNvSpPr>
          <p:nvPr>
            <p:ph type="ftr" sz="quarter" idx="11"/>
          </p:nvPr>
        </p:nvSpPr>
        <p:spPr>
          <a:xfrm>
            <a:off x="856059" y="5883276"/>
            <a:ext cx="4679482" cy="365125"/>
          </a:xfrm>
        </p:spPr>
        <p:txBody>
          <a:bodyPr/>
          <a:lstStyle/>
          <a:p>
            <a:endParaRPr lang="en-US" dirty="0"/>
          </a:p>
        </p:txBody>
      </p:sp>
      <p:sp>
        <p:nvSpPr>
          <p:cNvPr id="51" name="Slide Number Placeholder 5"/>
          <p:cNvSpPr>
            <a:spLocks noGrp="1"/>
          </p:cNvSpPr>
          <p:nvPr>
            <p:ph type="sldNum" sz="quarter" idx="12"/>
          </p:nvPr>
        </p:nvSpPr>
        <p:spPr>
          <a:xfrm>
            <a:off x="7707241" y="5883275"/>
            <a:ext cx="578317" cy="365125"/>
          </a:xfrm>
        </p:spPr>
        <p:txBody>
          <a:bodyPr/>
          <a:lstStyle/>
          <a:p>
            <a:fld id="{B1DD23E2-BA1B-8049-8B7E-58F2712DF32D}" type="slidenum">
              <a:rPr lang="en-US" smtClean="0"/>
              <a:t>‹#›</a:t>
            </a:fld>
            <a:endParaRPr lang="en-US" dirty="0"/>
          </a:p>
        </p:txBody>
      </p:sp>
    </p:spTree>
    <p:extLst>
      <p:ext uri="{BB962C8B-B14F-4D97-AF65-F5344CB8AC3E}">
        <p14:creationId xmlns:p14="http://schemas.microsoft.com/office/powerpoint/2010/main" val="12400035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56058" y="1419227"/>
            <a:ext cx="74295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856058" y="4424362"/>
            <a:ext cx="74295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879E1AA-FBCE-4E72-91C3-7B94C5918C10}" type="datetime1">
              <a:rPr lang="en-US" smtClean="0"/>
              <a:t>2/21/2026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1DD23E2-BA1B-8049-8B7E-58F2712DF32D}" type="slidenum">
              <a:rPr lang="en-US" smtClean="0"/>
              <a:t>‹#›</a:t>
            </a:fld>
            <a:endParaRPr lang="en-US" dirty="0"/>
          </a:p>
        </p:txBody>
      </p:sp>
    </p:spTree>
    <p:extLst>
      <p:ext uri="{BB962C8B-B14F-4D97-AF65-F5344CB8AC3E}">
        <p14:creationId xmlns:p14="http://schemas.microsoft.com/office/powerpoint/2010/main" val="21294380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56058" y="2249486"/>
            <a:ext cx="3658792"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1" y="2249486"/>
            <a:ext cx="3656408"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F01BFE3-196D-4048-8A37-25AF626C744C}" type="datetime1">
              <a:rPr lang="en-US" smtClean="0"/>
              <a:t>2/21/2026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1DD23E2-BA1B-8049-8B7E-58F2712DF32D}" type="slidenum">
              <a:rPr lang="en-US" smtClean="0"/>
              <a:t>‹#›</a:t>
            </a:fld>
            <a:endParaRPr lang="en-US" dirty="0"/>
          </a:p>
        </p:txBody>
      </p:sp>
    </p:spTree>
    <p:extLst>
      <p:ext uri="{BB962C8B-B14F-4D97-AF65-F5344CB8AC3E}">
        <p14:creationId xmlns:p14="http://schemas.microsoft.com/office/powerpoint/2010/main" val="2490535832"/>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56058" y="619127"/>
            <a:ext cx="74295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78902" y="2249486"/>
            <a:ext cx="3435949"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56058" y="3073398"/>
            <a:ext cx="3658793"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51992" y="2249485"/>
            <a:ext cx="3433565"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3073398"/>
            <a:ext cx="3656408"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F01BFE3-196D-4048-8A37-25AF626C744C}" type="datetime1">
              <a:rPr lang="en-US" smtClean="0"/>
              <a:t>2/21/2026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1DD23E2-BA1B-8049-8B7E-58F2712DF32D}" type="slidenum">
              <a:rPr lang="en-US" smtClean="0"/>
              <a:t>‹#›</a:t>
            </a:fld>
            <a:endParaRPr lang="en-US" dirty="0"/>
          </a:p>
        </p:txBody>
      </p:sp>
    </p:spTree>
    <p:extLst>
      <p:ext uri="{BB962C8B-B14F-4D97-AF65-F5344CB8AC3E}">
        <p14:creationId xmlns:p14="http://schemas.microsoft.com/office/powerpoint/2010/main" val="2767910865"/>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1B60406-BA1B-463B-B0E8-F4EB15750DAD}" type="datetime1">
              <a:rPr lang="en-US" smtClean="0"/>
              <a:t>2/21/2026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1DD23E2-BA1B-8049-8B7E-58F2712DF32D}" type="slidenum">
              <a:rPr lang="en-US" smtClean="0"/>
              <a:t>‹#›</a:t>
            </a:fld>
            <a:endParaRPr lang="en-US" dirty="0"/>
          </a:p>
        </p:txBody>
      </p:sp>
    </p:spTree>
    <p:extLst>
      <p:ext uri="{BB962C8B-B14F-4D97-AF65-F5344CB8AC3E}">
        <p14:creationId xmlns:p14="http://schemas.microsoft.com/office/powerpoint/2010/main" val="5635051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FE00EE5-25FB-4B05-9A9C-D55B5C1FF5D0}" type="datetime1">
              <a:rPr lang="en-US" smtClean="0"/>
              <a:t>2/21/2026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1DD23E2-BA1B-8049-8B7E-58F2712DF32D}" type="slidenum">
              <a:rPr lang="en-US" smtClean="0"/>
              <a:t>‹#›</a:t>
            </a:fld>
            <a:endParaRPr lang="en-US" dirty="0"/>
          </a:p>
        </p:txBody>
      </p:sp>
    </p:spTree>
    <p:extLst>
      <p:ext uri="{BB962C8B-B14F-4D97-AF65-F5344CB8AC3E}">
        <p14:creationId xmlns:p14="http://schemas.microsoft.com/office/powerpoint/2010/main" val="32278965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029" y="609601"/>
            <a:ext cx="2892028"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67150" y="592666"/>
            <a:ext cx="4418407"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0029" y="2249486"/>
            <a:ext cx="2892028"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F01BFE3-196D-4048-8A37-25AF626C744C}" type="datetime1">
              <a:rPr lang="en-US" smtClean="0"/>
              <a:t>2/21/2026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1DD23E2-BA1B-8049-8B7E-58F2712DF32D}" type="slidenum">
              <a:rPr lang="en-US" smtClean="0"/>
              <a:t>‹#›</a:t>
            </a:fld>
            <a:endParaRPr lang="en-US" dirty="0"/>
          </a:p>
        </p:txBody>
      </p:sp>
    </p:spTree>
    <p:extLst>
      <p:ext uri="{BB962C8B-B14F-4D97-AF65-F5344CB8AC3E}">
        <p14:creationId xmlns:p14="http://schemas.microsoft.com/office/powerpoint/2010/main" val="2031095129"/>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56061" y="609600"/>
            <a:ext cx="3753962"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32866" y="609600"/>
            <a:ext cx="3452693" cy="5181602"/>
          </a:xfrm>
          <a:prstGeom prst="round2DiagRect">
            <a:avLst>
              <a:gd name="adj1" fmla="val 6074"/>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856059" y="2249486"/>
            <a:ext cx="3753964"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F01BFE3-196D-4048-8A37-25AF626C744C}" type="datetime1">
              <a:rPr lang="en-US" smtClean="0"/>
              <a:t>2/21/2026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1DD23E2-BA1B-8049-8B7E-58F2712DF32D}" type="slidenum">
              <a:rPr lang="en-US" smtClean="0"/>
              <a:t>‹#›</a:t>
            </a:fld>
            <a:endParaRPr lang="en-US" dirty="0"/>
          </a:p>
        </p:txBody>
      </p:sp>
    </p:spTree>
    <p:extLst>
      <p:ext uri="{BB962C8B-B14F-4D97-AF65-F5344CB8AC3E}">
        <p14:creationId xmlns:p14="http://schemas.microsoft.com/office/powerpoint/2010/main" val="1245538101"/>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56058" y="4304665"/>
            <a:ext cx="7434266"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56058" y="606426"/>
            <a:ext cx="7434266" cy="3299778"/>
          </a:xfrm>
          <a:prstGeom prst="round2DiagRect">
            <a:avLst>
              <a:gd name="adj1" fmla="val 5101"/>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856024" y="5124020"/>
            <a:ext cx="7433144"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F01BFE3-196D-4048-8A37-25AF626C744C}" type="datetime1">
              <a:rPr lang="en-US" smtClean="0"/>
              <a:t>2/21/2026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1DD23E2-BA1B-8049-8B7E-58F2712DF32D}" type="slidenum">
              <a:rPr lang="en-US" smtClean="0"/>
              <a:t>‹#›</a:t>
            </a:fld>
            <a:endParaRPr lang="en-US" dirty="0"/>
          </a:p>
        </p:txBody>
      </p:sp>
    </p:spTree>
    <p:extLst>
      <p:ext uri="{BB962C8B-B14F-4D97-AF65-F5344CB8AC3E}">
        <p14:creationId xmlns:p14="http://schemas.microsoft.com/office/powerpoint/2010/main" val="22640355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56093" y="609600"/>
            <a:ext cx="7429466"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856058" y="4419600"/>
            <a:ext cx="7428344"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F01BFE3-196D-4048-8A37-25AF626C744C}" type="datetime1">
              <a:rPr lang="en-US" smtClean="0"/>
              <a:t>2/21/2026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1DD23E2-BA1B-8049-8B7E-58F2712DF32D}" type="slidenum">
              <a:rPr lang="en-US" smtClean="0"/>
              <a:t>‹#›</a:t>
            </a:fld>
            <a:endParaRPr lang="en-US" dirty="0"/>
          </a:p>
        </p:txBody>
      </p:sp>
    </p:spTree>
    <p:extLst>
      <p:ext uri="{BB962C8B-B14F-4D97-AF65-F5344CB8AC3E}">
        <p14:creationId xmlns:p14="http://schemas.microsoft.com/office/powerpoint/2010/main" val="3755427211"/>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4659" y="609600"/>
            <a:ext cx="6977064"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290484" y="3365557"/>
            <a:ext cx="6564224"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856058" y="4309919"/>
            <a:ext cx="74295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F01BFE3-196D-4048-8A37-25AF626C744C}" type="datetime1">
              <a:rPr lang="en-US" smtClean="0"/>
              <a:t>2/21/2026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1DD23E2-BA1B-8049-8B7E-58F2712DF32D}" type="slidenum">
              <a:rPr lang="en-US" smtClean="0"/>
              <a:t>‹#›</a:t>
            </a:fld>
            <a:endParaRPr lang="en-US" dirty="0"/>
          </a:p>
        </p:txBody>
      </p:sp>
      <p:sp>
        <p:nvSpPr>
          <p:cNvPr id="52" name="TextBox 51"/>
          <p:cNvSpPr txBox="1"/>
          <p:nvPr/>
        </p:nvSpPr>
        <p:spPr>
          <a:xfrm>
            <a:off x="696579" y="718458"/>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53" name="TextBox 52"/>
          <p:cNvSpPr txBox="1"/>
          <p:nvPr/>
        </p:nvSpPr>
        <p:spPr>
          <a:xfrm>
            <a:off x="7817473" y="2764972"/>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Tree>
    <p:extLst>
      <p:ext uri="{BB962C8B-B14F-4D97-AF65-F5344CB8AC3E}">
        <p14:creationId xmlns:p14="http://schemas.microsoft.com/office/powerpoint/2010/main" val="3603651693"/>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56058" y="2134042"/>
            <a:ext cx="74295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856023" y="4657655"/>
            <a:ext cx="7428379"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F01BFE3-196D-4048-8A37-25AF626C744C}" type="datetime1">
              <a:rPr lang="en-US" smtClean="0"/>
              <a:t>2/21/2026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1DD23E2-BA1B-8049-8B7E-58F2712DF32D}" type="slidenum">
              <a:rPr lang="en-US" smtClean="0"/>
              <a:t>‹#›</a:t>
            </a:fld>
            <a:endParaRPr lang="en-US" dirty="0"/>
          </a:p>
        </p:txBody>
      </p:sp>
    </p:spTree>
    <p:extLst>
      <p:ext uri="{BB962C8B-B14F-4D97-AF65-F5344CB8AC3E}">
        <p14:creationId xmlns:p14="http://schemas.microsoft.com/office/powerpoint/2010/main" val="2432794470"/>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856060" y="609600"/>
            <a:ext cx="7429499"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856058" y="2674463"/>
            <a:ext cx="2397674" cy="685800"/>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856059" y="3360263"/>
            <a:ext cx="2396432"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386075" y="2677635"/>
            <a:ext cx="2388289" cy="685800"/>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386075" y="3363435"/>
            <a:ext cx="238895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889332" y="2674463"/>
            <a:ext cx="2396226" cy="685800"/>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889332" y="3360263"/>
            <a:ext cx="2396226"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F01BFE3-196D-4048-8A37-25AF626C744C}" type="datetime1">
              <a:rPr lang="en-US" smtClean="0"/>
              <a:t>2/21/2026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1DD23E2-BA1B-8049-8B7E-58F2712DF32D}" type="slidenum">
              <a:rPr lang="en-US" smtClean="0"/>
              <a:t>‹#›</a:t>
            </a:fld>
            <a:endParaRPr lang="en-US" dirty="0"/>
          </a:p>
        </p:txBody>
      </p:sp>
    </p:spTree>
    <p:extLst>
      <p:ext uri="{BB962C8B-B14F-4D97-AF65-F5344CB8AC3E}">
        <p14:creationId xmlns:p14="http://schemas.microsoft.com/office/powerpoint/2010/main" val="1863728201"/>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856059" y="609600"/>
            <a:ext cx="74294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856060" y="4404596"/>
            <a:ext cx="239643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856060" y="2666998"/>
            <a:ext cx="239643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18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856060" y="4980859"/>
            <a:ext cx="239643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366790" y="4404596"/>
            <a:ext cx="24003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366790" y="2666998"/>
            <a:ext cx="2399205"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18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3365695" y="4980857"/>
            <a:ext cx="24003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889426" y="4404595"/>
            <a:ext cx="2393056"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5889332" y="2666998"/>
            <a:ext cx="2396227"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18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5889332" y="4980855"/>
            <a:ext cx="2396226"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F01BFE3-196D-4048-8A37-25AF626C744C}" type="datetime1">
              <a:rPr lang="en-US" smtClean="0"/>
              <a:t>2/21/2026</a:t>
            </a:fld>
            <a:endParaRPr lang="en-US" dirty="0"/>
          </a:p>
        </p:txBody>
      </p:sp>
      <p:sp>
        <p:nvSpPr>
          <p:cNvPr id="4" name="Footer Placeholder 3"/>
          <p:cNvSpPr>
            <a:spLocks noGrp="1"/>
          </p:cNvSpPr>
          <p:nvPr>
            <p:ph type="ftr" sz="quarter" idx="11"/>
          </p:nvPr>
        </p:nvSpPr>
        <p:spPr/>
        <p:txBody>
          <a:bodyPr/>
          <a:lstStyle>
            <a:lvl1pPr>
              <a:defRPr cap="all" baseline="0"/>
            </a:lvl1pPr>
          </a:lstStyle>
          <a:p>
            <a:endParaRPr lang="en-US" dirty="0"/>
          </a:p>
        </p:txBody>
      </p:sp>
      <p:sp>
        <p:nvSpPr>
          <p:cNvPr id="5" name="Slide Number Placeholder 4"/>
          <p:cNvSpPr>
            <a:spLocks noGrp="1"/>
          </p:cNvSpPr>
          <p:nvPr>
            <p:ph type="sldNum" sz="quarter" idx="12"/>
          </p:nvPr>
        </p:nvSpPr>
        <p:spPr/>
        <p:txBody>
          <a:bodyPr/>
          <a:lstStyle/>
          <a:p>
            <a:fld id="{B1DD23E2-BA1B-8049-8B7E-58F2712DF32D}" type="slidenum">
              <a:rPr lang="en-US" smtClean="0"/>
              <a:t>‹#›</a:t>
            </a:fld>
            <a:endParaRPr lang="en-US" dirty="0"/>
          </a:p>
        </p:txBody>
      </p:sp>
    </p:spTree>
    <p:extLst>
      <p:ext uri="{BB962C8B-B14F-4D97-AF65-F5344CB8AC3E}">
        <p14:creationId xmlns:p14="http://schemas.microsoft.com/office/powerpoint/2010/main" val="3521493716"/>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F01BFE3-196D-4048-8A37-25AF626C744C}" type="datetime1">
              <a:rPr lang="en-US" smtClean="0"/>
              <a:t>2/21/2026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1DD23E2-BA1B-8049-8B7E-58F2712DF32D}" type="slidenum">
              <a:rPr lang="en-US" smtClean="0"/>
              <a:t>‹#›</a:t>
            </a:fld>
            <a:endParaRPr lang="en-US" dirty="0"/>
          </a:p>
        </p:txBody>
      </p:sp>
    </p:spTree>
    <p:extLst>
      <p:ext uri="{BB962C8B-B14F-4D97-AF65-F5344CB8AC3E}">
        <p14:creationId xmlns:p14="http://schemas.microsoft.com/office/powerpoint/2010/main" val="3752444626"/>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1" y="609600"/>
            <a:ext cx="1503758"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56057" y="609600"/>
            <a:ext cx="5811443"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F01BFE3-196D-4048-8A37-25AF626C744C}" type="datetime1">
              <a:rPr lang="en-US" smtClean="0"/>
              <a:t>2/21/2026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1DD23E2-BA1B-8049-8B7E-58F2712DF32D}" type="slidenum">
              <a:rPr lang="en-US" smtClean="0"/>
              <a:t>‹#›</a:t>
            </a:fld>
            <a:endParaRPr lang="en-US" dirty="0"/>
          </a:p>
        </p:txBody>
      </p:sp>
    </p:spTree>
    <p:extLst>
      <p:ext uri="{BB962C8B-B14F-4D97-AF65-F5344CB8AC3E}">
        <p14:creationId xmlns:p14="http://schemas.microsoft.com/office/powerpoint/2010/main" val="3000643385"/>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 y="-1"/>
            <a:ext cx="9144002"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9041774" cy="6858001"/>
            <a:chOff x="-14288" y="0"/>
            <a:chExt cx="9041774"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8352798"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856060" y="618518"/>
            <a:ext cx="7429499"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856060" y="2249487"/>
            <a:ext cx="74294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592691" y="5883277"/>
            <a:ext cx="20574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3F01BFE3-196D-4048-8A37-25AF626C744C}" type="datetime1">
              <a:rPr lang="en-US" smtClean="0"/>
              <a:t>2/21/2026</a:t>
            </a:fld>
            <a:endParaRPr lang="en-US" dirty="0"/>
          </a:p>
        </p:txBody>
      </p:sp>
      <p:sp>
        <p:nvSpPr>
          <p:cNvPr id="5" name="Footer Placeholder 4"/>
          <p:cNvSpPr>
            <a:spLocks noGrp="1"/>
          </p:cNvSpPr>
          <p:nvPr>
            <p:ph type="ftr" sz="quarter" idx="3"/>
          </p:nvPr>
        </p:nvSpPr>
        <p:spPr>
          <a:xfrm>
            <a:off x="856059" y="5883276"/>
            <a:ext cx="4679482"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7707241" y="5883275"/>
            <a:ext cx="578317"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B1DD23E2-BA1B-8049-8B7E-58F2712DF32D}" type="slidenum">
              <a:rPr lang="en-US" smtClean="0"/>
              <a:t>‹#›</a:t>
            </a:fld>
            <a:endParaRPr lang="en-US" dirty="0"/>
          </a:p>
        </p:txBody>
      </p:sp>
    </p:spTree>
    <p:extLst>
      <p:ext uri="{BB962C8B-B14F-4D97-AF65-F5344CB8AC3E}">
        <p14:creationId xmlns:p14="http://schemas.microsoft.com/office/powerpoint/2010/main" val="764019635"/>
      </p:ext>
    </p:extLst>
  </p:cSld>
  <p:clrMap bg1="dk1" tx1="lt1" bg2="dk2" tx2="lt2" accent1="accent1" accent2="accent2" accent3="accent3" accent4="accent4" accent5="accent5" accent6="accent6" hlink="hlink" folHlink="folHlink"/>
  <p:sldLayoutIdLst>
    <p:sldLayoutId id="2147483866" r:id="rId1"/>
    <p:sldLayoutId id="2147483867" r:id="rId2"/>
    <p:sldLayoutId id="2147483868" r:id="rId3"/>
    <p:sldLayoutId id="2147483869" r:id="rId4"/>
    <p:sldLayoutId id="2147483870" r:id="rId5"/>
    <p:sldLayoutId id="2147483871" r:id="rId6"/>
    <p:sldLayoutId id="2147483872" r:id="rId7"/>
    <p:sldLayoutId id="2147483873" r:id="rId8"/>
    <p:sldLayoutId id="2147483874" r:id="rId9"/>
    <p:sldLayoutId id="2147483875" r:id="rId10"/>
    <p:sldLayoutId id="2147483876" r:id="rId11"/>
    <p:sldLayoutId id="2147483877" r:id="rId12"/>
    <p:sldLayoutId id="2147483878" r:id="rId13"/>
    <p:sldLayoutId id="2147483879" r:id="rId14"/>
    <p:sldLayoutId id="2147483880" r:id="rId15"/>
    <p:sldLayoutId id="2147483881" r:id="rId16"/>
    <p:sldLayoutId id="2147483882" r:id="rId17"/>
  </p:sldLayoutIdLst>
  <p:hf hdr="0" ftr="0" dt="0"/>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hyperlink" Target="https://doi.org/10.1145/3041021.3054223" TargetMode="External"/><Relationship Id="rId2" Type="http://schemas.openxmlformats.org/officeDocument/2006/relationships/hyperlink" Target="https://www.kaggle.com/competitions/multilingualabusivecomment/data" TargetMode="External"/><Relationship Id="rId1" Type="http://schemas.openxmlformats.org/officeDocument/2006/relationships/slideLayout" Target="../slideLayouts/slideLayout2.xml"/><Relationship Id="rId6" Type="http://schemas.openxmlformats.org/officeDocument/2006/relationships/hyperlink" Target="https://doi.org/10.1186/s40537-024-00943-4" TargetMode="External"/><Relationship Id="rId5" Type="http://schemas.openxmlformats.org/officeDocument/2006/relationships/hyperlink" Target="https://doi.org/10.48550/arXiv.2103.10730" TargetMode="External"/><Relationship Id="rId4" Type="http://schemas.openxmlformats.org/officeDocument/2006/relationships/hyperlink" Target="https://doi.org/10.18653/v1/2020.findings-emnlp.445" TargetMode="External"/></Relationships>
</file>

<file path=ppt/slides/_rels/slide61.xml.rels><?xml version="1.0" encoding="UTF-8" standalone="yes"?>
<Relationships xmlns="http://schemas.openxmlformats.org/package/2006/relationships"><Relationship Id="rId3" Type="http://schemas.openxmlformats.org/officeDocument/2006/relationships/hyperlink" Target="https://doi.org/10.35940/ijeat.f1294.0886s219" TargetMode="External"/><Relationship Id="rId7" Type="http://schemas.openxmlformats.org/officeDocument/2006/relationships/hyperlink" Target="https://nlp.stanford.edu/IR-book/" TargetMode="External"/><Relationship Id="rId2" Type="http://schemas.openxmlformats.org/officeDocument/2006/relationships/hyperlink" Target="https://doi.org/10.14569/ijacsa.2021.0120278" TargetMode="External"/><Relationship Id="rId1" Type="http://schemas.openxmlformats.org/officeDocument/2006/relationships/slideLayout" Target="../slideLayouts/slideLayout7.xml"/><Relationship Id="rId6" Type="http://schemas.openxmlformats.org/officeDocument/2006/relationships/hyperlink" Target="https://hastie.su.domains/ElemStatLearn/" TargetMode="External"/><Relationship Id="rId5" Type="http://schemas.openxmlformats.org/officeDocument/2006/relationships/hyperlink" Target="https://doi.org/10.1145/1015330.1015435" TargetMode="External"/><Relationship Id="rId4" Type="http://schemas.openxmlformats.org/officeDocument/2006/relationships/hyperlink" Target="https://www.ibm.com/think/topics/naive-bayes" TargetMode="Externa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p:nvSpPr>
          <p:cNvPr id="2" name="object 2"/>
          <p:cNvSpPr txBox="1">
            <a:spLocks noGrp="1"/>
          </p:cNvSpPr>
          <p:nvPr>
            <p:ph type="title"/>
          </p:nvPr>
        </p:nvSpPr>
        <p:spPr>
          <a:xfrm>
            <a:off x="690283" y="1689861"/>
            <a:ext cx="7315200" cy="2182343"/>
          </a:xfrm>
          <a:prstGeom prst="rect">
            <a:avLst/>
          </a:prstGeom>
        </p:spPr>
        <p:txBody>
          <a:bodyPr vert="horz" lIns="91440" tIns="45720" rIns="91440" bIns="45720" rtlCol="0" anchor="t" anchorCtr="0">
            <a:noAutofit/>
          </a:bodyPr>
          <a:lstStyle/>
          <a:p>
            <a:pPr defTabSz="914400"/>
            <a:r>
              <a:rPr lang="en-US" sz="4400" b="1" dirty="0"/>
              <a:t>Detecting Abusive Comments in </a:t>
            </a:r>
            <a:r>
              <a:rPr lang="en-US" sz="4400" b="1" dirty="0" err="1"/>
              <a:t>INdian</a:t>
            </a:r>
            <a:r>
              <a:rPr lang="en-US" sz="4400" b="1" dirty="0"/>
              <a:t> Languages</a:t>
            </a:r>
            <a:endParaRPr lang="en-US" sz="4400" b="0" i="0" kern="1200" cap="all" spc="-20" dirty="0">
              <a:solidFill>
                <a:srgbClr val="FFFFFF"/>
              </a:solidFill>
              <a:effectLst/>
              <a:latin typeface="+mj-lt"/>
              <a:ea typeface="+mj-ea"/>
              <a:cs typeface="+mj-cs"/>
            </a:endParaRPr>
          </a:p>
        </p:txBody>
      </p:sp>
      <p:sp>
        <p:nvSpPr>
          <p:cNvPr id="5" name="Slide Number Placeholder 4">
            <a:extLst>
              <a:ext uri="{FF2B5EF4-FFF2-40B4-BE49-F238E27FC236}">
                <a16:creationId xmlns:a16="http://schemas.microsoft.com/office/drawing/2014/main" id="{5E210FFC-EC92-3481-292E-4C9AE3BB2313}"/>
              </a:ext>
            </a:extLst>
          </p:cNvPr>
          <p:cNvSpPr>
            <a:spLocks noGrp="1"/>
          </p:cNvSpPr>
          <p:nvPr>
            <p:ph type="sldNum" sz="quarter" idx="12"/>
          </p:nvPr>
        </p:nvSpPr>
        <p:spPr>
          <a:xfrm>
            <a:off x="8175690" y="232118"/>
            <a:ext cx="608265" cy="503578"/>
          </a:xfrm>
        </p:spPr>
        <p:txBody>
          <a:bodyPr vert="horz" lIns="91440" tIns="45720" rIns="91440" bIns="45720" rtlCol="0" anchor="t">
            <a:normAutofit/>
          </a:bodyPr>
          <a:lstStyle/>
          <a:p>
            <a:pPr>
              <a:lnSpc>
                <a:spcPct val="90000"/>
              </a:lnSpc>
              <a:spcAft>
                <a:spcPts val="600"/>
              </a:spcAft>
            </a:pPr>
            <a:fld id="{B1DD23E2-BA1B-8049-8B7E-58F2712DF32D}" type="slidenum">
              <a:rPr lang="en-US" kern="1200" smtClean="0">
                <a:solidFill>
                  <a:schemeClr val="accent1"/>
                </a:solidFill>
                <a:latin typeface="+mn-lt"/>
                <a:ea typeface="+mn-ea"/>
                <a:cs typeface="+mn-cs"/>
              </a:rPr>
              <a:pPr>
                <a:lnSpc>
                  <a:spcPct val="90000"/>
                </a:lnSpc>
                <a:spcAft>
                  <a:spcPts val="600"/>
                </a:spcAft>
              </a:pPr>
              <a:t>1</a:t>
            </a:fld>
            <a:endParaRPr lang="en-US" kern="1200" dirty="0">
              <a:solidFill>
                <a:schemeClr val="accent1"/>
              </a:solidFill>
              <a:latin typeface="+mn-lt"/>
              <a:ea typeface="+mn-ea"/>
              <a:cs typeface="+mn-cs"/>
            </a:endParaRPr>
          </a:p>
        </p:txBody>
      </p:sp>
      <p:sp>
        <p:nvSpPr>
          <p:cNvPr id="6" name="object 3">
            <a:extLst>
              <a:ext uri="{FF2B5EF4-FFF2-40B4-BE49-F238E27FC236}">
                <a16:creationId xmlns:a16="http://schemas.microsoft.com/office/drawing/2014/main" id="{A5EABFCD-E007-A429-FFFF-7BE67F4FD76F}"/>
              </a:ext>
            </a:extLst>
          </p:cNvPr>
          <p:cNvSpPr txBox="1"/>
          <p:nvPr/>
        </p:nvSpPr>
        <p:spPr>
          <a:xfrm>
            <a:off x="5311342" y="4198776"/>
            <a:ext cx="4526120" cy="993711"/>
          </a:xfrm>
          <a:prstGeom prst="rect">
            <a:avLst/>
          </a:prstGeom>
        </p:spPr>
        <p:txBody>
          <a:bodyPr vert="horz" lIns="91440" tIns="45720" rIns="91440" bIns="45720" rtlCol="0" anchor="t">
            <a:normAutofit/>
          </a:bodyPr>
          <a:lstStyle/>
          <a:p>
            <a:r>
              <a:rPr lang="en-US" sz="2800" b="1" dirty="0">
                <a:solidFill>
                  <a:schemeClr val="tx1">
                    <a:lumMod val="95000"/>
                  </a:schemeClr>
                </a:solidFill>
              </a:rPr>
              <a:t>JYOTHIKA UDUGULA</a:t>
            </a:r>
          </a:p>
          <a:p>
            <a:r>
              <a:rPr lang="en-US" sz="2800" b="1" dirty="0">
                <a:solidFill>
                  <a:schemeClr val="tx1">
                    <a:lumMod val="95000"/>
                  </a:schemeClr>
                </a:solidFill>
              </a:rPr>
              <a:t>08/25/2025</a:t>
            </a:r>
          </a:p>
        </p:txBody>
      </p:sp>
      <p:sp>
        <p:nvSpPr>
          <p:cNvPr id="4" name="object 3">
            <a:extLst>
              <a:ext uri="{FF2B5EF4-FFF2-40B4-BE49-F238E27FC236}">
                <a16:creationId xmlns:a16="http://schemas.microsoft.com/office/drawing/2014/main" id="{FCBF34E3-2161-DA1C-C542-6AFFF4A4A544}"/>
              </a:ext>
            </a:extLst>
          </p:cNvPr>
          <p:cNvSpPr txBox="1"/>
          <p:nvPr/>
        </p:nvSpPr>
        <p:spPr>
          <a:xfrm>
            <a:off x="690283" y="810032"/>
            <a:ext cx="7315200" cy="4334263"/>
          </a:xfrm>
          <a:prstGeom prst="rect">
            <a:avLst/>
          </a:prstGeom>
        </p:spPr>
        <p:txBody>
          <a:bodyPr vert="horz" wrap="square" lIns="0" tIns="12700" rIns="0" bIns="0" rtlCol="0">
            <a:noAutofit/>
          </a:bodyPr>
          <a:lstStyle/>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a:extLst>
            <a:ext uri="{FF2B5EF4-FFF2-40B4-BE49-F238E27FC236}">
              <a16:creationId xmlns:a16="http://schemas.microsoft.com/office/drawing/2014/main" id="{ADE1C9EA-382C-329A-0535-9074477C0BFD}"/>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41D34FA-B3C5-36C7-FE7F-FB83F98ABF58}"/>
              </a:ext>
            </a:extLst>
          </p:cNvPr>
          <p:cNvSpPr txBox="1">
            <a:spLocks noGrp="1"/>
          </p:cNvSpPr>
          <p:nvPr>
            <p:ph type="title"/>
          </p:nvPr>
        </p:nvSpPr>
        <p:spPr>
          <a:xfrm>
            <a:off x="637262" y="1240076"/>
            <a:ext cx="2045860" cy="4584527"/>
          </a:xfrm>
          <a:prstGeom prst="rect">
            <a:avLst/>
          </a:prstGeom>
        </p:spPr>
        <p:txBody>
          <a:bodyPr vert="horz" lIns="91440" tIns="45720" rIns="91440" bIns="45720" rtlCol="0" anchor="t" anchorCtr="0">
            <a:normAutofit/>
          </a:bodyPr>
          <a:lstStyle/>
          <a:p>
            <a:pPr defTabSz="914400"/>
            <a:r>
              <a:rPr lang="en-US" sz="3000" b="0" i="0" kern="1200" cap="all" spc="-20">
                <a:solidFill>
                  <a:srgbClr val="FFFFFF"/>
                </a:solidFill>
                <a:effectLst/>
                <a:latin typeface="+mj-lt"/>
                <a:ea typeface="+mj-ea"/>
                <a:cs typeface="+mj-cs"/>
              </a:rPr>
              <a:t>Abstract</a:t>
            </a:r>
          </a:p>
        </p:txBody>
      </p:sp>
      <p:sp>
        <p:nvSpPr>
          <p:cNvPr id="5" name="Slide Number Placeholder 4">
            <a:extLst>
              <a:ext uri="{FF2B5EF4-FFF2-40B4-BE49-F238E27FC236}">
                <a16:creationId xmlns:a16="http://schemas.microsoft.com/office/drawing/2014/main" id="{F4C682A7-403E-84A7-D596-93CC7F925F72}"/>
              </a:ext>
            </a:extLst>
          </p:cNvPr>
          <p:cNvSpPr>
            <a:spLocks noGrp="1"/>
          </p:cNvSpPr>
          <p:nvPr>
            <p:ph type="sldNum" sz="quarter" idx="12"/>
          </p:nvPr>
        </p:nvSpPr>
        <p:spPr>
          <a:xfrm>
            <a:off x="8175690" y="232118"/>
            <a:ext cx="608265" cy="503578"/>
          </a:xfrm>
        </p:spPr>
        <p:txBody>
          <a:bodyPr vert="horz" lIns="91440" tIns="45720" rIns="91440" bIns="45720" rtlCol="0" anchor="t">
            <a:normAutofit/>
          </a:bodyPr>
          <a:lstStyle/>
          <a:p>
            <a:pPr>
              <a:lnSpc>
                <a:spcPct val="90000"/>
              </a:lnSpc>
              <a:spcAft>
                <a:spcPts val="600"/>
              </a:spcAft>
            </a:pPr>
            <a:fld id="{B1DD23E2-BA1B-8049-8B7E-58F2712DF32D}" type="slidenum">
              <a:rPr lang="en-US" kern="1200" dirty="0">
                <a:solidFill>
                  <a:schemeClr val="accent1"/>
                </a:solidFill>
                <a:latin typeface="+mn-lt"/>
                <a:ea typeface="+mn-ea"/>
                <a:cs typeface="+mn-cs"/>
              </a:rPr>
              <a:pPr>
                <a:lnSpc>
                  <a:spcPct val="90000"/>
                </a:lnSpc>
                <a:spcAft>
                  <a:spcPts val="600"/>
                </a:spcAft>
              </a:pPr>
              <a:t>2</a:t>
            </a:fld>
            <a:endParaRPr lang="en-US" kern="1200" dirty="0">
              <a:solidFill>
                <a:schemeClr val="accent1"/>
              </a:solidFill>
              <a:latin typeface="+mn-lt"/>
              <a:ea typeface="+mn-ea"/>
              <a:cs typeface="+mn-cs"/>
            </a:endParaRPr>
          </a:p>
        </p:txBody>
      </p:sp>
      <p:sp>
        <p:nvSpPr>
          <p:cNvPr id="6" name="object 3">
            <a:extLst>
              <a:ext uri="{FF2B5EF4-FFF2-40B4-BE49-F238E27FC236}">
                <a16:creationId xmlns:a16="http://schemas.microsoft.com/office/drawing/2014/main" id="{88D344DC-54D0-A011-B536-48CB0091CF2D}"/>
              </a:ext>
            </a:extLst>
          </p:cNvPr>
          <p:cNvSpPr txBox="1"/>
          <p:nvPr/>
        </p:nvSpPr>
        <p:spPr>
          <a:xfrm>
            <a:off x="3529195" y="1240077"/>
            <a:ext cx="4526120" cy="4916465"/>
          </a:xfrm>
          <a:prstGeom prst="rect">
            <a:avLst/>
          </a:prstGeom>
        </p:spPr>
        <p:txBody>
          <a:bodyPr vert="horz" lIns="91440" tIns="45720" rIns="91440" bIns="45720" rtlCol="0" anchor="t">
            <a:normAutofit/>
          </a:bodyPr>
          <a:lstStyle/>
          <a:p>
            <a:pPr indent="-228600" defTabSz="914400">
              <a:lnSpc>
                <a:spcPct val="110000"/>
              </a:lnSpc>
              <a:spcAft>
                <a:spcPts val="600"/>
              </a:spcAft>
              <a:buClr>
                <a:schemeClr val="accent1"/>
              </a:buClr>
              <a:buSzPct val="100000"/>
              <a:buFont typeface="Arial" panose="020B0604020202020204" pitchFamily="34" charset="0"/>
              <a:buChar char="•"/>
            </a:pPr>
            <a:r>
              <a:rPr lang="en-US" sz="1400"/>
              <a:t>India is home to 22 official languages, 122 major languages, and over 1,599 additional languages, making it one of the most linguistically diverse countries in the world. As social media platforms like Twitter, Facebook, and Instagram expand, abusive content has increased significantly. However, many existing moderation tools offer limited support for Indian languages, allowing harmful, abusive posts to spread easily </a:t>
            </a:r>
            <a:r>
              <a:rPr lang="en-US" sz="1400" i="1"/>
              <a:t>(Badjatiya et al., 2017; Kakwani et al., 2020)</a:t>
            </a:r>
            <a:r>
              <a:rPr lang="en-US" sz="1400"/>
              <a:t>. This project focuses specifically on detecting abusive and non-abusive comments in Hindi, one of India’s most widely used languages on social media. Using a Hindi dataset from Kaggle, this project applies natural language processing (NLP) techniques to classify comments as abusive or non-abusive. For this project, only the Hindi language is analyzed. The study evaluates and compares several machine learning models to classify comments as abusive or non-abusive. The results demonstrate that NLP can effectively classify abusive Hindi comments and can support safer online environments. Future work may extend this approach to additional Indian languages.</a:t>
            </a:r>
          </a:p>
          <a:p>
            <a:pPr indent="-228600" defTabSz="914400">
              <a:lnSpc>
                <a:spcPct val="110000"/>
              </a:lnSpc>
              <a:spcAft>
                <a:spcPts val="600"/>
              </a:spcAft>
              <a:buClr>
                <a:schemeClr val="accent1"/>
              </a:buClr>
              <a:buSzPct val="100000"/>
              <a:buFont typeface="Arial" panose="020B0604020202020204" pitchFamily="34" charset="0"/>
              <a:buChar char="•"/>
            </a:pPr>
            <a:endParaRPr lang="en-US" sz="1400"/>
          </a:p>
        </p:txBody>
      </p:sp>
      <p:sp>
        <p:nvSpPr>
          <p:cNvPr id="4" name="object 3">
            <a:extLst>
              <a:ext uri="{FF2B5EF4-FFF2-40B4-BE49-F238E27FC236}">
                <a16:creationId xmlns:a16="http://schemas.microsoft.com/office/drawing/2014/main" id="{655AEE62-32EA-F843-D1D1-157B0C0D5922}"/>
              </a:ext>
            </a:extLst>
          </p:cNvPr>
          <p:cNvSpPr txBox="1"/>
          <p:nvPr/>
        </p:nvSpPr>
        <p:spPr>
          <a:xfrm>
            <a:off x="690283" y="810032"/>
            <a:ext cx="7315200" cy="4334263"/>
          </a:xfrm>
          <a:prstGeom prst="rect">
            <a:avLst/>
          </a:prstGeom>
        </p:spPr>
        <p:txBody>
          <a:bodyPr vert="horz" wrap="square" lIns="0" tIns="12700" rIns="0" bIns="0" rtlCol="0">
            <a:noAutofit/>
          </a:bodyPr>
          <a:lstStyle/>
          <a:p>
            <a:endParaRPr lang="en-US" dirty="0"/>
          </a:p>
        </p:txBody>
      </p:sp>
    </p:spTree>
    <p:extLst>
      <p:ext uri="{BB962C8B-B14F-4D97-AF65-F5344CB8AC3E}">
        <p14:creationId xmlns:p14="http://schemas.microsoft.com/office/powerpoint/2010/main" val="31591923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5" name="object 2">
            <a:extLst>
              <a:ext uri="{FF2B5EF4-FFF2-40B4-BE49-F238E27FC236}">
                <a16:creationId xmlns:a16="http://schemas.microsoft.com/office/drawing/2014/main" id="{E4F809E1-5CC2-CF4C-C16F-6661E23E2CF2}"/>
              </a:ext>
            </a:extLst>
          </p:cNvPr>
          <p:cNvSpPr txBox="1">
            <a:spLocks/>
          </p:cNvSpPr>
          <p:nvPr/>
        </p:nvSpPr>
        <p:spPr>
          <a:xfrm>
            <a:off x="1088684" y="2303047"/>
            <a:ext cx="2454070" cy="2674198"/>
          </a:xfrm>
          <a:prstGeom prst="rect">
            <a:avLst/>
          </a:prstGeom>
        </p:spPr>
        <p:txBody>
          <a:bodyPr vert="horz" lIns="91440" tIns="45720" rIns="91440" bIns="45720" rtlCol="0" anchor="t" anchorCtr="0">
            <a:norm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pPr>
              <a:spcAft>
                <a:spcPts val="600"/>
              </a:spcAft>
            </a:pPr>
            <a:r>
              <a:rPr lang="en-US" b="0" cap="all" spc="-20"/>
              <a:t>Research Questions</a:t>
            </a:r>
          </a:p>
        </p:txBody>
      </p:sp>
      <p:sp>
        <p:nvSpPr>
          <p:cNvPr id="8" name="Slide Number Placeholder 4">
            <a:extLst>
              <a:ext uri="{FF2B5EF4-FFF2-40B4-BE49-F238E27FC236}">
                <a16:creationId xmlns:a16="http://schemas.microsoft.com/office/drawing/2014/main" id="{6B1CEAE7-6219-27DE-C2F6-9DA1A085EC80}"/>
              </a:ext>
            </a:extLst>
          </p:cNvPr>
          <p:cNvSpPr>
            <a:spLocks noGrp="1"/>
          </p:cNvSpPr>
          <p:nvPr>
            <p:ph type="sldNum" sz="quarter" idx="12"/>
          </p:nvPr>
        </p:nvSpPr>
        <p:spPr>
          <a:xfrm>
            <a:off x="360045" y="2303047"/>
            <a:ext cx="608264" cy="503578"/>
          </a:xfrm>
        </p:spPr>
        <p:txBody>
          <a:bodyPr vert="horz" lIns="91440" tIns="45720" rIns="91440" bIns="45720" rtlCol="0" anchor="t">
            <a:normAutofit/>
          </a:bodyPr>
          <a:lstStyle/>
          <a:p>
            <a:pPr>
              <a:lnSpc>
                <a:spcPct val="90000"/>
              </a:lnSpc>
              <a:spcAft>
                <a:spcPts val="600"/>
              </a:spcAft>
            </a:pPr>
            <a:fld id="{B1DD23E2-BA1B-8049-8B7E-58F2712DF32D}" type="slidenum">
              <a:rPr lang="en-US" smtClean="0"/>
              <a:pPr>
                <a:lnSpc>
                  <a:spcPct val="90000"/>
                </a:lnSpc>
                <a:spcAft>
                  <a:spcPts val="600"/>
                </a:spcAft>
              </a:pPr>
              <a:t>3</a:t>
            </a:fld>
            <a:endParaRPr lang="en-US"/>
          </a:p>
        </p:txBody>
      </p:sp>
      <p:graphicFrame>
        <p:nvGraphicFramePr>
          <p:cNvPr id="10" name="object 3">
            <a:extLst>
              <a:ext uri="{FF2B5EF4-FFF2-40B4-BE49-F238E27FC236}">
                <a16:creationId xmlns:a16="http://schemas.microsoft.com/office/drawing/2014/main" id="{D355BD18-88EF-DBA9-CECC-13D31BB4E54F}"/>
              </a:ext>
            </a:extLst>
          </p:cNvPr>
          <p:cNvGraphicFramePr/>
          <p:nvPr>
            <p:extLst>
              <p:ext uri="{D42A27DB-BD31-4B8C-83A1-F6EECF244321}">
                <p14:modId xmlns:p14="http://schemas.microsoft.com/office/powerpoint/2010/main" val="3055541625"/>
              </p:ext>
            </p:extLst>
          </p:nvPr>
        </p:nvGraphicFramePr>
        <p:xfrm>
          <a:off x="3856434" y="803275"/>
          <a:ext cx="4435078" cy="46370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206243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8000"/>
                <a:hueMod val="94000"/>
                <a:satMod val="148000"/>
                <a:lumMod val="150000"/>
              </a:schemeClr>
            </a:gs>
            <a:gs pos="100000">
              <a:schemeClr val="bg2">
                <a:shade val="92000"/>
                <a:hueMod val="104000"/>
                <a:satMod val="140000"/>
                <a:lumMod val="68000"/>
              </a:schemeClr>
            </a:gs>
          </a:gsLst>
          <a:lin ang="5040000" scaled="0"/>
        </a:gra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2EEF4763-EB4A-4A35-89EB-AD2763B48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bject 2">
            <a:extLst>
              <a:ext uri="{FF2B5EF4-FFF2-40B4-BE49-F238E27FC236}">
                <a16:creationId xmlns:a16="http://schemas.microsoft.com/office/drawing/2014/main" id="{AF476954-B69A-A1C6-2ACA-87174FD465D8}"/>
              </a:ext>
            </a:extLst>
          </p:cNvPr>
          <p:cNvSpPr txBox="1">
            <a:spLocks/>
          </p:cNvSpPr>
          <p:nvPr/>
        </p:nvSpPr>
        <p:spPr>
          <a:xfrm>
            <a:off x="856059" y="618518"/>
            <a:ext cx="7429499" cy="1478570"/>
          </a:xfrm>
          <a:prstGeom prst="rect">
            <a:avLst/>
          </a:prstGeom>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pPr>
              <a:spcAft>
                <a:spcPts val="600"/>
              </a:spcAft>
            </a:pPr>
            <a:r>
              <a:rPr lang="en-US" sz="3600" b="0" i="0" cap="all" spc="-20"/>
              <a:t>Description of Project</a:t>
            </a:r>
          </a:p>
        </p:txBody>
      </p:sp>
      <p:sp>
        <p:nvSpPr>
          <p:cNvPr id="9" name="Slide Number Placeholder 4">
            <a:extLst>
              <a:ext uri="{FF2B5EF4-FFF2-40B4-BE49-F238E27FC236}">
                <a16:creationId xmlns:a16="http://schemas.microsoft.com/office/drawing/2014/main" id="{A68A3355-99D4-453B-BD82-EB572CAF9725}"/>
              </a:ext>
            </a:extLst>
          </p:cNvPr>
          <p:cNvSpPr>
            <a:spLocks noGrp="1"/>
          </p:cNvSpPr>
          <p:nvPr>
            <p:ph type="sldNum" sz="quarter" idx="12"/>
          </p:nvPr>
        </p:nvSpPr>
        <p:spPr>
          <a:xfrm>
            <a:off x="7707240" y="6325403"/>
            <a:ext cx="578317" cy="365125"/>
          </a:xfrm>
        </p:spPr>
        <p:txBody>
          <a:bodyPr vert="horz" lIns="91440" tIns="45720" rIns="91440" bIns="45720" rtlCol="0" anchor="ctr">
            <a:normAutofit/>
          </a:bodyPr>
          <a:lstStyle/>
          <a:p>
            <a:pPr>
              <a:spcAft>
                <a:spcPts val="600"/>
              </a:spcAft>
            </a:pPr>
            <a:fld id="{B1DD23E2-BA1B-8049-8B7E-58F2712DF32D}" type="slidenum">
              <a:rPr lang="en-US" b="0" i="0" kern="1200">
                <a:solidFill>
                  <a:schemeClr val="tx1"/>
                </a:solidFill>
                <a:latin typeface="+mn-lt"/>
                <a:ea typeface="+mn-ea"/>
                <a:cs typeface="+mn-cs"/>
              </a:rPr>
              <a:pPr>
                <a:spcAft>
                  <a:spcPts val="600"/>
                </a:spcAft>
              </a:pPr>
              <a:t>4</a:t>
            </a:fld>
            <a:endParaRPr lang="en-US" b="0" i="0" kern="1200">
              <a:solidFill>
                <a:schemeClr val="tx1"/>
              </a:solidFill>
              <a:latin typeface="+mn-lt"/>
              <a:ea typeface="+mn-ea"/>
              <a:cs typeface="+mn-cs"/>
            </a:endParaRPr>
          </a:p>
        </p:txBody>
      </p:sp>
      <p:graphicFrame>
        <p:nvGraphicFramePr>
          <p:cNvPr id="11" name="object 3">
            <a:extLst>
              <a:ext uri="{FF2B5EF4-FFF2-40B4-BE49-F238E27FC236}">
                <a16:creationId xmlns:a16="http://schemas.microsoft.com/office/drawing/2014/main" id="{CF159757-9538-A76A-AB00-7866C281F1A6}"/>
              </a:ext>
            </a:extLst>
          </p:cNvPr>
          <p:cNvGraphicFramePr/>
          <p:nvPr>
            <p:extLst>
              <p:ext uri="{D42A27DB-BD31-4B8C-83A1-F6EECF244321}">
                <p14:modId xmlns:p14="http://schemas.microsoft.com/office/powerpoint/2010/main" val="1640039554"/>
              </p:ext>
            </p:extLst>
          </p:nvPr>
        </p:nvGraphicFramePr>
        <p:xfrm>
          <a:off x="856058" y="2440771"/>
          <a:ext cx="7429499" cy="35848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AB46983E-C541-D918-7C20-1A12CFBF2AC9}"/>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6" name="Group 15">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716" y="0"/>
            <a:ext cx="915604" cy="6858001"/>
            <a:chOff x="-14288" y="0"/>
            <a:chExt cx="1220788" cy="6858001"/>
          </a:xfrm>
          <a:solidFill>
            <a:schemeClr val="bg2">
              <a:lumMod val="60000"/>
              <a:lumOff val="40000"/>
              <a:alpha val="60000"/>
            </a:schemeClr>
          </a:solidFill>
        </p:grpSpPr>
        <p:sp>
          <p:nvSpPr>
            <p:cNvPr id="17"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18"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9"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0"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1"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2"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3"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4"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5"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6"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7"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8"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29"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0"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1"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2"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3"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34"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5"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6"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7"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8"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9"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0"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1"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2"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3"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grpSp>
      <p:sp>
        <p:nvSpPr>
          <p:cNvPr id="4" name="object 2">
            <a:extLst>
              <a:ext uri="{FF2B5EF4-FFF2-40B4-BE49-F238E27FC236}">
                <a16:creationId xmlns:a16="http://schemas.microsoft.com/office/drawing/2014/main" id="{3DB3C39E-33A6-E0EF-83BA-4F11AEB463FF}"/>
              </a:ext>
            </a:extLst>
          </p:cNvPr>
          <p:cNvSpPr txBox="1">
            <a:spLocks/>
          </p:cNvSpPr>
          <p:nvPr/>
        </p:nvSpPr>
        <p:spPr>
          <a:xfrm>
            <a:off x="764261" y="1093787"/>
            <a:ext cx="2294977" cy="4697413"/>
          </a:xfrm>
          <a:prstGeom prst="rect">
            <a:avLst/>
          </a:prstGeom>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pPr>
              <a:spcAft>
                <a:spcPts val="600"/>
              </a:spcAft>
            </a:pPr>
            <a:r>
              <a:rPr lang="en-US" sz="3600" b="0" i="0" cap="all" spc="-20"/>
              <a:t>Description of Customer/User Benefits</a:t>
            </a:r>
          </a:p>
        </p:txBody>
      </p:sp>
      <p:sp useBgFill="1">
        <p:nvSpPr>
          <p:cNvPr id="45"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68813" y="0"/>
            <a:ext cx="5675187"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object 3">
            <a:extLst>
              <a:ext uri="{FF2B5EF4-FFF2-40B4-BE49-F238E27FC236}">
                <a16:creationId xmlns:a16="http://schemas.microsoft.com/office/drawing/2014/main" id="{1A1AB487-264D-73B6-C2D5-B339837ABA97}"/>
              </a:ext>
            </a:extLst>
          </p:cNvPr>
          <p:cNvSpPr txBox="1"/>
          <p:nvPr/>
        </p:nvSpPr>
        <p:spPr>
          <a:xfrm>
            <a:off x="3911600" y="1093788"/>
            <a:ext cx="4373958" cy="4697413"/>
          </a:xfrm>
          <a:custGeom>
            <a:avLst/>
            <a:gdLst>
              <a:gd name="connsiteX0" fmla="*/ 0 w 7315200"/>
              <a:gd name="connsiteY0" fmla="*/ 0 h 4298041"/>
              <a:gd name="connsiteX1" fmla="*/ 7315200 w 7315200"/>
              <a:gd name="connsiteY1" fmla="*/ 0 h 4298041"/>
              <a:gd name="connsiteX2" fmla="*/ 7315200 w 7315200"/>
              <a:gd name="connsiteY2" fmla="*/ 4298041 h 4298041"/>
              <a:gd name="connsiteX3" fmla="*/ 0 w 7315200"/>
              <a:gd name="connsiteY3" fmla="*/ 4298041 h 4298041"/>
              <a:gd name="connsiteX4" fmla="*/ 0 w 7315200"/>
              <a:gd name="connsiteY4" fmla="*/ 0 h 4298041"/>
              <a:gd name="connsiteX0" fmla="*/ 0 w 7315200"/>
              <a:gd name="connsiteY0" fmla="*/ 0 h 4298041"/>
              <a:gd name="connsiteX1" fmla="*/ 7315200 w 7315200"/>
              <a:gd name="connsiteY1" fmla="*/ 0 h 4298041"/>
              <a:gd name="connsiteX2" fmla="*/ 7315200 w 7315200"/>
              <a:gd name="connsiteY2" fmla="*/ 4298041 h 4298041"/>
              <a:gd name="connsiteX3" fmla="*/ 0 w 7315200"/>
              <a:gd name="connsiteY3" fmla="*/ 3972037 h 4298041"/>
              <a:gd name="connsiteX4" fmla="*/ 0 w 7315200"/>
              <a:gd name="connsiteY4" fmla="*/ 0 h 4298041"/>
              <a:gd name="connsiteX0" fmla="*/ 0 w 7331103"/>
              <a:gd name="connsiteY0" fmla="*/ 0 h 3972037"/>
              <a:gd name="connsiteX1" fmla="*/ 7315200 w 7331103"/>
              <a:gd name="connsiteY1" fmla="*/ 0 h 3972037"/>
              <a:gd name="connsiteX2" fmla="*/ 7331103 w 7331103"/>
              <a:gd name="connsiteY2" fmla="*/ 3932281 h 3972037"/>
              <a:gd name="connsiteX3" fmla="*/ 0 w 7331103"/>
              <a:gd name="connsiteY3" fmla="*/ 3972037 h 3972037"/>
              <a:gd name="connsiteX4" fmla="*/ 0 w 7331103"/>
              <a:gd name="connsiteY4" fmla="*/ 0 h 39720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31103" h="3972037">
                <a:moveTo>
                  <a:pt x="0" y="0"/>
                </a:moveTo>
                <a:lnTo>
                  <a:pt x="7315200" y="0"/>
                </a:lnTo>
                <a:lnTo>
                  <a:pt x="7331103" y="3932281"/>
                </a:lnTo>
                <a:lnTo>
                  <a:pt x="0" y="3972037"/>
                </a:lnTo>
                <a:lnTo>
                  <a:pt x="0" y="0"/>
                </a:lnTo>
                <a:close/>
              </a:path>
            </a:pathLst>
          </a:custGeom>
        </p:spPr>
        <p:txBody>
          <a:bodyPr vert="horz" lIns="91440" tIns="45720" rIns="91440" bIns="45720" rtlCol="0">
            <a:normAutofit/>
          </a:bodyPr>
          <a:lstStyle/>
          <a:p>
            <a:pPr marL="398463" marR="5080" indent="-228600" defTabSz="914400">
              <a:lnSpc>
                <a:spcPct val="110000"/>
              </a:lnSpc>
              <a:spcBef>
                <a:spcPts val="1000"/>
              </a:spcBef>
              <a:buClr>
                <a:schemeClr val="bg2">
                  <a:lumMod val="40000"/>
                  <a:lumOff val="60000"/>
                </a:schemeClr>
              </a:buClr>
              <a:buSzPct val="125000"/>
              <a:buFont typeface="Arial" panose="020B0604020202020204" pitchFamily="34" charset="0"/>
              <a:buChar char="•"/>
            </a:pPr>
            <a:r>
              <a:rPr lang="en-US" sz="1500"/>
              <a:t>This project</a:t>
            </a:r>
            <a:r>
              <a:rPr lang="en-US" sz="1500" spc="-75"/>
              <a:t> </a:t>
            </a:r>
            <a:r>
              <a:rPr lang="en-US" sz="1500"/>
              <a:t>benefits</a:t>
            </a:r>
            <a:r>
              <a:rPr lang="en-US" sz="1500" spc="-75"/>
              <a:t> </a:t>
            </a:r>
            <a:r>
              <a:rPr lang="en-US" sz="1500" spc="-10"/>
              <a:t>organizations</a:t>
            </a:r>
            <a:r>
              <a:rPr lang="en-US" sz="1500" spc="-75"/>
              <a:t> </a:t>
            </a:r>
            <a:r>
              <a:rPr lang="en-US" sz="1500"/>
              <a:t>and</a:t>
            </a:r>
            <a:r>
              <a:rPr lang="en-US" sz="1500" spc="-75"/>
              <a:t> </a:t>
            </a:r>
            <a:r>
              <a:rPr lang="en-US" sz="1500" spc="-10"/>
              <a:t>platforms</a:t>
            </a:r>
            <a:r>
              <a:rPr lang="en-US" sz="1500" spc="-75"/>
              <a:t> that </a:t>
            </a:r>
            <a:r>
              <a:rPr lang="en-US" sz="1500"/>
              <a:t>manage</a:t>
            </a:r>
            <a:r>
              <a:rPr lang="en-US" sz="1500" spc="-75"/>
              <a:t> </a:t>
            </a:r>
            <a:r>
              <a:rPr lang="en-US" sz="1500"/>
              <a:t>large</a:t>
            </a:r>
            <a:r>
              <a:rPr lang="en-US" sz="1500" spc="-70"/>
              <a:t> </a:t>
            </a:r>
            <a:r>
              <a:rPr lang="en-US" sz="1500" spc="-10"/>
              <a:t>volumes </a:t>
            </a:r>
            <a:r>
              <a:rPr lang="en-US" sz="1500"/>
              <a:t>of</a:t>
            </a:r>
            <a:r>
              <a:rPr lang="en-US" sz="1500" spc="-65"/>
              <a:t> </a:t>
            </a:r>
            <a:r>
              <a:rPr lang="en-US" sz="1500"/>
              <a:t>online</a:t>
            </a:r>
            <a:r>
              <a:rPr lang="en-US" sz="1500" spc="-60"/>
              <a:t> </a:t>
            </a:r>
            <a:r>
              <a:rPr lang="en-US" sz="1500" spc="-10"/>
              <a:t>content,</a:t>
            </a:r>
            <a:r>
              <a:rPr lang="en-US" sz="1500" spc="-60"/>
              <a:t> </a:t>
            </a:r>
            <a:r>
              <a:rPr lang="en-US" sz="1500"/>
              <a:t>like</a:t>
            </a:r>
            <a:r>
              <a:rPr lang="en-US" sz="1500" spc="-60"/>
              <a:t> </a:t>
            </a:r>
            <a:r>
              <a:rPr lang="en-US" sz="1500"/>
              <a:t>social</a:t>
            </a:r>
            <a:r>
              <a:rPr lang="en-US" sz="1500" spc="-65"/>
              <a:t> </a:t>
            </a:r>
            <a:r>
              <a:rPr lang="en-US" sz="1500"/>
              <a:t>media</a:t>
            </a:r>
            <a:r>
              <a:rPr lang="en-US" sz="1500" spc="-65"/>
              <a:t> </a:t>
            </a:r>
            <a:r>
              <a:rPr lang="en-US" sz="1500"/>
              <a:t>sites,</a:t>
            </a:r>
            <a:r>
              <a:rPr lang="en-US" sz="1500" spc="-60"/>
              <a:t> </a:t>
            </a:r>
            <a:r>
              <a:rPr lang="en-US" sz="1500"/>
              <a:t>forums,</a:t>
            </a:r>
            <a:r>
              <a:rPr lang="en-US" sz="1500" spc="-60"/>
              <a:t> </a:t>
            </a:r>
            <a:r>
              <a:rPr lang="en-US" sz="1500"/>
              <a:t>and</a:t>
            </a:r>
            <a:r>
              <a:rPr lang="en-US" sz="1500" spc="-65"/>
              <a:t> </a:t>
            </a:r>
            <a:r>
              <a:rPr lang="en-US" sz="1500"/>
              <a:t>news</a:t>
            </a:r>
            <a:r>
              <a:rPr lang="en-US" sz="1500" spc="-65"/>
              <a:t> </a:t>
            </a:r>
            <a:r>
              <a:rPr lang="en-US" sz="1500" spc="-10"/>
              <a:t>websites.</a:t>
            </a:r>
          </a:p>
          <a:p>
            <a:pPr marL="398463" marR="5080" indent="-228600" defTabSz="914400">
              <a:lnSpc>
                <a:spcPct val="110000"/>
              </a:lnSpc>
              <a:spcBef>
                <a:spcPts val="1000"/>
              </a:spcBef>
              <a:buClr>
                <a:schemeClr val="bg2">
                  <a:lumMod val="40000"/>
                  <a:lumOff val="60000"/>
                </a:schemeClr>
              </a:buClr>
              <a:buSzPct val="125000"/>
              <a:buFont typeface="Arial" panose="020B0604020202020204" pitchFamily="34" charset="0"/>
              <a:buChar char="•"/>
            </a:pPr>
            <a:r>
              <a:rPr lang="en-US" sz="1500"/>
              <a:t>These</a:t>
            </a:r>
            <a:r>
              <a:rPr lang="en-US" sz="1500" spc="-60"/>
              <a:t> </a:t>
            </a:r>
            <a:r>
              <a:rPr lang="en-US" sz="1500" spc="-10"/>
              <a:t>platforms</a:t>
            </a:r>
            <a:r>
              <a:rPr lang="en-US" sz="1500" spc="-65"/>
              <a:t> </a:t>
            </a:r>
            <a:r>
              <a:rPr lang="en-US" sz="1500"/>
              <a:t>often</a:t>
            </a:r>
            <a:r>
              <a:rPr lang="en-US" sz="1500" spc="-65"/>
              <a:t> </a:t>
            </a:r>
            <a:r>
              <a:rPr lang="en-US" sz="1500"/>
              <a:t>face</a:t>
            </a:r>
            <a:r>
              <a:rPr lang="en-US" sz="1500" spc="-60"/>
              <a:t> </a:t>
            </a:r>
            <a:r>
              <a:rPr lang="en-US" sz="1500" spc="-10"/>
              <a:t>challenges</a:t>
            </a:r>
            <a:r>
              <a:rPr lang="en-US" sz="1500" spc="-65"/>
              <a:t> </a:t>
            </a:r>
            <a:r>
              <a:rPr lang="en-US" sz="1500"/>
              <a:t>in</a:t>
            </a:r>
            <a:r>
              <a:rPr lang="en-US" sz="1500" spc="-65"/>
              <a:t> </a:t>
            </a:r>
            <a:r>
              <a:rPr lang="en-US" sz="1500"/>
              <a:t>detecting</a:t>
            </a:r>
            <a:r>
              <a:rPr lang="en-US" sz="1500" spc="-55"/>
              <a:t> abusive comments in Hindi due to informal writing, slang, and spelling variations.</a:t>
            </a:r>
            <a:r>
              <a:rPr lang="en-US" sz="1500"/>
              <a:t> </a:t>
            </a:r>
          </a:p>
          <a:p>
            <a:pPr marL="398463" marR="5080" indent="-228600" defTabSz="914400">
              <a:lnSpc>
                <a:spcPct val="110000"/>
              </a:lnSpc>
              <a:spcBef>
                <a:spcPts val="1000"/>
              </a:spcBef>
              <a:buClr>
                <a:schemeClr val="bg2">
                  <a:lumMod val="40000"/>
                  <a:lumOff val="60000"/>
                </a:schemeClr>
              </a:buClr>
              <a:buSzPct val="125000"/>
              <a:buFont typeface="Arial" panose="020B0604020202020204" pitchFamily="34" charset="0"/>
              <a:buChar char="•"/>
            </a:pPr>
            <a:r>
              <a:rPr lang="en-US" sz="1500"/>
              <a:t>By developing an NLP model specifically for Hindi, the project improves the accuracy of detecting and managing abusive Hindi comments. </a:t>
            </a:r>
          </a:p>
          <a:p>
            <a:pPr marL="398463" marR="5080" indent="-228600" defTabSz="914400">
              <a:lnSpc>
                <a:spcPct val="110000"/>
              </a:lnSpc>
              <a:spcBef>
                <a:spcPts val="1000"/>
              </a:spcBef>
              <a:buClr>
                <a:schemeClr val="bg2">
                  <a:lumMod val="40000"/>
                  <a:lumOff val="60000"/>
                </a:schemeClr>
              </a:buClr>
              <a:buSzPct val="125000"/>
              <a:buFont typeface="Arial" panose="020B0604020202020204" pitchFamily="34" charset="0"/>
              <a:buChar char="•"/>
            </a:pPr>
            <a:r>
              <a:rPr lang="en-US" sz="1500" spc="-10"/>
              <a:t>With the ability to detect abusive Hindi content in real time, online spaces can become safer, and organizations can respond more effectively.</a:t>
            </a:r>
            <a:endParaRPr lang="en-US" sz="1500"/>
          </a:p>
          <a:p>
            <a:pPr indent="-228600" defTabSz="914400">
              <a:lnSpc>
                <a:spcPct val="110000"/>
              </a:lnSpc>
              <a:spcBef>
                <a:spcPts val="1000"/>
              </a:spcBef>
              <a:buClr>
                <a:schemeClr val="bg2">
                  <a:lumMod val="40000"/>
                  <a:lumOff val="60000"/>
                </a:schemeClr>
              </a:buClr>
              <a:buSzPct val="125000"/>
              <a:buFont typeface="Arial" panose="020B0604020202020204" pitchFamily="34" charset="0"/>
              <a:buChar char="•"/>
            </a:pPr>
            <a:r>
              <a:rPr lang="en-US" sz="1500"/>
              <a:t>  </a:t>
            </a:r>
          </a:p>
        </p:txBody>
      </p:sp>
      <p:sp>
        <p:nvSpPr>
          <p:cNvPr id="9" name="Slide Number Placeholder 4">
            <a:extLst>
              <a:ext uri="{FF2B5EF4-FFF2-40B4-BE49-F238E27FC236}">
                <a16:creationId xmlns:a16="http://schemas.microsoft.com/office/drawing/2014/main" id="{B4D5E9F5-4237-DC3A-35FB-E4A59AE0E5F1}"/>
              </a:ext>
            </a:extLst>
          </p:cNvPr>
          <p:cNvSpPr>
            <a:spLocks noGrp="1"/>
          </p:cNvSpPr>
          <p:nvPr>
            <p:ph type="sldNum" sz="quarter" idx="12"/>
          </p:nvPr>
        </p:nvSpPr>
        <p:spPr>
          <a:xfrm>
            <a:off x="7707240" y="5883274"/>
            <a:ext cx="578317" cy="365125"/>
          </a:xfrm>
        </p:spPr>
        <p:txBody>
          <a:bodyPr vert="horz" lIns="91440" tIns="45720" rIns="91440" bIns="45720" rtlCol="0" anchor="ctr">
            <a:normAutofit/>
          </a:bodyPr>
          <a:lstStyle/>
          <a:p>
            <a:pPr>
              <a:spcAft>
                <a:spcPts val="600"/>
              </a:spcAft>
            </a:pPr>
            <a:fld id="{B1DD23E2-BA1B-8049-8B7E-58F2712DF32D}" type="slidenum">
              <a:rPr lang="en-US" b="0" i="0" kern="1200" dirty="0">
                <a:solidFill>
                  <a:schemeClr val="tx1">
                    <a:tint val="75000"/>
                  </a:schemeClr>
                </a:solidFill>
                <a:latin typeface="+mn-lt"/>
                <a:ea typeface="+mn-ea"/>
                <a:cs typeface="+mn-cs"/>
              </a:rPr>
              <a:pPr>
                <a:spcAft>
                  <a:spcPts val="600"/>
                </a:spcAft>
              </a:pPr>
              <a:t>5</a:t>
            </a:fld>
            <a:endParaRPr lang="en-US" b="0" i="0" kern="1200" dirty="0">
              <a:solidFill>
                <a:schemeClr val="tx1">
                  <a:tint val="75000"/>
                </a:schemeClr>
              </a:solidFill>
              <a:latin typeface="+mn-lt"/>
              <a:ea typeface="+mn-ea"/>
              <a:cs typeface="+mn-cs"/>
            </a:endParaRPr>
          </a:p>
        </p:txBody>
      </p:sp>
    </p:spTree>
    <p:extLst>
      <p:ext uri="{BB962C8B-B14F-4D97-AF65-F5344CB8AC3E}">
        <p14:creationId xmlns:p14="http://schemas.microsoft.com/office/powerpoint/2010/main" val="4124499561"/>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716" y="0"/>
            <a:ext cx="915604" cy="6858001"/>
            <a:chOff x="-14288" y="0"/>
            <a:chExt cx="1220788" cy="6858001"/>
          </a:xfrm>
          <a:solidFill>
            <a:schemeClr val="bg2">
              <a:lumMod val="60000"/>
              <a:lumOff val="40000"/>
              <a:alpha val="60000"/>
            </a:schemeClr>
          </a:solidFill>
        </p:grpSpPr>
        <p:sp>
          <p:nvSpPr>
            <p:cNvPr id="16"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17"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8"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9"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0"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1"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2"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3"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4"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5"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6"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7"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28"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9"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0"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1"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2"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33"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4"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5"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6"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7"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8"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9"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0"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1"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2"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grpSp>
      <p:sp>
        <p:nvSpPr>
          <p:cNvPr id="8" name="object 2">
            <a:extLst>
              <a:ext uri="{FF2B5EF4-FFF2-40B4-BE49-F238E27FC236}">
                <a16:creationId xmlns:a16="http://schemas.microsoft.com/office/drawing/2014/main" id="{121CE315-92D8-5003-8DD6-F9683752AD3F}"/>
              </a:ext>
            </a:extLst>
          </p:cNvPr>
          <p:cNvSpPr txBox="1">
            <a:spLocks/>
          </p:cNvSpPr>
          <p:nvPr/>
        </p:nvSpPr>
        <p:spPr>
          <a:xfrm>
            <a:off x="764261" y="1093787"/>
            <a:ext cx="2294977" cy="4697413"/>
          </a:xfrm>
          <a:prstGeom prst="rect">
            <a:avLst/>
          </a:prstGeom>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pPr>
              <a:spcAft>
                <a:spcPts val="600"/>
              </a:spcAft>
            </a:pPr>
            <a:r>
              <a:rPr lang="en-US" sz="3600" cap="all"/>
              <a:t>Understanding the Data</a:t>
            </a:r>
            <a:endParaRPr lang="en-US" sz="3600" cap="all" spc="-20"/>
          </a:p>
        </p:txBody>
      </p:sp>
      <p:sp useBgFill="1">
        <p:nvSpPr>
          <p:cNvPr id="44"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68813" y="0"/>
            <a:ext cx="5675187"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object 3"/>
          <p:cNvSpPr txBox="1"/>
          <p:nvPr/>
        </p:nvSpPr>
        <p:spPr>
          <a:xfrm>
            <a:off x="3911600" y="1093788"/>
            <a:ext cx="4373958" cy="4697413"/>
          </a:xfrm>
          <a:custGeom>
            <a:avLst/>
            <a:gdLst>
              <a:gd name="connsiteX0" fmla="*/ 0 w 7322326"/>
              <a:gd name="connsiteY0" fmla="*/ 0 h 6463308"/>
              <a:gd name="connsiteX1" fmla="*/ 7322326 w 7322326"/>
              <a:gd name="connsiteY1" fmla="*/ 0 h 6463308"/>
              <a:gd name="connsiteX2" fmla="*/ 7322326 w 7322326"/>
              <a:gd name="connsiteY2" fmla="*/ 6463308 h 6463308"/>
              <a:gd name="connsiteX3" fmla="*/ 0 w 7322326"/>
              <a:gd name="connsiteY3" fmla="*/ 6463308 h 6463308"/>
              <a:gd name="connsiteX4" fmla="*/ 0 w 7322326"/>
              <a:gd name="connsiteY4" fmla="*/ 0 h 6463308"/>
              <a:gd name="connsiteX0" fmla="*/ 0 w 7322326"/>
              <a:gd name="connsiteY0" fmla="*/ 0 h 6463308"/>
              <a:gd name="connsiteX1" fmla="*/ 7322326 w 7322326"/>
              <a:gd name="connsiteY1" fmla="*/ 0 h 6463308"/>
              <a:gd name="connsiteX2" fmla="*/ 7322326 w 7322326"/>
              <a:gd name="connsiteY2" fmla="*/ 6463308 h 6463308"/>
              <a:gd name="connsiteX3" fmla="*/ 15902 w 7322326"/>
              <a:gd name="connsiteY3" fmla="*/ 5692032 h 6463308"/>
              <a:gd name="connsiteX4" fmla="*/ 0 w 7322326"/>
              <a:gd name="connsiteY4" fmla="*/ 0 h 6463308"/>
              <a:gd name="connsiteX0" fmla="*/ 0 w 7377985"/>
              <a:gd name="connsiteY0" fmla="*/ 0 h 5739739"/>
              <a:gd name="connsiteX1" fmla="*/ 7322326 w 7377985"/>
              <a:gd name="connsiteY1" fmla="*/ 0 h 5739739"/>
              <a:gd name="connsiteX2" fmla="*/ 7377985 w 7377985"/>
              <a:gd name="connsiteY2" fmla="*/ 5739739 h 5739739"/>
              <a:gd name="connsiteX3" fmla="*/ 15902 w 7377985"/>
              <a:gd name="connsiteY3" fmla="*/ 5692032 h 5739739"/>
              <a:gd name="connsiteX4" fmla="*/ 0 w 7377985"/>
              <a:gd name="connsiteY4" fmla="*/ 0 h 5739739"/>
              <a:gd name="connsiteX0" fmla="*/ 0 w 7377985"/>
              <a:gd name="connsiteY0" fmla="*/ 0 h 5739739"/>
              <a:gd name="connsiteX1" fmla="*/ 7322326 w 7377985"/>
              <a:gd name="connsiteY1" fmla="*/ 0 h 5739739"/>
              <a:gd name="connsiteX2" fmla="*/ 7377985 w 7377985"/>
              <a:gd name="connsiteY2" fmla="*/ 5739739 h 5739739"/>
              <a:gd name="connsiteX3" fmla="*/ 7882 w 7377985"/>
              <a:gd name="connsiteY3" fmla="*/ 5063589 h 5739739"/>
              <a:gd name="connsiteX4" fmla="*/ 0 w 7377985"/>
              <a:gd name="connsiteY4" fmla="*/ 0 h 5739739"/>
              <a:gd name="connsiteX0" fmla="*/ 0 w 7426101"/>
              <a:gd name="connsiteY0" fmla="*/ 0 h 5075991"/>
              <a:gd name="connsiteX1" fmla="*/ 7322326 w 7426101"/>
              <a:gd name="connsiteY1" fmla="*/ 0 h 5075991"/>
              <a:gd name="connsiteX2" fmla="*/ 7426101 w 7426101"/>
              <a:gd name="connsiteY2" fmla="*/ 5075991 h 5075991"/>
              <a:gd name="connsiteX3" fmla="*/ 7882 w 7426101"/>
              <a:gd name="connsiteY3" fmla="*/ 5063589 h 5075991"/>
              <a:gd name="connsiteX4" fmla="*/ 0 w 7426101"/>
              <a:gd name="connsiteY4" fmla="*/ 0 h 5075991"/>
              <a:gd name="connsiteX0" fmla="*/ 0 w 7426101"/>
              <a:gd name="connsiteY0" fmla="*/ 0 h 5075991"/>
              <a:gd name="connsiteX1" fmla="*/ 7322326 w 7426101"/>
              <a:gd name="connsiteY1" fmla="*/ 0 h 5075991"/>
              <a:gd name="connsiteX2" fmla="*/ 7426101 w 7426101"/>
              <a:gd name="connsiteY2" fmla="*/ 5075991 h 5075991"/>
              <a:gd name="connsiteX3" fmla="*/ 15901 w 7426101"/>
              <a:gd name="connsiteY3" fmla="*/ 4734873 h 5075991"/>
              <a:gd name="connsiteX4" fmla="*/ 0 w 7426101"/>
              <a:gd name="connsiteY4" fmla="*/ 0 h 5075991"/>
              <a:gd name="connsiteX0" fmla="*/ 0 w 7426101"/>
              <a:gd name="connsiteY0" fmla="*/ 0 h 4775251"/>
              <a:gd name="connsiteX1" fmla="*/ 7322326 w 7426101"/>
              <a:gd name="connsiteY1" fmla="*/ 0 h 4775251"/>
              <a:gd name="connsiteX2" fmla="*/ 7426101 w 7426101"/>
              <a:gd name="connsiteY2" fmla="*/ 4775251 h 4775251"/>
              <a:gd name="connsiteX3" fmla="*/ 15901 w 7426101"/>
              <a:gd name="connsiteY3" fmla="*/ 4734873 h 4775251"/>
              <a:gd name="connsiteX4" fmla="*/ 0 w 7426101"/>
              <a:gd name="connsiteY4" fmla="*/ 0 h 4775251"/>
              <a:gd name="connsiteX0" fmla="*/ 0 w 7426101"/>
              <a:gd name="connsiteY0" fmla="*/ 0 h 4775251"/>
              <a:gd name="connsiteX1" fmla="*/ 7322326 w 7426101"/>
              <a:gd name="connsiteY1" fmla="*/ 0 h 4775251"/>
              <a:gd name="connsiteX2" fmla="*/ 7426101 w 7426101"/>
              <a:gd name="connsiteY2" fmla="*/ 4775251 h 4775251"/>
              <a:gd name="connsiteX3" fmla="*/ 15901 w 7426101"/>
              <a:gd name="connsiteY3" fmla="*/ 4664934 h 4775251"/>
              <a:gd name="connsiteX4" fmla="*/ 0 w 7426101"/>
              <a:gd name="connsiteY4" fmla="*/ 0 h 4775251"/>
              <a:gd name="connsiteX0" fmla="*/ 0 w 7418081"/>
              <a:gd name="connsiteY0" fmla="*/ 0 h 4664934"/>
              <a:gd name="connsiteX1" fmla="*/ 7322326 w 7418081"/>
              <a:gd name="connsiteY1" fmla="*/ 0 h 4664934"/>
              <a:gd name="connsiteX2" fmla="*/ 7418081 w 7418081"/>
              <a:gd name="connsiteY2" fmla="*/ 4663348 h 4664934"/>
              <a:gd name="connsiteX3" fmla="*/ 15901 w 7418081"/>
              <a:gd name="connsiteY3" fmla="*/ 4664934 h 4664934"/>
              <a:gd name="connsiteX4" fmla="*/ 0 w 7418081"/>
              <a:gd name="connsiteY4" fmla="*/ 0 h 4664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18081" h="4664934">
                <a:moveTo>
                  <a:pt x="0" y="0"/>
                </a:moveTo>
                <a:lnTo>
                  <a:pt x="7322326" y="0"/>
                </a:lnTo>
                <a:lnTo>
                  <a:pt x="7418081" y="4663348"/>
                </a:lnTo>
                <a:lnTo>
                  <a:pt x="15901" y="4664934"/>
                </a:lnTo>
                <a:cubicBezTo>
                  <a:pt x="10600" y="2767590"/>
                  <a:pt x="5301" y="1897344"/>
                  <a:pt x="0" y="0"/>
                </a:cubicBezTo>
                <a:close/>
              </a:path>
            </a:pathLst>
          </a:custGeom>
        </p:spPr>
        <p:txBody>
          <a:bodyPr vert="horz" lIns="91440" tIns="45720" rIns="91440" bIns="45720" rtlCol="0">
            <a:normAutofit/>
          </a:bodyPr>
          <a:lstStyle/>
          <a:p>
            <a:pPr marL="0" marR="0" indent="-228600" defTabSz="914400">
              <a:lnSpc>
                <a:spcPct val="110000"/>
              </a:lnSpc>
              <a:spcAft>
                <a:spcPts val="600"/>
              </a:spcAft>
              <a:buSzPct val="125000"/>
              <a:buFont typeface="Arial" panose="020B0604020202020204" pitchFamily="34" charset="0"/>
              <a:buChar char="•"/>
            </a:pPr>
            <a:r>
              <a:rPr lang="en-US" sz="1400" b="1" spc="-10"/>
              <a:t>Data set: </a:t>
            </a:r>
            <a:r>
              <a:rPr lang="en-US" sz="1400">
                <a:effectLst/>
              </a:rPr>
              <a:t>The data for this project was taken from Kaggle, a popular website where people share data sets and participate in data science challenges. This data set was chosen because it fits the project’s needs</a:t>
            </a:r>
            <a:r>
              <a:rPr lang="en-US" sz="1400"/>
              <a:t>. </a:t>
            </a:r>
          </a:p>
          <a:p>
            <a:pPr indent="-228600" defTabSz="914400">
              <a:lnSpc>
                <a:spcPct val="110000"/>
              </a:lnSpc>
              <a:spcAft>
                <a:spcPts val="600"/>
              </a:spcAft>
              <a:buSzPct val="125000"/>
              <a:buFont typeface="Arial" panose="020B0604020202020204" pitchFamily="34" charset="0"/>
              <a:buChar char="•"/>
            </a:pPr>
            <a:r>
              <a:rPr lang="en-US" sz="1400"/>
              <a:t>Explanation of each column:</a:t>
            </a:r>
          </a:p>
          <a:p>
            <a:pPr marL="347663" indent="-228600" defTabSz="914400">
              <a:lnSpc>
                <a:spcPct val="110000"/>
              </a:lnSpc>
              <a:spcAft>
                <a:spcPts val="600"/>
              </a:spcAft>
              <a:buSzPct val="125000"/>
              <a:buFont typeface="Arial" panose="020B0604020202020204" pitchFamily="34" charset="0"/>
              <a:buChar char="•"/>
            </a:pPr>
            <a:r>
              <a:rPr lang="en-US" sz="1400" b="1"/>
              <a:t>language</a:t>
            </a:r>
            <a:r>
              <a:rPr lang="en-US" sz="1400"/>
              <a:t> → </a:t>
            </a:r>
            <a:r>
              <a:rPr lang="en-US" sz="1400" b="1"/>
              <a:t>Used in analysis:</a:t>
            </a:r>
            <a:r>
              <a:rPr lang="en-US" sz="1400"/>
              <a:t> Tells which language the comment is written in (like Hindi).</a:t>
            </a:r>
          </a:p>
          <a:p>
            <a:pPr marL="347663" indent="-228600" defTabSz="914400">
              <a:lnSpc>
                <a:spcPct val="110000"/>
              </a:lnSpc>
              <a:spcAft>
                <a:spcPts val="600"/>
              </a:spcAft>
              <a:buSzPct val="125000"/>
              <a:buFont typeface="Arial" panose="020B0604020202020204" pitchFamily="34" charset="0"/>
              <a:buChar char="•"/>
            </a:pPr>
            <a:r>
              <a:rPr lang="en-US" sz="1400" b="1"/>
              <a:t>post_index</a:t>
            </a:r>
            <a:r>
              <a:rPr lang="en-US" sz="1400"/>
              <a:t> → </a:t>
            </a:r>
            <a:r>
              <a:rPr lang="en-US" sz="1400" b="1"/>
              <a:t>Used in analysis: </a:t>
            </a:r>
            <a:r>
              <a:rPr lang="en-US" sz="1400"/>
              <a:t>A number that shows which post the comment belongs to.</a:t>
            </a:r>
          </a:p>
          <a:p>
            <a:pPr marL="347663" indent="-228600" defTabSz="914400">
              <a:lnSpc>
                <a:spcPct val="110000"/>
              </a:lnSpc>
              <a:spcAft>
                <a:spcPts val="600"/>
              </a:spcAft>
              <a:buSzPct val="125000"/>
              <a:buFont typeface="Arial" panose="020B0604020202020204" pitchFamily="34" charset="0"/>
              <a:buChar char="•"/>
            </a:pPr>
            <a:r>
              <a:rPr lang="en-US" sz="1400" b="1"/>
              <a:t>commentText</a:t>
            </a:r>
            <a:r>
              <a:rPr lang="en-US" sz="1400"/>
              <a:t> → </a:t>
            </a:r>
            <a:r>
              <a:rPr lang="en-US" sz="1400" b="1"/>
              <a:t>Used in analysis: </a:t>
            </a:r>
            <a:r>
              <a:rPr lang="en-US" sz="1400"/>
              <a:t>The actual words of the comment.</a:t>
            </a:r>
          </a:p>
          <a:p>
            <a:pPr marL="347663" indent="-228600" defTabSz="914400">
              <a:lnSpc>
                <a:spcPct val="110000"/>
              </a:lnSpc>
              <a:spcAft>
                <a:spcPts val="600"/>
              </a:spcAft>
              <a:buSzPct val="125000"/>
              <a:buFont typeface="Arial" panose="020B0604020202020204" pitchFamily="34" charset="0"/>
              <a:buChar char="•"/>
            </a:pPr>
            <a:r>
              <a:rPr lang="en-US" sz="1400" b="1"/>
              <a:t>report_count_comment</a:t>
            </a:r>
            <a:r>
              <a:rPr lang="en-US" sz="1400"/>
              <a:t> → </a:t>
            </a:r>
            <a:r>
              <a:rPr lang="en-US" sz="1400" b="1"/>
              <a:t>Not used in analysis: </a:t>
            </a:r>
            <a:r>
              <a:rPr lang="en-US" sz="1400"/>
              <a:t>How many times people reported this comment. does not reliably indicate whether it is abusive.</a:t>
            </a:r>
          </a:p>
          <a:p>
            <a:pPr marL="347663" indent="-228600" defTabSz="914400">
              <a:lnSpc>
                <a:spcPct val="110000"/>
              </a:lnSpc>
              <a:spcAft>
                <a:spcPts val="600"/>
              </a:spcAft>
              <a:buSzPct val="125000"/>
              <a:buFont typeface="Arial" panose="020B0604020202020204" pitchFamily="34" charset="0"/>
              <a:buChar char="•"/>
            </a:pPr>
            <a:r>
              <a:rPr lang="en-US" sz="1400" b="1"/>
              <a:t>report_count_post</a:t>
            </a:r>
            <a:r>
              <a:rPr lang="en-US" sz="1400"/>
              <a:t> → </a:t>
            </a:r>
            <a:r>
              <a:rPr lang="en-US" sz="1400" b="1"/>
              <a:t>Not used in analysis: </a:t>
            </a:r>
            <a:r>
              <a:rPr lang="en-US" sz="1400"/>
              <a:t>How many times people reported this comment does not reliably indicate whether it is abusive.</a:t>
            </a:r>
          </a:p>
          <a:p>
            <a:pPr marL="58738" indent="-228600" defTabSz="914400">
              <a:lnSpc>
                <a:spcPct val="110000"/>
              </a:lnSpc>
              <a:spcAft>
                <a:spcPts val="600"/>
              </a:spcAft>
              <a:buSzPct val="125000"/>
              <a:buFont typeface="Arial" panose="020B0604020202020204" pitchFamily="34" charset="0"/>
              <a:buChar char="•"/>
            </a:pPr>
            <a:endParaRPr lang="en-US" sz="1400">
              <a:effectLst/>
            </a:endParaRPr>
          </a:p>
        </p:txBody>
      </p:sp>
      <p:sp>
        <p:nvSpPr>
          <p:cNvPr id="7" name="Slide Number Placeholder 4">
            <a:extLst>
              <a:ext uri="{FF2B5EF4-FFF2-40B4-BE49-F238E27FC236}">
                <a16:creationId xmlns:a16="http://schemas.microsoft.com/office/drawing/2014/main" id="{EA4F0172-2424-467A-41E8-2A7713CAF67C}"/>
              </a:ext>
            </a:extLst>
          </p:cNvPr>
          <p:cNvSpPr>
            <a:spLocks noGrp="1"/>
          </p:cNvSpPr>
          <p:nvPr>
            <p:ph type="sldNum" sz="quarter" idx="12"/>
          </p:nvPr>
        </p:nvSpPr>
        <p:spPr>
          <a:xfrm>
            <a:off x="7707240" y="5883274"/>
            <a:ext cx="578317" cy="365125"/>
          </a:xfrm>
        </p:spPr>
        <p:txBody>
          <a:bodyPr vert="horz" lIns="91440" tIns="45720" rIns="91440" bIns="45720" rtlCol="0" anchor="ctr">
            <a:normAutofit/>
          </a:bodyPr>
          <a:lstStyle/>
          <a:p>
            <a:pPr>
              <a:spcAft>
                <a:spcPts val="600"/>
              </a:spcAft>
            </a:pPr>
            <a:fld id="{B1DD23E2-BA1B-8049-8B7E-58F2712DF32D}" type="slidenum">
              <a:rPr lang="en-US" kern="1200" dirty="0">
                <a:solidFill>
                  <a:schemeClr val="tx1">
                    <a:tint val="75000"/>
                  </a:schemeClr>
                </a:solidFill>
                <a:latin typeface="+mn-lt"/>
                <a:ea typeface="+mn-ea"/>
                <a:cs typeface="+mn-cs"/>
              </a:rPr>
              <a:pPr>
                <a:spcAft>
                  <a:spcPts val="600"/>
                </a:spcAft>
              </a:pPr>
              <a:t>6</a:t>
            </a:fld>
            <a:endParaRPr lang="en-US" kern="1200" dirty="0">
              <a:solidFill>
                <a:schemeClr val="tx1">
                  <a:tint val="75000"/>
                </a:schemeClr>
              </a:solidFill>
              <a:latin typeface="+mn-lt"/>
              <a:ea typeface="+mn-ea"/>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6057CB20-6E6B-3B99-D086-417CF8509C88}"/>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6BFC9644-673A-459F-B3C5-9310A4E50E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4ADB9295-9645-4BF2-ADFD-75800B7FAD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716" y="0"/>
            <a:ext cx="915604" cy="6858001"/>
            <a:chOff x="-14288" y="0"/>
            <a:chExt cx="1220788" cy="6858001"/>
          </a:xfrm>
          <a:solidFill>
            <a:schemeClr val="bg2">
              <a:lumMod val="60000"/>
              <a:lumOff val="40000"/>
              <a:alpha val="60000"/>
            </a:schemeClr>
          </a:solidFill>
        </p:grpSpPr>
        <p:sp>
          <p:nvSpPr>
            <p:cNvPr id="15" name="Rectangle 5">
              <a:extLst>
                <a:ext uri="{FF2B5EF4-FFF2-40B4-BE49-F238E27FC236}">
                  <a16:creationId xmlns:a16="http://schemas.microsoft.com/office/drawing/2014/main" id="{95B061E9-E435-4E1B-B160-96584A11669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4300" y="4763"/>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16" name="Freeform 6">
              <a:extLst>
                <a:ext uri="{FF2B5EF4-FFF2-40B4-BE49-F238E27FC236}">
                  <a16:creationId xmlns:a16="http://schemas.microsoft.com/office/drawing/2014/main" id="{3CD7972E-7D38-40EE-A80B-E2A848811EDD}"/>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7" name="Freeform 7">
              <a:extLst>
                <a:ext uri="{FF2B5EF4-FFF2-40B4-BE49-F238E27FC236}">
                  <a16:creationId xmlns:a16="http://schemas.microsoft.com/office/drawing/2014/main" id="{524A3B55-746F-419F-8CFF-5F3A4BE1434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8" name="Freeform 8">
              <a:extLst>
                <a:ext uri="{FF2B5EF4-FFF2-40B4-BE49-F238E27FC236}">
                  <a16:creationId xmlns:a16="http://schemas.microsoft.com/office/drawing/2014/main" id="{9C63219B-AD72-4494-935E-F5C70DB549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19" name="Freeform 9">
              <a:extLst>
                <a:ext uri="{FF2B5EF4-FFF2-40B4-BE49-F238E27FC236}">
                  <a16:creationId xmlns:a16="http://schemas.microsoft.com/office/drawing/2014/main" id="{15B41FD2-05E2-44E7-8760-09E65D1C6034}"/>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0" name="Freeform 10">
              <a:extLst>
                <a:ext uri="{FF2B5EF4-FFF2-40B4-BE49-F238E27FC236}">
                  <a16:creationId xmlns:a16="http://schemas.microsoft.com/office/drawing/2014/main" id="{FE6D63D0-3347-4EE2-8F65-F1C32168FA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1" name="Freeform 11">
              <a:extLst>
                <a:ext uri="{FF2B5EF4-FFF2-40B4-BE49-F238E27FC236}">
                  <a16:creationId xmlns:a16="http://schemas.microsoft.com/office/drawing/2014/main" id="{538A46A3-DB16-45D5-B636-03EFE39FE9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2" name="Freeform 12">
              <a:extLst>
                <a:ext uri="{FF2B5EF4-FFF2-40B4-BE49-F238E27FC236}">
                  <a16:creationId xmlns:a16="http://schemas.microsoft.com/office/drawing/2014/main" id="{0B8A2B0E-823F-4BE8-9359-45143BB1248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3" name="Freeform 13">
              <a:extLst>
                <a:ext uri="{FF2B5EF4-FFF2-40B4-BE49-F238E27FC236}">
                  <a16:creationId xmlns:a16="http://schemas.microsoft.com/office/drawing/2014/main" id="{44516B3C-A8BE-46FC-B643-3DFEB7F28386}"/>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4" name="Freeform 14">
              <a:extLst>
                <a:ext uri="{FF2B5EF4-FFF2-40B4-BE49-F238E27FC236}">
                  <a16:creationId xmlns:a16="http://schemas.microsoft.com/office/drawing/2014/main" id="{59FD699C-3920-4E57-BE27-165A3F036C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5" name="Freeform 15">
              <a:extLst>
                <a:ext uri="{FF2B5EF4-FFF2-40B4-BE49-F238E27FC236}">
                  <a16:creationId xmlns:a16="http://schemas.microsoft.com/office/drawing/2014/main" id="{0FB0C02E-3F53-4889-8ADF-80DBC43F693C}"/>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6" name="Line 16">
              <a:extLst>
                <a:ext uri="{FF2B5EF4-FFF2-40B4-BE49-F238E27FC236}">
                  <a16:creationId xmlns:a16="http://schemas.microsoft.com/office/drawing/2014/main" id="{F8A0C89C-946F-4BCD-8A27-BB73E37FE525}"/>
                </a:ext>
                <a:ext uri="{C183D7F6-B498-43B3-948B-1728B52AA6E4}">
                  <adec:decorative xmlns:adec="http://schemas.microsoft.com/office/drawing/2017/decorative" val="1"/>
                </a:ext>
              </a:extLst>
            </p:cNvPr>
            <p:cNvSpPr>
              <a:spLocks noChangeShapeType="1"/>
            </p:cNvSpPr>
            <p:nvPr>
              <p:extLst>
                <p:ext uri="{386F3935-93C4-4BCD-93E2-E3B085C9AB24}">
                  <p16:designElem xmlns:p16="http://schemas.microsoft.com/office/powerpoint/2015/main" val="1"/>
                </p:ext>
              </p:extLst>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27" name="Freeform 17">
              <a:extLst>
                <a:ext uri="{FF2B5EF4-FFF2-40B4-BE49-F238E27FC236}">
                  <a16:creationId xmlns:a16="http://schemas.microsoft.com/office/drawing/2014/main" id="{70C83EAF-4E92-4849-A240-B257871D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8" name="Freeform 18">
              <a:extLst>
                <a:ext uri="{FF2B5EF4-FFF2-40B4-BE49-F238E27FC236}">
                  <a16:creationId xmlns:a16="http://schemas.microsoft.com/office/drawing/2014/main" id="{320FD164-4D7A-469C-B3F4-B926BFACF5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29" name="Freeform 19">
              <a:extLst>
                <a:ext uri="{FF2B5EF4-FFF2-40B4-BE49-F238E27FC236}">
                  <a16:creationId xmlns:a16="http://schemas.microsoft.com/office/drawing/2014/main" id="{F6E14D9A-4E63-48FF-95C5-9E8DDFF86C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0" name="Freeform 20">
              <a:extLst>
                <a:ext uri="{FF2B5EF4-FFF2-40B4-BE49-F238E27FC236}">
                  <a16:creationId xmlns:a16="http://schemas.microsoft.com/office/drawing/2014/main" id="{F3DCD24F-3CA8-4404-B22C-E4C928995F3B}"/>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1" name="Rectangle 21">
              <a:extLst>
                <a:ext uri="{FF2B5EF4-FFF2-40B4-BE49-F238E27FC236}">
                  <a16:creationId xmlns:a16="http://schemas.microsoft.com/office/drawing/2014/main" id="{8AD2E827-32A3-4BE4-9CC6-8315629177A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33350" y="4662488"/>
              <a:ext cx="23813" cy="2181225"/>
            </a:xfrm>
            <a:prstGeom prst="rect">
              <a:avLst/>
            </a:pr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miter lim="800000"/>
                  <a:headEnd/>
                  <a:tailEnd/>
                </a14:hiddenLine>
              </a:ext>
            </a:extLst>
          </p:spPr>
          <p:txBody>
            <a:bodyPr/>
            <a:lstStyle/>
            <a:p>
              <a:endParaRPr lang="en-US"/>
            </a:p>
          </p:txBody>
        </p:sp>
        <p:sp>
          <p:nvSpPr>
            <p:cNvPr id="32" name="Freeform 22">
              <a:extLst>
                <a:ext uri="{FF2B5EF4-FFF2-40B4-BE49-F238E27FC236}">
                  <a16:creationId xmlns:a16="http://schemas.microsoft.com/office/drawing/2014/main" id="{47FB2CCC-1230-494F-B2D1-F05E5B8EDF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3" name="Freeform 23">
              <a:extLst>
                <a:ext uri="{FF2B5EF4-FFF2-40B4-BE49-F238E27FC236}">
                  <a16:creationId xmlns:a16="http://schemas.microsoft.com/office/drawing/2014/main" id="{A5F44514-9274-47E3-9243-CA9356C166B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4" name="Freeform 24">
              <a:extLst>
                <a:ext uri="{FF2B5EF4-FFF2-40B4-BE49-F238E27FC236}">
                  <a16:creationId xmlns:a16="http://schemas.microsoft.com/office/drawing/2014/main" id="{D06192CD-AD86-4DCA-8B53-4ACCA46583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5" name="Freeform 25">
              <a:extLst>
                <a:ext uri="{FF2B5EF4-FFF2-40B4-BE49-F238E27FC236}">
                  <a16:creationId xmlns:a16="http://schemas.microsoft.com/office/drawing/2014/main" id="{99E9203A-21E4-46D8-981A-4B28CA320A69}"/>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6" name="Freeform 26">
              <a:extLst>
                <a:ext uri="{FF2B5EF4-FFF2-40B4-BE49-F238E27FC236}">
                  <a16:creationId xmlns:a16="http://schemas.microsoft.com/office/drawing/2014/main" id="{32FCE9B6-FB52-4045-8DCC-E5959B9A40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7" name="Freeform 27">
              <a:extLst>
                <a:ext uri="{FF2B5EF4-FFF2-40B4-BE49-F238E27FC236}">
                  <a16:creationId xmlns:a16="http://schemas.microsoft.com/office/drawing/2014/main" id="{E4A7025C-CDE8-429A-BBB9-E7380C9623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8" name="Freeform 28">
              <a:extLst>
                <a:ext uri="{FF2B5EF4-FFF2-40B4-BE49-F238E27FC236}">
                  <a16:creationId xmlns:a16="http://schemas.microsoft.com/office/drawing/2014/main" id="{A4EA0256-5DF5-437A-98A7-B79F3E6BB89A}"/>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39" name="Freeform 29">
              <a:extLst>
                <a:ext uri="{FF2B5EF4-FFF2-40B4-BE49-F238E27FC236}">
                  <a16:creationId xmlns:a16="http://schemas.microsoft.com/office/drawing/2014/main" id="{90C9433D-9E1C-493B-BEBD-C3081FFA328F}"/>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0" name="Freeform 30">
              <a:extLst>
                <a:ext uri="{FF2B5EF4-FFF2-40B4-BE49-F238E27FC236}">
                  <a16:creationId xmlns:a16="http://schemas.microsoft.com/office/drawing/2014/main" id="{352B39BB-F298-4285-A709-1FBA0CB72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sp>
          <p:nvSpPr>
            <p:cNvPr id="41" name="Freeform 31">
              <a:extLst>
                <a:ext uri="{FF2B5EF4-FFF2-40B4-BE49-F238E27FC236}">
                  <a16:creationId xmlns:a16="http://schemas.microsoft.com/office/drawing/2014/main" id="{31CAF2A0-CBA0-4E86-AA87-8750EC1AFB2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p14="http://schemas.microsoft.com/office/powerpoint/2010/main" xmlns:a14="http://schemas.microsoft.com/office/drawing/2010/main" w="9525">
                  <a:solidFill>
                    <a:srgbClr val="000000"/>
                  </a:solidFill>
                  <a:round/>
                  <a:headEnd/>
                  <a:tailEnd/>
                </a14:hiddenLine>
              </a:ext>
            </a:extLst>
          </p:spPr>
          <p:txBody>
            <a:bodyPr/>
            <a:lstStyle/>
            <a:p>
              <a:endParaRPr lang="en-US"/>
            </a:p>
          </p:txBody>
        </p:sp>
      </p:grpSp>
      <p:sp useBgFill="1">
        <p:nvSpPr>
          <p:cNvPr id="43" name="Round Diagonal Corner Rectangle 7">
            <a:extLst>
              <a:ext uri="{FF2B5EF4-FFF2-40B4-BE49-F238E27FC236}">
                <a16:creationId xmlns:a16="http://schemas.microsoft.com/office/drawing/2014/main" id="{7D1C411D-0818-4640-8657-2AF78250C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68813" y="0"/>
            <a:ext cx="5675187" cy="6848476"/>
          </a:xfrm>
          <a:prstGeom prst="round2DiagRect">
            <a:avLst>
              <a:gd name="adj1" fmla="val 0"/>
              <a:gd name="adj2" fmla="val 0"/>
            </a:avLst>
          </a:prstGeom>
          <a:ln w="19050" cap="sq">
            <a:noFill/>
            <a:miter lim="800000"/>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object 3">
            <a:extLst>
              <a:ext uri="{FF2B5EF4-FFF2-40B4-BE49-F238E27FC236}">
                <a16:creationId xmlns:a16="http://schemas.microsoft.com/office/drawing/2014/main" id="{1C355A14-D110-9C9F-EFE2-512FC75C859D}"/>
              </a:ext>
            </a:extLst>
          </p:cNvPr>
          <p:cNvSpPr txBox="1"/>
          <p:nvPr/>
        </p:nvSpPr>
        <p:spPr>
          <a:xfrm>
            <a:off x="3911600" y="1093788"/>
            <a:ext cx="4373958" cy="4697413"/>
          </a:xfrm>
          <a:custGeom>
            <a:avLst/>
            <a:gdLst>
              <a:gd name="connsiteX0" fmla="*/ 0 w 7322326"/>
              <a:gd name="connsiteY0" fmla="*/ 0 h 5539978"/>
              <a:gd name="connsiteX1" fmla="*/ 7322326 w 7322326"/>
              <a:gd name="connsiteY1" fmla="*/ 0 h 5539978"/>
              <a:gd name="connsiteX2" fmla="*/ 7322326 w 7322326"/>
              <a:gd name="connsiteY2" fmla="*/ 5539978 h 5539978"/>
              <a:gd name="connsiteX3" fmla="*/ 0 w 7322326"/>
              <a:gd name="connsiteY3" fmla="*/ 5539978 h 5539978"/>
              <a:gd name="connsiteX4" fmla="*/ 0 w 7322326"/>
              <a:gd name="connsiteY4" fmla="*/ 0 h 5539978"/>
              <a:gd name="connsiteX0" fmla="*/ 15903 w 7338229"/>
              <a:gd name="connsiteY0" fmla="*/ 0 h 5539978"/>
              <a:gd name="connsiteX1" fmla="*/ 7338229 w 7338229"/>
              <a:gd name="connsiteY1" fmla="*/ 0 h 5539978"/>
              <a:gd name="connsiteX2" fmla="*/ 7338229 w 7338229"/>
              <a:gd name="connsiteY2" fmla="*/ 5539978 h 5539978"/>
              <a:gd name="connsiteX3" fmla="*/ 0 w 7338229"/>
              <a:gd name="connsiteY3" fmla="*/ 5142413 h 5539978"/>
              <a:gd name="connsiteX4" fmla="*/ 15903 w 7338229"/>
              <a:gd name="connsiteY4" fmla="*/ 0 h 5539978"/>
              <a:gd name="connsiteX0" fmla="*/ 15903 w 7338229"/>
              <a:gd name="connsiteY0" fmla="*/ 0 h 5150364"/>
              <a:gd name="connsiteX1" fmla="*/ 7338229 w 7338229"/>
              <a:gd name="connsiteY1" fmla="*/ 0 h 5150364"/>
              <a:gd name="connsiteX2" fmla="*/ 7322326 w 7338229"/>
              <a:gd name="connsiteY2" fmla="*/ 5150364 h 5150364"/>
              <a:gd name="connsiteX3" fmla="*/ 0 w 7338229"/>
              <a:gd name="connsiteY3" fmla="*/ 5142413 h 5150364"/>
              <a:gd name="connsiteX4" fmla="*/ 15903 w 7338229"/>
              <a:gd name="connsiteY4" fmla="*/ 0 h 51503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38229" h="5150364">
                <a:moveTo>
                  <a:pt x="15903" y="0"/>
                </a:moveTo>
                <a:lnTo>
                  <a:pt x="7338229" y="0"/>
                </a:lnTo>
                <a:lnTo>
                  <a:pt x="7322326" y="5150364"/>
                </a:lnTo>
                <a:lnTo>
                  <a:pt x="0" y="5142413"/>
                </a:lnTo>
                <a:lnTo>
                  <a:pt x="15903" y="0"/>
                </a:lnTo>
                <a:close/>
              </a:path>
            </a:pathLst>
          </a:custGeom>
        </p:spPr>
        <p:txBody>
          <a:bodyPr vert="horz" lIns="91440" tIns="45720" rIns="91440" bIns="45720" rtlCol="0">
            <a:normAutofit/>
          </a:bodyPr>
          <a:lstStyle/>
          <a:p>
            <a:pPr marL="347663" indent="-228600" defTabSz="914400">
              <a:lnSpc>
                <a:spcPct val="110000"/>
              </a:lnSpc>
              <a:spcAft>
                <a:spcPts val="600"/>
              </a:spcAft>
              <a:buSzPct val="125000"/>
              <a:buFont typeface="Arial" panose="020B0604020202020204" pitchFamily="34" charset="0"/>
              <a:buChar char="•"/>
            </a:pPr>
            <a:r>
              <a:rPr lang="en-US" sz="1400" b="1"/>
              <a:t>report_count_post</a:t>
            </a:r>
            <a:r>
              <a:rPr lang="en-US" sz="1400"/>
              <a:t> → </a:t>
            </a:r>
            <a:r>
              <a:rPr lang="en-US" sz="1400" b="1"/>
              <a:t>Not used in analysis: </a:t>
            </a:r>
            <a:r>
              <a:rPr lang="en-US" sz="1400"/>
              <a:t>How many times people reported the post itself.</a:t>
            </a:r>
          </a:p>
          <a:p>
            <a:pPr marL="398463" indent="-228600" defTabSz="914400">
              <a:lnSpc>
                <a:spcPct val="110000"/>
              </a:lnSpc>
              <a:spcAft>
                <a:spcPts val="600"/>
              </a:spcAft>
              <a:buSzPct val="125000"/>
              <a:buFont typeface="Arial" panose="020B0604020202020204" pitchFamily="34" charset="0"/>
              <a:buChar char="•"/>
            </a:pPr>
            <a:r>
              <a:rPr lang="en-US" sz="1400" b="1"/>
              <a:t>like_count</a:t>
            </a:r>
            <a:r>
              <a:rPr lang="en-US" sz="1400"/>
              <a:t> → </a:t>
            </a:r>
            <a:r>
              <a:rPr lang="en-US" sz="1400" b="1"/>
              <a:t>Not used in analysis: </a:t>
            </a:r>
            <a:r>
              <a:rPr lang="en-US" sz="1400"/>
              <a:t>Number of likes a comment received (used only as a</a:t>
            </a:r>
            <a:r>
              <a:rPr lang="en-US" sz="1400" b="1"/>
              <a:t> </a:t>
            </a:r>
            <a:r>
              <a:rPr lang="en-US" sz="1400"/>
              <a:t>supporting feature; the model does not rely on this variable).</a:t>
            </a:r>
          </a:p>
          <a:p>
            <a:pPr marL="398463" indent="-228600" defTabSz="914400">
              <a:lnSpc>
                <a:spcPct val="110000"/>
              </a:lnSpc>
              <a:spcAft>
                <a:spcPts val="600"/>
              </a:spcAft>
              <a:buSzPct val="125000"/>
              <a:buFont typeface="Arial" panose="020B0604020202020204" pitchFamily="34" charset="0"/>
              <a:buChar char="•"/>
            </a:pPr>
            <a:r>
              <a:rPr lang="en-US" sz="1400" b="1"/>
              <a:t>		Note: like_count </a:t>
            </a:r>
            <a:r>
              <a:rPr lang="en-US" sz="1400"/>
              <a:t>is used only as an auxiliary feature. Since new comments may not yet have likes, the model does not rely on this feature alone for classification.</a:t>
            </a:r>
          </a:p>
          <a:p>
            <a:pPr marL="341313" indent="-228600" defTabSz="914400">
              <a:lnSpc>
                <a:spcPct val="110000"/>
              </a:lnSpc>
              <a:spcAft>
                <a:spcPts val="600"/>
              </a:spcAft>
              <a:buSzPct val="125000"/>
              <a:buFont typeface="Arial" panose="020B0604020202020204" pitchFamily="34" charset="0"/>
              <a:buChar char="•"/>
            </a:pPr>
            <a:r>
              <a:rPr lang="en-US" sz="1400" b="1"/>
              <a:t>label</a:t>
            </a:r>
            <a:r>
              <a:rPr lang="en-US" sz="1400"/>
              <a:t> → </a:t>
            </a:r>
            <a:r>
              <a:rPr lang="en-US" sz="1400" b="1"/>
              <a:t>Used in analysis: </a:t>
            </a:r>
            <a:r>
              <a:rPr lang="en-US" sz="1400"/>
              <a:t>Marks if the comment is non-abusive (0) or abusive (1). </a:t>
            </a:r>
          </a:p>
          <a:p>
            <a:pPr marL="341313" indent="-228600" defTabSz="914400">
              <a:lnSpc>
                <a:spcPct val="110000"/>
              </a:lnSpc>
              <a:spcAft>
                <a:spcPts val="600"/>
              </a:spcAft>
              <a:buSzPct val="125000"/>
              <a:buFont typeface="Arial" panose="020B0604020202020204" pitchFamily="34" charset="0"/>
              <a:buChar char="•"/>
            </a:pPr>
            <a:r>
              <a:rPr lang="en-US" sz="1400"/>
              <a:t>		</a:t>
            </a:r>
            <a:r>
              <a:rPr lang="en-US" sz="1400" b="1"/>
              <a:t>Note: </a:t>
            </a:r>
            <a:r>
              <a:rPr lang="en-US" sz="1400"/>
              <a:t>Target Variable: </a:t>
            </a:r>
            <a:r>
              <a:rPr lang="en-US" sz="1400" b="1"/>
              <a:t>label</a:t>
            </a:r>
            <a:r>
              <a:rPr lang="en-US" sz="1400"/>
              <a:t> (0 = Non-Abusive, 1 = Abusive).</a:t>
            </a:r>
          </a:p>
          <a:p>
            <a:pPr marL="341313" indent="-228600" defTabSz="914400">
              <a:lnSpc>
                <a:spcPct val="110000"/>
              </a:lnSpc>
              <a:spcAft>
                <a:spcPts val="600"/>
              </a:spcAft>
              <a:buSzPct val="125000"/>
              <a:buFont typeface="Arial" panose="020B0604020202020204" pitchFamily="34" charset="0"/>
              <a:buChar char="•"/>
            </a:pPr>
            <a:endParaRPr lang="en-US" sz="1400"/>
          </a:p>
          <a:p>
            <a:pPr marL="341313" indent="-228600" defTabSz="914400">
              <a:lnSpc>
                <a:spcPct val="110000"/>
              </a:lnSpc>
              <a:spcAft>
                <a:spcPts val="600"/>
              </a:spcAft>
              <a:buSzPct val="125000"/>
              <a:buFont typeface="Arial" panose="020B0604020202020204" pitchFamily="34" charset="0"/>
              <a:buChar char="•"/>
            </a:pPr>
            <a:endParaRPr lang="en-US" sz="1400"/>
          </a:p>
          <a:p>
            <a:pPr marL="58738" indent="-228600" defTabSz="914400">
              <a:lnSpc>
                <a:spcPct val="110000"/>
              </a:lnSpc>
              <a:spcAft>
                <a:spcPts val="600"/>
              </a:spcAft>
              <a:buSzPct val="125000"/>
              <a:buFont typeface="Arial" panose="020B0604020202020204" pitchFamily="34" charset="0"/>
              <a:buChar char="•"/>
            </a:pPr>
            <a:r>
              <a:rPr lang="en-US" sz="1400" b="1"/>
              <a:t>Source: </a:t>
            </a:r>
            <a:r>
              <a:rPr lang="en-US" sz="1400" i="1"/>
              <a:t>Kaggle Dataset–Abusive Comments in Indian Languages, 2023.</a:t>
            </a:r>
          </a:p>
          <a:p>
            <a:pPr marL="58738" indent="-228600" defTabSz="914400">
              <a:lnSpc>
                <a:spcPct val="110000"/>
              </a:lnSpc>
              <a:spcAft>
                <a:spcPts val="600"/>
              </a:spcAft>
              <a:buSzPct val="125000"/>
              <a:buFont typeface="Arial" panose="020B0604020202020204" pitchFamily="34" charset="0"/>
              <a:buChar char="•"/>
            </a:pPr>
            <a:endParaRPr lang="en-US" sz="1400">
              <a:effectLst/>
            </a:endParaRPr>
          </a:p>
        </p:txBody>
      </p:sp>
      <p:sp>
        <p:nvSpPr>
          <p:cNvPr id="7" name="Slide Number Placeholder 4">
            <a:extLst>
              <a:ext uri="{FF2B5EF4-FFF2-40B4-BE49-F238E27FC236}">
                <a16:creationId xmlns:a16="http://schemas.microsoft.com/office/drawing/2014/main" id="{B69F7500-E5F8-8CC3-F528-F674AB13C23B}"/>
              </a:ext>
            </a:extLst>
          </p:cNvPr>
          <p:cNvSpPr>
            <a:spLocks noGrp="1"/>
          </p:cNvSpPr>
          <p:nvPr>
            <p:ph type="sldNum" sz="quarter" idx="12"/>
          </p:nvPr>
        </p:nvSpPr>
        <p:spPr>
          <a:xfrm>
            <a:off x="7707240" y="5883274"/>
            <a:ext cx="578317" cy="365125"/>
          </a:xfrm>
        </p:spPr>
        <p:txBody>
          <a:bodyPr vert="horz" lIns="91440" tIns="45720" rIns="91440" bIns="45720" rtlCol="0" anchor="ctr">
            <a:normAutofit/>
          </a:bodyPr>
          <a:lstStyle/>
          <a:p>
            <a:pPr>
              <a:spcAft>
                <a:spcPts val="600"/>
              </a:spcAft>
            </a:pPr>
            <a:fld id="{B1DD23E2-BA1B-8049-8B7E-58F2712DF32D}" type="slidenum">
              <a:rPr lang="en-US" kern="1200" dirty="0">
                <a:solidFill>
                  <a:schemeClr val="tx1">
                    <a:tint val="75000"/>
                  </a:schemeClr>
                </a:solidFill>
                <a:latin typeface="+mn-lt"/>
                <a:ea typeface="+mn-ea"/>
                <a:cs typeface="+mn-cs"/>
              </a:rPr>
              <a:pPr>
                <a:spcAft>
                  <a:spcPts val="600"/>
                </a:spcAft>
              </a:pPr>
              <a:t>7</a:t>
            </a:fld>
            <a:endParaRPr lang="en-US" kern="1200" dirty="0">
              <a:solidFill>
                <a:schemeClr val="tx1">
                  <a:tint val="75000"/>
                </a:schemeClr>
              </a:solidFill>
              <a:latin typeface="+mn-lt"/>
              <a:ea typeface="+mn-ea"/>
              <a:cs typeface="+mn-cs"/>
            </a:endParaRPr>
          </a:p>
        </p:txBody>
      </p:sp>
    </p:spTree>
    <p:extLst>
      <p:ext uri="{BB962C8B-B14F-4D97-AF65-F5344CB8AC3E}">
        <p14:creationId xmlns:p14="http://schemas.microsoft.com/office/powerpoint/2010/main" val="36052715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4">
            <a:extLst>
              <a:ext uri="{FF2B5EF4-FFF2-40B4-BE49-F238E27FC236}">
                <a16:creationId xmlns:a16="http://schemas.microsoft.com/office/drawing/2014/main" id="{6F8E5B98-1CD2-015C-57BE-F68223D34921}"/>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8</a:t>
            </a:fld>
            <a:endParaRPr lang="en-US" dirty="0">
              <a:solidFill>
                <a:srgbClr val="000000"/>
              </a:solidFill>
            </a:endParaRPr>
          </a:p>
        </p:txBody>
      </p:sp>
      <p:sp>
        <p:nvSpPr>
          <p:cNvPr id="9" name="object 3">
            <a:extLst>
              <a:ext uri="{FF2B5EF4-FFF2-40B4-BE49-F238E27FC236}">
                <a16:creationId xmlns:a16="http://schemas.microsoft.com/office/drawing/2014/main" id="{E6578340-E1BA-B4A5-1DB7-32F8F0B1C9AE}"/>
              </a:ext>
            </a:extLst>
          </p:cNvPr>
          <p:cNvSpPr txBox="1"/>
          <p:nvPr/>
        </p:nvSpPr>
        <p:spPr>
          <a:xfrm>
            <a:off x="815787" y="1112901"/>
            <a:ext cx="7433909" cy="5042366"/>
          </a:xfrm>
          <a:prstGeom prst="rect">
            <a:avLst/>
          </a:prstGeom>
        </p:spPr>
        <p:txBody>
          <a:bodyPr vert="horz" wrap="square" lIns="0" tIns="12700" rIns="0" bIns="0" rtlCol="0">
            <a:noAutofit/>
          </a:bodyPr>
          <a:lstStyle/>
          <a:p>
            <a:pPr marL="95250" algn="just">
              <a:spcAft>
                <a:spcPts val="600"/>
              </a:spcAft>
            </a:pPr>
            <a:endParaRPr lang="en-US" sz="2000" dirty="0"/>
          </a:p>
        </p:txBody>
      </p:sp>
      <p:sp>
        <p:nvSpPr>
          <p:cNvPr id="4" name="object 3">
            <a:extLst>
              <a:ext uri="{FF2B5EF4-FFF2-40B4-BE49-F238E27FC236}">
                <a16:creationId xmlns:a16="http://schemas.microsoft.com/office/drawing/2014/main" id="{087EE57E-F12C-FFA0-F7B8-9E51795A772A}"/>
              </a:ext>
            </a:extLst>
          </p:cNvPr>
          <p:cNvSpPr txBox="1"/>
          <p:nvPr/>
        </p:nvSpPr>
        <p:spPr>
          <a:xfrm>
            <a:off x="807836" y="1143840"/>
            <a:ext cx="7433909" cy="3960989"/>
          </a:xfrm>
          <a:custGeom>
            <a:avLst/>
            <a:gdLst>
              <a:gd name="connsiteX0" fmla="*/ 0 w 7315200"/>
              <a:gd name="connsiteY0" fmla="*/ 0 h 5042366"/>
              <a:gd name="connsiteX1" fmla="*/ 7315200 w 7315200"/>
              <a:gd name="connsiteY1" fmla="*/ 0 h 5042366"/>
              <a:gd name="connsiteX2" fmla="*/ 7315200 w 7315200"/>
              <a:gd name="connsiteY2" fmla="*/ 5042366 h 5042366"/>
              <a:gd name="connsiteX3" fmla="*/ 0 w 7315200"/>
              <a:gd name="connsiteY3" fmla="*/ 5042366 h 5042366"/>
              <a:gd name="connsiteX4" fmla="*/ 0 w 7315200"/>
              <a:gd name="connsiteY4" fmla="*/ 0 h 5042366"/>
              <a:gd name="connsiteX0" fmla="*/ 7951 w 7323151"/>
              <a:gd name="connsiteY0" fmla="*/ 0 h 5042366"/>
              <a:gd name="connsiteX1" fmla="*/ 7323151 w 7323151"/>
              <a:gd name="connsiteY1" fmla="*/ 0 h 5042366"/>
              <a:gd name="connsiteX2" fmla="*/ 7323151 w 7323151"/>
              <a:gd name="connsiteY2" fmla="*/ 5042366 h 5042366"/>
              <a:gd name="connsiteX3" fmla="*/ 0 w 7323151"/>
              <a:gd name="connsiteY3" fmla="*/ 3953037 h 5042366"/>
              <a:gd name="connsiteX4" fmla="*/ 7951 w 7323151"/>
              <a:gd name="connsiteY4" fmla="*/ 0 h 5042366"/>
              <a:gd name="connsiteX0" fmla="*/ 7951 w 7331103"/>
              <a:gd name="connsiteY0" fmla="*/ 0 h 3960989"/>
              <a:gd name="connsiteX1" fmla="*/ 7323151 w 7331103"/>
              <a:gd name="connsiteY1" fmla="*/ 0 h 3960989"/>
              <a:gd name="connsiteX2" fmla="*/ 7331103 w 7331103"/>
              <a:gd name="connsiteY2" fmla="*/ 3960989 h 3960989"/>
              <a:gd name="connsiteX3" fmla="*/ 0 w 7331103"/>
              <a:gd name="connsiteY3" fmla="*/ 3953037 h 3960989"/>
              <a:gd name="connsiteX4" fmla="*/ 7951 w 7331103"/>
              <a:gd name="connsiteY4" fmla="*/ 0 h 3960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31103" h="3960989">
                <a:moveTo>
                  <a:pt x="7951" y="0"/>
                </a:moveTo>
                <a:lnTo>
                  <a:pt x="7323151" y="0"/>
                </a:lnTo>
                <a:cubicBezTo>
                  <a:pt x="7325802" y="1320330"/>
                  <a:pt x="7328452" y="2640659"/>
                  <a:pt x="7331103" y="3960989"/>
                </a:cubicBezTo>
                <a:lnTo>
                  <a:pt x="0" y="3953037"/>
                </a:lnTo>
                <a:cubicBezTo>
                  <a:pt x="2650" y="2635358"/>
                  <a:pt x="5301" y="1317679"/>
                  <a:pt x="7951" y="0"/>
                </a:cubicBezTo>
                <a:close/>
              </a:path>
            </a:pathLst>
          </a:custGeom>
        </p:spPr>
        <p:txBody>
          <a:bodyPr vert="horz" wrap="square" lIns="0" tIns="12700" rIns="0" bIns="0" rtlCol="0">
            <a:noAutofit/>
          </a:bodyPr>
          <a:lstStyle/>
          <a:p>
            <a:pPr marL="403225" indent="-307975" algn="just">
              <a:spcAft>
                <a:spcPts val="600"/>
              </a:spcAft>
              <a:buFont typeface="Arial" panose="020B0604020202020204" pitchFamily="34" charset="0"/>
              <a:buChar char="•"/>
              <a:tabLst>
                <a:tab pos="457200" algn="l"/>
              </a:tabLst>
            </a:pPr>
            <a:r>
              <a:rPr lang="en-US" sz="2000" dirty="0"/>
              <a:t>Multiple fluent Hindi speakers manually labeled the dataset, but only one person reviewed each comment. </a:t>
            </a:r>
          </a:p>
          <a:p>
            <a:pPr marL="403225" indent="-307975" algn="just">
              <a:spcAft>
                <a:spcPts val="600"/>
              </a:spcAft>
              <a:buFont typeface="Arial" panose="020B0604020202020204" pitchFamily="34" charset="0"/>
              <a:buChar char="•"/>
              <a:tabLst>
                <a:tab pos="457200" algn="l"/>
              </a:tabLst>
            </a:pPr>
            <a:r>
              <a:rPr lang="en-US" sz="2000" dirty="0"/>
              <a:t>Reviewers independently read each comment and assigned labels (0 = non-abusive, 1 = abusive).</a:t>
            </a:r>
          </a:p>
          <a:p>
            <a:pPr marL="403225" indent="-307975" algn="just">
              <a:spcAft>
                <a:spcPts val="600"/>
              </a:spcAft>
              <a:buFont typeface="Arial" panose="020B0604020202020204" pitchFamily="34" charset="0"/>
              <a:buChar char="•"/>
              <a:tabLst>
                <a:tab pos="457200" algn="l"/>
              </a:tabLst>
            </a:pPr>
            <a:r>
              <a:rPr lang="en-US" sz="2000" dirty="0"/>
              <a:t>Reviewers were not given formal instructions; they classified comments based on a common-sense understanding of abusive language.</a:t>
            </a:r>
          </a:p>
          <a:p>
            <a:pPr marL="403225" indent="-307975" algn="just">
              <a:spcAft>
                <a:spcPts val="600"/>
              </a:spcAft>
              <a:buFont typeface="Arial" panose="020B0604020202020204" pitchFamily="34" charset="0"/>
              <a:buChar char="•"/>
              <a:tabLst>
                <a:tab pos="457200" algn="l"/>
              </a:tabLst>
            </a:pPr>
            <a:r>
              <a:rPr lang="en-US" sz="2000" dirty="0"/>
              <a:t>Because labeling was done individually, the process may include subjective bias.</a:t>
            </a:r>
          </a:p>
          <a:p>
            <a:pPr marL="403225" indent="-307975" algn="just">
              <a:spcAft>
                <a:spcPts val="600"/>
              </a:spcAft>
              <a:buFont typeface="Arial" panose="020B0604020202020204" pitchFamily="34" charset="0"/>
              <a:buChar char="•"/>
              <a:tabLst>
                <a:tab pos="457200" algn="l"/>
              </a:tabLst>
            </a:pPr>
            <a:r>
              <a:rPr lang="en-US" sz="2000" kern="0" dirty="0">
                <a:cs typeface="Times New Roman" panose="02020603050405020304" pitchFamily="18" charset="0"/>
              </a:rPr>
              <a:t>T</a:t>
            </a:r>
            <a:r>
              <a:rPr lang="en-US" sz="2000" dirty="0"/>
              <a:t>hese manually assigned labels served as the ground truth for model training, validation, and testing.</a:t>
            </a:r>
          </a:p>
          <a:p>
            <a:pPr marL="95250" algn="just">
              <a:spcAft>
                <a:spcPts val="600"/>
              </a:spcAft>
              <a:tabLst>
                <a:tab pos="457200" algn="l"/>
              </a:tabLst>
            </a:pPr>
            <a:endParaRPr lang="en-US" sz="2000" kern="100" dirty="0">
              <a:ea typeface="Calibri" panose="020F0502020204030204" pitchFamily="34" charset="0"/>
              <a:cs typeface="Times New Roman" panose="02020603050405020304" pitchFamily="18" charset="0"/>
            </a:endParaRPr>
          </a:p>
          <a:p>
            <a:pPr algn="just">
              <a:tabLst>
                <a:tab pos="457200" algn="l"/>
              </a:tabLst>
            </a:pPr>
            <a:r>
              <a:rPr lang="en-US" sz="2000" dirty="0"/>
              <a:t>  </a:t>
            </a:r>
          </a:p>
        </p:txBody>
      </p:sp>
      <p:sp>
        <p:nvSpPr>
          <p:cNvPr id="8" name="object 2">
            <a:extLst>
              <a:ext uri="{FF2B5EF4-FFF2-40B4-BE49-F238E27FC236}">
                <a16:creationId xmlns:a16="http://schemas.microsoft.com/office/drawing/2014/main" id="{B2CEAEF0-0696-2B40-C6A5-C0910A1F670B}"/>
              </a:ext>
            </a:extLst>
          </p:cNvPr>
          <p:cNvSpPr txBox="1">
            <a:spLocks/>
          </p:cNvSpPr>
          <p:nvPr/>
        </p:nvSpPr>
        <p:spPr>
          <a:xfrm>
            <a:off x="228600" y="128016"/>
            <a:ext cx="8686800" cy="984885"/>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pPr>
              <a:lnSpc>
                <a:spcPct val="100000"/>
              </a:lnSpc>
              <a:spcBef>
                <a:spcPts val="0"/>
              </a:spcBef>
            </a:pPr>
            <a:r>
              <a:rPr lang="en-US"/>
              <a:t>How Abusive vs. Non-Abusive Labels Were Determined</a:t>
            </a:r>
            <a:endParaRPr lang="en-US" spc="-20" dirty="0">
              <a:solidFill>
                <a:srgbClr val="2D3B45"/>
              </a:solidFill>
            </a:endParaRPr>
          </a:p>
        </p:txBody>
      </p:sp>
    </p:spTree>
    <p:extLst>
      <p:ext uri="{BB962C8B-B14F-4D97-AF65-F5344CB8AC3E}">
        <p14:creationId xmlns:p14="http://schemas.microsoft.com/office/powerpoint/2010/main" val="2877913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4">
            <a:extLst>
              <a:ext uri="{FF2B5EF4-FFF2-40B4-BE49-F238E27FC236}">
                <a16:creationId xmlns:a16="http://schemas.microsoft.com/office/drawing/2014/main" id="{C6CDEF68-0F1F-B00F-7B49-C1FEEF355272}"/>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9</a:t>
            </a:fld>
            <a:endParaRPr lang="en-US" dirty="0">
              <a:solidFill>
                <a:srgbClr val="000000"/>
              </a:solidFill>
            </a:endParaRPr>
          </a:p>
        </p:txBody>
      </p:sp>
      <p:pic>
        <p:nvPicPr>
          <p:cNvPr id="9" name="Picture 8" descr="A screenshot of a computer&#10;&#10;AI-generated content may be incorrect.">
            <a:extLst>
              <a:ext uri="{FF2B5EF4-FFF2-40B4-BE49-F238E27FC236}">
                <a16:creationId xmlns:a16="http://schemas.microsoft.com/office/drawing/2014/main" id="{56D44536-B5BE-7818-5195-2B4420436F20}"/>
              </a:ext>
            </a:extLst>
          </p:cNvPr>
          <p:cNvPicPr>
            <a:picLocks noChangeAspect="1"/>
          </p:cNvPicPr>
          <p:nvPr/>
        </p:nvPicPr>
        <p:blipFill>
          <a:blip r:embed="rId2"/>
          <a:stretch>
            <a:fillRect/>
          </a:stretch>
        </p:blipFill>
        <p:spPr>
          <a:xfrm>
            <a:off x="984738" y="768248"/>
            <a:ext cx="6346093" cy="4618120"/>
          </a:xfrm>
          <a:prstGeom prst="rect">
            <a:avLst/>
          </a:prstGeom>
        </p:spPr>
      </p:pic>
    </p:spTree>
    <p:extLst>
      <p:ext uri="{BB962C8B-B14F-4D97-AF65-F5344CB8AC3E}">
        <p14:creationId xmlns:p14="http://schemas.microsoft.com/office/powerpoint/2010/main" val="39353620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888999" y="885996"/>
            <a:ext cx="7378810" cy="4977992"/>
          </a:xfrm>
          <a:custGeom>
            <a:avLst/>
            <a:gdLst>
              <a:gd name="connsiteX0" fmla="*/ 0 w 7315200"/>
              <a:gd name="connsiteY0" fmla="*/ 0 h 5701561"/>
              <a:gd name="connsiteX1" fmla="*/ 7315200 w 7315200"/>
              <a:gd name="connsiteY1" fmla="*/ 0 h 5701561"/>
              <a:gd name="connsiteX2" fmla="*/ 7315200 w 7315200"/>
              <a:gd name="connsiteY2" fmla="*/ 5701561 h 5701561"/>
              <a:gd name="connsiteX3" fmla="*/ 0 w 7315200"/>
              <a:gd name="connsiteY3" fmla="*/ 5701561 h 5701561"/>
              <a:gd name="connsiteX4" fmla="*/ 0 w 7315200"/>
              <a:gd name="connsiteY4" fmla="*/ 0 h 5701561"/>
              <a:gd name="connsiteX0" fmla="*/ 0 w 7315200"/>
              <a:gd name="connsiteY0" fmla="*/ 0 h 5701561"/>
              <a:gd name="connsiteX1" fmla="*/ 7315200 w 7315200"/>
              <a:gd name="connsiteY1" fmla="*/ 0 h 5701561"/>
              <a:gd name="connsiteX2" fmla="*/ 7315200 w 7315200"/>
              <a:gd name="connsiteY2" fmla="*/ 5701561 h 5701561"/>
              <a:gd name="connsiteX3" fmla="*/ 0 w 7315200"/>
              <a:gd name="connsiteY3" fmla="*/ 4906430 h 5701561"/>
              <a:gd name="connsiteX4" fmla="*/ 0 w 7315200"/>
              <a:gd name="connsiteY4" fmla="*/ 0 h 5701561"/>
              <a:gd name="connsiteX0" fmla="*/ 0 w 7378810"/>
              <a:gd name="connsiteY0" fmla="*/ 0 h 4977992"/>
              <a:gd name="connsiteX1" fmla="*/ 7315200 w 7378810"/>
              <a:gd name="connsiteY1" fmla="*/ 0 h 4977992"/>
              <a:gd name="connsiteX2" fmla="*/ 7378810 w 7378810"/>
              <a:gd name="connsiteY2" fmla="*/ 4977992 h 4977992"/>
              <a:gd name="connsiteX3" fmla="*/ 0 w 7378810"/>
              <a:gd name="connsiteY3" fmla="*/ 4906430 h 4977992"/>
              <a:gd name="connsiteX4" fmla="*/ 0 w 7378810"/>
              <a:gd name="connsiteY4" fmla="*/ 0 h 49779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78810" h="4977992">
                <a:moveTo>
                  <a:pt x="0" y="0"/>
                </a:moveTo>
                <a:lnTo>
                  <a:pt x="7315200" y="0"/>
                </a:lnTo>
                <a:lnTo>
                  <a:pt x="7378810" y="4977992"/>
                </a:lnTo>
                <a:lnTo>
                  <a:pt x="0" y="4906430"/>
                </a:lnTo>
                <a:lnTo>
                  <a:pt x="0" y="0"/>
                </a:lnTo>
                <a:close/>
              </a:path>
            </a:pathLst>
          </a:custGeom>
        </p:spPr>
        <p:txBody>
          <a:bodyPr vert="horz" wrap="square" lIns="0" tIns="160020" rIns="0" bIns="0" rtlCol="0">
            <a:spAutoFit/>
          </a:bodyPr>
          <a:lstStyle/>
          <a:p>
            <a:pPr marL="241300" indent="-228600" algn="just">
              <a:lnSpc>
                <a:spcPct val="100000"/>
              </a:lnSpc>
              <a:spcBef>
                <a:spcPts val="1260"/>
              </a:spcBef>
              <a:buSzPct val="102500"/>
              <a:buFont typeface="Arial MT"/>
              <a:buChar char="•"/>
              <a:tabLst>
                <a:tab pos="241300" algn="l"/>
              </a:tabLst>
            </a:pPr>
            <a:r>
              <a:rPr sz="2000" b="1" dirty="0">
                <a:cs typeface="Calibri"/>
              </a:rPr>
              <a:t>Sample</a:t>
            </a:r>
            <a:r>
              <a:rPr sz="2000" b="1" spc="-95" dirty="0">
                <a:cs typeface="Calibri"/>
              </a:rPr>
              <a:t> </a:t>
            </a:r>
            <a:r>
              <a:rPr sz="2000" b="1" spc="-10" dirty="0">
                <a:cs typeface="Calibri"/>
              </a:rPr>
              <a:t>Variables:</a:t>
            </a:r>
            <a:endParaRPr sz="2000" dirty="0">
              <a:cs typeface="Calibri"/>
            </a:endParaRPr>
          </a:p>
          <a:p>
            <a:pPr marL="571500" lvl="1" indent="-342900" algn="just">
              <a:spcBef>
                <a:spcPts val="1160"/>
              </a:spcBef>
              <a:buSzPct val="50000"/>
              <a:buFont typeface="Courier New" panose="02070309020205020404" pitchFamily="49" charset="0"/>
              <a:buChar char="o"/>
              <a:tabLst>
                <a:tab pos="627063" algn="l"/>
              </a:tabLst>
            </a:pPr>
            <a:r>
              <a:rPr sz="2000" b="1" spc="-10" dirty="0">
                <a:cs typeface="Calibri"/>
              </a:rPr>
              <a:t>Language:</a:t>
            </a:r>
            <a:r>
              <a:rPr sz="2000" b="1" spc="-40" dirty="0">
                <a:cs typeface="Calibri"/>
              </a:rPr>
              <a:t> </a:t>
            </a:r>
            <a:r>
              <a:rPr sz="2000" dirty="0">
                <a:cs typeface="Calibri"/>
              </a:rPr>
              <a:t>The</a:t>
            </a:r>
            <a:r>
              <a:rPr sz="2000" spc="-45" dirty="0">
                <a:cs typeface="Calibri"/>
              </a:rPr>
              <a:t> </a:t>
            </a:r>
            <a:r>
              <a:rPr sz="2000" dirty="0">
                <a:cs typeface="Calibri"/>
              </a:rPr>
              <a:t>language</a:t>
            </a:r>
            <a:r>
              <a:rPr sz="2000" spc="-50" dirty="0">
                <a:cs typeface="Calibri"/>
              </a:rPr>
              <a:t> </a:t>
            </a:r>
            <a:r>
              <a:rPr sz="2000" dirty="0">
                <a:cs typeface="Calibri"/>
              </a:rPr>
              <a:t>of</a:t>
            </a:r>
            <a:r>
              <a:rPr sz="2000" spc="-50" dirty="0">
                <a:cs typeface="Calibri"/>
              </a:rPr>
              <a:t> </a:t>
            </a:r>
            <a:r>
              <a:rPr sz="2000" dirty="0">
                <a:cs typeface="Calibri"/>
              </a:rPr>
              <a:t>the</a:t>
            </a:r>
            <a:r>
              <a:rPr sz="2000" spc="-45" dirty="0">
                <a:cs typeface="Calibri"/>
              </a:rPr>
              <a:t> </a:t>
            </a:r>
            <a:r>
              <a:rPr sz="2000" spc="-10" dirty="0">
                <a:cs typeface="Calibri"/>
              </a:rPr>
              <a:t>comment</a:t>
            </a:r>
            <a:r>
              <a:rPr sz="2000" spc="-55" dirty="0">
                <a:cs typeface="Calibri"/>
              </a:rPr>
              <a:t> </a:t>
            </a:r>
            <a:r>
              <a:rPr sz="2000" spc="-10" dirty="0">
                <a:cs typeface="Calibri"/>
              </a:rPr>
              <a:t>(example:</a:t>
            </a:r>
            <a:r>
              <a:rPr sz="2000" spc="-45" dirty="0">
                <a:cs typeface="Calibri"/>
              </a:rPr>
              <a:t> </a:t>
            </a:r>
            <a:r>
              <a:rPr sz="2000" dirty="0">
                <a:cs typeface="Calibri"/>
              </a:rPr>
              <a:t>Hindi</a:t>
            </a:r>
            <a:r>
              <a:rPr sz="2000" spc="-10" dirty="0">
                <a:cs typeface="Calibri"/>
              </a:rPr>
              <a:t>).</a:t>
            </a:r>
            <a:endParaRPr sz="2000" dirty="0">
              <a:cs typeface="Calibri"/>
            </a:endParaRPr>
          </a:p>
          <a:p>
            <a:pPr marL="571500" lvl="1" indent="-342900" algn="just">
              <a:spcBef>
                <a:spcPts val="1160"/>
              </a:spcBef>
              <a:buSzPct val="50000"/>
              <a:buFont typeface="Courier New" panose="02070309020205020404" pitchFamily="49" charset="0"/>
              <a:buChar char="o"/>
              <a:tabLst>
                <a:tab pos="627063" algn="l"/>
              </a:tabLst>
            </a:pPr>
            <a:r>
              <a:rPr sz="2000" b="1" dirty="0">
                <a:cs typeface="Calibri"/>
              </a:rPr>
              <a:t>Comment</a:t>
            </a:r>
            <a:r>
              <a:rPr sz="2000" b="1" spc="-55" dirty="0">
                <a:cs typeface="Calibri"/>
              </a:rPr>
              <a:t> </a:t>
            </a:r>
            <a:r>
              <a:rPr sz="2000" b="1" spc="-35" dirty="0">
                <a:cs typeface="Calibri"/>
              </a:rPr>
              <a:t>Text</a:t>
            </a:r>
            <a:r>
              <a:rPr sz="2000" spc="-35" dirty="0">
                <a:cs typeface="Calibri"/>
              </a:rPr>
              <a:t>:</a:t>
            </a:r>
            <a:r>
              <a:rPr sz="2000" spc="-55" dirty="0">
                <a:cs typeface="Calibri"/>
              </a:rPr>
              <a:t> </a:t>
            </a:r>
            <a:r>
              <a:rPr sz="2000" dirty="0">
                <a:cs typeface="Calibri"/>
              </a:rPr>
              <a:t>The</a:t>
            </a:r>
            <a:r>
              <a:rPr sz="2000" spc="-55" dirty="0">
                <a:cs typeface="Calibri"/>
              </a:rPr>
              <a:t> </a:t>
            </a:r>
            <a:r>
              <a:rPr sz="2000" dirty="0">
                <a:cs typeface="Calibri"/>
              </a:rPr>
              <a:t>actual</a:t>
            </a:r>
            <a:r>
              <a:rPr sz="2000" spc="-60" dirty="0">
                <a:cs typeface="Calibri"/>
              </a:rPr>
              <a:t> </a:t>
            </a:r>
            <a:r>
              <a:rPr sz="2000" dirty="0">
                <a:cs typeface="Calibri"/>
              </a:rPr>
              <a:t>text</a:t>
            </a:r>
            <a:r>
              <a:rPr sz="2000" spc="-55" dirty="0">
                <a:cs typeface="Calibri"/>
              </a:rPr>
              <a:t> </a:t>
            </a:r>
            <a:r>
              <a:rPr sz="2000" dirty="0">
                <a:cs typeface="Calibri"/>
              </a:rPr>
              <a:t>of</a:t>
            </a:r>
            <a:r>
              <a:rPr sz="2000" spc="-60" dirty="0">
                <a:cs typeface="Calibri"/>
              </a:rPr>
              <a:t> </a:t>
            </a:r>
            <a:r>
              <a:rPr sz="2000" dirty="0">
                <a:cs typeface="Calibri"/>
              </a:rPr>
              <a:t>the</a:t>
            </a:r>
            <a:r>
              <a:rPr sz="2000" spc="-55" dirty="0">
                <a:cs typeface="Calibri"/>
              </a:rPr>
              <a:t> </a:t>
            </a:r>
            <a:r>
              <a:rPr sz="2000" spc="-10" dirty="0">
                <a:cs typeface="Calibri"/>
              </a:rPr>
              <a:t>comment.</a:t>
            </a:r>
            <a:endParaRPr sz="2000" dirty="0">
              <a:cs typeface="Calibri"/>
            </a:endParaRPr>
          </a:p>
          <a:p>
            <a:pPr marL="571500" lvl="1" indent="-342900" algn="just">
              <a:spcBef>
                <a:spcPts val="1160"/>
              </a:spcBef>
              <a:buSzPct val="50000"/>
              <a:buFont typeface="Courier New" panose="02070309020205020404" pitchFamily="49" charset="0"/>
              <a:buChar char="o"/>
              <a:tabLst>
                <a:tab pos="627063" algn="l"/>
              </a:tabLst>
            </a:pPr>
            <a:r>
              <a:rPr sz="2000" b="1" dirty="0">
                <a:cs typeface="Calibri"/>
              </a:rPr>
              <a:t>Label:</a:t>
            </a:r>
            <a:r>
              <a:rPr sz="2000" b="1" spc="-45" dirty="0">
                <a:cs typeface="Calibri"/>
              </a:rPr>
              <a:t> </a:t>
            </a:r>
            <a:r>
              <a:rPr sz="2000" spc="-10" dirty="0">
                <a:cs typeface="Calibri"/>
              </a:rPr>
              <a:t>Indicates</a:t>
            </a:r>
            <a:r>
              <a:rPr sz="2000" spc="-45" dirty="0">
                <a:cs typeface="Calibri"/>
              </a:rPr>
              <a:t> </a:t>
            </a:r>
            <a:r>
              <a:rPr sz="2000" dirty="0">
                <a:cs typeface="Calibri"/>
              </a:rPr>
              <a:t>if</a:t>
            </a:r>
            <a:r>
              <a:rPr sz="2000" spc="-50" dirty="0">
                <a:cs typeface="Calibri"/>
              </a:rPr>
              <a:t> </a:t>
            </a:r>
            <a:r>
              <a:rPr sz="2000" dirty="0">
                <a:cs typeface="Calibri"/>
              </a:rPr>
              <a:t>the</a:t>
            </a:r>
            <a:r>
              <a:rPr sz="2000" spc="-40" dirty="0">
                <a:cs typeface="Calibri"/>
              </a:rPr>
              <a:t> </a:t>
            </a:r>
            <a:r>
              <a:rPr sz="2000" spc="-10" dirty="0">
                <a:cs typeface="Calibri"/>
              </a:rPr>
              <a:t>comment</a:t>
            </a:r>
            <a:r>
              <a:rPr sz="2000" spc="-50" dirty="0">
                <a:cs typeface="Calibri"/>
              </a:rPr>
              <a:t> </a:t>
            </a:r>
            <a:r>
              <a:rPr sz="2000" dirty="0">
                <a:cs typeface="Calibri"/>
              </a:rPr>
              <a:t>is</a:t>
            </a:r>
            <a:r>
              <a:rPr sz="2000" spc="-45" dirty="0">
                <a:cs typeface="Calibri"/>
              </a:rPr>
              <a:t> </a:t>
            </a:r>
            <a:r>
              <a:rPr sz="2000" dirty="0">
                <a:cs typeface="Calibri"/>
              </a:rPr>
              <a:t>abusive</a:t>
            </a:r>
            <a:r>
              <a:rPr sz="2000" spc="-40" dirty="0">
                <a:cs typeface="Calibri"/>
              </a:rPr>
              <a:t> </a:t>
            </a:r>
            <a:r>
              <a:rPr sz="2000" dirty="0">
                <a:cs typeface="Calibri"/>
              </a:rPr>
              <a:t>(1)</a:t>
            </a:r>
            <a:r>
              <a:rPr sz="2000" spc="-50" dirty="0">
                <a:cs typeface="Calibri"/>
              </a:rPr>
              <a:t> </a:t>
            </a:r>
            <a:r>
              <a:rPr sz="2000" dirty="0">
                <a:cs typeface="Calibri"/>
              </a:rPr>
              <a:t>or</a:t>
            </a:r>
            <a:r>
              <a:rPr sz="2000" spc="-40" dirty="0">
                <a:cs typeface="Calibri"/>
              </a:rPr>
              <a:t> </a:t>
            </a:r>
            <a:r>
              <a:rPr sz="2000" spc="-10" dirty="0">
                <a:cs typeface="Calibri"/>
              </a:rPr>
              <a:t>non-</a:t>
            </a:r>
            <a:r>
              <a:rPr sz="2000" dirty="0">
                <a:cs typeface="Calibri"/>
              </a:rPr>
              <a:t>abusive</a:t>
            </a:r>
            <a:r>
              <a:rPr lang="en-US" sz="2000" dirty="0">
                <a:cs typeface="Calibri"/>
              </a:rPr>
              <a:t> </a:t>
            </a:r>
            <a:r>
              <a:rPr sz="2000" spc="-20" dirty="0">
                <a:cs typeface="Calibri"/>
              </a:rPr>
              <a:t>(0).</a:t>
            </a:r>
            <a:endParaRPr sz="2000" dirty="0">
              <a:cs typeface="Calibri"/>
            </a:endParaRPr>
          </a:p>
          <a:p>
            <a:pPr marL="241300" indent="-228600" algn="just">
              <a:lnSpc>
                <a:spcPct val="100000"/>
              </a:lnSpc>
              <a:spcBef>
                <a:spcPts val="1160"/>
              </a:spcBef>
              <a:buSzPct val="102500"/>
              <a:buFont typeface="Arial MT"/>
              <a:buChar char="•"/>
              <a:tabLst>
                <a:tab pos="690563" algn="l"/>
              </a:tabLst>
            </a:pPr>
            <a:r>
              <a:rPr sz="2000" b="1" dirty="0">
                <a:cs typeface="Calibri"/>
              </a:rPr>
              <a:t>Sample</a:t>
            </a:r>
            <a:r>
              <a:rPr sz="2000" b="1" spc="-95" dirty="0">
                <a:cs typeface="Calibri"/>
              </a:rPr>
              <a:t> </a:t>
            </a:r>
            <a:r>
              <a:rPr sz="2000" b="1" spc="-10" dirty="0">
                <a:cs typeface="Calibri"/>
              </a:rPr>
              <a:t>Observations:</a:t>
            </a:r>
            <a:endParaRPr lang="en-US" sz="2000" spc="-10" dirty="0">
              <a:cs typeface="Calibri"/>
            </a:endParaRPr>
          </a:p>
          <a:p>
            <a:pPr marL="576262" lvl="1" indent="-342900" algn="just">
              <a:spcBef>
                <a:spcPts val="1160"/>
              </a:spcBef>
              <a:buSzPct val="51000"/>
              <a:buFont typeface="Courier New" panose="02070309020205020404" pitchFamily="49" charset="0"/>
              <a:buChar char="o"/>
              <a:tabLst>
                <a:tab pos="241300" algn="l"/>
              </a:tabLst>
            </a:pPr>
            <a:r>
              <a:rPr lang="en-US" sz="2000" b="1" spc="-10" dirty="0">
                <a:cs typeface="Calibri"/>
              </a:rPr>
              <a:t>Example</a:t>
            </a:r>
            <a:r>
              <a:rPr lang="en-US" sz="2000" b="1" spc="-45" dirty="0">
                <a:cs typeface="Calibri"/>
              </a:rPr>
              <a:t> 1</a:t>
            </a:r>
            <a:r>
              <a:rPr lang="en-US" sz="2000" b="1" dirty="0">
                <a:cs typeface="Calibri"/>
              </a:rPr>
              <a:t>:</a:t>
            </a:r>
            <a:r>
              <a:rPr lang="en-US" sz="2000" b="1" spc="-40" dirty="0">
                <a:cs typeface="Calibri"/>
              </a:rPr>
              <a:t> </a:t>
            </a:r>
            <a:r>
              <a:rPr lang="en-US" sz="2000" dirty="0">
                <a:cs typeface="Calibri"/>
              </a:rPr>
              <a:t>“</a:t>
            </a:r>
            <a:r>
              <a:rPr lang="en-US" sz="2000" b="1" dirty="0"/>
              <a:t>Usko driving </a:t>
            </a:r>
            <a:r>
              <a:rPr lang="en-US" sz="2000" b="1" dirty="0" err="1"/>
              <a:t>karni</a:t>
            </a:r>
            <a:r>
              <a:rPr lang="en-US" sz="2000" b="1" dirty="0"/>
              <a:t> </a:t>
            </a:r>
            <a:r>
              <a:rPr lang="en-US" sz="2000" b="1" dirty="0" err="1"/>
              <a:t>nahi</a:t>
            </a:r>
            <a:r>
              <a:rPr lang="en-US" sz="2000" b="1" dirty="0"/>
              <a:t> </a:t>
            </a:r>
            <a:r>
              <a:rPr lang="en-US" sz="2000" b="1" dirty="0" err="1"/>
              <a:t>aati</a:t>
            </a:r>
            <a:r>
              <a:rPr lang="en-US" sz="2000" dirty="0">
                <a:cs typeface="Calibri"/>
              </a:rPr>
              <a:t>”.</a:t>
            </a:r>
            <a:r>
              <a:rPr lang="en-US" sz="2000" spc="-45" dirty="0">
                <a:cs typeface="Calibri"/>
              </a:rPr>
              <a:t> </a:t>
            </a:r>
            <a:r>
              <a:rPr lang="en-US" sz="2000" spc="-30" dirty="0">
                <a:cs typeface="Calibri"/>
              </a:rPr>
              <a:t>(Hindi text)</a:t>
            </a:r>
            <a:r>
              <a:rPr lang="en-US" sz="2000" spc="-40" dirty="0">
                <a:cs typeface="Calibri"/>
              </a:rPr>
              <a:t> </a:t>
            </a:r>
            <a:r>
              <a:rPr lang="en-US" sz="2000" dirty="0">
                <a:cs typeface="Calibri"/>
              </a:rPr>
              <a:t>-</a:t>
            </a:r>
            <a:r>
              <a:rPr lang="en-US" sz="2000" spc="-45" dirty="0">
                <a:cs typeface="Calibri"/>
              </a:rPr>
              <a:t> </a:t>
            </a:r>
            <a:r>
              <a:rPr lang="en-US" sz="2000" dirty="0">
                <a:cs typeface="Calibri"/>
              </a:rPr>
              <a:t>Label:</a:t>
            </a:r>
            <a:r>
              <a:rPr lang="en-US" sz="2000" spc="-40" dirty="0">
                <a:cs typeface="Calibri"/>
              </a:rPr>
              <a:t> 1 </a:t>
            </a:r>
            <a:r>
              <a:rPr lang="en-US" sz="2000" spc="-10" dirty="0">
                <a:cs typeface="Calibri"/>
              </a:rPr>
              <a:t>(abusive)</a:t>
            </a:r>
          </a:p>
          <a:p>
            <a:pPr marL="233362" lvl="1" algn="just">
              <a:spcBef>
                <a:spcPts val="1160"/>
              </a:spcBef>
              <a:buSzPct val="51000"/>
              <a:tabLst>
                <a:tab pos="241300" algn="l"/>
              </a:tabLst>
            </a:pPr>
            <a:r>
              <a:rPr lang="en-US" sz="2000" b="1" spc="-10" dirty="0">
                <a:cs typeface="Calibri"/>
              </a:rPr>
              <a:t>		</a:t>
            </a:r>
            <a:r>
              <a:rPr lang="en-US" sz="2000" b="1" dirty="0"/>
              <a:t>  English</a:t>
            </a:r>
            <a:r>
              <a:rPr lang="en-US" sz="2000" dirty="0"/>
              <a:t>: “He doesn’t know how to drive.”</a:t>
            </a:r>
            <a:endParaRPr lang="en-US" sz="2000" dirty="0">
              <a:cs typeface="Calibri"/>
            </a:endParaRPr>
          </a:p>
          <a:p>
            <a:pPr marL="576262" lvl="1" indent="-342900" algn="just">
              <a:spcBef>
                <a:spcPts val="1160"/>
              </a:spcBef>
              <a:buSzPct val="51000"/>
              <a:buFont typeface="Courier New" panose="02070309020205020404" pitchFamily="49" charset="0"/>
              <a:buChar char="o"/>
              <a:tabLst>
                <a:tab pos="241300" algn="l"/>
              </a:tabLst>
            </a:pPr>
            <a:r>
              <a:rPr lang="en-US" sz="2000" b="1" spc="-10" dirty="0">
                <a:cs typeface="Calibri"/>
              </a:rPr>
              <a:t>Example</a:t>
            </a:r>
            <a:r>
              <a:rPr lang="en-US" sz="2000" b="1" spc="-45" dirty="0">
                <a:cs typeface="Calibri"/>
              </a:rPr>
              <a:t> </a:t>
            </a:r>
            <a:r>
              <a:rPr lang="en-US" sz="2000" b="1" dirty="0">
                <a:cs typeface="Calibri"/>
              </a:rPr>
              <a:t>2:</a:t>
            </a:r>
            <a:r>
              <a:rPr lang="en-US" sz="2000" b="1" spc="-35" dirty="0">
                <a:cs typeface="Calibri"/>
              </a:rPr>
              <a:t> </a:t>
            </a:r>
            <a:r>
              <a:rPr lang="en-US" sz="2000" spc="-35" dirty="0">
                <a:cs typeface="Calibri"/>
              </a:rPr>
              <a:t>"</a:t>
            </a:r>
            <a:r>
              <a:rPr lang="en-US" sz="2000" b="1" spc="-35" dirty="0">
                <a:cs typeface="Calibri"/>
              </a:rPr>
              <a:t>Yeh</a:t>
            </a:r>
            <a:r>
              <a:rPr lang="en-US" sz="2000" b="1" spc="-40" dirty="0">
                <a:cs typeface="Calibri"/>
              </a:rPr>
              <a:t> </a:t>
            </a:r>
            <a:r>
              <a:rPr lang="en-US" sz="2000" b="1" dirty="0">
                <a:cs typeface="Calibri"/>
              </a:rPr>
              <a:t>ek</a:t>
            </a:r>
            <a:r>
              <a:rPr lang="en-US" sz="2000" b="1" spc="-35" dirty="0">
                <a:cs typeface="Calibri"/>
              </a:rPr>
              <a:t> </a:t>
            </a:r>
            <a:r>
              <a:rPr lang="en-US" sz="2000" b="1" dirty="0">
                <a:cs typeface="Calibri"/>
              </a:rPr>
              <a:t>sundar</a:t>
            </a:r>
            <a:r>
              <a:rPr lang="en-US" sz="2000" b="1" spc="-35" dirty="0">
                <a:cs typeface="Calibri"/>
              </a:rPr>
              <a:t> </a:t>
            </a:r>
            <a:r>
              <a:rPr lang="en-US" sz="2000" b="1" dirty="0">
                <a:cs typeface="Calibri"/>
              </a:rPr>
              <a:t>post</a:t>
            </a:r>
            <a:r>
              <a:rPr lang="en-US" sz="2000" b="1" spc="-45" dirty="0">
                <a:cs typeface="Calibri"/>
              </a:rPr>
              <a:t> </a:t>
            </a:r>
            <a:r>
              <a:rPr lang="en-US" sz="2000" b="1" dirty="0">
                <a:cs typeface="Calibri"/>
              </a:rPr>
              <a:t>hai!"</a:t>
            </a:r>
            <a:r>
              <a:rPr lang="en-US" sz="2000" b="1" spc="-35" dirty="0">
                <a:cs typeface="Calibri"/>
              </a:rPr>
              <a:t> </a:t>
            </a:r>
            <a:r>
              <a:rPr lang="en-US" sz="2000" dirty="0">
                <a:cs typeface="Calibri"/>
              </a:rPr>
              <a:t>(Hindi text)</a:t>
            </a:r>
            <a:r>
              <a:rPr lang="en-US" sz="2000" spc="-40" dirty="0">
                <a:cs typeface="Calibri"/>
              </a:rPr>
              <a:t> </a:t>
            </a:r>
            <a:r>
              <a:rPr lang="en-US" sz="2000" dirty="0">
                <a:cs typeface="Calibri"/>
              </a:rPr>
              <a:t>-</a:t>
            </a:r>
            <a:r>
              <a:rPr lang="en-US" sz="2000" spc="-40" dirty="0">
                <a:cs typeface="Calibri"/>
              </a:rPr>
              <a:t> </a:t>
            </a:r>
            <a:r>
              <a:rPr lang="en-US" sz="2000" dirty="0">
                <a:cs typeface="Calibri"/>
              </a:rPr>
              <a:t>Label:</a:t>
            </a:r>
            <a:r>
              <a:rPr lang="en-US" sz="2000" spc="-35" dirty="0">
                <a:cs typeface="Calibri"/>
              </a:rPr>
              <a:t> </a:t>
            </a:r>
            <a:r>
              <a:rPr lang="en-US" sz="2000" dirty="0">
                <a:cs typeface="Calibri"/>
              </a:rPr>
              <a:t>0</a:t>
            </a:r>
            <a:r>
              <a:rPr lang="en-US" sz="2000" spc="-40" dirty="0">
                <a:cs typeface="Calibri"/>
              </a:rPr>
              <a:t> </a:t>
            </a:r>
            <a:r>
              <a:rPr lang="en-US" sz="2000" spc="-10" dirty="0">
                <a:cs typeface="Calibri"/>
              </a:rPr>
              <a:t>(non-abusive)</a:t>
            </a:r>
          </a:p>
          <a:p>
            <a:pPr marL="233362" lvl="1" algn="just">
              <a:spcBef>
                <a:spcPts val="1160"/>
              </a:spcBef>
              <a:buSzPct val="51000"/>
              <a:tabLst>
                <a:tab pos="241300" algn="l"/>
              </a:tabLst>
            </a:pPr>
            <a:r>
              <a:rPr lang="en-US" sz="2000" b="1" dirty="0"/>
              <a:t>		  English</a:t>
            </a:r>
            <a:r>
              <a:rPr lang="en-US" sz="2000" dirty="0"/>
              <a:t>: "This is a beautiful post!"</a:t>
            </a:r>
            <a:endParaRPr lang="en-US" sz="2000" spc="-10" dirty="0">
              <a:cs typeface="Calibri"/>
            </a:endParaRPr>
          </a:p>
          <a:p>
            <a:pPr marL="355600" indent="-342900" algn="just">
              <a:spcBef>
                <a:spcPts val="1160"/>
              </a:spcBef>
              <a:buSzPct val="50000"/>
              <a:buFont typeface="Arial" panose="020B0604020202020204" pitchFamily="34" charset="0"/>
              <a:buChar char="•"/>
              <a:tabLst>
                <a:tab pos="241300" algn="l"/>
              </a:tabLst>
            </a:pPr>
            <a:endParaRPr lang="en-US" sz="2000" spc="-10" dirty="0">
              <a:cs typeface="Calibri"/>
            </a:endParaRPr>
          </a:p>
          <a:p>
            <a:pPr marL="355600" indent="-342900" algn="just">
              <a:lnSpc>
                <a:spcPct val="100000"/>
              </a:lnSpc>
              <a:spcBef>
                <a:spcPts val="1160"/>
              </a:spcBef>
              <a:buSzPct val="50000"/>
              <a:buFont typeface="Arial" panose="020B0604020202020204" pitchFamily="34" charset="0"/>
              <a:buChar char="•"/>
              <a:tabLst>
                <a:tab pos="241300" algn="l"/>
              </a:tabLst>
            </a:pPr>
            <a:endParaRPr sz="2000" dirty="0">
              <a:cs typeface="Calibri"/>
            </a:endParaRPr>
          </a:p>
        </p:txBody>
      </p:sp>
      <p:sp>
        <p:nvSpPr>
          <p:cNvPr id="5" name="Slide Number Placeholder 4">
            <a:extLst>
              <a:ext uri="{FF2B5EF4-FFF2-40B4-BE49-F238E27FC236}">
                <a16:creationId xmlns:a16="http://schemas.microsoft.com/office/drawing/2014/main" id="{2A976228-789D-3FCF-761A-EE02821F4478}"/>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10</a:t>
            </a:fld>
            <a:endParaRPr lang="en-US" dirty="0">
              <a:solidFill>
                <a:srgbClr val="000000"/>
              </a:solidFill>
            </a:endParaRPr>
          </a:p>
        </p:txBody>
      </p:sp>
      <p:sp>
        <p:nvSpPr>
          <p:cNvPr id="7" name="object 2">
            <a:extLst>
              <a:ext uri="{FF2B5EF4-FFF2-40B4-BE49-F238E27FC236}">
                <a16:creationId xmlns:a16="http://schemas.microsoft.com/office/drawing/2014/main" id="{73C82E75-7CBF-1A17-54BA-100E67B19BE1}"/>
              </a:ext>
            </a:extLst>
          </p:cNvPr>
          <p:cNvSpPr txBox="1">
            <a:spLocks/>
          </p:cNvSpPr>
          <p:nvPr/>
        </p:nvSpPr>
        <p:spPr>
          <a:xfrm>
            <a:off x="228600" y="128035"/>
            <a:ext cx="7983071" cy="820232"/>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pPr>
              <a:lnSpc>
                <a:spcPct val="100000"/>
              </a:lnSpc>
              <a:spcBef>
                <a:spcPts val="0"/>
              </a:spcBef>
            </a:pPr>
            <a:r>
              <a:rPr lang="en-US" dirty="0">
                <a:solidFill>
                  <a:srgbClr val="1F1F1F"/>
                </a:solidFill>
              </a:rPr>
              <a:t>Understanding the Data: </a:t>
            </a:r>
            <a:r>
              <a:rPr lang="en-US" dirty="0"/>
              <a:t>Example</a:t>
            </a:r>
            <a:r>
              <a:rPr lang="en-US" spc="-145" dirty="0"/>
              <a:t> </a:t>
            </a:r>
            <a:r>
              <a:rPr lang="en-US" spc="-20" dirty="0"/>
              <a:t>Data</a:t>
            </a:r>
            <a:endParaRPr lang="en-US" spc="-20" dirty="0">
              <a:solidFill>
                <a:srgbClr val="2D3B45"/>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2">
            <a:extLst>
              <a:ext uri="{FF2B5EF4-FFF2-40B4-BE49-F238E27FC236}">
                <a16:creationId xmlns:a16="http://schemas.microsoft.com/office/drawing/2014/main" id="{74E6BD73-0CC4-65A1-AFAE-D96947FF1325}"/>
              </a:ext>
            </a:extLst>
          </p:cNvPr>
          <p:cNvSpPr txBox="1">
            <a:spLocks/>
          </p:cNvSpPr>
          <p:nvPr/>
        </p:nvSpPr>
        <p:spPr>
          <a:xfrm>
            <a:off x="228600" y="128035"/>
            <a:ext cx="7983071" cy="898638"/>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pPr>
              <a:lnSpc>
                <a:spcPct val="100000"/>
              </a:lnSpc>
            </a:pPr>
            <a:r>
              <a:rPr lang="en-US" dirty="0"/>
              <a:t>Tokens, Vectorization, TF-IDF (Term Frequency-Inverse Document Frequency), and Regex</a:t>
            </a:r>
          </a:p>
        </p:txBody>
      </p:sp>
      <p:sp>
        <p:nvSpPr>
          <p:cNvPr id="2" name="Slide Number Placeholder 4">
            <a:extLst>
              <a:ext uri="{FF2B5EF4-FFF2-40B4-BE49-F238E27FC236}">
                <a16:creationId xmlns:a16="http://schemas.microsoft.com/office/drawing/2014/main" id="{85B72FB4-A04E-F49D-CA52-4CEF8916B72A}"/>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11</a:t>
            </a:fld>
            <a:endParaRPr lang="en-US" dirty="0">
              <a:solidFill>
                <a:srgbClr val="000000"/>
              </a:solidFill>
            </a:endParaRPr>
          </a:p>
        </p:txBody>
      </p:sp>
      <p:sp>
        <p:nvSpPr>
          <p:cNvPr id="6" name="object 3">
            <a:extLst>
              <a:ext uri="{FF2B5EF4-FFF2-40B4-BE49-F238E27FC236}">
                <a16:creationId xmlns:a16="http://schemas.microsoft.com/office/drawing/2014/main" id="{5AB23289-2F61-A34A-0503-F9208574679C}"/>
              </a:ext>
            </a:extLst>
          </p:cNvPr>
          <p:cNvSpPr txBox="1"/>
          <p:nvPr/>
        </p:nvSpPr>
        <p:spPr>
          <a:xfrm>
            <a:off x="896471" y="1026673"/>
            <a:ext cx="7315200" cy="5252720"/>
          </a:xfrm>
          <a:prstGeom prst="rect">
            <a:avLst/>
          </a:prstGeom>
        </p:spPr>
        <p:txBody>
          <a:bodyPr vert="horz" wrap="square" lIns="0" tIns="160020" rIns="0" bIns="0" rtlCol="0">
            <a:spAutoFit/>
          </a:bodyPr>
          <a:lstStyle/>
          <a:p>
            <a:pPr marL="241300" indent="-228600" algn="just">
              <a:spcBef>
                <a:spcPts val="1260"/>
              </a:spcBef>
              <a:buSzPct val="102500"/>
              <a:buFont typeface="Arial MT"/>
              <a:buChar char="•"/>
              <a:tabLst>
                <a:tab pos="341313" algn="l"/>
              </a:tabLst>
            </a:pPr>
            <a:r>
              <a:rPr lang="en-US" sz="2000" b="1" dirty="0">
                <a:cs typeface="Calibri"/>
              </a:rPr>
              <a:t>Sample</a:t>
            </a:r>
            <a:r>
              <a:rPr lang="en-US" sz="2000" b="1" spc="-95" dirty="0">
                <a:cs typeface="Calibri"/>
              </a:rPr>
              <a:t> </a:t>
            </a:r>
            <a:r>
              <a:rPr lang="en-US" sz="2000" b="1" spc="-10" dirty="0">
                <a:cs typeface="Calibri"/>
              </a:rPr>
              <a:t>Variables </a:t>
            </a:r>
            <a:r>
              <a:rPr lang="en-US" sz="2000" b="1" spc="-45" dirty="0">
                <a:solidFill>
                  <a:srgbClr val="2D3B45"/>
                </a:solidFill>
                <a:cs typeface="Calibri"/>
              </a:rPr>
              <a:t>Token</a:t>
            </a:r>
            <a:r>
              <a:rPr lang="en-US" sz="2000" b="1" dirty="0">
                <a:solidFill>
                  <a:srgbClr val="2D3B45"/>
                </a:solidFill>
                <a:cs typeface="Calibri"/>
              </a:rPr>
              <a:t>: </a:t>
            </a:r>
            <a:r>
              <a:rPr lang="en-US" sz="2000" dirty="0"/>
              <a:t>A unit of text (word, </a:t>
            </a:r>
            <a:r>
              <a:rPr lang="en-US" sz="2000" dirty="0" err="1"/>
              <a:t>subword</a:t>
            </a:r>
            <a:r>
              <a:rPr lang="en-US" sz="2000" dirty="0"/>
              <a:t>, or character)</a:t>
            </a:r>
            <a:r>
              <a:rPr lang="en-US" sz="2000" b="1" dirty="0"/>
              <a:t>. </a:t>
            </a:r>
            <a:r>
              <a:rPr lang="en-US" sz="2000" dirty="0"/>
              <a:t>Tokens are the building blocks used for analysis.</a:t>
            </a:r>
            <a:endParaRPr lang="en-US" sz="2000" dirty="0">
              <a:cs typeface="Calibri"/>
            </a:endParaRPr>
          </a:p>
          <a:p>
            <a:pPr marL="576263" lvl="1" indent="-347663" algn="just">
              <a:spcBef>
                <a:spcPts val="1160"/>
              </a:spcBef>
              <a:buSzPct val="50000"/>
              <a:buFont typeface="Courier New" panose="02070309020205020404" pitchFamily="49" charset="0"/>
              <a:buChar char="o"/>
              <a:tabLst>
                <a:tab pos="627063" algn="l"/>
              </a:tabLst>
            </a:pPr>
            <a:r>
              <a:rPr lang="en-US" sz="2000" b="1" spc="-40" dirty="0">
                <a:cs typeface="Calibri"/>
              </a:rPr>
              <a:t> Example: </a:t>
            </a:r>
            <a:r>
              <a:rPr lang="en-US" sz="2000" dirty="0"/>
              <a:t>“driver”.</a:t>
            </a:r>
            <a:endParaRPr lang="en-US" sz="2000" dirty="0">
              <a:cs typeface="Calibri"/>
            </a:endParaRPr>
          </a:p>
          <a:p>
            <a:pPr marL="241300" indent="-228600" algn="just">
              <a:lnSpc>
                <a:spcPct val="100000"/>
              </a:lnSpc>
              <a:spcBef>
                <a:spcPts val="1160"/>
              </a:spcBef>
              <a:buSzPct val="102500"/>
              <a:buFont typeface="Arial MT"/>
              <a:buChar char="•"/>
              <a:tabLst>
                <a:tab pos="690563" algn="l"/>
              </a:tabLst>
            </a:pPr>
            <a:r>
              <a:rPr lang="en-US" sz="2000" b="1" kern="0" dirty="0">
                <a:ea typeface="Times New Roman" panose="02020603050405020304" pitchFamily="18" charset="0"/>
                <a:cs typeface="Times New Roman" panose="02020603050405020304" pitchFamily="18" charset="0"/>
              </a:rPr>
              <a:t>V</a:t>
            </a:r>
            <a:r>
              <a:rPr lang="en-US" sz="2000" b="1" dirty="0"/>
              <a:t>ectorization:</a:t>
            </a:r>
            <a:r>
              <a:rPr lang="en-US" sz="2000" dirty="0"/>
              <a:t> Converting text into numerical values.</a:t>
            </a:r>
            <a:r>
              <a:rPr lang="en-US" sz="2000" b="1" dirty="0"/>
              <a:t> </a:t>
            </a:r>
            <a:endParaRPr lang="en-US" sz="2000" spc="-10" dirty="0">
              <a:cs typeface="Calibri"/>
            </a:endParaRPr>
          </a:p>
          <a:p>
            <a:pPr marL="627063" lvl="1" indent="-395288" algn="just">
              <a:spcBef>
                <a:spcPts val="1160"/>
              </a:spcBef>
              <a:buSzPct val="51000"/>
              <a:buFont typeface="Courier New" panose="02070309020205020404" pitchFamily="49" charset="0"/>
              <a:buChar char="o"/>
              <a:tabLst>
                <a:tab pos="241300" algn="l"/>
              </a:tabLst>
            </a:pPr>
            <a:r>
              <a:rPr lang="en-US" sz="2000" b="1" spc="-10" dirty="0">
                <a:cs typeface="Calibri"/>
              </a:rPr>
              <a:t>Example</a:t>
            </a:r>
            <a:r>
              <a:rPr lang="en-US" sz="2000" b="1" spc="-40" dirty="0">
                <a:cs typeface="Calibri"/>
              </a:rPr>
              <a:t>: </a:t>
            </a:r>
            <a:r>
              <a:rPr lang="en-US" sz="2000" dirty="0"/>
              <a:t>word counts or TF-IDF (Term Frequency-Inverse Document Frequency) values.</a:t>
            </a:r>
            <a:r>
              <a:rPr lang="en-US" sz="2000" b="1" spc="-10" dirty="0">
                <a:cs typeface="Calibri"/>
              </a:rPr>
              <a:t>		</a:t>
            </a:r>
            <a:endParaRPr lang="en-US" sz="2000" spc="-10" dirty="0">
              <a:cs typeface="Calibri"/>
            </a:endParaRPr>
          </a:p>
          <a:p>
            <a:pPr marL="241300" indent="-228600" algn="just">
              <a:spcBef>
                <a:spcPts val="1260"/>
              </a:spcBef>
              <a:buSzPct val="102500"/>
              <a:buFont typeface="Arial MT"/>
              <a:buChar char="•"/>
              <a:tabLst>
                <a:tab pos="241300" algn="l"/>
              </a:tabLst>
            </a:pPr>
            <a:r>
              <a:rPr lang="en-US" sz="2000" b="1" dirty="0">
                <a:cs typeface="Calibri"/>
              </a:rPr>
              <a:t>Sample</a:t>
            </a:r>
            <a:r>
              <a:rPr lang="en-US" sz="2000" b="1" spc="-95" dirty="0">
                <a:cs typeface="Calibri"/>
              </a:rPr>
              <a:t> </a:t>
            </a:r>
            <a:r>
              <a:rPr lang="en-US" sz="2000" b="1" spc="-10" dirty="0">
                <a:cs typeface="Calibri"/>
              </a:rPr>
              <a:t>Variables </a:t>
            </a:r>
            <a:r>
              <a:rPr lang="en-US" sz="2000" b="1" kern="0" dirty="0">
                <a:cs typeface="Times New Roman" panose="02020603050405020304" pitchFamily="18" charset="0"/>
              </a:rPr>
              <a:t>T</a:t>
            </a:r>
            <a:r>
              <a:rPr lang="en-US" sz="2000" b="1" dirty="0"/>
              <a:t>F-IDF:</a:t>
            </a:r>
            <a:r>
              <a:rPr lang="en-US" sz="2000" dirty="0"/>
              <a:t> Weights words by importance (rare = high value, common = low value).</a:t>
            </a:r>
            <a:r>
              <a:rPr lang="en-US" sz="2000" b="1" dirty="0"/>
              <a:t> </a:t>
            </a:r>
            <a:r>
              <a:rPr lang="en-US" sz="2000" dirty="0"/>
              <a:t>This helps highlight informative words.</a:t>
            </a:r>
            <a:endParaRPr lang="en-US" sz="2000" dirty="0">
              <a:cs typeface="Calibri"/>
            </a:endParaRPr>
          </a:p>
          <a:p>
            <a:pPr marL="627063" lvl="1" indent="-398463" algn="just">
              <a:spcBef>
                <a:spcPts val="1160"/>
              </a:spcBef>
              <a:buSzPct val="50000"/>
              <a:buFont typeface="Courier New" panose="02070309020205020404" pitchFamily="49" charset="0"/>
              <a:buChar char="o"/>
              <a:tabLst>
                <a:tab pos="627063" algn="l"/>
              </a:tabLst>
            </a:pPr>
            <a:r>
              <a:rPr lang="en-US" sz="2000" b="1" spc="-40" dirty="0">
                <a:cs typeface="Calibri"/>
              </a:rPr>
              <a:t>Example: </a:t>
            </a:r>
            <a:r>
              <a:rPr lang="en-US" sz="2000" spc="-40" dirty="0">
                <a:cs typeface="Calibri"/>
              </a:rPr>
              <a:t>“terrible” in a set of reviews.</a:t>
            </a:r>
            <a:r>
              <a:rPr lang="en-US" sz="2000" dirty="0"/>
              <a:t> </a:t>
            </a:r>
            <a:endParaRPr lang="en-US" sz="2000" dirty="0">
              <a:cs typeface="Calibri"/>
            </a:endParaRPr>
          </a:p>
          <a:p>
            <a:pPr marL="241300" indent="-228600" algn="just">
              <a:lnSpc>
                <a:spcPct val="100000"/>
              </a:lnSpc>
              <a:spcBef>
                <a:spcPts val="1160"/>
              </a:spcBef>
              <a:buSzPct val="102500"/>
              <a:buFont typeface="Arial MT"/>
              <a:buChar char="•"/>
              <a:tabLst>
                <a:tab pos="690563" algn="l"/>
              </a:tabLst>
            </a:pPr>
            <a:r>
              <a:rPr lang="en-US" sz="2000" b="1" kern="0" dirty="0">
                <a:cs typeface="Times New Roman" panose="02020603050405020304" pitchFamily="18" charset="0"/>
              </a:rPr>
              <a:t>R</a:t>
            </a:r>
            <a:r>
              <a:rPr lang="en-US" sz="2000" b="1" dirty="0"/>
              <a:t>egex (Regular Expression): </a:t>
            </a:r>
            <a:r>
              <a:rPr lang="en-US" sz="2000" dirty="0"/>
              <a:t>A rule-based pattern used to match, search, or clean text.</a:t>
            </a:r>
            <a:r>
              <a:rPr lang="en-US" sz="2000" b="1" dirty="0"/>
              <a:t> </a:t>
            </a:r>
            <a:endParaRPr lang="en-US" sz="2000" spc="-10" dirty="0">
              <a:cs typeface="Calibri"/>
            </a:endParaRPr>
          </a:p>
          <a:p>
            <a:pPr marL="627063" lvl="1" indent="-395288" algn="just">
              <a:spcBef>
                <a:spcPts val="1160"/>
              </a:spcBef>
              <a:buSzPct val="51000"/>
              <a:buFont typeface="Courier New" panose="02070309020205020404" pitchFamily="49" charset="0"/>
              <a:buChar char="o"/>
              <a:tabLst>
                <a:tab pos="241300" algn="l"/>
              </a:tabLst>
            </a:pPr>
            <a:r>
              <a:rPr lang="en-US" sz="2000" b="1" spc="-10" dirty="0">
                <a:cs typeface="Calibri"/>
              </a:rPr>
              <a:t>Example</a:t>
            </a:r>
            <a:r>
              <a:rPr lang="en-US" sz="2000" b="1" spc="-40" dirty="0">
                <a:cs typeface="Calibri"/>
              </a:rPr>
              <a:t>: </a:t>
            </a:r>
            <a:r>
              <a:rPr lang="en-US" sz="2000" spc="-40" dirty="0">
                <a:cs typeface="Calibri"/>
              </a:rPr>
              <a:t>Removing</a:t>
            </a:r>
            <a:r>
              <a:rPr lang="en-US" sz="2000" dirty="0"/>
              <a:t> special characters or finding all words with digits.</a:t>
            </a:r>
          </a:p>
        </p:txBody>
      </p:sp>
    </p:spTree>
    <p:extLst>
      <p:ext uri="{BB962C8B-B14F-4D97-AF65-F5344CB8AC3E}">
        <p14:creationId xmlns:p14="http://schemas.microsoft.com/office/powerpoint/2010/main" val="32498212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2">
            <a:extLst>
              <a:ext uri="{FF2B5EF4-FFF2-40B4-BE49-F238E27FC236}">
                <a16:creationId xmlns:a16="http://schemas.microsoft.com/office/drawing/2014/main" id="{B713E852-6B68-48A4-2F0C-0C88C16B9248}"/>
              </a:ext>
            </a:extLst>
          </p:cNvPr>
          <p:cNvSpPr txBox="1">
            <a:spLocks/>
          </p:cNvSpPr>
          <p:nvPr/>
        </p:nvSpPr>
        <p:spPr>
          <a:xfrm>
            <a:off x="228600" y="128016"/>
            <a:ext cx="7696200" cy="566251"/>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pPr>
              <a:lnSpc>
                <a:spcPct val="100000"/>
              </a:lnSpc>
              <a:spcBef>
                <a:spcPts val="0"/>
              </a:spcBef>
            </a:pPr>
            <a:r>
              <a:rPr lang="en-US" dirty="0">
                <a:solidFill>
                  <a:srgbClr val="1F1F1F"/>
                </a:solidFill>
              </a:rPr>
              <a:t>Understanding the Data: </a:t>
            </a:r>
            <a:r>
              <a:rPr lang="en-GB" dirty="0"/>
              <a:t>Data Cleaning</a:t>
            </a:r>
            <a:endParaRPr lang="en-US" spc="-20" dirty="0">
              <a:solidFill>
                <a:srgbClr val="2D3B45"/>
              </a:solidFill>
            </a:endParaRPr>
          </a:p>
        </p:txBody>
      </p:sp>
      <p:sp>
        <p:nvSpPr>
          <p:cNvPr id="6" name="object 3">
            <a:extLst>
              <a:ext uri="{FF2B5EF4-FFF2-40B4-BE49-F238E27FC236}">
                <a16:creationId xmlns:a16="http://schemas.microsoft.com/office/drawing/2014/main" id="{3A2BDBF5-CDFB-48F9-B9C3-070C460DC415}"/>
              </a:ext>
            </a:extLst>
          </p:cNvPr>
          <p:cNvSpPr txBox="1"/>
          <p:nvPr/>
        </p:nvSpPr>
        <p:spPr>
          <a:xfrm>
            <a:off x="914400" y="995083"/>
            <a:ext cx="7315200" cy="3759797"/>
          </a:xfrm>
          <a:prstGeom prst="rect">
            <a:avLst/>
          </a:prstGeom>
        </p:spPr>
        <p:txBody>
          <a:bodyPr vert="horz" wrap="square" lIns="0" tIns="0" rIns="0" bIns="0" rtlCol="0">
            <a:noAutofit/>
          </a:bodyPr>
          <a:lstStyle/>
          <a:p>
            <a:pPr algn="just">
              <a:spcAft>
                <a:spcPts val="600"/>
              </a:spcAft>
            </a:pPr>
            <a:r>
              <a:rPr lang="en-GB" sz="2000" dirty="0"/>
              <a:t>To improve </a:t>
            </a:r>
            <a:r>
              <a:rPr lang="en-US" sz="2000" dirty="0"/>
              <a:t>model accuracy, noise such as unnecessary tokens was removed to ensure the model would use</a:t>
            </a:r>
            <a:r>
              <a:rPr lang="en-GB" sz="2000" dirty="0"/>
              <a:t> words from the comments </a:t>
            </a:r>
            <a:r>
              <a:rPr lang="en-US" sz="2000" dirty="0"/>
              <a:t>for</a:t>
            </a:r>
            <a:r>
              <a:rPr lang="en-GB" sz="2000" dirty="0"/>
              <a:t> prediction.</a:t>
            </a:r>
          </a:p>
          <a:p>
            <a:pPr lvl="1" indent="-223838" algn="just">
              <a:spcAft>
                <a:spcPts val="600"/>
              </a:spcAft>
              <a:buFont typeface="Arial" panose="020B0604020202020204" pitchFamily="34" charset="0"/>
              <a:buChar char="•"/>
            </a:pPr>
            <a:r>
              <a:rPr lang="en-GB" sz="2000" kern="100" dirty="0">
                <a:ea typeface="Aptos" panose="020B0004020202020204"/>
                <a:cs typeface="Times New Roman" panose="02020603050405020304" pitchFamily="18" charset="0"/>
              </a:rPr>
              <a:t>Converted all text to lowercase to ensure uniformity.</a:t>
            </a:r>
            <a:endParaRPr lang="en-US" sz="2000" kern="100" dirty="0">
              <a:ea typeface="Aptos" panose="020B0004020202020204"/>
              <a:cs typeface="Times New Roman" panose="02020603050405020304" pitchFamily="18" charset="0"/>
            </a:endParaRPr>
          </a:p>
          <a:p>
            <a:pPr lvl="1" indent="-223838" algn="just">
              <a:spcAft>
                <a:spcPts val="600"/>
              </a:spcAft>
              <a:buFont typeface="Arial" panose="020B0604020202020204" pitchFamily="34" charset="0"/>
              <a:buChar char="•"/>
            </a:pPr>
            <a:r>
              <a:rPr lang="en-GB" sz="2000" kern="100" dirty="0">
                <a:ea typeface="Aptos" panose="020B0004020202020204"/>
                <a:cs typeface="Times New Roman" panose="02020603050405020304" pitchFamily="18" charset="0"/>
              </a:rPr>
              <a:t>URLs were removed using regex to eliminate web links.</a:t>
            </a:r>
            <a:endParaRPr lang="en-US" sz="2000" kern="100" dirty="0">
              <a:ea typeface="Aptos" panose="020B0004020202020204"/>
              <a:cs typeface="Times New Roman" panose="02020603050405020304" pitchFamily="18" charset="0"/>
            </a:endParaRPr>
          </a:p>
          <a:p>
            <a:pPr lvl="1" indent="-223838" algn="just">
              <a:spcAft>
                <a:spcPts val="600"/>
              </a:spcAft>
              <a:buFont typeface="Arial" panose="020B0604020202020204" pitchFamily="34" charset="0"/>
              <a:buChar char="•"/>
            </a:pPr>
            <a:r>
              <a:rPr lang="en-GB" sz="2000" kern="100" dirty="0">
                <a:ea typeface="Aptos" panose="020B0004020202020204"/>
                <a:cs typeface="Times New Roman" panose="02020603050405020304" pitchFamily="18" charset="0"/>
              </a:rPr>
              <a:t>Digits were removed to filter out irrelevant tokens.</a:t>
            </a:r>
            <a:endParaRPr lang="en-US" sz="2000" kern="100" dirty="0">
              <a:ea typeface="Aptos" panose="020B0004020202020204"/>
              <a:cs typeface="Times New Roman" panose="02020603050405020304" pitchFamily="18" charset="0"/>
            </a:endParaRPr>
          </a:p>
          <a:p>
            <a:pPr lvl="1" indent="-223838" algn="just">
              <a:spcAft>
                <a:spcPts val="600"/>
              </a:spcAft>
              <a:buFont typeface="Arial" panose="020B0604020202020204" pitchFamily="34" charset="0"/>
              <a:buChar char="•"/>
            </a:pPr>
            <a:r>
              <a:rPr lang="en-GB" sz="2000" kern="100" dirty="0">
                <a:ea typeface="Aptos" panose="020B0004020202020204"/>
                <a:cs typeface="Times New Roman" panose="02020603050405020304" pitchFamily="18" charset="0"/>
              </a:rPr>
              <a:t>Newlines were replaced with spaces, while extra spaces were collapsed and trimmed for a clean format.</a:t>
            </a:r>
            <a:endParaRPr lang="en-US" sz="2000" kern="100" dirty="0">
              <a:ea typeface="Aptos" panose="020B0004020202020204"/>
              <a:cs typeface="Times New Roman" panose="02020603050405020304" pitchFamily="18" charset="0"/>
            </a:endParaRPr>
          </a:p>
          <a:p>
            <a:pPr lvl="1" indent="-223838" algn="just">
              <a:spcAft>
                <a:spcPts val="600"/>
              </a:spcAft>
              <a:buFont typeface="Arial" panose="020B0604020202020204" pitchFamily="34" charset="0"/>
              <a:buChar char="•"/>
            </a:pPr>
            <a:r>
              <a:rPr lang="en-GB" sz="2000" kern="100" dirty="0">
                <a:ea typeface="Aptos" panose="020B0004020202020204"/>
                <a:cs typeface="Times New Roman" panose="02020603050405020304" pitchFamily="18" charset="0"/>
              </a:rPr>
              <a:t>Non-alphabetic characters</a:t>
            </a:r>
            <a:r>
              <a:rPr lang="en-US" sz="2000" kern="100" dirty="0">
                <a:ea typeface="Aptos" panose="020B0004020202020204"/>
                <a:cs typeface="Times New Roman" panose="02020603050405020304" pitchFamily="18" charset="0"/>
              </a:rPr>
              <a:t> were removed, including foreign characters (often from emoji encoding) and numbers/digits</a:t>
            </a:r>
            <a:r>
              <a:rPr lang="en-GB" sz="2000" kern="100" dirty="0">
                <a:ea typeface="Aptos" panose="020B0004020202020204"/>
                <a:cs typeface="Times New Roman" panose="02020603050405020304" pitchFamily="18" charset="0"/>
              </a:rPr>
              <a:t>.</a:t>
            </a:r>
          </a:p>
        </p:txBody>
      </p:sp>
      <p:sp>
        <p:nvSpPr>
          <p:cNvPr id="7" name="Slide Number Placeholder 4">
            <a:extLst>
              <a:ext uri="{FF2B5EF4-FFF2-40B4-BE49-F238E27FC236}">
                <a16:creationId xmlns:a16="http://schemas.microsoft.com/office/drawing/2014/main" id="{61065B7F-0E4E-4FF9-3E20-F776C03C418A}"/>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12</a:t>
            </a:fld>
            <a:endParaRPr lang="en-US" dirty="0">
              <a:solidFill>
                <a:srgbClr val="000000"/>
              </a:solidFill>
            </a:endParaRPr>
          </a:p>
        </p:txBody>
      </p:sp>
    </p:spTree>
    <p:extLst>
      <p:ext uri="{BB962C8B-B14F-4D97-AF65-F5344CB8AC3E}">
        <p14:creationId xmlns:p14="http://schemas.microsoft.com/office/powerpoint/2010/main" val="8307193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BBFB62A-8887-4D71-9B16-D757D322D8D1}"/>
              </a:ext>
            </a:extLst>
          </p:cNvPr>
          <p:cNvPicPr>
            <a:picLocks noChangeAspect="1"/>
          </p:cNvPicPr>
          <p:nvPr/>
        </p:nvPicPr>
        <p:blipFill>
          <a:blip r:embed="rId2"/>
          <a:stretch>
            <a:fillRect/>
          </a:stretch>
        </p:blipFill>
        <p:spPr>
          <a:xfrm>
            <a:off x="1029574" y="948430"/>
            <a:ext cx="7250577" cy="1618213"/>
          </a:xfrm>
          <a:prstGeom prst="rect">
            <a:avLst/>
          </a:prstGeom>
          <a:ln>
            <a:solidFill>
              <a:schemeClr val="bg1">
                <a:lumMod val="95000"/>
              </a:schemeClr>
            </a:solidFill>
          </a:ln>
        </p:spPr>
      </p:pic>
      <p:sp>
        <p:nvSpPr>
          <p:cNvPr id="6" name="object 2">
            <a:extLst>
              <a:ext uri="{FF2B5EF4-FFF2-40B4-BE49-F238E27FC236}">
                <a16:creationId xmlns:a16="http://schemas.microsoft.com/office/drawing/2014/main" id="{29548C07-A7DF-A4BE-C36F-340D1813A682}"/>
              </a:ext>
            </a:extLst>
          </p:cNvPr>
          <p:cNvSpPr txBox="1">
            <a:spLocks/>
          </p:cNvSpPr>
          <p:nvPr/>
        </p:nvSpPr>
        <p:spPr>
          <a:xfrm>
            <a:off x="228600" y="128016"/>
            <a:ext cx="8415867" cy="723433"/>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pPr>
              <a:lnSpc>
                <a:spcPct val="100000"/>
              </a:lnSpc>
              <a:spcBef>
                <a:spcPts val="0"/>
              </a:spcBef>
            </a:pPr>
            <a:r>
              <a:rPr lang="en-US" dirty="0">
                <a:solidFill>
                  <a:srgbClr val="1F1F1F"/>
                </a:solidFill>
              </a:rPr>
              <a:t>Understanding the Data: </a:t>
            </a:r>
            <a:r>
              <a:rPr lang="en-GB" dirty="0"/>
              <a:t>Data Cleaning</a:t>
            </a:r>
            <a:endParaRPr lang="en-US" spc="-20" dirty="0">
              <a:solidFill>
                <a:srgbClr val="2D3B45"/>
              </a:solidFill>
            </a:endParaRPr>
          </a:p>
        </p:txBody>
      </p:sp>
      <p:sp>
        <p:nvSpPr>
          <p:cNvPr id="2" name="Slide Number Placeholder 4">
            <a:extLst>
              <a:ext uri="{FF2B5EF4-FFF2-40B4-BE49-F238E27FC236}">
                <a16:creationId xmlns:a16="http://schemas.microsoft.com/office/drawing/2014/main" id="{6DB0052B-DB4A-30A1-3A53-1AC8341CBB39}"/>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13</a:t>
            </a:fld>
            <a:endParaRPr lang="en-US" dirty="0">
              <a:solidFill>
                <a:srgbClr val="000000"/>
              </a:solidFill>
            </a:endParaRPr>
          </a:p>
        </p:txBody>
      </p:sp>
      <p:sp>
        <p:nvSpPr>
          <p:cNvPr id="4" name="object 3">
            <a:extLst>
              <a:ext uri="{FF2B5EF4-FFF2-40B4-BE49-F238E27FC236}">
                <a16:creationId xmlns:a16="http://schemas.microsoft.com/office/drawing/2014/main" id="{E96F9FD0-7B59-321C-2CA6-7F9119899EE5}"/>
              </a:ext>
            </a:extLst>
          </p:cNvPr>
          <p:cNvSpPr txBox="1"/>
          <p:nvPr/>
        </p:nvSpPr>
        <p:spPr>
          <a:xfrm>
            <a:off x="863848" y="2577979"/>
            <a:ext cx="7416303" cy="3426758"/>
          </a:xfrm>
          <a:prstGeom prst="rect">
            <a:avLst/>
          </a:prstGeom>
        </p:spPr>
        <p:txBody>
          <a:bodyPr vert="horz" wrap="square" lIns="0" tIns="12700" rIns="0" bIns="0" rtlCol="0">
            <a:noAutofit/>
          </a:bodyPr>
          <a:lstStyle/>
          <a:p>
            <a:pPr marL="403225" indent="-307975" algn="just">
              <a:spcAft>
                <a:spcPts val="600"/>
              </a:spcAft>
              <a:buFont typeface="Arial" panose="020B0604020202020204" pitchFamily="34" charset="0"/>
              <a:buChar char="•"/>
            </a:pPr>
            <a:r>
              <a:rPr lang="en-US" sz="2000" spc="-45" dirty="0">
                <a:solidFill>
                  <a:srgbClr val="2D3B45"/>
                </a:solidFill>
                <a:cs typeface="Calibri"/>
              </a:rPr>
              <a:t>The</a:t>
            </a:r>
            <a:r>
              <a:rPr lang="en-GB" sz="2000" kern="100" dirty="0">
                <a:ea typeface="Aptos" panose="020B0004020202020204"/>
                <a:cs typeface="Times New Roman" panose="02020603050405020304" pitchFamily="18" charset="0"/>
              </a:rPr>
              <a:t> text appears to include improperly/foreign characters, likely resulting from emoji encoding or foreign language character sets. </a:t>
            </a:r>
          </a:p>
          <a:p>
            <a:pPr marL="403225" indent="-307975" algn="just">
              <a:spcAft>
                <a:spcPts val="600"/>
              </a:spcAft>
              <a:buFont typeface="Arial" panose="020B0604020202020204" pitchFamily="34" charset="0"/>
              <a:buChar char="•"/>
            </a:pPr>
            <a:r>
              <a:rPr lang="en-GB" sz="2000" kern="100" dirty="0">
                <a:ea typeface="Times New Roman" panose="02020603050405020304" pitchFamily="18" charset="0"/>
                <a:cs typeface="Times New Roman" panose="02020603050405020304" pitchFamily="18" charset="0"/>
              </a:rPr>
              <a:t>T</a:t>
            </a:r>
            <a:r>
              <a:rPr lang="en-GB" sz="2000" kern="100" dirty="0">
                <a:ea typeface="Aptos" panose="020B0004020202020204"/>
                <a:cs typeface="Times New Roman" panose="02020603050405020304" pitchFamily="18" charset="0"/>
              </a:rPr>
              <a:t>hese characters may disrupt text processing or analysis due to their unexpected format. </a:t>
            </a:r>
            <a:r>
              <a:rPr lang="en-US" sz="2000" kern="0" dirty="0">
                <a:ea typeface="Times New Roman" panose="02020603050405020304" pitchFamily="18" charset="0"/>
                <a:cs typeface="Times New Roman" panose="02020603050405020304" pitchFamily="18" charset="0"/>
              </a:rPr>
              <a:t> </a:t>
            </a:r>
          </a:p>
          <a:p>
            <a:pPr marL="403225" indent="-307975" algn="just">
              <a:spcAft>
                <a:spcPts val="600"/>
              </a:spcAft>
              <a:buFont typeface="Arial" panose="020B0604020202020204" pitchFamily="34" charset="0"/>
              <a:buChar char="•"/>
            </a:pPr>
            <a:r>
              <a:rPr lang="en-US" sz="2000" kern="0" dirty="0">
                <a:ea typeface="Aptos" panose="020B0004020202020204"/>
                <a:cs typeface="Times New Roman" panose="02020603050405020304" pitchFamily="18" charset="0"/>
              </a:rPr>
              <a:t>To </a:t>
            </a:r>
            <a:r>
              <a:rPr lang="en-GB" sz="2000" kern="100" dirty="0">
                <a:ea typeface="Aptos" panose="020B0004020202020204"/>
                <a:cs typeface="Times New Roman" panose="02020603050405020304" pitchFamily="18" charset="0"/>
              </a:rPr>
              <a:t>address this, a regex-based approach was used to identify and remove these unwanted characters, ensuring cleaner and more consistent data for analysis.</a:t>
            </a:r>
          </a:p>
          <a:p>
            <a:pPr marL="403225" indent="-307975" algn="just">
              <a:spcAft>
                <a:spcPts val="600"/>
              </a:spcAft>
              <a:buFont typeface="Arial" panose="020B0604020202020204" pitchFamily="34" charset="0"/>
              <a:buChar char="•"/>
            </a:pPr>
            <a:r>
              <a:rPr lang="en-US" sz="2000" dirty="0"/>
              <a:t>To support the cleaning and labeling process, the dataset was shared with fluent Hindi speakers for manual label classification  to determine which comments were abusive or non-abusive.</a:t>
            </a:r>
          </a:p>
          <a:p>
            <a:pPr marL="95250" algn="just">
              <a:spcAft>
                <a:spcPts val="600"/>
              </a:spcAft>
            </a:pPr>
            <a:endParaRPr lang="en-US" sz="2000" kern="100" dirty="0">
              <a:ea typeface="Aptos" panose="020B0004020202020204"/>
              <a:cs typeface="Times New Roman" panose="02020603050405020304" pitchFamily="18" charset="0"/>
            </a:endParaRPr>
          </a:p>
          <a:p>
            <a:pPr marL="403225" indent="-307975" algn="just">
              <a:spcAft>
                <a:spcPts val="600"/>
              </a:spcAft>
              <a:buFont typeface="Arial" panose="020B0604020202020204" pitchFamily="34" charset="0"/>
              <a:buChar char="•"/>
            </a:pPr>
            <a:endParaRPr lang="en-US" sz="2000" dirty="0"/>
          </a:p>
        </p:txBody>
      </p:sp>
    </p:spTree>
    <p:extLst>
      <p:ext uri="{BB962C8B-B14F-4D97-AF65-F5344CB8AC3E}">
        <p14:creationId xmlns:p14="http://schemas.microsoft.com/office/powerpoint/2010/main" val="17487559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697502FE-9438-1D34-A275-BAA4370C5F3D}"/>
              </a:ext>
            </a:extLst>
          </p:cNvPr>
          <p:cNvSpPr txBox="1">
            <a:spLocks/>
          </p:cNvSpPr>
          <p:nvPr/>
        </p:nvSpPr>
        <p:spPr>
          <a:xfrm>
            <a:off x="228600" y="128017"/>
            <a:ext cx="7611533" cy="608584"/>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pPr>
              <a:lnSpc>
                <a:spcPct val="100000"/>
              </a:lnSpc>
              <a:spcBef>
                <a:spcPts val="0"/>
              </a:spcBef>
            </a:pPr>
            <a:r>
              <a:rPr lang="en-US" dirty="0"/>
              <a:t>Partition Table for Hindi</a:t>
            </a:r>
            <a:endParaRPr lang="en-US" spc="-20" dirty="0">
              <a:solidFill>
                <a:srgbClr val="2D3B45"/>
              </a:solidFill>
            </a:endParaRPr>
          </a:p>
        </p:txBody>
      </p:sp>
      <p:sp>
        <p:nvSpPr>
          <p:cNvPr id="2" name="Slide Number Placeholder 4">
            <a:extLst>
              <a:ext uri="{FF2B5EF4-FFF2-40B4-BE49-F238E27FC236}">
                <a16:creationId xmlns:a16="http://schemas.microsoft.com/office/drawing/2014/main" id="{810BE3A8-92F7-1411-102D-CF458734BA12}"/>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14</a:t>
            </a:fld>
            <a:endParaRPr lang="en-US" dirty="0">
              <a:solidFill>
                <a:srgbClr val="000000"/>
              </a:solidFill>
            </a:endParaRPr>
          </a:p>
        </p:txBody>
      </p:sp>
      <p:graphicFrame>
        <p:nvGraphicFramePr>
          <p:cNvPr id="3" name="Table 2">
            <a:extLst>
              <a:ext uri="{FF2B5EF4-FFF2-40B4-BE49-F238E27FC236}">
                <a16:creationId xmlns:a16="http://schemas.microsoft.com/office/drawing/2014/main" id="{07FE3617-EFD7-16EC-234C-8D50AB211F37}"/>
              </a:ext>
            </a:extLst>
          </p:cNvPr>
          <p:cNvGraphicFramePr>
            <a:graphicFrameLocks noGrp="1"/>
          </p:cNvGraphicFramePr>
          <p:nvPr>
            <p:extLst>
              <p:ext uri="{D42A27DB-BD31-4B8C-83A1-F6EECF244321}">
                <p14:modId xmlns:p14="http://schemas.microsoft.com/office/powerpoint/2010/main" val="3358153664"/>
              </p:ext>
            </p:extLst>
          </p:nvPr>
        </p:nvGraphicFramePr>
        <p:xfrm>
          <a:off x="948267" y="1474394"/>
          <a:ext cx="7245470" cy="3177540"/>
        </p:xfrm>
        <a:graphic>
          <a:graphicData uri="http://schemas.openxmlformats.org/drawingml/2006/table">
            <a:tbl>
              <a:tblPr firstRow="1" bandRow="1">
                <a:tableStyleId>{5C22544A-7EE6-4342-B048-85BDC9FD1C3A}</a:tableStyleId>
              </a:tblPr>
              <a:tblGrid>
                <a:gridCol w="1449094">
                  <a:extLst>
                    <a:ext uri="{9D8B030D-6E8A-4147-A177-3AD203B41FA5}">
                      <a16:colId xmlns:a16="http://schemas.microsoft.com/office/drawing/2014/main" val="605777074"/>
                    </a:ext>
                  </a:extLst>
                </a:gridCol>
                <a:gridCol w="1449094">
                  <a:extLst>
                    <a:ext uri="{9D8B030D-6E8A-4147-A177-3AD203B41FA5}">
                      <a16:colId xmlns:a16="http://schemas.microsoft.com/office/drawing/2014/main" val="2002140620"/>
                    </a:ext>
                  </a:extLst>
                </a:gridCol>
                <a:gridCol w="1449094">
                  <a:extLst>
                    <a:ext uri="{9D8B030D-6E8A-4147-A177-3AD203B41FA5}">
                      <a16:colId xmlns:a16="http://schemas.microsoft.com/office/drawing/2014/main" val="2461772223"/>
                    </a:ext>
                  </a:extLst>
                </a:gridCol>
                <a:gridCol w="1449094">
                  <a:extLst>
                    <a:ext uri="{9D8B030D-6E8A-4147-A177-3AD203B41FA5}">
                      <a16:colId xmlns:a16="http://schemas.microsoft.com/office/drawing/2014/main" val="833521753"/>
                    </a:ext>
                  </a:extLst>
                </a:gridCol>
                <a:gridCol w="1449094">
                  <a:extLst>
                    <a:ext uri="{9D8B030D-6E8A-4147-A177-3AD203B41FA5}">
                      <a16:colId xmlns:a16="http://schemas.microsoft.com/office/drawing/2014/main" val="1047645458"/>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tx1"/>
                          </a:solidFill>
                        </a:rPr>
                        <a:t>  Partition</a:t>
                      </a:r>
                      <a:endParaRPr lang="en-US" sz="1800" b="1" kern="1200" dirty="0">
                        <a:solidFill>
                          <a:schemeClr val="tx1"/>
                        </a:solidFill>
                        <a:latin typeface="+mn-lt"/>
                        <a:ea typeface="+mn-ea"/>
                        <a:cs typeface="+mn-cs"/>
                      </a:endParaRP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tx1"/>
                          </a:solidFill>
                        </a:rPr>
                        <a:t>    Abusive</a:t>
                      </a:r>
                      <a:endParaRPr lang="en-US" sz="1800" b="1" kern="1200" dirty="0">
                        <a:solidFill>
                          <a:schemeClr val="tx1"/>
                        </a:solidFill>
                        <a:latin typeface="+mn-lt"/>
                        <a:ea typeface="+mn-ea"/>
                        <a:cs typeface="+mn-cs"/>
                      </a:endParaRP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1200">
                          <a:solidFill>
                            <a:schemeClr val="tx1"/>
                          </a:solidFill>
                        </a:rPr>
                        <a:t>Non-Abusive</a:t>
                      </a:r>
                      <a:endParaRPr lang="en-US" sz="1800" b="1" kern="1200">
                        <a:solidFill>
                          <a:schemeClr val="tx1"/>
                        </a:solidFill>
                        <a:latin typeface="+mn-lt"/>
                        <a:ea typeface="+mn-ea"/>
                        <a:cs typeface="+mn-cs"/>
                      </a:endParaRP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1200" dirty="0">
                          <a:solidFill>
                            <a:schemeClr val="tx1"/>
                          </a:solidFill>
                        </a:rPr>
                        <a:t>       Total</a:t>
                      </a:r>
                      <a:endParaRPr lang="en-US" sz="1800" b="1" kern="1200" dirty="0">
                        <a:solidFill>
                          <a:schemeClr val="tx1"/>
                        </a:solidFill>
                        <a:latin typeface="+mn-lt"/>
                        <a:ea typeface="+mn-ea"/>
                        <a:cs typeface="+mn-cs"/>
                      </a:endParaRPr>
                    </a:p>
                    <a:p>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1200">
                          <a:solidFill>
                            <a:schemeClr val="tx1"/>
                          </a:solidFill>
                        </a:rPr>
                        <a:t>Percentage</a:t>
                      </a:r>
                      <a:endParaRPr lang="en-US" sz="1800" b="1" kern="1200">
                        <a:solidFill>
                          <a:schemeClr val="tx1"/>
                        </a:solidFill>
                        <a:latin typeface="+mn-lt"/>
                        <a:ea typeface="+mn-ea"/>
                        <a:cs typeface="+mn-cs"/>
                      </a:endParaRPr>
                    </a:p>
                    <a:p>
                      <a:endParaRPr lang="en-US" dirty="0"/>
                    </a:p>
                  </a:txBody>
                  <a:tcPr/>
                </a:tc>
                <a:extLst>
                  <a:ext uri="{0D108BD9-81ED-4DB2-BD59-A6C34878D82A}">
                    <a16:rowId xmlns:a16="http://schemas.microsoft.com/office/drawing/2014/main" val="1022053703"/>
                  </a:ext>
                </a:extLst>
              </a:tr>
              <a:tr h="370840">
                <a:tc>
                  <a:txBody>
                    <a:bodyPr/>
                    <a:lstStyle/>
                    <a:p>
                      <a:pPr algn="ctr" defTabSz="914400" rtl="0" eaLnBrk="1" fontAlgn="ctr" latinLnBrk="0" hangingPunct="1">
                        <a:lnSpc>
                          <a:spcPct val="90000"/>
                        </a:lnSpc>
                        <a:spcBef>
                          <a:spcPct val="0"/>
                        </a:spcBef>
                        <a:buNone/>
                      </a:pPr>
                      <a:r>
                        <a:rPr lang="en-US" sz="2000" b="1" kern="1200">
                          <a:solidFill>
                            <a:schemeClr val="tx1"/>
                          </a:solidFill>
                        </a:rPr>
                        <a:t>Training</a:t>
                      </a:r>
                      <a:endParaRPr lang="en-US" sz="2000" b="1" kern="1200" dirty="0">
                        <a:solidFill>
                          <a:schemeClr val="tx1"/>
                        </a:solidFill>
                        <a:latin typeface="+mj-lt"/>
                        <a:ea typeface="+mj-ea"/>
                        <a:cs typeface="+mj-cs"/>
                      </a:endParaRPr>
                    </a:p>
                  </a:txBody>
                  <a:tcPr marL="9525" marR="9525" marT="9525" marB="0" anchor="ctr"/>
                </a:tc>
                <a:tc>
                  <a:txBody>
                    <a:bodyPr/>
                    <a:lstStyle/>
                    <a:p>
                      <a:pPr algn="ctr" defTabSz="914400" rtl="0" eaLnBrk="1" fontAlgn="ctr" latinLnBrk="0" hangingPunct="1">
                        <a:lnSpc>
                          <a:spcPct val="90000"/>
                        </a:lnSpc>
                        <a:spcBef>
                          <a:spcPct val="0"/>
                        </a:spcBef>
                        <a:buNone/>
                      </a:pPr>
                      <a:r>
                        <a:rPr lang="en-US" sz="2000" b="0" kern="1200" dirty="0">
                          <a:solidFill>
                            <a:schemeClr val="tx1"/>
                          </a:solidFill>
                        </a:rPr>
                        <a:t>4,328 (52.70%)</a:t>
                      </a:r>
                      <a:endParaRPr lang="en-US" sz="2000" b="0" kern="1200" dirty="0">
                        <a:solidFill>
                          <a:schemeClr val="tx1"/>
                        </a:solidFill>
                        <a:latin typeface="+mj-lt"/>
                        <a:ea typeface="+mj-ea"/>
                        <a:cs typeface="+mj-cs"/>
                      </a:endParaRPr>
                    </a:p>
                  </a:txBody>
                  <a:tcPr marL="9525" marR="9525" marT="9525" marB="0" anchor="ctr"/>
                </a:tc>
                <a:tc>
                  <a:txBody>
                    <a:bodyPr/>
                    <a:lstStyle/>
                    <a:p>
                      <a:pPr algn="ctr" defTabSz="914400" rtl="0" eaLnBrk="1" fontAlgn="ctr" latinLnBrk="0" hangingPunct="1">
                        <a:lnSpc>
                          <a:spcPct val="90000"/>
                        </a:lnSpc>
                        <a:spcBef>
                          <a:spcPct val="0"/>
                        </a:spcBef>
                        <a:buNone/>
                      </a:pPr>
                      <a:r>
                        <a:rPr lang="en-US" sz="2000" b="0" kern="1200" dirty="0">
                          <a:solidFill>
                            <a:schemeClr val="tx1"/>
                          </a:solidFill>
                        </a:rPr>
                        <a:t>3,884 (47.30%)</a:t>
                      </a:r>
                      <a:endParaRPr lang="en-US" sz="2000" b="0" kern="1200" dirty="0">
                        <a:solidFill>
                          <a:schemeClr val="tx1"/>
                        </a:solidFill>
                        <a:latin typeface="+mj-lt"/>
                        <a:ea typeface="+mj-ea"/>
                        <a:cs typeface="+mj-cs"/>
                      </a:endParaRPr>
                    </a:p>
                  </a:txBody>
                  <a:tcPr marL="9525" marR="9525" marT="9525" marB="0" anchor="ctr"/>
                </a:tc>
                <a:tc>
                  <a:txBody>
                    <a:bodyPr/>
                    <a:lstStyle/>
                    <a:p>
                      <a:pPr algn="ctr" defTabSz="914400" rtl="0" eaLnBrk="1" fontAlgn="ctr" latinLnBrk="0" hangingPunct="1">
                        <a:lnSpc>
                          <a:spcPct val="90000"/>
                        </a:lnSpc>
                        <a:spcBef>
                          <a:spcPct val="0"/>
                        </a:spcBef>
                        <a:buNone/>
                      </a:pPr>
                      <a:r>
                        <a:rPr lang="en-US" sz="2000" b="0" kern="1200" dirty="0">
                          <a:solidFill>
                            <a:schemeClr val="tx1"/>
                          </a:solidFill>
                        </a:rPr>
                        <a:t>8,212</a:t>
                      </a:r>
                      <a:endParaRPr lang="en-US" sz="2000" b="0" kern="1200" dirty="0">
                        <a:solidFill>
                          <a:schemeClr val="tx1"/>
                        </a:solidFill>
                        <a:latin typeface="+mj-lt"/>
                        <a:ea typeface="+mj-ea"/>
                        <a:cs typeface="+mj-cs"/>
                      </a:endParaRPr>
                    </a:p>
                  </a:txBody>
                  <a:tcPr marL="9525" marR="9525" marT="9525" marB="0" anchor="ctr"/>
                </a:tc>
                <a:tc>
                  <a:txBody>
                    <a:bodyPr/>
                    <a:lstStyle/>
                    <a:p>
                      <a:pPr algn="ctr" defTabSz="914400" rtl="0" eaLnBrk="1" fontAlgn="ctr" latinLnBrk="0" hangingPunct="1">
                        <a:lnSpc>
                          <a:spcPct val="90000"/>
                        </a:lnSpc>
                        <a:spcBef>
                          <a:spcPct val="0"/>
                        </a:spcBef>
                        <a:buNone/>
                      </a:pPr>
                      <a:r>
                        <a:rPr lang="en-US" sz="2000" b="0" kern="1200">
                          <a:solidFill>
                            <a:schemeClr val="tx1"/>
                          </a:solidFill>
                        </a:rPr>
                        <a:t>60%</a:t>
                      </a:r>
                      <a:endParaRPr lang="en-US" sz="2000" b="0" kern="1200" dirty="0">
                        <a:solidFill>
                          <a:schemeClr val="tx1"/>
                        </a:solidFill>
                        <a:latin typeface="+mj-lt"/>
                        <a:ea typeface="+mj-ea"/>
                        <a:cs typeface="+mj-cs"/>
                      </a:endParaRPr>
                    </a:p>
                  </a:txBody>
                  <a:tcPr marL="9525" marR="9525" marT="9525" marB="0" anchor="ctr"/>
                </a:tc>
                <a:extLst>
                  <a:ext uri="{0D108BD9-81ED-4DB2-BD59-A6C34878D82A}">
                    <a16:rowId xmlns:a16="http://schemas.microsoft.com/office/drawing/2014/main" val="2292624821"/>
                  </a:ext>
                </a:extLst>
              </a:tr>
              <a:tr h="370840">
                <a:tc>
                  <a:txBody>
                    <a:bodyPr/>
                    <a:lstStyle/>
                    <a:p>
                      <a:pPr algn="ctr" defTabSz="914400" rtl="0" eaLnBrk="1" fontAlgn="ctr" latinLnBrk="0" hangingPunct="1">
                        <a:lnSpc>
                          <a:spcPct val="90000"/>
                        </a:lnSpc>
                        <a:spcBef>
                          <a:spcPct val="0"/>
                        </a:spcBef>
                        <a:buNone/>
                      </a:pPr>
                      <a:r>
                        <a:rPr lang="en-US" sz="2000" b="1" kern="1200">
                          <a:solidFill>
                            <a:schemeClr val="tx1"/>
                          </a:solidFill>
                        </a:rPr>
                        <a:t>Validation</a:t>
                      </a:r>
                      <a:endParaRPr lang="en-US" sz="2000" b="1" kern="1200" dirty="0">
                        <a:solidFill>
                          <a:schemeClr val="tx1"/>
                        </a:solidFill>
                        <a:latin typeface="+mj-lt"/>
                        <a:ea typeface="+mj-ea"/>
                        <a:cs typeface="+mj-cs"/>
                      </a:endParaRPr>
                    </a:p>
                  </a:txBody>
                  <a:tcPr marL="9525" marR="9525" marT="9525" marB="0" anchor="ctr"/>
                </a:tc>
                <a:tc>
                  <a:txBody>
                    <a:bodyPr/>
                    <a:lstStyle/>
                    <a:p>
                      <a:pPr algn="ctr" defTabSz="914400" rtl="0" eaLnBrk="1" fontAlgn="ctr" latinLnBrk="0" hangingPunct="1">
                        <a:lnSpc>
                          <a:spcPct val="90000"/>
                        </a:lnSpc>
                        <a:spcBef>
                          <a:spcPct val="0"/>
                        </a:spcBef>
                        <a:buNone/>
                      </a:pPr>
                      <a:r>
                        <a:rPr lang="en-US" sz="2000" b="0" kern="1200" dirty="0">
                          <a:solidFill>
                            <a:schemeClr val="tx1"/>
                          </a:solidFill>
                        </a:rPr>
                        <a:t>1,803 (52.70%)</a:t>
                      </a:r>
                      <a:endParaRPr lang="en-US" sz="2000" b="0" kern="1200" dirty="0">
                        <a:solidFill>
                          <a:schemeClr val="tx1"/>
                        </a:solidFill>
                        <a:latin typeface="+mj-lt"/>
                        <a:ea typeface="+mj-ea"/>
                        <a:cs typeface="+mj-cs"/>
                      </a:endParaRPr>
                    </a:p>
                  </a:txBody>
                  <a:tcPr marL="9525" marR="9525" marT="9525" marB="0" anchor="ctr"/>
                </a:tc>
                <a:tc>
                  <a:txBody>
                    <a:bodyPr/>
                    <a:lstStyle/>
                    <a:p>
                      <a:pPr algn="ctr" defTabSz="914400" rtl="0" eaLnBrk="1" fontAlgn="ctr" latinLnBrk="0" hangingPunct="1">
                        <a:lnSpc>
                          <a:spcPct val="90000"/>
                        </a:lnSpc>
                        <a:spcBef>
                          <a:spcPct val="0"/>
                        </a:spcBef>
                        <a:buNone/>
                      </a:pPr>
                      <a:r>
                        <a:rPr lang="en-US" sz="2000" b="0" kern="1200" dirty="0">
                          <a:solidFill>
                            <a:schemeClr val="tx1"/>
                          </a:solidFill>
                        </a:rPr>
                        <a:t>1,618 (47.30%)</a:t>
                      </a:r>
                      <a:endParaRPr lang="en-US" sz="2000" b="0" kern="1200" dirty="0">
                        <a:solidFill>
                          <a:schemeClr val="tx1"/>
                        </a:solidFill>
                        <a:latin typeface="+mj-lt"/>
                        <a:ea typeface="+mj-ea"/>
                        <a:cs typeface="+mj-cs"/>
                      </a:endParaRPr>
                    </a:p>
                  </a:txBody>
                  <a:tcPr marL="9525" marR="9525" marT="9525" marB="0" anchor="ctr"/>
                </a:tc>
                <a:tc>
                  <a:txBody>
                    <a:bodyPr/>
                    <a:lstStyle/>
                    <a:p>
                      <a:pPr algn="ctr" defTabSz="914400" rtl="0" eaLnBrk="1" fontAlgn="ctr" latinLnBrk="0" hangingPunct="1">
                        <a:lnSpc>
                          <a:spcPct val="90000"/>
                        </a:lnSpc>
                        <a:spcBef>
                          <a:spcPct val="0"/>
                        </a:spcBef>
                        <a:buNone/>
                      </a:pPr>
                      <a:r>
                        <a:rPr lang="en-US" sz="2000" b="0" kern="1200" dirty="0">
                          <a:solidFill>
                            <a:schemeClr val="tx1"/>
                          </a:solidFill>
                        </a:rPr>
                        <a:t>3,421</a:t>
                      </a:r>
                      <a:endParaRPr lang="en-US" sz="2000" b="0" kern="1200" dirty="0">
                        <a:solidFill>
                          <a:schemeClr val="tx1"/>
                        </a:solidFill>
                        <a:latin typeface="+mj-lt"/>
                        <a:ea typeface="+mj-ea"/>
                        <a:cs typeface="+mj-cs"/>
                      </a:endParaRPr>
                    </a:p>
                  </a:txBody>
                  <a:tcPr marL="9525" marR="9525" marT="9525" marB="0" anchor="ctr"/>
                </a:tc>
                <a:tc>
                  <a:txBody>
                    <a:bodyPr/>
                    <a:lstStyle/>
                    <a:p>
                      <a:pPr algn="ctr" defTabSz="914400" rtl="0" eaLnBrk="1" fontAlgn="ctr" latinLnBrk="0" hangingPunct="1">
                        <a:lnSpc>
                          <a:spcPct val="90000"/>
                        </a:lnSpc>
                        <a:spcBef>
                          <a:spcPct val="0"/>
                        </a:spcBef>
                        <a:buNone/>
                      </a:pPr>
                      <a:r>
                        <a:rPr lang="en-US" sz="2000" b="0" kern="1200">
                          <a:solidFill>
                            <a:schemeClr val="tx1"/>
                          </a:solidFill>
                        </a:rPr>
                        <a:t>25%</a:t>
                      </a:r>
                      <a:endParaRPr lang="en-US" sz="2000" b="0" kern="1200" dirty="0">
                        <a:solidFill>
                          <a:schemeClr val="tx1"/>
                        </a:solidFill>
                        <a:latin typeface="+mj-lt"/>
                        <a:ea typeface="+mj-ea"/>
                        <a:cs typeface="+mj-cs"/>
                      </a:endParaRPr>
                    </a:p>
                  </a:txBody>
                  <a:tcPr marL="9525" marR="9525" marT="9525" marB="0" anchor="ctr"/>
                </a:tc>
                <a:extLst>
                  <a:ext uri="{0D108BD9-81ED-4DB2-BD59-A6C34878D82A}">
                    <a16:rowId xmlns:a16="http://schemas.microsoft.com/office/drawing/2014/main" val="1297198753"/>
                  </a:ext>
                </a:extLst>
              </a:tr>
              <a:tr h="370840">
                <a:tc>
                  <a:txBody>
                    <a:bodyPr/>
                    <a:lstStyle/>
                    <a:p>
                      <a:pPr algn="ctr" defTabSz="914400" rtl="0" eaLnBrk="1" fontAlgn="ctr" latinLnBrk="0" hangingPunct="1">
                        <a:lnSpc>
                          <a:spcPct val="90000"/>
                        </a:lnSpc>
                        <a:spcBef>
                          <a:spcPct val="0"/>
                        </a:spcBef>
                        <a:buNone/>
                      </a:pPr>
                      <a:r>
                        <a:rPr lang="en-US" sz="2000" b="1" kern="1200">
                          <a:solidFill>
                            <a:schemeClr val="tx1"/>
                          </a:solidFill>
                        </a:rPr>
                        <a:t>Testing</a:t>
                      </a:r>
                      <a:endParaRPr lang="en-US" sz="2000" b="1" kern="1200" dirty="0">
                        <a:solidFill>
                          <a:schemeClr val="tx1"/>
                        </a:solidFill>
                        <a:latin typeface="+mj-lt"/>
                        <a:ea typeface="+mj-ea"/>
                        <a:cs typeface="+mj-cs"/>
                      </a:endParaRPr>
                    </a:p>
                  </a:txBody>
                  <a:tcPr marL="9525" marR="9525" marT="9525" marB="0" anchor="ctr"/>
                </a:tc>
                <a:tc>
                  <a:txBody>
                    <a:bodyPr/>
                    <a:lstStyle/>
                    <a:p>
                      <a:pPr algn="ctr" defTabSz="914400" rtl="0" eaLnBrk="1" fontAlgn="ctr" latinLnBrk="0" hangingPunct="1">
                        <a:lnSpc>
                          <a:spcPct val="90000"/>
                        </a:lnSpc>
                        <a:spcBef>
                          <a:spcPct val="0"/>
                        </a:spcBef>
                        <a:buNone/>
                      </a:pPr>
                      <a:r>
                        <a:rPr lang="en-US" sz="2000" b="0" kern="1200" dirty="0">
                          <a:solidFill>
                            <a:schemeClr val="tx1"/>
                          </a:solidFill>
                        </a:rPr>
                        <a:t>1,082 (52.68%)</a:t>
                      </a:r>
                      <a:endParaRPr lang="en-US" sz="2000" b="0" kern="1200" dirty="0">
                        <a:solidFill>
                          <a:schemeClr val="tx1"/>
                        </a:solidFill>
                        <a:latin typeface="+mj-lt"/>
                        <a:ea typeface="+mj-ea"/>
                        <a:cs typeface="+mj-cs"/>
                      </a:endParaRPr>
                    </a:p>
                  </a:txBody>
                  <a:tcPr marL="9525" marR="9525" marT="9525" marB="0" anchor="ctr"/>
                </a:tc>
                <a:tc>
                  <a:txBody>
                    <a:bodyPr/>
                    <a:lstStyle/>
                    <a:p>
                      <a:pPr algn="ctr" defTabSz="914400" rtl="0" eaLnBrk="1" fontAlgn="ctr" latinLnBrk="0" hangingPunct="1">
                        <a:lnSpc>
                          <a:spcPct val="90000"/>
                        </a:lnSpc>
                        <a:spcBef>
                          <a:spcPct val="0"/>
                        </a:spcBef>
                        <a:buNone/>
                      </a:pPr>
                      <a:r>
                        <a:rPr lang="en-US" sz="2000" b="0" kern="1200" dirty="0">
                          <a:solidFill>
                            <a:schemeClr val="tx1"/>
                          </a:solidFill>
                        </a:rPr>
                        <a:t>972 </a:t>
                      </a:r>
                    </a:p>
                    <a:p>
                      <a:pPr algn="ctr" defTabSz="914400" rtl="0" eaLnBrk="1" fontAlgn="ctr" latinLnBrk="0" hangingPunct="1">
                        <a:lnSpc>
                          <a:spcPct val="90000"/>
                        </a:lnSpc>
                        <a:spcBef>
                          <a:spcPct val="0"/>
                        </a:spcBef>
                        <a:buNone/>
                      </a:pPr>
                      <a:r>
                        <a:rPr lang="en-US" sz="2000" b="0" kern="1200" dirty="0">
                          <a:solidFill>
                            <a:schemeClr val="tx1"/>
                          </a:solidFill>
                        </a:rPr>
                        <a:t>(47.32%)</a:t>
                      </a:r>
                      <a:endParaRPr lang="en-US" sz="2000" b="0" kern="1200" dirty="0">
                        <a:solidFill>
                          <a:schemeClr val="tx1"/>
                        </a:solidFill>
                        <a:latin typeface="+mj-lt"/>
                        <a:ea typeface="+mj-ea"/>
                        <a:cs typeface="+mj-cs"/>
                      </a:endParaRPr>
                    </a:p>
                  </a:txBody>
                  <a:tcPr marL="9525" marR="9525" marT="9525" marB="0" anchor="ctr"/>
                </a:tc>
                <a:tc>
                  <a:txBody>
                    <a:bodyPr/>
                    <a:lstStyle/>
                    <a:p>
                      <a:pPr algn="ctr" defTabSz="914400" rtl="0" eaLnBrk="1" fontAlgn="ctr" latinLnBrk="0" hangingPunct="1">
                        <a:lnSpc>
                          <a:spcPct val="90000"/>
                        </a:lnSpc>
                        <a:spcBef>
                          <a:spcPct val="0"/>
                        </a:spcBef>
                        <a:buNone/>
                      </a:pPr>
                      <a:r>
                        <a:rPr lang="en-US" sz="2000" b="0" kern="1200" dirty="0">
                          <a:solidFill>
                            <a:schemeClr val="tx1"/>
                          </a:solidFill>
                        </a:rPr>
                        <a:t>2,054</a:t>
                      </a:r>
                      <a:endParaRPr lang="en-US" sz="2000" b="0" kern="1200" dirty="0">
                        <a:solidFill>
                          <a:schemeClr val="tx1"/>
                        </a:solidFill>
                        <a:latin typeface="+mj-lt"/>
                        <a:ea typeface="+mj-ea"/>
                        <a:cs typeface="+mj-cs"/>
                      </a:endParaRPr>
                    </a:p>
                  </a:txBody>
                  <a:tcPr marL="9525" marR="9525" marT="9525" marB="0" anchor="ctr"/>
                </a:tc>
                <a:tc>
                  <a:txBody>
                    <a:bodyPr/>
                    <a:lstStyle/>
                    <a:p>
                      <a:pPr algn="ctr" defTabSz="914400" rtl="0" eaLnBrk="1" fontAlgn="ctr" latinLnBrk="0" hangingPunct="1">
                        <a:lnSpc>
                          <a:spcPct val="90000"/>
                        </a:lnSpc>
                        <a:spcBef>
                          <a:spcPct val="0"/>
                        </a:spcBef>
                        <a:buNone/>
                      </a:pPr>
                      <a:r>
                        <a:rPr lang="en-US" sz="2000" b="0" kern="1200">
                          <a:solidFill>
                            <a:schemeClr val="tx1"/>
                          </a:solidFill>
                        </a:rPr>
                        <a:t>15%</a:t>
                      </a:r>
                      <a:endParaRPr lang="en-US" sz="2000" b="0" kern="1200" dirty="0">
                        <a:solidFill>
                          <a:schemeClr val="tx1"/>
                        </a:solidFill>
                        <a:latin typeface="+mj-lt"/>
                        <a:ea typeface="+mj-ea"/>
                        <a:cs typeface="+mj-cs"/>
                      </a:endParaRPr>
                    </a:p>
                  </a:txBody>
                  <a:tcPr marL="9525" marR="9525" marT="9525" marB="0" anchor="ctr"/>
                </a:tc>
                <a:extLst>
                  <a:ext uri="{0D108BD9-81ED-4DB2-BD59-A6C34878D82A}">
                    <a16:rowId xmlns:a16="http://schemas.microsoft.com/office/drawing/2014/main" val="1910842447"/>
                  </a:ext>
                </a:extLst>
              </a:tr>
              <a:tr h="370840">
                <a:tc>
                  <a:txBody>
                    <a:bodyPr/>
                    <a:lstStyle/>
                    <a:p>
                      <a:pPr algn="ctr" defTabSz="914400" rtl="0" eaLnBrk="1" fontAlgn="ctr" latinLnBrk="0" hangingPunct="1">
                        <a:lnSpc>
                          <a:spcPct val="90000"/>
                        </a:lnSpc>
                        <a:spcBef>
                          <a:spcPct val="0"/>
                        </a:spcBef>
                        <a:buNone/>
                      </a:pPr>
                      <a:r>
                        <a:rPr lang="en-US" sz="2000" b="1" kern="1200" dirty="0">
                          <a:solidFill>
                            <a:schemeClr val="tx1"/>
                          </a:solidFill>
                        </a:rPr>
                        <a:t>Totals</a:t>
                      </a:r>
                      <a:endParaRPr lang="en-US" sz="2000" b="1" kern="1200" dirty="0">
                        <a:solidFill>
                          <a:schemeClr val="tx1"/>
                        </a:solidFill>
                        <a:latin typeface="+mj-lt"/>
                        <a:ea typeface="+mj-ea"/>
                        <a:cs typeface="+mj-cs"/>
                      </a:endParaRPr>
                    </a:p>
                  </a:txBody>
                  <a:tcPr marL="9525" marR="9525" marT="9525" marB="0" anchor="ctr"/>
                </a:tc>
                <a:tc>
                  <a:txBody>
                    <a:bodyPr/>
                    <a:lstStyle/>
                    <a:p>
                      <a:pPr algn="ctr" defTabSz="914400" rtl="0" eaLnBrk="1" fontAlgn="ctr" latinLnBrk="0" hangingPunct="1">
                        <a:lnSpc>
                          <a:spcPct val="90000"/>
                        </a:lnSpc>
                        <a:spcBef>
                          <a:spcPct val="0"/>
                        </a:spcBef>
                        <a:buNone/>
                      </a:pPr>
                      <a:r>
                        <a:rPr lang="en-US" sz="2000" b="1" kern="1200" dirty="0">
                          <a:solidFill>
                            <a:schemeClr val="tx1"/>
                          </a:solidFill>
                        </a:rPr>
                        <a:t>7,213 (52.70%)</a:t>
                      </a:r>
                      <a:endParaRPr lang="en-US" sz="2000" b="1" kern="1200" dirty="0">
                        <a:solidFill>
                          <a:schemeClr val="tx1"/>
                        </a:solidFill>
                        <a:latin typeface="+mj-lt"/>
                        <a:ea typeface="+mj-ea"/>
                        <a:cs typeface="+mj-cs"/>
                      </a:endParaRPr>
                    </a:p>
                  </a:txBody>
                  <a:tcPr marL="9525" marR="9525" marT="9525" marB="0" anchor="ctr"/>
                </a:tc>
                <a:tc>
                  <a:txBody>
                    <a:bodyPr/>
                    <a:lstStyle/>
                    <a:p>
                      <a:pPr algn="ctr" defTabSz="914400" rtl="0" eaLnBrk="1" fontAlgn="ctr" latinLnBrk="0" hangingPunct="1">
                        <a:lnSpc>
                          <a:spcPct val="90000"/>
                        </a:lnSpc>
                        <a:spcBef>
                          <a:spcPct val="0"/>
                        </a:spcBef>
                        <a:buNone/>
                      </a:pPr>
                      <a:r>
                        <a:rPr lang="en-US" sz="2000" b="1" kern="1200" dirty="0">
                          <a:solidFill>
                            <a:schemeClr val="tx1"/>
                          </a:solidFill>
                        </a:rPr>
                        <a:t>6,474 (47.30%)</a:t>
                      </a:r>
                      <a:endParaRPr lang="en-US" sz="2000" b="1" kern="1200" dirty="0">
                        <a:solidFill>
                          <a:schemeClr val="tx1"/>
                        </a:solidFill>
                        <a:latin typeface="+mj-lt"/>
                        <a:ea typeface="+mj-ea"/>
                        <a:cs typeface="+mj-cs"/>
                      </a:endParaRPr>
                    </a:p>
                  </a:txBody>
                  <a:tcPr marL="9525" marR="9525" marT="9525" marB="0" anchor="ctr"/>
                </a:tc>
                <a:tc>
                  <a:txBody>
                    <a:bodyPr/>
                    <a:lstStyle/>
                    <a:p>
                      <a:pPr algn="ctr" defTabSz="914400" rtl="0" eaLnBrk="1" fontAlgn="ctr" latinLnBrk="0" hangingPunct="1">
                        <a:lnSpc>
                          <a:spcPct val="90000"/>
                        </a:lnSpc>
                        <a:spcBef>
                          <a:spcPct val="0"/>
                        </a:spcBef>
                        <a:buNone/>
                      </a:pPr>
                      <a:r>
                        <a:rPr lang="en-US" sz="2000" b="1" kern="1200">
                          <a:solidFill>
                            <a:schemeClr val="tx1"/>
                          </a:solidFill>
                        </a:rPr>
                        <a:t>13,687</a:t>
                      </a:r>
                      <a:endParaRPr lang="en-US" sz="2000" b="1" kern="1200" dirty="0">
                        <a:solidFill>
                          <a:schemeClr val="tx1"/>
                        </a:solidFill>
                        <a:latin typeface="+mj-lt"/>
                        <a:ea typeface="+mj-ea"/>
                        <a:cs typeface="+mj-cs"/>
                      </a:endParaRPr>
                    </a:p>
                  </a:txBody>
                  <a:tcPr marL="9525" marR="9525" marT="9525" marB="0" anchor="ctr"/>
                </a:tc>
                <a:tc>
                  <a:txBody>
                    <a:bodyPr/>
                    <a:lstStyle/>
                    <a:p>
                      <a:pPr algn="ctr" defTabSz="914400" rtl="0" eaLnBrk="1" fontAlgn="ctr" latinLnBrk="0" hangingPunct="1">
                        <a:lnSpc>
                          <a:spcPct val="90000"/>
                        </a:lnSpc>
                        <a:spcBef>
                          <a:spcPct val="0"/>
                        </a:spcBef>
                        <a:buNone/>
                      </a:pPr>
                      <a:r>
                        <a:rPr lang="en-US" sz="2000" b="1" kern="1200" dirty="0">
                          <a:solidFill>
                            <a:schemeClr val="tx1"/>
                          </a:solidFill>
                        </a:rPr>
                        <a:t>100%</a:t>
                      </a:r>
                      <a:endParaRPr lang="en-US" sz="2000" b="1" kern="1200" dirty="0">
                        <a:solidFill>
                          <a:schemeClr val="tx1"/>
                        </a:solidFill>
                        <a:latin typeface="+mj-lt"/>
                        <a:ea typeface="+mj-ea"/>
                        <a:cs typeface="+mj-cs"/>
                      </a:endParaRPr>
                    </a:p>
                  </a:txBody>
                  <a:tcPr marL="9525" marR="9525" marT="9525" marB="0" anchor="ctr"/>
                </a:tc>
                <a:extLst>
                  <a:ext uri="{0D108BD9-81ED-4DB2-BD59-A6C34878D82A}">
                    <a16:rowId xmlns:a16="http://schemas.microsoft.com/office/drawing/2014/main" val="1015868118"/>
                  </a:ext>
                </a:extLst>
              </a:tr>
            </a:tbl>
          </a:graphicData>
        </a:graphic>
      </p:graphicFrame>
    </p:spTree>
    <p:extLst>
      <p:ext uri="{BB962C8B-B14F-4D97-AF65-F5344CB8AC3E}">
        <p14:creationId xmlns:p14="http://schemas.microsoft.com/office/powerpoint/2010/main" val="3526736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83CBD5C7-50BC-E6C8-B889-9E8EC2AC5894}"/>
              </a:ext>
            </a:extLst>
          </p:cNvPr>
          <p:cNvSpPr txBox="1">
            <a:spLocks/>
          </p:cNvSpPr>
          <p:nvPr/>
        </p:nvSpPr>
        <p:spPr>
          <a:xfrm>
            <a:off x="228599" y="128016"/>
            <a:ext cx="8339667" cy="617051"/>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pPr>
              <a:lnSpc>
                <a:spcPct val="100000"/>
              </a:lnSpc>
              <a:spcBef>
                <a:spcPts val="0"/>
              </a:spcBef>
            </a:pPr>
            <a:r>
              <a:rPr lang="en-US" dirty="0"/>
              <a:t>Data Preparation</a:t>
            </a:r>
            <a:endParaRPr lang="en-US" spc="-20" dirty="0">
              <a:solidFill>
                <a:srgbClr val="2D3B45"/>
              </a:solidFill>
            </a:endParaRPr>
          </a:p>
        </p:txBody>
      </p:sp>
      <p:sp>
        <p:nvSpPr>
          <p:cNvPr id="2" name="Slide Number Placeholder 4">
            <a:extLst>
              <a:ext uri="{FF2B5EF4-FFF2-40B4-BE49-F238E27FC236}">
                <a16:creationId xmlns:a16="http://schemas.microsoft.com/office/drawing/2014/main" id="{60997746-3DE4-E8F1-6DBD-0655167C73A3}"/>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15</a:t>
            </a:fld>
            <a:endParaRPr lang="en-US" dirty="0">
              <a:solidFill>
                <a:srgbClr val="000000"/>
              </a:solidFill>
            </a:endParaRPr>
          </a:p>
        </p:txBody>
      </p:sp>
      <p:sp>
        <p:nvSpPr>
          <p:cNvPr id="5" name="TextBox 4">
            <a:extLst>
              <a:ext uri="{FF2B5EF4-FFF2-40B4-BE49-F238E27FC236}">
                <a16:creationId xmlns:a16="http://schemas.microsoft.com/office/drawing/2014/main" id="{0DC12A2E-A534-A501-D17E-BBDE3088CDCD}"/>
              </a:ext>
            </a:extLst>
          </p:cNvPr>
          <p:cNvSpPr txBox="1"/>
          <p:nvPr/>
        </p:nvSpPr>
        <p:spPr>
          <a:xfrm>
            <a:off x="618562" y="1111626"/>
            <a:ext cx="7790331" cy="3400931"/>
          </a:xfrm>
          <a:prstGeom prst="rect">
            <a:avLst/>
          </a:prstGeom>
          <a:noFill/>
        </p:spPr>
        <p:txBody>
          <a:bodyPr wrap="square">
            <a:spAutoFit/>
          </a:bodyPr>
          <a:lstStyle/>
          <a:p>
            <a:pPr marL="457200" indent="-296863" algn="just">
              <a:lnSpc>
                <a:spcPct val="100000"/>
              </a:lnSpc>
              <a:spcBef>
                <a:spcPts val="0"/>
              </a:spcBef>
              <a:spcAft>
                <a:spcPts val="600"/>
              </a:spcAft>
              <a:buFont typeface="Arial" panose="020B0604020202020204" pitchFamily="34" charset="0"/>
              <a:buChar char="•"/>
            </a:pPr>
            <a:r>
              <a:rPr lang="en-US" sz="2000" b="1" dirty="0"/>
              <a:t>TF-IDF (Term Frequency–Inverse Document Frequency): </a:t>
            </a:r>
            <a:r>
              <a:rPr lang="en-US" sz="2000" dirty="0"/>
              <a:t>Converts raw text into a numerical format by weighting words according to importance.</a:t>
            </a:r>
          </a:p>
          <a:p>
            <a:pPr marL="457200" indent="-296863" algn="just">
              <a:lnSpc>
                <a:spcPct val="100000"/>
              </a:lnSpc>
              <a:spcBef>
                <a:spcPts val="0"/>
              </a:spcBef>
              <a:spcAft>
                <a:spcPts val="600"/>
              </a:spcAft>
              <a:buFont typeface="Arial" panose="020B0604020202020204" pitchFamily="34" charset="0"/>
              <a:buChar char="•"/>
            </a:pPr>
            <a:r>
              <a:rPr lang="en-US" sz="2000" b="1" dirty="0"/>
              <a:t>Applied Only on Training Partition</a:t>
            </a:r>
            <a:r>
              <a:rPr lang="en-US" sz="2000" dirty="0"/>
              <a:t>: TF-IDF vocabulary and weights were fitted using only the training data to avoid data leakage.</a:t>
            </a:r>
          </a:p>
          <a:p>
            <a:pPr marL="457200" indent="-296863" algn="just">
              <a:lnSpc>
                <a:spcPct val="100000"/>
              </a:lnSpc>
              <a:spcBef>
                <a:spcPts val="0"/>
              </a:spcBef>
              <a:spcAft>
                <a:spcPts val="600"/>
              </a:spcAft>
              <a:buFont typeface="Arial" panose="020B0604020202020204" pitchFamily="34" charset="0"/>
              <a:buChar char="•"/>
            </a:pPr>
            <a:r>
              <a:rPr lang="en-US" sz="2000" b="1" dirty="0"/>
              <a:t>Transformation for Validation &amp; Testing</a:t>
            </a:r>
            <a:r>
              <a:rPr lang="en-US" sz="2000" dirty="0"/>
              <a:t>: Validation and test partitions were transformed using the vocabulary learned from training data.</a:t>
            </a:r>
          </a:p>
          <a:p>
            <a:pPr marL="457200" indent="-296863" algn="just">
              <a:lnSpc>
                <a:spcPct val="100000"/>
              </a:lnSpc>
              <a:spcBef>
                <a:spcPts val="0"/>
              </a:spcBef>
              <a:spcAft>
                <a:spcPts val="600"/>
              </a:spcAft>
              <a:buFont typeface="Arial" panose="020B0604020202020204" pitchFamily="34" charset="0"/>
              <a:buChar char="•"/>
            </a:pPr>
            <a:r>
              <a:rPr lang="en-US" sz="2000" b="1" dirty="0"/>
              <a:t>Purpose</a:t>
            </a:r>
            <a:r>
              <a:rPr lang="en-US" sz="2000" dirty="0"/>
              <a:t>: Enhances the model’s ability to distinguish between abusive and non-abusive comments.</a:t>
            </a:r>
          </a:p>
        </p:txBody>
      </p:sp>
    </p:spTree>
    <p:extLst>
      <p:ext uri="{BB962C8B-B14F-4D97-AF65-F5344CB8AC3E}">
        <p14:creationId xmlns:p14="http://schemas.microsoft.com/office/powerpoint/2010/main" val="32664839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0C1E37-4CE7-FBE3-FC2D-7BAD031DEFA1}"/>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D31EB42A-5E97-ED7A-451F-085B79A63817}"/>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16</a:t>
            </a:fld>
            <a:endParaRPr lang="en-US" dirty="0">
              <a:solidFill>
                <a:srgbClr val="000000"/>
              </a:solidFill>
            </a:endParaRPr>
          </a:p>
        </p:txBody>
      </p:sp>
      <p:sp>
        <p:nvSpPr>
          <p:cNvPr id="7" name="object 2">
            <a:extLst>
              <a:ext uri="{FF2B5EF4-FFF2-40B4-BE49-F238E27FC236}">
                <a16:creationId xmlns:a16="http://schemas.microsoft.com/office/drawing/2014/main" id="{57C8C34C-B0ED-0493-07B9-184037F345E3}"/>
              </a:ext>
            </a:extLst>
          </p:cNvPr>
          <p:cNvSpPr txBox="1">
            <a:spLocks/>
          </p:cNvSpPr>
          <p:nvPr/>
        </p:nvSpPr>
        <p:spPr>
          <a:xfrm>
            <a:off x="228600" y="128016"/>
            <a:ext cx="8686800" cy="984885"/>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pPr>
              <a:lnSpc>
                <a:spcPct val="100000"/>
              </a:lnSpc>
              <a:spcBef>
                <a:spcPts val="0"/>
              </a:spcBef>
            </a:pPr>
            <a:r>
              <a:rPr lang="en-US" dirty="0"/>
              <a:t>Text Processing Workflow — Tokenization</a:t>
            </a:r>
            <a:endParaRPr lang="en-US" spc="-20" dirty="0">
              <a:solidFill>
                <a:srgbClr val="2D3B45"/>
              </a:solidFill>
            </a:endParaRPr>
          </a:p>
        </p:txBody>
      </p:sp>
      <p:sp>
        <p:nvSpPr>
          <p:cNvPr id="2" name="object 3">
            <a:extLst>
              <a:ext uri="{FF2B5EF4-FFF2-40B4-BE49-F238E27FC236}">
                <a16:creationId xmlns:a16="http://schemas.microsoft.com/office/drawing/2014/main" id="{10EB2952-65FD-9EFE-7D24-C28CA372ED67}"/>
              </a:ext>
            </a:extLst>
          </p:cNvPr>
          <p:cNvSpPr txBox="1"/>
          <p:nvPr/>
        </p:nvSpPr>
        <p:spPr>
          <a:xfrm>
            <a:off x="815787" y="725361"/>
            <a:ext cx="7440707" cy="5619117"/>
          </a:xfrm>
          <a:prstGeom prst="rect">
            <a:avLst/>
          </a:prstGeom>
        </p:spPr>
        <p:txBody>
          <a:bodyPr vert="horz" wrap="square" lIns="0" tIns="12700" rIns="0" bIns="0" rtlCol="0">
            <a:noAutofit/>
          </a:bodyPr>
          <a:lstStyle/>
          <a:p>
            <a:pPr marL="402336" indent="-310896" algn="just">
              <a:spcAft>
                <a:spcPts val="600"/>
              </a:spcAft>
              <a:buFont typeface="Arial" panose="020B0604020202020204" pitchFamily="34" charset="0"/>
              <a:buChar char="•"/>
            </a:pPr>
            <a:r>
              <a:rPr lang="en-GB" sz="1900" b="1" kern="100" dirty="0">
                <a:ea typeface="Aptos" panose="020B0004020202020204"/>
                <a:cs typeface="Times New Roman" panose="02020603050405020304" pitchFamily="18" charset="0"/>
              </a:rPr>
              <a:t>Text Tokenization Process</a:t>
            </a:r>
            <a:r>
              <a:rPr lang="en-GB" sz="1900" kern="100" dirty="0">
                <a:ea typeface="Aptos" panose="020B0004020202020204"/>
                <a:cs typeface="Times New Roman" panose="02020603050405020304" pitchFamily="18" charset="0"/>
              </a:rPr>
              <a:t>: The model starts by converting raw text into numerical features using a </a:t>
            </a:r>
            <a:r>
              <a:rPr lang="en-GB" sz="1900" kern="100" dirty="0" err="1">
                <a:ea typeface="Aptos" panose="020B0004020202020204"/>
                <a:cs typeface="Times New Roman" panose="02020603050405020304" pitchFamily="18" charset="0"/>
              </a:rPr>
              <a:t>CountVectorizer</a:t>
            </a:r>
            <a:r>
              <a:rPr lang="en-GB" sz="1900" kern="100" dirty="0">
                <a:ea typeface="Aptos" panose="020B0004020202020204"/>
                <a:cs typeface="Times New Roman" panose="02020603050405020304" pitchFamily="18" charset="0"/>
              </a:rPr>
              <a:t>, which creates a matrix of word counts.</a:t>
            </a:r>
          </a:p>
          <a:p>
            <a:pPr marL="859536" lvl="2" indent="-310896" algn="just">
              <a:spcAft>
                <a:spcPts val="600"/>
              </a:spcAft>
              <a:buSzPts val="1000"/>
              <a:buFont typeface="Courier New" panose="02070309020205020404" pitchFamily="49" charset="0"/>
              <a:buChar char="o"/>
              <a:tabLst>
                <a:tab pos="914400" algn="l"/>
              </a:tabLst>
            </a:pPr>
            <a:r>
              <a:rPr lang="en-US" sz="1900" b="1" kern="0" dirty="0">
                <a:ea typeface="Times New Roman" panose="02020603050405020304" pitchFamily="18" charset="0"/>
                <a:cs typeface="Times New Roman" panose="02020603050405020304" pitchFamily="18" charset="0"/>
              </a:rPr>
              <a:t>Word </a:t>
            </a:r>
            <a:r>
              <a:rPr lang="en-US" sz="1900" b="1" dirty="0"/>
              <a:t>count: </a:t>
            </a:r>
            <a:r>
              <a:rPr lang="en-US" sz="1900" dirty="0"/>
              <a:t>Word count refers to the total number of words used as features.</a:t>
            </a:r>
          </a:p>
          <a:p>
            <a:pPr marL="859536" lvl="2" indent="-310896" algn="just">
              <a:spcAft>
                <a:spcPts val="600"/>
              </a:spcAft>
              <a:buSzPts val="1000"/>
              <a:buFont typeface="Courier New" panose="02070309020205020404" pitchFamily="49" charset="0"/>
              <a:buChar char="o"/>
              <a:tabLst>
                <a:tab pos="914400" algn="l"/>
              </a:tabLst>
            </a:pPr>
            <a:r>
              <a:rPr lang="en-US" sz="1900" b="1" kern="0" dirty="0">
                <a:ea typeface="Times New Roman" panose="02020603050405020304" pitchFamily="18" charset="0"/>
                <a:cs typeface="Times New Roman" panose="02020603050405020304" pitchFamily="18" charset="0"/>
              </a:rPr>
              <a:t>Dataset sample</a:t>
            </a:r>
            <a:r>
              <a:rPr lang="en-US" sz="1900" b="1" dirty="0"/>
              <a:t>: </a:t>
            </a:r>
            <a:r>
              <a:rPr lang="en-US" sz="1900" dirty="0">
                <a:highlight>
                  <a:srgbClr val="FFFFFF"/>
                </a:highlight>
              </a:rPr>
              <a:t>The Hindi dataset was used for training and evaluating the model throughout the workflow.</a:t>
            </a:r>
            <a:endParaRPr lang="en-GB" sz="1900" b="1" kern="100" dirty="0">
              <a:ea typeface="Aptos" panose="020B0004020202020204"/>
              <a:cs typeface="Times New Roman" panose="02020603050405020304" pitchFamily="18" charset="0"/>
            </a:endParaRPr>
          </a:p>
          <a:p>
            <a:pPr marL="402336" indent="-310896" algn="just">
              <a:spcAft>
                <a:spcPts val="600"/>
              </a:spcAft>
              <a:buFont typeface="Arial" panose="020B0604020202020204" pitchFamily="34" charset="0"/>
              <a:buChar char="•"/>
            </a:pPr>
            <a:r>
              <a:rPr lang="en-US" sz="1900" b="1" dirty="0"/>
              <a:t>Tokenization for Machine Learning Models:</a:t>
            </a:r>
            <a:r>
              <a:rPr lang="en-US" sz="1900" dirty="0"/>
              <a:t> Text tokenization was used for both Naive Bayes models and Logistic regression since both models used TF-IDF-based features. Tokenization breaks each comment into individual words (tokens), which are then converted into numerical features for classification. Because TF-IDF requires tokenization, Logistic Regression also relies on tokenized text as its input.</a:t>
            </a:r>
          </a:p>
          <a:p>
            <a:pPr marL="860425" lvl="1" indent="-288925">
              <a:buSzPct val="50000"/>
              <a:buFont typeface="Courier New" panose="02070309020205020404" pitchFamily="49" charset="0"/>
              <a:buChar char="o"/>
            </a:pPr>
            <a:r>
              <a:rPr lang="en-US" sz="1900" b="1" dirty="0"/>
              <a:t>Example of tokenization:</a:t>
            </a:r>
          </a:p>
          <a:p>
            <a:pPr marL="1143000" lvl="3" indent="-228600">
              <a:buFont typeface="Wingdings" panose="05000000000000000000" pitchFamily="2" charset="2"/>
              <a:buChar char="§"/>
            </a:pPr>
            <a:r>
              <a:rPr lang="en-US" sz="1900" dirty="0"/>
              <a:t>Hindi text: </a:t>
            </a:r>
            <a:r>
              <a:rPr lang="en-US" sz="1900" b="1" dirty="0"/>
              <a:t>“</a:t>
            </a:r>
            <a:r>
              <a:rPr lang="en-US" sz="1900" b="1" dirty="0" err="1"/>
              <a:t>यह</a:t>
            </a:r>
            <a:r>
              <a:rPr lang="en-US" sz="1900" b="1" dirty="0"/>
              <a:t> </a:t>
            </a:r>
            <a:r>
              <a:rPr lang="en-US" sz="1900" b="1" dirty="0" err="1"/>
              <a:t>फिल्म</a:t>
            </a:r>
            <a:r>
              <a:rPr lang="en-US" sz="1900" b="1" dirty="0"/>
              <a:t> </a:t>
            </a:r>
            <a:r>
              <a:rPr lang="en-US" sz="1900" b="1" dirty="0" err="1"/>
              <a:t>बहुत</a:t>
            </a:r>
            <a:r>
              <a:rPr lang="en-US" sz="1900" b="1" dirty="0"/>
              <a:t> </a:t>
            </a:r>
            <a:r>
              <a:rPr lang="en-US" sz="1900" b="1" dirty="0" err="1"/>
              <a:t>बोरिंग</a:t>
            </a:r>
            <a:r>
              <a:rPr lang="en-US" sz="1900" b="1" dirty="0"/>
              <a:t> </a:t>
            </a:r>
            <a:r>
              <a:rPr lang="en-US" sz="1900" b="1" dirty="0" err="1"/>
              <a:t>है</a:t>
            </a:r>
            <a:r>
              <a:rPr lang="en-US" sz="1900" b="1" dirty="0"/>
              <a:t>।”</a:t>
            </a:r>
            <a:endParaRPr lang="en-US" sz="1900" dirty="0"/>
          </a:p>
          <a:p>
            <a:pPr marL="1371600" lvl="2">
              <a:buSzPct val="50000"/>
            </a:pPr>
            <a:r>
              <a:rPr lang="en-US" sz="1900" dirty="0"/>
              <a:t>English translation: </a:t>
            </a:r>
            <a:r>
              <a:rPr lang="en-US" sz="1900" b="1" dirty="0"/>
              <a:t>“This movie is very boring.”</a:t>
            </a:r>
          </a:p>
          <a:p>
            <a:pPr marL="1143000" lvl="1" indent="-228600">
              <a:buFont typeface="Wingdings" panose="05000000000000000000" pitchFamily="2" charset="2"/>
              <a:buChar char="§"/>
            </a:pPr>
            <a:r>
              <a:rPr lang="en-US" sz="1900" dirty="0"/>
              <a:t>Tokens : </a:t>
            </a:r>
            <a:r>
              <a:rPr lang="en-US" sz="1900" b="1" dirty="0"/>
              <a:t>[“</a:t>
            </a:r>
            <a:r>
              <a:rPr lang="en-US" sz="1900" b="1" dirty="0" err="1"/>
              <a:t>यह</a:t>
            </a:r>
            <a:r>
              <a:rPr lang="en-US" sz="1900" b="1" dirty="0"/>
              <a:t>”, “</a:t>
            </a:r>
            <a:r>
              <a:rPr lang="en-US" sz="1900" b="1" dirty="0" err="1"/>
              <a:t>फिल्म</a:t>
            </a:r>
            <a:r>
              <a:rPr lang="en-US" sz="1900" b="1" dirty="0"/>
              <a:t>”, “</a:t>
            </a:r>
            <a:r>
              <a:rPr lang="en-US" sz="1900" b="1" dirty="0" err="1"/>
              <a:t>बहुत</a:t>
            </a:r>
            <a:r>
              <a:rPr lang="en-US" sz="1900" b="1" dirty="0"/>
              <a:t>”, “</a:t>
            </a:r>
            <a:r>
              <a:rPr lang="en-US" sz="1900" b="1" dirty="0" err="1"/>
              <a:t>बोरिंग</a:t>
            </a:r>
            <a:r>
              <a:rPr lang="en-US" sz="1900" b="1" dirty="0"/>
              <a:t>”, “</a:t>
            </a:r>
            <a:r>
              <a:rPr lang="en-US" sz="1900" b="1" dirty="0" err="1"/>
              <a:t>है</a:t>
            </a:r>
            <a:r>
              <a:rPr lang="en-US" sz="1900" b="1" dirty="0"/>
              <a:t>”]</a:t>
            </a:r>
            <a:endParaRPr lang="en-US" sz="1900" dirty="0"/>
          </a:p>
          <a:p>
            <a:pPr marL="1371600" lvl="2">
              <a:buSzPct val="50000"/>
            </a:pPr>
            <a:r>
              <a:rPr lang="en-US" sz="1900" dirty="0"/>
              <a:t>English  translation: </a:t>
            </a:r>
            <a:r>
              <a:rPr lang="en-US" sz="1900" b="1" dirty="0"/>
              <a:t>[“This”, “movie”, “is”, “very”, “boring”]</a:t>
            </a:r>
            <a:endParaRPr lang="en-US" sz="1900" dirty="0"/>
          </a:p>
          <a:p>
            <a:pPr marL="685800" indent="-228600">
              <a:buFont typeface="Wingdings" panose="05000000000000000000" pitchFamily="2" charset="2"/>
              <a:buChar char="§"/>
            </a:pPr>
            <a:endParaRPr lang="en-US" sz="1900" dirty="0"/>
          </a:p>
          <a:p>
            <a:pPr marL="402336" indent="-310896" algn="just">
              <a:spcAft>
                <a:spcPts val="600"/>
              </a:spcAft>
            </a:pPr>
            <a:endParaRPr lang="en-US" sz="1900" dirty="0"/>
          </a:p>
        </p:txBody>
      </p:sp>
    </p:spTree>
    <p:extLst>
      <p:ext uri="{BB962C8B-B14F-4D97-AF65-F5344CB8AC3E}">
        <p14:creationId xmlns:p14="http://schemas.microsoft.com/office/powerpoint/2010/main" val="29336201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2D44F5-10F9-0EFA-F3A2-A5318893B531}"/>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1B9B92DA-D06E-BBF6-69E7-7213C1C39C27}"/>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17</a:t>
            </a:fld>
            <a:endParaRPr lang="en-US" dirty="0">
              <a:solidFill>
                <a:srgbClr val="000000"/>
              </a:solidFill>
            </a:endParaRPr>
          </a:p>
        </p:txBody>
      </p:sp>
      <p:sp>
        <p:nvSpPr>
          <p:cNvPr id="2" name="object 3">
            <a:extLst>
              <a:ext uri="{FF2B5EF4-FFF2-40B4-BE49-F238E27FC236}">
                <a16:creationId xmlns:a16="http://schemas.microsoft.com/office/drawing/2014/main" id="{28B3F6C5-12B3-EC3E-344C-C97376201222}"/>
              </a:ext>
            </a:extLst>
          </p:cNvPr>
          <p:cNvSpPr txBox="1"/>
          <p:nvPr/>
        </p:nvSpPr>
        <p:spPr>
          <a:xfrm>
            <a:off x="815787" y="1221374"/>
            <a:ext cx="7440707" cy="4095116"/>
          </a:xfrm>
          <a:prstGeom prst="rect">
            <a:avLst/>
          </a:prstGeom>
        </p:spPr>
        <p:txBody>
          <a:bodyPr vert="horz" wrap="square" lIns="0" tIns="12700" rIns="0" bIns="0" rtlCol="0">
            <a:noAutofit/>
          </a:bodyPr>
          <a:lstStyle/>
          <a:p>
            <a:pPr marL="402336" indent="-310896" algn="just">
              <a:spcAft>
                <a:spcPts val="600"/>
              </a:spcAft>
              <a:buFont typeface="Arial" panose="020B0604020202020204" pitchFamily="34" charset="0"/>
              <a:buChar char="•"/>
            </a:pPr>
            <a:r>
              <a:rPr lang="en-GB" sz="2000" b="1" kern="100" dirty="0">
                <a:ea typeface="Aptos" panose="020B0004020202020204"/>
                <a:cs typeface="Times New Roman" panose="02020603050405020304" pitchFamily="18" charset="0"/>
              </a:rPr>
              <a:t>Feature Weighting</a:t>
            </a:r>
            <a:r>
              <a:rPr lang="en-GB" sz="2000" kern="100" dirty="0">
                <a:ea typeface="Aptos" panose="020B0004020202020204"/>
                <a:cs typeface="Times New Roman" panose="02020603050405020304" pitchFamily="18" charset="0"/>
              </a:rPr>
              <a:t>: </a:t>
            </a:r>
            <a:r>
              <a:rPr lang="en-US" sz="2000" dirty="0"/>
              <a:t>After counting the words, the model uses </a:t>
            </a:r>
            <a:r>
              <a:rPr lang="en-US" sz="2000" i="1" dirty="0"/>
              <a:t>TF-IDF</a:t>
            </a:r>
            <a:r>
              <a:rPr lang="en-US" sz="2000" dirty="0"/>
              <a:t> to find which words are more important. Words that appear often in one text but not in others get higher importance scores.</a:t>
            </a:r>
          </a:p>
          <a:p>
            <a:pPr marL="859536" lvl="2" indent="-310896" algn="just">
              <a:spcAft>
                <a:spcPts val="600"/>
              </a:spcAft>
              <a:buSzPts val="1000"/>
              <a:buFont typeface="Courier New" panose="02070309020205020404" pitchFamily="49" charset="0"/>
              <a:buChar char="o"/>
              <a:tabLst>
                <a:tab pos="914400" algn="l"/>
              </a:tabLst>
            </a:pPr>
            <a:r>
              <a:rPr lang="en-US" sz="2000" dirty="0"/>
              <a:t>The TF-IDF values are learned from the </a:t>
            </a:r>
            <a:r>
              <a:rPr lang="en-US" sz="2000" b="1" dirty="0"/>
              <a:t>training data only</a:t>
            </a:r>
            <a:r>
              <a:rPr lang="en-US" sz="2000" dirty="0"/>
              <a:t>, and the same values are then used on validation and test data to prevent data leakage.</a:t>
            </a:r>
          </a:p>
          <a:p>
            <a:pPr marL="402336" indent="-310896" algn="just">
              <a:spcAft>
                <a:spcPts val="600"/>
              </a:spcAft>
              <a:buFont typeface="Arial" panose="020B0604020202020204" pitchFamily="34" charset="0"/>
              <a:buChar char="•"/>
            </a:pPr>
            <a:r>
              <a:rPr lang="en-GB" sz="2000" b="1" kern="100" dirty="0">
                <a:ea typeface="Aptos" panose="020B0004020202020204"/>
                <a:cs typeface="Times New Roman" panose="02020603050405020304" pitchFamily="18" charset="0"/>
              </a:rPr>
              <a:t>Classification</a:t>
            </a:r>
            <a:r>
              <a:rPr lang="en-GB" sz="2000" kern="100" dirty="0">
                <a:ea typeface="Aptos" panose="020B0004020202020204"/>
                <a:cs typeface="Times New Roman" panose="02020603050405020304" pitchFamily="18" charset="0"/>
              </a:rPr>
              <a:t>: Machine learning models (Naive Bayes and logistic regression) classifier is trained on the TF-IDF features to predict the target labels. </a:t>
            </a:r>
            <a:endParaRPr lang="en-GB" sz="2000" b="1" kern="100" dirty="0">
              <a:ea typeface="Aptos" panose="020B0004020202020204"/>
              <a:cs typeface="Times New Roman" panose="02020603050405020304" pitchFamily="18" charset="0"/>
            </a:endParaRPr>
          </a:p>
          <a:p>
            <a:pPr marL="402336" indent="-310896" algn="just">
              <a:spcAft>
                <a:spcPts val="600"/>
              </a:spcAft>
              <a:buFont typeface="Arial" panose="020B0604020202020204" pitchFamily="34" charset="0"/>
              <a:buChar char="•"/>
            </a:pPr>
            <a:r>
              <a:rPr lang="en-GB" sz="2000" b="1" kern="100" dirty="0">
                <a:ea typeface="Aptos" panose="020B0004020202020204"/>
                <a:cs typeface="Times New Roman" panose="02020603050405020304" pitchFamily="18" charset="0"/>
              </a:rPr>
              <a:t>Pipeline Integration</a:t>
            </a:r>
            <a:r>
              <a:rPr lang="en-GB" sz="2000" kern="100" dirty="0">
                <a:ea typeface="Aptos" panose="020B0004020202020204"/>
                <a:cs typeface="Times New Roman" panose="02020603050405020304" pitchFamily="18" charset="0"/>
              </a:rPr>
              <a:t>: The complete pipeline streamlines feature extraction and classification, enabling efficient predictions on new data.</a:t>
            </a:r>
            <a:endParaRPr lang="en-US" sz="2000" kern="100" dirty="0">
              <a:ea typeface="Aptos" panose="020B0004020202020204"/>
              <a:cs typeface="Times New Roman" panose="02020603050405020304" pitchFamily="18" charset="0"/>
            </a:endParaRPr>
          </a:p>
          <a:p>
            <a:pPr marL="91440" algn="just">
              <a:spcAft>
                <a:spcPts val="600"/>
              </a:spcAft>
            </a:pPr>
            <a:endParaRPr lang="en-US" sz="2000" dirty="0"/>
          </a:p>
        </p:txBody>
      </p:sp>
      <p:sp>
        <p:nvSpPr>
          <p:cNvPr id="3" name="object 2">
            <a:extLst>
              <a:ext uri="{FF2B5EF4-FFF2-40B4-BE49-F238E27FC236}">
                <a16:creationId xmlns:a16="http://schemas.microsoft.com/office/drawing/2014/main" id="{C6F170DE-9DF8-3ED5-E658-E605256B8244}"/>
              </a:ext>
            </a:extLst>
          </p:cNvPr>
          <p:cNvSpPr txBox="1">
            <a:spLocks/>
          </p:cNvSpPr>
          <p:nvPr/>
        </p:nvSpPr>
        <p:spPr>
          <a:xfrm>
            <a:off x="228600" y="128016"/>
            <a:ext cx="8686800" cy="984885"/>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pPr>
              <a:lnSpc>
                <a:spcPct val="100000"/>
              </a:lnSpc>
              <a:spcBef>
                <a:spcPts val="0"/>
              </a:spcBef>
            </a:pPr>
            <a:r>
              <a:rPr lang="en-US" dirty="0"/>
              <a:t>Text Processing Workflow — TF-IDF &amp; Classification Steps</a:t>
            </a:r>
            <a:endParaRPr lang="en-US" spc="-20" dirty="0">
              <a:solidFill>
                <a:srgbClr val="2D3B45"/>
              </a:solidFill>
            </a:endParaRPr>
          </a:p>
        </p:txBody>
      </p:sp>
    </p:spTree>
    <p:extLst>
      <p:ext uri="{BB962C8B-B14F-4D97-AF65-F5344CB8AC3E}">
        <p14:creationId xmlns:p14="http://schemas.microsoft.com/office/powerpoint/2010/main" val="28515179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0E3A343F-32D8-4055-B917-5FB087A3EAEF}"/>
              </a:ext>
            </a:extLst>
          </p:cNvPr>
          <p:cNvSpPr>
            <a:spLocks noGrp="1"/>
          </p:cNvSpPr>
          <p:nvPr>
            <p:ph idx="1"/>
          </p:nvPr>
        </p:nvSpPr>
        <p:spPr>
          <a:xfrm>
            <a:off x="846667" y="998451"/>
            <a:ext cx="7382934" cy="5046749"/>
          </a:xfrm>
        </p:spPr>
        <p:txBody>
          <a:bodyPr lIns="0" tIns="0" rIns="0" bIns="0">
            <a:noAutofit/>
          </a:bodyPr>
          <a:lstStyle/>
          <a:p>
            <a:pPr marR="0" indent="-169863" algn="just">
              <a:lnSpc>
                <a:spcPct val="100000"/>
              </a:lnSpc>
              <a:spcAft>
                <a:spcPts val="600"/>
              </a:spcAft>
            </a:pPr>
            <a:r>
              <a:rPr lang="en-US" sz="2000" b="1" kern="0" dirty="0">
                <a:effectLst/>
                <a:ea typeface="Times New Roman" panose="02020603050405020304" pitchFamily="18" charset="0"/>
                <a:cs typeface="Times New Roman" panose="02020603050405020304" pitchFamily="18" charset="0"/>
              </a:rPr>
              <a:t> Converting Text into Numbers:</a:t>
            </a:r>
            <a:endParaRPr lang="en-US" sz="2000" b="1" kern="100" dirty="0">
              <a:effectLst/>
              <a:ea typeface="Aptos" panose="020B0004020202020204" pitchFamily="34" charset="0"/>
              <a:cs typeface="Times New Roman" panose="02020603050405020304" pitchFamily="18" charset="0"/>
            </a:endParaRPr>
          </a:p>
          <a:p>
            <a:pPr marL="688975" lvl="1" indent="-285750" algn="just">
              <a:lnSpc>
                <a:spcPct val="100000"/>
              </a:lnSpc>
              <a:spcAft>
                <a:spcPts val="600"/>
              </a:spcAft>
              <a:buSzPts val="1000"/>
              <a:buFont typeface="Courier New" panose="02070309020205020404" pitchFamily="49" charset="0"/>
              <a:buChar char="o"/>
              <a:tabLst>
                <a:tab pos="457200" algn="l"/>
              </a:tabLst>
            </a:pPr>
            <a:r>
              <a:rPr lang="en-US" sz="2000" kern="0" dirty="0">
                <a:effectLst/>
                <a:ea typeface="Times New Roman" panose="02020603050405020304" pitchFamily="18" charset="0"/>
                <a:cs typeface="Times New Roman" panose="02020603050405020304" pitchFamily="18" charset="0"/>
              </a:rPr>
              <a:t>The comments are changed into numbers using a method called </a:t>
            </a:r>
            <a:r>
              <a:rPr lang="en-US" sz="2000" b="1" kern="0" dirty="0">
                <a:effectLst/>
                <a:ea typeface="Times New Roman" panose="02020603050405020304" pitchFamily="18" charset="0"/>
                <a:cs typeface="Times New Roman" panose="02020603050405020304" pitchFamily="18" charset="0"/>
              </a:rPr>
              <a:t>TF-IDF </a:t>
            </a:r>
            <a:r>
              <a:rPr lang="en-US" sz="2000" kern="0" dirty="0">
                <a:effectLst/>
                <a:ea typeface="Times New Roman" panose="02020603050405020304" pitchFamily="18" charset="0"/>
                <a:cs typeface="Times New Roman" panose="02020603050405020304" pitchFamily="18" charset="0"/>
              </a:rPr>
              <a:t>(</a:t>
            </a:r>
            <a:r>
              <a:rPr lang="en-US" sz="2000" kern="100" dirty="0">
                <a:effectLst/>
                <a:ea typeface="Aptos" panose="020B0004020202020204" pitchFamily="34" charset="0"/>
                <a:cs typeface="Times New Roman" panose="02020603050405020304" pitchFamily="18" charset="0"/>
              </a:rPr>
              <a:t>Term Frequency-Inverse Document Frequency).</a:t>
            </a:r>
          </a:p>
          <a:p>
            <a:pPr marL="1200150" lvl="1" indent="-285750" algn="just">
              <a:lnSpc>
                <a:spcPct val="100000"/>
              </a:lnSpc>
              <a:spcBef>
                <a:spcPts val="0"/>
              </a:spcBef>
              <a:spcAft>
                <a:spcPts val="600"/>
              </a:spcAft>
              <a:buFont typeface="Wingdings" panose="05000000000000000000" pitchFamily="2" charset="2"/>
              <a:buChar char="§"/>
            </a:pPr>
            <a:r>
              <a:rPr lang="en-US" sz="2000" b="1" kern="100" dirty="0">
                <a:effectLst/>
                <a:ea typeface="Aptos" panose="020B0004020202020204" pitchFamily="34" charset="0"/>
                <a:cs typeface="Times New Roman" panose="02020603050405020304" pitchFamily="18" charset="0"/>
              </a:rPr>
              <a:t>Why Using TF-IDF</a:t>
            </a:r>
            <a:r>
              <a:rPr lang="en-US" sz="2000" kern="100" dirty="0">
                <a:effectLst/>
                <a:ea typeface="Aptos" panose="020B0004020202020204" pitchFamily="34" charset="0"/>
                <a:cs typeface="Times New Roman" panose="02020603050405020304" pitchFamily="18" charset="0"/>
              </a:rPr>
              <a:t>:</a:t>
            </a:r>
            <a:r>
              <a:rPr lang="en-US" sz="2000" dirty="0"/>
              <a:t> </a:t>
            </a:r>
          </a:p>
          <a:p>
            <a:pPr marL="1657350" lvl="1" indent="-285750" algn="just">
              <a:lnSpc>
                <a:spcPct val="100000"/>
              </a:lnSpc>
              <a:spcBef>
                <a:spcPts val="0"/>
              </a:spcBef>
              <a:spcAft>
                <a:spcPts val="600"/>
              </a:spcAft>
              <a:buFont typeface="Wingdings" panose="05000000000000000000" pitchFamily="2" charset="2"/>
              <a:buChar char="Ø"/>
            </a:pPr>
            <a:r>
              <a:rPr lang="en-US" sz="2000" dirty="0"/>
              <a:t>TF-IDF helps the model understand which words are </a:t>
            </a:r>
            <a:r>
              <a:rPr lang="en-US" sz="2000" b="1" dirty="0"/>
              <a:t>important</a:t>
            </a:r>
            <a:r>
              <a:rPr lang="en-US" sz="2000" dirty="0"/>
              <a:t> in a comment.</a:t>
            </a:r>
          </a:p>
          <a:p>
            <a:pPr marL="1657350" lvl="1" indent="-285750" algn="just">
              <a:lnSpc>
                <a:spcPct val="100000"/>
              </a:lnSpc>
              <a:spcBef>
                <a:spcPts val="0"/>
              </a:spcBef>
              <a:spcAft>
                <a:spcPts val="600"/>
              </a:spcAft>
              <a:buFont typeface="Wingdings" panose="05000000000000000000" pitchFamily="2" charset="2"/>
              <a:buChar char="Ø"/>
            </a:pPr>
            <a:r>
              <a:rPr lang="en-US" sz="2000" dirty="0"/>
              <a:t>TF-IDF values were generated using the Training partition only to prevent data leakage.</a:t>
            </a:r>
          </a:p>
          <a:p>
            <a:pPr marL="1657350" lvl="1" indent="-285750" algn="just">
              <a:lnSpc>
                <a:spcPct val="100000"/>
              </a:lnSpc>
              <a:spcBef>
                <a:spcPts val="0"/>
              </a:spcBef>
              <a:spcAft>
                <a:spcPts val="600"/>
              </a:spcAft>
              <a:buFont typeface="Wingdings" panose="05000000000000000000" pitchFamily="2" charset="2"/>
              <a:buChar char="Ø"/>
            </a:pPr>
            <a:r>
              <a:rPr lang="en-US" sz="2000" dirty="0"/>
              <a:t>Some words like "the", "is", or "you" appear in almost every sentence—they do not help find abuse. But words like </a:t>
            </a:r>
            <a:r>
              <a:rPr lang="en-US" sz="2000" b="1" dirty="0"/>
              <a:t>"stupid"</a:t>
            </a:r>
            <a:r>
              <a:rPr lang="en-US" sz="2000" dirty="0"/>
              <a:t> or </a:t>
            </a:r>
            <a:r>
              <a:rPr lang="en-US" sz="2000" b="1" dirty="0"/>
              <a:t>"terrible"</a:t>
            </a:r>
            <a:r>
              <a:rPr lang="en-US" sz="2000" dirty="0"/>
              <a:t> might only appear in abusive comments.</a:t>
            </a:r>
          </a:p>
          <a:p>
            <a:pPr marL="1657350" lvl="1" indent="-285750" algn="just">
              <a:lnSpc>
                <a:spcPct val="100000"/>
              </a:lnSpc>
              <a:spcBef>
                <a:spcPts val="0"/>
              </a:spcBef>
              <a:spcAft>
                <a:spcPts val="600"/>
              </a:spcAft>
              <a:buFont typeface="Wingdings" panose="05000000000000000000" pitchFamily="2" charset="2"/>
              <a:buChar char="Ø"/>
            </a:pPr>
            <a:r>
              <a:rPr lang="en-US" sz="2000" dirty="0"/>
              <a:t>TF-IDF gives </a:t>
            </a:r>
            <a:r>
              <a:rPr lang="en-US" sz="2000" b="1" dirty="0"/>
              <a:t>more importance to rare but meaningful words</a:t>
            </a:r>
            <a:r>
              <a:rPr lang="en-US" sz="2000" dirty="0"/>
              <a:t>, and </a:t>
            </a:r>
            <a:r>
              <a:rPr lang="en-US" sz="2000" b="1" dirty="0"/>
              <a:t>less importance to common words</a:t>
            </a:r>
            <a:r>
              <a:rPr lang="en-US" sz="2000" dirty="0"/>
              <a:t>.</a:t>
            </a:r>
          </a:p>
          <a:p>
            <a:pPr marL="403225" lvl="1" indent="287338" algn="just">
              <a:lnSpc>
                <a:spcPct val="100000"/>
              </a:lnSpc>
              <a:spcAft>
                <a:spcPts val="600"/>
              </a:spcAft>
              <a:buSzPts val="1000"/>
              <a:buNone/>
              <a:tabLst>
                <a:tab pos="457200" algn="l"/>
              </a:tabLst>
            </a:pPr>
            <a:endParaRPr lang="en-US" sz="2000" kern="100" dirty="0">
              <a:effectLst/>
              <a:ea typeface="Aptos" panose="020B0004020202020204" pitchFamily="34" charset="0"/>
              <a:cs typeface="Times New Roman" panose="02020603050405020304" pitchFamily="18" charset="0"/>
            </a:endParaRPr>
          </a:p>
          <a:p>
            <a:pPr algn="just">
              <a:lnSpc>
                <a:spcPct val="100000"/>
              </a:lnSpc>
              <a:spcAft>
                <a:spcPts val="600"/>
              </a:spcAft>
            </a:pPr>
            <a:endParaRPr lang="en-US" sz="2000" dirty="0"/>
          </a:p>
        </p:txBody>
      </p:sp>
      <p:sp>
        <p:nvSpPr>
          <p:cNvPr id="4" name="object 2">
            <a:extLst>
              <a:ext uri="{FF2B5EF4-FFF2-40B4-BE49-F238E27FC236}">
                <a16:creationId xmlns:a16="http://schemas.microsoft.com/office/drawing/2014/main" id="{8674B772-2B78-31FB-3999-DDDF59B40574}"/>
              </a:ext>
            </a:extLst>
          </p:cNvPr>
          <p:cNvSpPr txBox="1">
            <a:spLocks/>
          </p:cNvSpPr>
          <p:nvPr/>
        </p:nvSpPr>
        <p:spPr>
          <a:xfrm>
            <a:off x="228600" y="128016"/>
            <a:ext cx="8686800" cy="984885"/>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pPr>
              <a:lnSpc>
                <a:spcPct val="100000"/>
              </a:lnSpc>
              <a:spcBef>
                <a:spcPts val="0"/>
              </a:spcBef>
            </a:pPr>
            <a:r>
              <a:rPr lang="en-US" dirty="0"/>
              <a:t>Modeling Process</a:t>
            </a:r>
            <a:endParaRPr lang="en-US" spc="-20" dirty="0">
              <a:solidFill>
                <a:srgbClr val="2D3B45"/>
              </a:solidFill>
            </a:endParaRPr>
          </a:p>
        </p:txBody>
      </p:sp>
      <p:sp>
        <p:nvSpPr>
          <p:cNvPr id="2" name="Slide Number Placeholder 4">
            <a:extLst>
              <a:ext uri="{FF2B5EF4-FFF2-40B4-BE49-F238E27FC236}">
                <a16:creationId xmlns:a16="http://schemas.microsoft.com/office/drawing/2014/main" id="{3FA2E70C-B99A-8EC7-8A81-1B413EC603CC}"/>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18</a:t>
            </a:fld>
            <a:endParaRPr lang="en-US" dirty="0">
              <a:solidFill>
                <a:srgbClr val="000000"/>
              </a:solidFill>
            </a:endParaRPr>
          </a:p>
        </p:txBody>
      </p:sp>
    </p:spTree>
    <p:extLst>
      <p:ext uri="{BB962C8B-B14F-4D97-AF65-F5344CB8AC3E}">
        <p14:creationId xmlns:p14="http://schemas.microsoft.com/office/powerpoint/2010/main" val="31294424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E64D865-0190-60C0-25B4-F3E156D39EB8}"/>
              </a:ext>
            </a:extLst>
          </p:cNvPr>
          <p:cNvSpPr txBox="1"/>
          <p:nvPr/>
        </p:nvSpPr>
        <p:spPr>
          <a:xfrm>
            <a:off x="903784" y="173360"/>
            <a:ext cx="7336432" cy="6001643"/>
          </a:xfrm>
          <a:prstGeom prst="rect">
            <a:avLst/>
          </a:prstGeom>
          <a:noFill/>
        </p:spPr>
        <p:txBody>
          <a:bodyPr wrap="square" lIns="0" tIns="0" rIns="0" bIns="0">
            <a:spAutoFit/>
          </a:bodyPr>
          <a:lstStyle/>
          <a:p>
            <a:pPr marL="1200150" indent="-285750">
              <a:lnSpc>
                <a:spcPct val="100000"/>
              </a:lnSpc>
              <a:spcAft>
                <a:spcPts val="600"/>
              </a:spcAft>
              <a:buFont typeface="Wingdings" panose="05000000000000000000" pitchFamily="2" charset="2"/>
              <a:buChar char="§"/>
            </a:pPr>
            <a:r>
              <a:rPr lang="en-US" sz="2000" b="1" dirty="0"/>
              <a:t>Simple Example:</a:t>
            </a:r>
            <a:endParaRPr lang="en-US" sz="2000" dirty="0"/>
          </a:p>
          <a:p>
            <a:pPr marL="1541463" lvl="0" indent="-285750">
              <a:lnSpc>
                <a:spcPct val="100000"/>
              </a:lnSpc>
              <a:spcAft>
                <a:spcPts val="600"/>
              </a:spcAft>
              <a:buFont typeface="Wingdings" panose="05000000000000000000" pitchFamily="2" charset="2"/>
              <a:buChar char="Ø"/>
            </a:pPr>
            <a:r>
              <a:rPr lang="en-US" sz="2000" b="1" dirty="0"/>
              <a:t>Comment 1:</a:t>
            </a:r>
            <a:r>
              <a:rPr lang="en-US" sz="2000" dirty="0"/>
              <a:t> "You are a terrible driver“.</a:t>
            </a:r>
            <a:endParaRPr lang="en-US" sz="2000" b="1" dirty="0"/>
          </a:p>
          <a:p>
            <a:pPr marL="1541463" indent="-285750">
              <a:spcAft>
                <a:spcPts val="600"/>
              </a:spcAft>
              <a:buFont typeface="Wingdings" panose="05000000000000000000" pitchFamily="2" charset="2"/>
              <a:buChar char="Ø"/>
            </a:pPr>
            <a:r>
              <a:rPr lang="en-US" sz="2000" b="1" dirty="0"/>
              <a:t>Comment 2:</a:t>
            </a:r>
            <a:r>
              <a:rPr lang="en-US" sz="2000" dirty="0"/>
              <a:t> "He is a good driver“.</a:t>
            </a:r>
          </a:p>
          <a:p>
            <a:pPr marL="1541463" indent="-285750">
              <a:spcAft>
                <a:spcPts val="600"/>
              </a:spcAft>
              <a:buFont typeface="Wingdings" panose="05000000000000000000" pitchFamily="2" charset="2"/>
              <a:buChar char="Ø"/>
            </a:pPr>
            <a:r>
              <a:rPr lang="en-US" sz="2000" dirty="0"/>
              <a:t>Both have the word "driver", but only Comment 1 has "terrible", which signals abuse. (</a:t>
            </a:r>
            <a:r>
              <a:rPr lang="en-US" sz="2000" dirty="0" err="1"/>
              <a:t>Kakwani</a:t>
            </a:r>
            <a:r>
              <a:rPr lang="en-US" sz="2000" dirty="0"/>
              <a:t> et al., 2020).</a:t>
            </a:r>
            <a:br>
              <a:rPr lang="en-US" sz="2000" dirty="0"/>
            </a:br>
            <a:r>
              <a:rPr lang="en-US" sz="2000" dirty="0"/>
              <a:t>TF-IDF helps the model focus on </a:t>
            </a:r>
            <a:r>
              <a:rPr lang="en-US" sz="2000" b="1" dirty="0"/>
              <a:t>"terrible"</a:t>
            </a:r>
            <a:r>
              <a:rPr lang="en-US" sz="2000" dirty="0"/>
              <a:t>—the important word. (</a:t>
            </a:r>
            <a:r>
              <a:rPr lang="en-US" sz="2000" dirty="0" err="1"/>
              <a:t>Kakwani</a:t>
            </a:r>
            <a:r>
              <a:rPr lang="en-US" sz="2000" dirty="0"/>
              <a:t> et al., 2020).</a:t>
            </a:r>
          </a:p>
          <a:p>
            <a:pPr marL="2055813" lvl="1" indent="-342900">
              <a:spcAft>
                <a:spcPts val="600"/>
              </a:spcAft>
              <a:buFont typeface="Wingdings" panose="05000000000000000000" pitchFamily="2" charset="2"/>
              <a:buChar char="v"/>
            </a:pPr>
            <a:r>
              <a:rPr lang="en-US" sz="2000" dirty="0"/>
              <a:t>“Terrible” is considered important due to its TF-IDF weight, not because it always signals abuse</a:t>
            </a:r>
            <a:r>
              <a:rPr lang="en-US" sz="2000" i="1" dirty="0"/>
              <a:t>.</a:t>
            </a:r>
            <a:endParaRPr lang="en-US" sz="2000" dirty="0"/>
          </a:p>
          <a:p>
            <a:pPr marL="2055813" lvl="1" indent="-342900">
              <a:spcAft>
                <a:spcPts val="600"/>
              </a:spcAft>
              <a:buFont typeface="Wingdings" panose="05000000000000000000" pitchFamily="2" charset="2"/>
              <a:buChar char="v"/>
            </a:pPr>
            <a:r>
              <a:rPr lang="en-US" sz="2000" b="1" dirty="0"/>
              <a:t>Examples in Hindi:</a:t>
            </a:r>
            <a:br>
              <a:rPr lang="en-US" sz="2000" dirty="0"/>
            </a:br>
            <a:r>
              <a:rPr lang="en-US" sz="2000" dirty="0"/>
              <a:t>  - Hindi: “</a:t>
            </a:r>
            <a:r>
              <a:rPr lang="en-US" sz="2000" dirty="0" err="1"/>
              <a:t>बुरा</a:t>
            </a:r>
            <a:r>
              <a:rPr lang="en-US" sz="2000" dirty="0"/>
              <a:t>” (bad)</a:t>
            </a:r>
            <a:br>
              <a:rPr lang="en-US" sz="2000" dirty="0"/>
            </a:br>
            <a:r>
              <a:rPr lang="en-US" sz="2000" dirty="0"/>
              <a:t>  - Hindi: “</a:t>
            </a:r>
            <a:r>
              <a:rPr lang="en-US" sz="2000" dirty="0" err="1"/>
              <a:t>बहुत</a:t>
            </a:r>
            <a:r>
              <a:rPr lang="en-US" sz="2000" dirty="0"/>
              <a:t> </a:t>
            </a:r>
            <a:r>
              <a:rPr lang="en-US" sz="2000" dirty="0" err="1"/>
              <a:t>खराब</a:t>
            </a:r>
            <a:r>
              <a:rPr lang="en-US" sz="2000" dirty="0"/>
              <a:t>” (very bad)</a:t>
            </a:r>
          </a:p>
          <a:p>
            <a:pPr marL="2055813" lvl="1" indent="-342900">
              <a:spcAft>
                <a:spcPts val="600"/>
              </a:spcAft>
              <a:buFont typeface="Wingdings" panose="05000000000000000000" pitchFamily="2" charset="2"/>
              <a:buChar char="v"/>
            </a:pPr>
            <a:r>
              <a:rPr lang="en-US" sz="2000" b="1" dirty="0"/>
              <a:t>Note</a:t>
            </a:r>
            <a:r>
              <a:rPr lang="en-US" sz="2000" dirty="0"/>
              <a:t>: The model currently analyzes each comment individually and does not handle context. Future versions could incorporate contextual understanding to detect sarcasm or subtle forms of abuse.</a:t>
            </a:r>
            <a:br>
              <a:rPr lang="en-US" sz="2000" dirty="0"/>
            </a:br>
            <a:endParaRPr lang="en-US" sz="2000" kern="0" dirty="0">
              <a:effectLst/>
              <a:ea typeface="Times New Roman" panose="02020603050405020304" pitchFamily="18" charset="0"/>
              <a:cs typeface="Times New Roman" panose="02020603050405020304" pitchFamily="18" charset="0"/>
            </a:endParaRPr>
          </a:p>
        </p:txBody>
      </p:sp>
      <p:sp>
        <p:nvSpPr>
          <p:cNvPr id="3" name="Slide Number Placeholder 4">
            <a:extLst>
              <a:ext uri="{FF2B5EF4-FFF2-40B4-BE49-F238E27FC236}">
                <a16:creationId xmlns:a16="http://schemas.microsoft.com/office/drawing/2014/main" id="{476EB014-C01A-63DF-E213-5444407FE0DB}"/>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19</a:t>
            </a:fld>
            <a:endParaRPr lang="en-US" dirty="0">
              <a:solidFill>
                <a:srgbClr val="000000"/>
              </a:solidFill>
            </a:endParaRPr>
          </a:p>
        </p:txBody>
      </p:sp>
    </p:spTree>
    <p:extLst>
      <p:ext uri="{BB962C8B-B14F-4D97-AF65-F5344CB8AC3E}">
        <p14:creationId xmlns:p14="http://schemas.microsoft.com/office/powerpoint/2010/main" val="38941611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1ABA2C3-2245-DEED-F159-0971E93F2152}"/>
              </a:ext>
            </a:extLst>
          </p:cNvPr>
          <p:cNvSpPr txBox="1"/>
          <p:nvPr/>
        </p:nvSpPr>
        <p:spPr>
          <a:xfrm>
            <a:off x="770467" y="327909"/>
            <a:ext cx="7539815" cy="5093702"/>
          </a:xfrm>
          <a:prstGeom prst="rect">
            <a:avLst/>
          </a:prstGeom>
          <a:noFill/>
        </p:spPr>
        <p:txBody>
          <a:bodyPr wrap="square">
            <a:spAutoFit/>
          </a:bodyPr>
          <a:lstStyle/>
          <a:p>
            <a:pPr marL="2062163" indent="-349250">
              <a:spcAft>
                <a:spcPts val="600"/>
              </a:spcAft>
              <a:buFont typeface="Wingdings" panose="05000000000000000000" pitchFamily="2" charset="2"/>
              <a:buChar char="v"/>
            </a:pPr>
            <a:r>
              <a:rPr lang="en-US" sz="2000" b="1" dirty="0"/>
              <a:t>Source</a:t>
            </a:r>
            <a:r>
              <a:rPr lang="en-US" sz="2000" dirty="0"/>
              <a:t>: Derived from project implementation and linguistic examples (</a:t>
            </a:r>
            <a:r>
              <a:rPr lang="en-US" sz="2000" dirty="0" err="1"/>
              <a:t>Kakwani</a:t>
            </a:r>
            <a:r>
              <a:rPr lang="en-US" sz="2000" dirty="0"/>
              <a:t> et al., 2020).</a:t>
            </a:r>
          </a:p>
          <a:p>
            <a:pPr marL="1147763" indent="-233363">
              <a:spcAft>
                <a:spcPts val="600"/>
              </a:spcAft>
              <a:buFont typeface="Wingdings" panose="05000000000000000000" pitchFamily="2" charset="2"/>
              <a:buChar char="§"/>
            </a:pPr>
            <a:r>
              <a:rPr lang="en-US" sz="2000" b="1" dirty="0"/>
              <a:t>In this project:</a:t>
            </a:r>
            <a:endParaRPr lang="en-US" sz="2000" dirty="0"/>
          </a:p>
          <a:p>
            <a:pPr marL="1487488" lvl="2" indent="-285750">
              <a:spcAft>
                <a:spcPts val="600"/>
              </a:spcAft>
              <a:buFont typeface="Wingdings" panose="05000000000000000000" pitchFamily="2" charset="2"/>
              <a:buChar char="Ø"/>
            </a:pPr>
            <a:r>
              <a:rPr lang="en-US" sz="2000" dirty="0"/>
              <a:t>TF-IDF changed text into numbers so the model could learn which words point to abusive behavior.</a:t>
            </a:r>
          </a:p>
          <a:p>
            <a:pPr marL="1487488" indent="-285750">
              <a:spcAft>
                <a:spcPts val="600"/>
              </a:spcAft>
              <a:buFont typeface="Wingdings" panose="05000000000000000000" pitchFamily="2" charset="2"/>
              <a:buChar char="Ø"/>
            </a:pPr>
            <a:r>
              <a:rPr lang="en-US" sz="2000" dirty="0"/>
              <a:t>This made it better at </a:t>
            </a:r>
            <a:r>
              <a:rPr lang="en-US" sz="2000" b="1" dirty="0"/>
              <a:t>finding abusive comments</a:t>
            </a:r>
            <a:r>
              <a:rPr lang="en-US" sz="2000" dirty="0"/>
              <a:t>, even in different Indian languages.</a:t>
            </a:r>
          </a:p>
          <a:p>
            <a:pPr marL="690563" lvl="1" indent="-233363" algn="just">
              <a:spcAft>
                <a:spcPts val="600"/>
              </a:spcAft>
              <a:buSzPts val="1000"/>
              <a:buFont typeface="Courier New" panose="02070309020205020404" pitchFamily="49" charset="0"/>
              <a:buChar char="o"/>
              <a:tabLst>
                <a:tab pos="457200" algn="l"/>
              </a:tabLst>
            </a:pPr>
            <a:r>
              <a:rPr lang="en-US" sz="2000" kern="0" dirty="0">
                <a:ea typeface="Times New Roman" panose="02020603050405020304" pitchFamily="18" charset="0"/>
                <a:cs typeface="Times New Roman" panose="02020603050405020304" pitchFamily="18" charset="0"/>
              </a:rPr>
              <a:t>This method gives each word in a comment a number based on its importance. Words that appear frequently in a comment but not in others receive higher numbers.</a:t>
            </a:r>
            <a:endParaRPr lang="en-US" sz="2000" b="1" kern="0" dirty="0">
              <a:ea typeface="Times New Roman" panose="02020603050405020304" pitchFamily="18" charset="0"/>
              <a:cs typeface="Times New Roman" panose="02020603050405020304" pitchFamily="18" charset="0"/>
            </a:endParaRPr>
          </a:p>
          <a:p>
            <a:pPr marL="341313" indent="-282575" algn="just">
              <a:spcAft>
                <a:spcPts val="600"/>
              </a:spcAft>
              <a:buFont typeface="Arial" panose="020B0604020202020204" pitchFamily="34" charset="0"/>
              <a:buChar char="•"/>
            </a:pPr>
            <a:r>
              <a:rPr lang="en-US" sz="2000" b="1" kern="0" dirty="0">
                <a:ea typeface="Times New Roman" panose="02020603050405020304" pitchFamily="18" charset="0"/>
                <a:cs typeface="Times New Roman" panose="02020603050405020304" pitchFamily="18" charset="0"/>
              </a:rPr>
              <a:t>Training the Model:</a:t>
            </a:r>
            <a:r>
              <a:rPr lang="en-US" sz="2000" b="1" kern="100" dirty="0">
                <a:ea typeface="Times New Roman" panose="02020603050405020304" pitchFamily="18" charset="0"/>
                <a:cs typeface="Times New Roman" panose="02020603050405020304" pitchFamily="18" charset="0"/>
              </a:rPr>
              <a:t> </a:t>
            </a:r>
            <a:r>
              <a:rPr lang="en-US" sz="2000" kern="0" dirty="0">
                <a:ea typeface="Times New Roman" panose="02020603050405020304" pitchFamily="18" charset="0"/>
                <a:cs typeface="Times New Roman" panose="02020603050405020304" pitchFamily="18" charset="0"/>
              </a:rPr>
              <a:t>After changing the text into numbers, </a:t>
            </a:r>
            <a:r>
              <a:rPr lang="en-US" sz="2000" b="1" kern="0" dirty="0">
                <a:ea typeface="Times New Roman" panose="02020603050405020304" pitchFamily="18" charset="0"/>
                <a:cs typeface="Times New Roman" panose="02020603050405020304" pitchFamily="18" charset="0"/>
              </a:rPr>
              <a:t>Naive Bayes &amp; Logistic Regression</a:t>
            </a:r>
            <a:r>
              <a:rPr lang="en-US" sz="2000" kern="0" dirty="0">
                <a:ea typeface="Times New Roman" panose="02020603050405020304" pitchFamily="18" charset="0"/>
                <a:cs typeface="Times New Roman" panose="02020603050405020304" pitchFamily="18" charset="0"/>
              </a:rPr>
              <a:t> models were used to learn from the data. The models, through complex calculations, try to classify comments into either an abusive or non-abusive comment category.</a:t>
            </a:r>
          </a:p>
        </p:txBody>
      </p:sp>
      <p:sp>
        <p:nvSpPr>
          <p:cNvPr id="5" name="Slide Number Placeholder 4">
            <a:extLst>
              <a:ext uri="{FF2B5EF4-FFF2-40B4-BE49-F238E27FC236}">
                <a16:creationId xmlns:a16="http://schemas.microsoft.com/office/drawing/2014/main" id="{FC92C24A-1D28-84A9-3D28-3CAC41807620}"/>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20</a:t>
            </a:fld>
            <a:endParaRPr lang="en-US" dirty="0">
              <a:solidFill>
                <a:srgbClr val="000000"/>
              </a:solidFill>
            </a:endParaRPr>
          </a:p>
        </p:txBody>
      </p:sp>
    </p:spTree>
    <p:extLst>
      <p:ext uri="{BB962C8B-B14F-4D97-AF65-F5344CB8AC3E}">
        <p14:creationId xmlns:p14="http://schemas.microsoft.com/office/powerpoint/2010/main" val="961503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3">
            <a:extLst>
              <a:ext uri="{FF2B5EF4-FFF2-40B4-BE49-F238E27FC236}">
                <a16:creationId xmlns:a16="http://schemas.microsoft.com/office/drawing/2014/main" id="{2EFAB725-AC5C-C8E8-E0EF-4782070B3897}"/>
              </a:ext>
            </a:extLst>
          </p:cNvPr>
          <p:cNvSpPr txBox="1"/>
          <p:nvPr/>
        </p:nvSpPr>
        <p:spPr>
          <a:xfrm>
            <a:off x="890690" y="499610"/>
            <a:ext cx="7362619" cy="2084840"/>
          </a:xfrm>
          <a:prstGeom prst="rect">
            <a:avLst/>
          </a:prstGeom>
        </p:spPr>
        <p:txBody>
          <a:bodyPr vert="horz" wrap="square" lIns="0" tIns="0" rIns="0" bIns="0" rtlCol="0">
            <a:noAutofit/>
          </a:bodyPr>
          <a:lstStyle/>
          <a:p>
            <a:pPr marL="341313" indent="-341313" algn="just">
              <a:spcAft>
                <a:spcPts val="600"/>
              </a:spcAft>
              <a:buFont typeface="Arial" panose="020B0604020202020204" pitchFamily="34" charset="0"/>
              <a:buChar char="•"/>
            </a:pPr>
            <a:endParaRPr lang="en-US" sz="2000" kern="0" dirty="0">
              <a:ea typeface="Times New Roman" panose="02020603050405020304" pitchFamily="18" charset="0"/>
              <a:cs typeface="Times New Roman" panose="02020603050405020304" pitchFamily="18" charset="0"/>
            </a:endParaRPr>
          </a:p>
          <a:p>
            <a:pPr marL="341313" indent="-341313" algn="just">
              <a:spcAft>
                <a:spcPts val="600"/>
              </a:spcAft>
              <a:buFont typeface="Arial" panose="020B0604020202020204" pitchFamily="34" charset="0"/>
              <a:buChar char="•"/>
            </a:pPr>
            <a:r>
              <a:rPr lang="en-US" sz="2000" b="1" kern="0" dirty="0">
                <a:ea typeface="Times New Roman" panose="02020603050405020304" pitchFamily="18" charset="0"/>
                <a:cs typeface="Times New Roman" panose="02020603050405020304" pitchFamily="18" charset="0"/>
              </a:rPr>
              <a:t>Checking How Well the Model Did:</a:t>
            </a:r>
            <a:r>
              <a:rPr lang="en-US" sz="2000" b="1" kern="100" dirty="0">
                <a:ea typeface="Times New Roman" panose="02020603050405020304" pitchFamily="18" charset="0"/>
                <a:cs typeface="Times New Roman" panose="02020603050405020304" pitchFamily="18" charset="0"/>
              </a:rPr>
              <a:t> </a:t>
            </a:r>
            <a:r>
              <a:rPr lang="en-US" sz="2000" kern="0" dirty="0">
                <a:ea typeface="Times New Roman" panose="02020603050405020304" pitchFamily="18" charset="0"/>
                <a:cs typeface="Times New Roman" panose="02020603050405020304" pitchFamily="18" charset="0"/>
              </a:rPr>
              <a:t>Once the model makes predictions, a </a:t>
            </a:r>
            <a:r>
              <a:rPr lang="en-US" sz="2000" b="1" kern="0" dirty="0">
                <a:ea typeface="Times New Roman" panose="02020603050405020304" pitchFamily="18" charset="0"/>
                <a:cs typeface="Times New Roman" panose="02020603050405020304" pitchFamily="18" charset="0"/>
              </a:rPr>
              <a:t>confusion matrix</a:t>
            </a:r>
            <a:r>
              <a:rPr lang="en-US" sz="2000" kern="0" dirty="0">
                <a:ea typeface="Times New Roman" panose="02020603050405020304" pitchFamily="18" charset="0"/>
                <a:cs typeface="Times New Roman" panose="02020603050405020304" pitchFamily="18" charset="0"/>
              </a:rPr>
              <a:t> is used </a:t>
            </a:r>
            <a:r>
              <a:rPr lang="en-US" sz="2000" dirty="0"/>
              <a:t>to help determine how well the model predicts</a:t>
            </a:r>
            <a:r>
              <a:rPr lang="en-US" sz="2000" kern="0" dirty="0">
                <a:ea typeface="Times New Roman" panose="02020603050405020304" pitchFamily="18" charset="0"/>
                <a:cs typeface="Times New Roman" panose="02020603050405020304" pitchFamily="18" charset="0"/>
              </a:rPr>
              <a:t>. This means the number of times the model makes an error, such as predicting abusive when it would be non-abusive.</a:t>
            </a:r>
          </a:p>
          <a:p>
            <a:pPr marL="287337" lvl="1" algn="just">
              <a:spcAft>
                <a:spcPts val="600"/>
              </a:spcAft>
              <a:buSzPts val="1000"/>
              <a:tabLst>
                <a:tab pos="914400" algn="l"/>
              </a:tabLst>
            </a:pPr>
            <a:endParaRPr lang="en-US" sz="2000" b="1" kern="0" dirty="0">
              <a:ea typeface="Aptos" panose="020B0004020202020204" pitchFamily="34" charset="0"/>
              <a:cs typeface="Times New Roman" panose="02020603050405020304" pitchFamily="18" charset="0"/>
            </a:endParaRPr>
          </a:p>
          <a:p>
            <a:r>
              <a:rPr lang="en-US" dirty="0"/>
              <a:t> </a:t>
            </a:r>
          </a:p>
          <a:p>
            <a:pPr marL="12700" marR="5080" algn="just">
              <a:lnSpc>
                <a:spcPts val="2160"/>
              </a:lnSpc>
            </a:pPr>
            <a:endParaRPr lang="en-US" sz="2000" dirty="0">
              <a:latin typeface="Calibri" panose="020F0502020204030204" pitchFamily="34" charset="0"/>
              <a:cs typeface="Calibri" panose="020F0502020204030204" pitchFamily="34" charset="0"/>
            </a:endParaRPr>
          </a:p>
        </p:txBody>
      </p:sp>
      <p:sp>
        <p:nvSpPr>
          <p:cNvPr id="6" name="Slide Number Placeholder 4">
            <a:extLst>
              <a:ext uri="{FF2B5EF4-FFF2-40B4-BE49-F238E27FC236}">
                <a16:creationId xmlns:a16="http://schemas.microsoft.com/office/drawing/2014/main" id="{5F148B47-8FFF-7725-2A9B-FC272E924EA9}"/>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21</a:t>
            </a:fld>
            <a:endParaRPr lang="en-US" dirty="0">
              <a:solidFill>
                <a:srgbClr val="000000"/>
              </a:solidFill>
            </a:endParaRPr>
          </a:p>
        </p:txBody>
      </p:sp>
    </p:spTree>
    <p:extLst>
      <p:ext uri="{BB962C8B-B14F-4D97-AF65-F5344CB8AC3E}">
        <p14:creationId xmlns:p14="http://schemas.microsoft.com/office/powerpoint/2010/main" val="9050279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E267ED-99FF-0F0F-B6B8-A7A07D1B125A}"/>
            </a:ext>
          </a:extLst>
        </p:cNvPr>
        <p:cNvGrpSpPr/>
        <p:nvPr/>
      </p:nvGrpSpPr>
      <p:grpSpPr>
        <a:xfrm>
          <a:off x="0" y="0"/>
          <a:ext cx="0" cy="0"/>
          <a:chOff x="0" y="0"/>
          <a:chExt cx="0" cy="0"/>
        </a:xfrm>
      </p:grpSpPr>
      <p:sp>
        <p:nvSpPr>
          <p:cNvPr id="5" name="object 3">
            <a:extLst>
              <a:ext uri="{FF2B5EF4-FFF2-40B4-BE49-F238E27FC236}">
                <a16:creationId xmlns:a16="http://schemas.microsoft.com/office/drawing/2014/main" id="{49B14416-8FC1-1709-2D1B-E14BDA6FAC4E}"/>
              </a:ext>
            </a:extLst>
          </p:cNvPr>
          <p:cNvSpPr txBox="1"/>
          <p:nvPr/>
        </p:nvSpPr>
        <p:spPr>
          <a:xfrm>
            <a:off x="890690" y="499610"/>
            <a:ext cx="7362619" cy="5564306"/>
          </a:xfrm>
          <a:prstGeom prst="rect">
            <a:avLst/>
          </a:prstGeom>
        </p:spPr>
        <p:txBody>
          <a:bodyPr vert="horz" wrap="square" lIns="0" tIns="0" rIns="0" bIns="0" rtlCol="0">
            <a:noAutofit/>
          </a:bodyPr>
          <a:lstStyle/>
          <a:p>
            <a:pPr marL="341313" indent="-341313" algn="just">
              <a:spcAft>
                <a:spcPts val="600"/>
              </a:spcAft>
              <a:buFont typeface="Arial" panose="020B0604020202020204" pitchFamily="34" charset="0"/>
              <a:buChar char="•"/>
            </a:pPr>
            <a:endParaRPr lang="en-US" sz="2000" kern="0" dirty="0">
              <a:ea typeface="Times New Roman" panose="02020603050405020304" pitchFamily="18" charset="0"/>
              <a:cs typeface="Times New Roman" panose="02020603050405020304" pitchFamily="18" charset="0"/>
            </a:endParaRPr>
          </a:p>
          <a:p>
            <a:pPr marL="341313" indent="-341313" algn="just">
              <a:spcAft>
                <a:spcPts val="600"/>
              </a:spcAft>
              <a:buFont typeface="Arial" panose="020B0604020202020204" pitchFamily="34" charset="0"/>
              <a:buChar char="•"/>
            </a:pPr>
            <a:r>
              <a:rPr lang="en-US" sz="2000" b="1" kern="0" dirty="0">
                <a:ea typeface="Times New Roman" panose="02020603050405020304" pitchFamily="18" charset="0"/>
                <a:cs typeface="Times New Roman" panose="02020603050405020304" pitchFamily="18" charset="0"/>
              </a:rPr>
              <a:t>Measuring the Model's Performance:</a:t>
            </a:r>
            <a:r>
              <a:rPr lang="en-US" sz="2000" b="1" kern="100" dirty="0">
                <a:ea typeface="Times New Roman" panose="02020603050405020304" pitchFamily="18" charset="0"/>
                <a:cs typeface="Times New Roman" panose="02020603050405020304" pitchFamily="18" charset="0"/>
              </a:rPr>
              <a:t> </a:t>
            </a:r>
            <a:r>
              <a:rPr lang="en-US" sz="2000" kern="0" dirty="0">
                <a:ea typeface="Times New Roman" panose="02020603050405020304" pitchFamily="18" charset="0"/>
                <a:cs typeface="Times New Roman" panose="02020603050405020304" pitchFamily="18" charset="0"/>
              </a:rPr>
              <a:t>From the confusion matrix, the following measures are calculated:</a:t>
            </a:r>
            <a:endParaRPr lang="en-US" sz="2000" kern="100" dirty="0">
              <a:ea typeface="Aptos" panose="020B0004020202020204" pitchFamily="34" charset="0"/>
              <a:cs typeface="Times New Roman" panose="02020603050405020304" pitchFamily="18" charset="0"/>
            </a:endParaRPr>
          </a:p>
          <a:p>
            <a:pPr marL="511175" lvl="1" indent="-223838" algn="just">
              <a:spcAft>
                <a:spcPts val="600"/>
              </a:spcAft>
              <a:buSzPts val="1000"/>
              <a:buFont typeface="Courier New" panose="02070309020205020404" pitchFamily="49" charset="0"/>
              <a:buChar char="o"/>
              <a:tabLst>
                <a:tab pos="914400" algn="l"/>
              </a:tabLst>
            </a:pPr>
            <a:r>
              <a:rPr lang="en-US" sz="2000" b="1" kern="0" dirty="0">
                <a:ea typeface="Times New Roman" panose="02020603050405020304" pitchFamily="18" charset="0"/>
                <a:cs typeface="Times New Roman" panose="02020603050405020304" pitchFamily="18" charset="0"/>
              </a:rPr>
              <a:t>Accuracy:</a:t>
            </a:r>
            <a:r>
              <a:rPr lang="en-US" sz="2000" kern="0" dirty="0">
                <a:ea typeface="Times New Roman" panose="02020603050405020304" pitchFamily="18" charset="0"/>
                <a:cs typeface="Times New Roman" panose="02020603050405020304" pitchFamily="18" charset="0"/>
              </a:rPr>
              <a:t> How often the model made the right prediction.</a:t>
            </a:r>
            <a:endParaRPr lang="en-US" sz="2000" b="1" kern="0" dirty="0">
              <a:ea typeface="Times New Roman" panose="02020603050405020304" pitchFamily="18" charset="0"/>
              <a:cs typeface="Times New Roman" panose="02020603050405020304" pitchFamily="18" charset="0"/>
            </a:endParaRPr>
          </a:p>
          <a:p>
            <a:pPr marL="511175" lvl="1" indent="-223838" algn="just">
              <a:spcAft>
                <a:spcPts val="600"/>
              </a:spcAft>
              <a:buSzPts val="1000"/>
              <a:buFont typeface="Courier New" panose="02070309020205020404" pitchFamily="49" charset="0"/>
              <a:buChar char="o"/>
              <a:tabLst>
                <a:tab pos="914400" algn="l"/>
              </a:tabLst>
            </a:pPr>
            <a:r>
              <a:rPr lang="en-US" sz="2000" b="1" kern="0" dirty="0">
                <a:ea typeface="Times New Roman" panose="02020603050405020304" pitchFamily="18" charset="0"/>
                <a:cs typeface="Times New Roman" panose="02020603050405020304" pitchFamily="18" charset="0"/>
              </a:rPr>
              <a:t>Sensitivity (Recall): </a:t>
            </a:r>
            <a:r>
              <a:rPr lang="en-US" sz="2000" kern="0" dirty="0">
                <a:ea typeface="Times New Roman" panose="02020603050405020304" pitchFamily="18" charset="0"/>
                <a:cs typeface="Times New Roman" panose="02020603050405020304" pitchFamily="18" charset="0"/>
              </a:rPr>
              <a:t>H</a:t>
            </a:r>
            <a:r>
              <a:rPr lang="en-US" sz="2000" dirty="0"/>
              <a:t>ow well the model identifies Abusive (1) comments.</a:t>
            </a:r>
            <a:endParaRPr lang="en-US" sz="2000" kern="100" dirty="0">
              <a:ea typeface="Aptos" panose="020B0004020202020204" pitchFamily="34" charset="0"/>
              <a:cs typeface="Times New Roman" panose="02020603050405020304" pitchFamily="18" charset="0"/>
            </a:endParaRPr>
          </a:p>
          <a:p>
            <a:pPr marL="511175" lvl="1" indent="-223838" algn="just">
              <a:spcAft>
                <a:spcPts val="600"/>
              </a:spcAft>
              <a:buSzPts val="1000"/>
              <a:buFont typeface="Courier New" panose="02070309020205020404" pitchFamily="49" charset="0"/>
              <a:buChar char="o"/>
              <a:tabLst>
                <a:tab pos="914400" algn="l"/>
              </a:tabLst>
            </a:pPr>
            <a:r>
              <a:rPr lang="en-US" sz="2000" b="1" kern="0" dirty="0">
                <a:ea typeface="Times New Roman" panose="02020603050405020304" pitchFamily="18" charset="0"/>
                <a:cs typeface="Times New Roman" panose="02020603050405020304" pitchFamily="18" charset="0"/>
              </a:rPr>
              <a:t>Precision:</a:t>
            </a:r>
            <a:r>
              <a:rPr lang="en-US" sz="2000" kern="0" dirty="0">
                <a:ea typeface="Times New Roman" panose="02020603050405020304" pitchFamily="18" charset="0"/>
                <a:cs typeface="Times New Roman" panose="02020603050405020304" pitchFamily="18" charset="0"/>
              </a:rPr>
              <a:t> How often the model was right when it said something was Abusive (1).</a:t>
            </a:r>
            <a:endParaRPr lang="en-US" sz="2000" kern="100" dirty="0">
              <a:ea typeface="Aptos" panose="020B0004020202020204" pitchFamily="34" charset="0"/>
              <a:cs typeface="Times New Roman" panose="02020603050405020304" pitchFamily="18" charset="0"/>
            </a:endParaRPr>
          </a:p>
          <a:p>
            <a:pPr marL="511175" lvl="1" indent="-223838" algn="just">
              <a:spcAft>
                <a:spcPts val="600"/>
              </a:spcAft>
              <a:buSzPts val="1000"/>
              <a:buFont typeface="Courier New" panose="02070309020205020404" pitchFamily="49" charset="0"/>
              <a:buChar char="o"/>
              <a:tabLst>
                <a:tab pos="914400" algn="l"/>
              </a:tabLst>
            </a:pPr>
            <a:r>
              <a:rPr lang="en-US" sz="2000" b="1" kern="0" dirty="0">
                <a:ea typeface="Times New Roman" panose="02020603050405020304" pitchFamily="18" charset="0"/>
                <a:cs typeface="Times New Roman" panose="02020603050405020304" pitchFamily="18" charset="0"/>
              </a:rPr>
              <a:t>Specificity: </a:t>
            </a:r>
            <a:r>
              <a:rPr lang="en-US" sz="2000" kern="0" dirty="0">
                <a:ea typeface="Times New Roman" panose="02020603050405020304" pitchFamily="18" charset="0"/>
                <a:cs typeface="Times New Roman" panose="02020603050405020304" pitchFamily="18" charset="0"/>
              </a:rPr>
              <a:t>How well the model detects Non-Abusive (0) comments.</a:t>
            </a:r>
          </a:p>
          <a:p>
            <a:pPr marL="511175" lvl="1" indent="-223838" algn="just">
              <a:spcAft>
                <a:spcPts val="600"/>
              </a:spcAft>
              <a:buSzPts val="1000"/>
              <a:buFont typeface="Courier New" panose="02070309020205020404" pitchFamily="49" charset="0"/>
              <a:buChar char="o"/>
              <a:tabLst>
                <a:tab pos="914400" algn="l"/>
              </a:tabLst>
            </a:pPr>
            <a:r>
              <a:rPr lang="en-US" sz="2000" b="1" kern="0" dirty="0">
                <a:ea typeface="Aptos" panose="020B0004020202020204" pitchFamily="34" charset="0"/>
                <a:cs typeface="Times New Roman" panose="02020603050405020304" pitchFamily="18" charset="0"/>
              </a:rPr>
              <a:t>F-1 Score</a:t>
            </a:r>
            <a:r>
              <a:rPr lang="en-US" sz="2000" kern="0" dirty="0">
                <a:ea typeface="Aptos" panose="020B0004020202020204" pitchFamily="34" charset="0"/>
                <a:cs typeface="Times New Roman" panose="02020603050405020304" pitchFamily="18" charset="0"/>
              </a:rPr>
              <a:t>: </a:t>
            </a:r>
            <a:r>
              <a:rPr lang="en-US" sz="2000" dirty="0"/>
              <a:t>Balances precision and specificity to show overall prediction quality.</a:t>
            </a:r>
          </a:p>
          <a:p>
            <a:pPr marL="511175" lvl="1" indent="-223838" algn="just">
              <a:spcAft>
                <a:spcPts val="600"/>
              </a:spcAft>
              <a:buSzPts val="1000"/>
              <a:buFont typeface="Courier New" panose="02070309020205020404" pitchFamily="49" charset="0"/>
              <a:buChar char="o"/>
              <a:tabLst>
                <a:tab pos="914400" algn="l"/>
              </a:tabLst>
            </a:pPr>
            <a:r>
              <a:rPr lang="en-US" sz="2000" b="1" dirty="0"/>
              <a:t>Matthews Correlation Coefficient (MCC)</a:t>
            </a:r>
            <a:r>
              <a:rPr lang="en-US" sz="2000" b="1" kern="0" dirty="0">
                <a:ea typeface="Aptos" panose="020B0004020202020204" pitchFamily="34" charset="0"/>
                <a:cs typeface="Times New Roman" panose="02020603050405020304" pitchFamily="18" charset="0"/>
              </a:rPr>
              <a:t>: </a:t>
            </a:r>
            <a:r>
              <a:rPr lang="en-US" sz="2000" dirty="0"/>
              <a:t>A single score showing how well predictions match actual labels, even with imbalanced data.</a:t>
            </a:r>
          </a:p>
          <a:p>
            <a:pPr marL="511175" lvl="1" indent="-223838" algn="just">
              <a:spcAft>
                <a:spcPts val="600"/>
              </a:spcAft>
              <a:buSzPts val="1000"/>
              <a:buFont typeface="Courier New" panose="02070309020205020404" pitchFamily="49" charset="0"/>
              <a:buChar char="o"/>
              <a:tabLst>
                <a:tab pos="914400" algn="l"/>
              </a:tabLst>
            </a:pPr>
            <a:endParaRPr lang="en-US" sz="2000" dirty="0"/>
          </a:p>
          <a:p>
            <a:pPr marL="287337" lvl="1" algn="just">
              <a:spcAft>
                <a:spcPts val="600"/>
              </a:spcAft>
              <a:buSzPts val="1000"/>
              <a:tabLst>
                <a:tab pos="914400" algn="l"/>
              </a:tabLst>
            </a:pPr>
            <a:endParaRPr lang="en-US" sz="2000" b="1" kern="0" dirty="0">
              <a:ea typeface="Aptos" panose="020B0004020202020204" pitchFamily="34" charset="0"/>
              <a:cs typeface="Times New Roman" panose="02020603050405020304" pitchFamily="18" charset="0"/>
            </a:endParaRPr>
          </a:p>
          <a:p>
            <a:r>
              <a:rPr lang="en-US" dirty="0"/>
              <a:t> </a:t>
            </a:r>
          </a:p>
          <a:p>
            <a:pPr marL="12700" marR="5080" algn="just">
              <a:lnSpc>
                <a:spcPts val="2160"/>
              </a:lnSpc>
            </a:pPr>
            <a:endParaRPr lang="en-US" sz="2000" dirty="0">
              <a:latin typeface="Calibri" panose="020F0502020204030204" pitchFamily="34" charset="0"/>
              <a:cs typeface="Calibri" panose="020F0502020204030204" pitchFamily="34" charset="0"/>
            </a:endParaRPr>
          </a:p>
        </p:txBody>
      </p:sp>
      <p:sp>
        <p:nvSpPr>
          <p:cNvPr id="6" name="Slide Number Placeholder 4">
            <a:extLst>
              <a:ext uri="{FF2B5EF4-FFF2-40B4-BE49-F238E27FC236}">
                <a16:creationId xmlns:a16="http://schemas.microsoft.com/office/drawing/2014/main" id="{F8507DA0-1017-C543-2ECB-3CB71A91924B}"/>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22</a:t>
            </a:fld>
            <a:endParaRPr lang="en-US" dirty="0">
              <a:solidFill>
                <a:srgbClr val="000000"/>
              </a:solidFill>
            </a:endParaRPr>
          </a:p>
        </p:txBody>
      </p:sp>
    </p:spTree>
    <p:extLst>
      <p:ext uri="{BB962C8B-B14F-4D97-AF65-F5344CB8AC3E}">
        <p14:creationId xmlns:p14="http://schemas.microsoft.com/office/powerpoint/2010/main" val="15743869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2">
            <a:extLst>
              <a:ext uri="{FF2B5EF4-FFF2-40B4-BE49-F238E27FC236}">
                <a16:creationId xmlns:a16="http://schemas.microsoft.com/office/drawing/2014/main" id="{B5418B32-33C3-309C-0F80-0CC27960D654}"/>
              </a:ext>
            </a:extLst>
          </p:cNvPr>
          <p:cNvSpPr txBox="1">
            <a:spLocks/>
          </p:cNvSpPr>
          <p:nvPr/>
        </p:nvSpPr>
        <p:spPr>
          <a:xfrm>
            <a:off x="228600" y="128016"/>
            <a:ext cx="5562600" cy="591651"/>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pPr>
              <a:lnSpc>
                <a:spcPct val="100000"/>
              </a:lnSpc>
              <a:spcBef>
                <a:spcPts val="0"/>
              </a:spcBef>
            </a:pPr>
            <a:r>
              <a:rPr lang="en-US" dirty="0"/>
              <a:t>Naive Bayes Data Preparation</a:t>
            </a:r>
            <a:endParaRPr lang="en-US" spc="-20" dirty="0">
              <a:solidFill>
                <a:srgbClr val="2D3B45"/>
              </a:solidFill>
            </a:endParaRPr>
          </a:p>
        </p:txBody>
      </p:sp>
      <p:sp>
        <p:nvSpPr>
          <p:cNvPr id="2" name="Slide Number Placeholder 4">
            <a:extLst>
              <a:ext uri="{FF2B5EF4-FFF2-40B4-BE49-F238E27FC236}">
                <a16:creationId xmlns:a16="http://schemas.microsoft.com/office/drawing/2014/main" id="{2619300E-3393-F2F1-944A-281BBD333D56}"/>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23</a:t>
            </a:fld>
            <a:endParaRPr lang="en-US" dirty="0">
              <a:solidFill>
                <a:srgbClr val="000000"/>
              </a:solidFill>
            </a:endParaRPr>
          </a:p>
        </p:txBody>
      </p:sp>
      <p:sp>
        <p:nvSpPr>
          <p:cNvPr id="9" name="object 3">
            <a:extLst>
              <a:ext uri="{FF2B5EF4-FFF2-40B4-BE49-F238E27FC236}">
                <a16:creationId xmlns:a16="http://schemas.microsoft.com/office/drawing/2014/main" id="{4B341E26-5866-93D5-3760-DCC100B49632}"/>
              </a:ext>
            </a:extLst>
          </p:cNvPr>
          <p:cNvSpPr txBox="1"/>
          <p:nvPr/>
        </p:nvSpPr>
        <p:spPr>
          <a:xfrm>
            <a:off x="890690" y="499610"/>
            <a:ext cx="7362619" cy="3570740"/>
          </a:xfrm>
          <a:prstGeom prst="rect">
            <a:avLst/>
          </a:prstGeom>
        </p:spPr>
        <p:txBody>
          <a:bodyPr vert="horz" wrap="square" lIns="0" tIns="0" rIns="0" bIns="0" rtlCol="0">
            <a:noAutofit/>
          </a:bodyPr>
          <a:lstStyle/>
          <a:p>
            <a:pPr marL="341313" indent="-341313" algn="just">
              <a:spcAft>
                <a:spcPts val="600"/>
              </a:spcAft>
              <a:buFont typeface="Arial" panose="020B0604020202020204" pitchFamily="34" charset="0"/>
              <a:buChar char="•"/>
            </a:pPr>
            <a:endParaRPr lang="en-US" sz="2000" kern="0" dirty="0">
              <a:ea typeface="Times New Roman" panose="02020603050405020304" pitchFamily="18" charset="0"/>
              <a:cs typeface="Times New Roman" panose="02020603050405020304" pitchFamily="18" charset="0"/>
            </a:endParaRPr>
          </a:p>
          <a:p>
            <a:pPr marL="341313" indent="-341313" algn="just">
              <a:spcAft>
                <a:spcPts val="600"/>
              </a:spcAft>
              <a:buFont typeface="Arial" panose="020B0604020202020204" pitchFamily="34" charset="0"/>
              <a:buChar char="•"/>
            </a:pPr>
            <a:r>
              <a:rPr lang="en-GB" sz="2000" b="1" kern="100" dirty="0">
                <a:ea typeface="Aptos" panose="020B0004020202020204"/>
                <a:cs typeface="Times New Roman" panose="02020603050405020304" pitchFamily="18" charset="0"/>
              </a:rPr>
              <a:t>Reasons for Using Naive Bayes</a:t>
            </a:r>
          </a:p>
          <a:p>
            <a:pPr marL="515938" lvl="1" indent="-228600" algn="just">
              <a:spcAft>
                <a:spcPts val="600"/>
              </a:spcAft>
              <a:buSzPts val="1000"/>
              <a:buFont typeface="Courier New" panose="02070309020205020404" pitchFamily="49" charset="0"/>
              <a:buChar char="o"/>
              <a:tabLst>
                <a:tab pos="914400" algn="l"/>
              </a:tabLst>
            </a:pPr>
            <a:r>
              <a:rPr lang="en-US" sz="2000" b="1" kern="0" dirty="0">
                <a:ea typeface="Times New Roman" panose="02020603050405020304" pitchFamily="18" charset="0"/>
                <a:cs typeface="Times New Roman" panose="02020603050405020304" pitchFamily="18" charset="0"/>
              </a:rPr>
              <a:t>Simplicity &amp; Efficiency:</a:t>
            </a:r>
            <a:r>
              <a:rPr lang="en-US" sz="2000" kern="0" dirty="0">
                <a:ea typeface="Times New Roman" panose="02020603050405020304" pitchFamily="18" charset="0"/>
                <a:cs typeface="Times New Roman" panose="02020603050405020304" pitchFamily="18" charset="0"/>
              </a:rPr>
              <a:t> Chosen for its simplicity in implementation and speed in processing text data.</a:t>
            </a:r>
            <a:endParaRPr lang="en-US" sz="2000" kern="100" dirty="0">
              <a:ea typeface="Aptos" panose="020B0004020202020204" pitchFamily="34" charset="0"/>
              <a:cs typeface="Times New Roman" panose="02020603050405020304" pitchFamily="18" charset="0"/>
            </a:endParaRPr>
          </a:p>
          <a:p>
            <a:pPr marL="515938" lvl="1" indent="-228600" algn="just">
              <a:spcAft>
                <a:spcPts val="600"/>
              </a:spcAft>
              <a:buSzPts val="1000"/>
              <a:buFont typeface="Courier New" panose="02070309020205020404" pitchFamily="49" charset="0"/>
              <a:buChar char="o"/>
              <a:tabLst>
                <a:tab pos="914400" algn="l"/>
              </a:tabLst>
            </a:pPr>
            <a:r>
              <a:rPr lang="en-US" sz="2000" b="1" kern="0" dirty="0">
                <a:ea typeface="Times New Roman" panose="02020603050405020304" pitchFamily="18" charset="0"/>
                <a:cs typeface="Times New Roman" panose="02020603050405020304" pitchFamily="18" charset="0"/>
              </a:rPr>
              <a:t>Effective for Text Data:</a:t>
            </a:r>
            <a:r>
              <a:rPr lang="en-US" sz="2000" kern="0" dirty="0">
                <a:ea typeface="Times New Roman" panose="02020603050405020304" pitchFamily="18" charset="0"/>
                <a:cs typeface="Times New Roman" panose="02020603050405020304" pitchFamily="18" charset="0"/>
              </a:rPr>
              <a:t> Well-suited for handling high-dimensional data typical of text classification tasks.</a:t>
            </a:r>
            <a:endParaRPr lang="en-US" sz="2000" kern="100" dirty="0">
              <a:ea typeface="Aptos" panose="020B0004020202020204" pitchFamily="34" charset="0"/>
              <a:cs typeface="Times New Roman" panose="02020603050405020304" pitchFamily="18" charset="0"/>
            </a:endParaRPr>
          </a:p>
          <a:p>
            <a:pPr marL="573088" lvl="1" indent="-285750" algn="just">
              <a:spcAft>
                <a:spcPts val="600"/>
              </a:spcAft>
              <a:buSzPts val="1000"/>
              <a:buFont typeface="Courier New" panose="02070309020205020404" pitchFamily="49" charset="0"/>
              <a:buChar char="o"/>
              <a:tabLst>
                <a:tab pos="914400" algn="l"/>
              </a:tabLst>
            </a:pPr>
            <a:r>
              <a:rPr lang="en-US" sz="2000" b="1" kern="0" dirty="0">
                <a:ea typeface="Times New Roman" panose="02020603050405020304" pitchFamily="18" charset="0"/>
                <a:cs typeface="Times New Roman" panose="02020603050405020304" pitchFamily="18" charset="0"/>
              </a:rPr>
              <a:t>Performs Well with Limited Data:</a:t>
            </a:r>
            <a:r>
              <a:rPr lang="en-US" sz="2000" kern="0" dirty="0">
                <a:ea typeface="Times New Roman" panose="02020603050405020304" pitchFamily="18" charset="0"/>
                <a:cs typeface="Times New Roman" panose="02020603050405020304" pitchFamily="18" charset="0"/>
              </a:rPr>
              <a:t> Works effectively when there is not a massive dataset, which is often the case for Hindi abusive comments.</a:t>
            </a:r>
            <a:endParaRPr lang="en-US" sz="2000" kern="100" dirty="0">
              <a:ea typeface="Aptos" panose="020B0004020202020204" pitchFamily="34" charset="0"/>
              <a:cs typeface="Times New Roman" panose="02020603050405020304" pitchFamily="18" charset="0"/>
            </a:endParaRPr>
          </a:p>
          <a:p>
            <a:pPr marL="511175" lvl="1" indent="-223838" algn="just">
              <a:spcAft>
                <a:spcPts val="600"/>
              </a:spcAft>
              <a:buSzPts val="1000"/>
              <a:buFont typeface="Courier New" panose="02070309020205020404" pitchFamily="49" charset="0"/>
              <a:buChar char="o"/>
              <a:tabLst>
                <a:tab pos="914400" algn="l"/>
              </a:tabLst>
            </a:pPr>
            <a:endParaRPr lang="en-US" sz="2000" dirty="0"/>
          </a:p>
          <a:p>
            <a:pPr marL="287337" lvl="1" algn="just">
              <a:spcAft>
                <a:spcPts val="600"/>
              </a:spcAft>
              <a:buSzPts val="1000"/>
              <a:tabLst>
                <a:tab pos="914400" algn="l"/>
              </a:tabLst>
            </a:pPr>
            <a:endParaRPr lang="en-US" sz="2000" b="1" kern="0" dirty="0">
              <a:ea typeface="Aptos" panose="020B0004020202020204" pitchFamily="34" charset="0"/>
              <a:cs typeface="Times New Roman" panose="02020603050405020304" pitchFamily="18" charset="0"/>
            </a:endParaRPr>
          </a:p>
          <a:p>
            <a:r>
              <a:rPr lang="en-US" dirty="0"/>
              <a:t> </a:t>
            </a:r>
          </a:p>
          <a:p>
            <a:pPr marL="12700" marR="5080" algn="just">
              <a:lnSpc>
                <a:spcPts val="2160"/>
              </a:lnSpc>
            </a:pPr>
            <a:endParaRPr lang="en-US" sz="2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751865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8A59914D-7D78-4CDE-8E62-2C0D47EBA0BF}"/>
              </a:ext>
            </a:extLst>
          </p:cNvPr>
          <p:cNvSpPr>
            <a:spLocks noGrp="1"/>
          </p:cNvSpPr>
          <p:nvPr>
            <p:ph idx="1"/>
          </p:nvPr>
        </p:nvSpPr>
        <p:spPr>
          <a:xfrm>
            <a:off x="778608" y="1112902"/>
            <a:ext cx="7513745" cy="3416766"/>
          </a:xfrm>
        </p:spPr>
        <p:txBody>
          <a:bodyPr>
            <a:noAutofit/>
          </a:bodyPr>
          <a:lstStyle/>
          <a:p>
            <a:pPr marL="287338" indent="-287338" algn="just">
              <a:lnSpc>
                <a:spcPct val="100000"/>
              </a:lnSpc>
              <a:spcBef>
                <a:spcPts val="0"/>
              </a:spcBef>
              <a:spcAft>
                <a:spcPts val="600"/>
              </a:spcAft>
            </a:pPr>
            <a:r>
              <a:rPr lang="en-GB" sz="2000" b="1" kern="100" dirty="0">
                <a:effectLst/>
                <a:ea typeface="Aptos" panose="020B0004020202020204"/>
                <a:cs typeface="Times New Roman" panose="02020603050405020304" pitchFamily="18" charset="0"/>
              </a:rPr>
              <a:t>MultinomialNB: </a:t>
            </a:r>
            <a:r>
              <a:rPr lang="en-GB" sz="2000" kern="100" dirty="0">
                <a:effectLst/>
                <a:ea typeface="Aptos" panose="020B0004020202020204"/>
                <a:cs typeface="Times New Roman" panose="02020603050405020304" pitchFamily="18" charset="0"/>
              </a:rPr>
              <a:t>Best for text classification and handling discrete data; chosen as the main classifier.</a:t>
            </a:r>
            <a:endParaRPr lang="en-US" sz="2000" kern="100" dirty="0">
              <a:effectLst/>
              <a:ea typeface="Aptos" panose="020B0004020202020204"/>
              <a:cs typeface="Times New Roman" panose="02020603050405020304" pitchFamily="18" charset="0"/>
            </a:endParaRPr>
          </a:p>
          <a:p>
            <a:pPr marL="287338" indent="-287338" algn="just">
              <a:lnSpc>
                <a:spcPct val="100000"/>
              </a:lnSpc>
              <a:spcBef>
                <a:spcPts val="0"/>
              </a:spcBef>
              <a:spcAft>
                <a:spcPts val="600"/>
              </a:spcAft>
            </a:pPr>
            <a:r>
              <a:rPr lang="en-GB" sz="2000" b="1" kern="100" dirty="0">
                <a:effectLst/>
                <a:ea typeface="Aptos" panose="020B0004020202020204"/>
                <a:cs typeface="Times New Roman" panose="02020603050405020304" pitchFamily="18" charset="0"/>
              </a:rPr>
              <a:t>BernoulliNB: </a:t>
            </a:r>
            <a:r>
              <a:rPr lang="en-GB" sz="2000" kern="100" dirty="0">
                <a:effectLst/>
                <a:ea typeface="Aptos" panose="020B0004020202020204"/>
                <a:cs typeface="Times New Roman" panose="02020603050405020304" pitchFamily="18" charset="0"/>
              </a:rPr>
              <a:t>Ideal for binary features, focusing on the presence or absence of words.</a:t>
            </a:r>
            <a:endParaRPr lang="en-US" sz="2000" kern="100" dirty="0">
              <a:effectLst/>
              <a:ea typeface="Aptos" panose="020B0004020202020204"/>
              <a:cs typeface="Times New Roman" panose="02020603050405020304" pitchFamily="18" charset="0"/>
            </a:endParaRPr>
          </a:p>
          <a:p>
            <a:pPr marL="287338" indent="-287338" algn="just">
              <a:lnSpc>
                <a:spcPct val="100000"/>
              </a:lnSpc>
              <a:spcBef>
                <a:spcPts val="0"/>
              </a:spcBef>
              <a:spcAft>
                <a:spcPts val="600"/>
              </a:spcAft>
            </a:pPr>
            <a:r>
              <a:rPr lang="en-GB" sz="2000" b="1" kern="100" dirty="0">
                <a:effectLst/>
                <a:ea typeface="Aptos" panose="020B0004020202020204"/>
                <a:cs typeface="Times New Roman" panose="02020603050405020304" pitchFamily="18" charset="0"/>
              </a:rPr>
              <a:t>ComplementNB: </a:t>
            </a:r>
            <a:r>
              <a:rPr lang="en-GB" sz="2000" kern="100" dirty="0">
                <a:effectLst/>
                <a:ea typeface="Aptos" panose="020B0004020202020204"/>
                <a:cs typeface="Times New Roman" panose="02020603050405020304" pitchFamily="18" charset="0"/>
              </a:rPr>
              <a:t>Tailored for imbalanced datasets, providing robustness in skewed distributions.</a:t>
            </a:r>
            <a:endParaRPr lang="en-US" sz="2000" kern="100" dirty="0">
              <a:effectLst/>
              <a:ea typeface="Aptos" panose="020B0004020202020204"/>
              <a:cs typeface="Times New Roman" panose="02020603050405020304" pitchFamily="18" charset="0"/>
            </a:endParaRPr>
          </a:p>
          <a:p>
            <a:pPr marL="287338" indent="-287338" algn="just">
              <a:lnSpc>
                <a:spcPct val="100000"/>
              </a:lnSpc>
              <a:spcBef>
                <a:spcPts val="0"/>
              </a:spcBef>
              <a:spcAft>
                <a:spcPts val="600"/>
              </a:spcAft>
            </a:pPr>
            <a:r>
              <a:rPr lang="en-GB" sz="2000" b="1" kern="100" dirty="0">
                <a:effectLst/>
                <a:ea typeface="Aptos" panose="020B0004020202020204"/>
                <a:cs typeface="Times New Roman" panose="02020603050405020304" pitchFamily="18" charset="0"/>
              </a:rPr>
              <a:t>Note: </a:t>
            </a:r>
            <a:r>
              <a:rPr lang="en-GB" sz="2000" kern="100" dirty="0">
                <a:effectLst/>
                <a:ea typeface="Aptos" panose="020B0004020202020204"/>
                <a:cs typeface="Times New Roman" panose="02020603050405020304" pitchFamily="18" charset="0"/>
              </a:rPr>
              <a:t>GaussianNB is not used as it is optimized for continuous data with a normal distribution.</a:t>
            </a:r>
          </a:p>
          <a:p>
            <a:pPr marL="287338" indent="-287338" algn="just">
              <a:lnSpc>
                <a:spcPct val="100000"/>
              </a:lnSpc>
              <a:spcBef>
                <a:spcPts val="0"/>
              </a:spcBef>
              <a:spcAft>
                <a:spcPts val="600"/>
              </a:spcAft>
              <a:buNone/>
            </a:pPr>
            <a:r>
              <a:rPr lang="en-US" sz="2000" b="0" i="0" dirty="0">
                <a:solidFill>
                  <a:srgbClr val="000000"/>
                </a:solidFill>
                <a:effectLst/>
              </a:rPr>
              <a:t>      </a:t>
            </a:r>
            <a:endParaRPr lang="en-US" sz="2000" kern="100" dirty="0">
              <a:effectLst/>
              <a:highlight>
                <a:srgbClr val="FFFF00"/>
              </a:highlight>
              <a:ea typeface="Aptos" panose="020B0004020202020204"/>
              <a:cs typeface="Times New Roman" panose="02020603050405020304" pitchFamily="18" charset="0"/>
            </a:endParaRPr>
          </a:p>
        </p:txBody>
      </p:sp>
      <p:sp>
        <p:nvSpPr>
          <p:cNvPr id="4" name="Slide Number Placeholder 4">
            <a:extLst>
              <a:ext uri="{FF2B5EF4-FFF2-40B4-BE49-F238E27FC236}">
                <a16:creationId xmlns:a16="http://schemas.microsoft.com/office/drawing/2014/main" id="{E5101E9A-C4C5-72D2-AA7C-4B1F655AF12F}"/>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24</a:t>
            </a:fld>
            <a:endParaRPr lang="en-US" dirty="0">
              <a:solidFill>
                <a:srgbClr val="000000"/>
              </a:solidFill>
            </a:endParaRPr>
          </a:p>
        </p:txBody>
      </p:sp>
      <p:sp>
        <p:nvSpPr>
          <p:cNvPr id="5" name="object 2">
            <a:extLst>
              <a:ext uri="{FF2B5EF4-FFF2-40B4-BE49-F238E27FC236}">
                <a16:creationId xmlns:a16="http://schemas.microsoft.com/office/drawing/2014/main" id="{979C651A-2016-7C39-019C-12C063A23E14}"/>
              </a:ext>
            </a:extLst>
          </p:cNvPr>
          <p:cNvSpPr txBox="1">
            <a:spLocks/>
          </p:cNvSpPr>
          <p:nvPr/>
        </p:nvSpPr>
        <p:spPr>
          <a:xfrm>
            <a:off x="228600" y="128016"/>
            <a:ext cx="8686800" cy="667851"/>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pPr>
              <a:lnSpc>
                <a:spcPct val="100000"/>
              </a:lnSpc>
              <a:spcBef>
                <a:spcPts val="0"/>
              </a:spcBef>
            </a:pPr>
            <a:r>
              <a:rPr lang="en-US" dirty="0"/>
              <a:t>Models: Naive Bayes Classifiers</a:t>
            </a:r>
            <a:endParaRPr lang="en-US" spc="-20" dirty="0">
              <a:solidFill>
                <a:srgbClr val="2D3B45"/>
              </a:solidFill>
            </a:endParaRPr>
          </a:p>
        </p:txBody>
      </p:sp>
    </p:spTree>
    <p:extLst>
      <p:ext uri="{BB962C8B-B14F-4D97-AF65-F5344CB8AC3E}">
        <p14:creationId xmlns:p14="http://schemas.microsoft.com/office/powerpoint/2010/main" val="28759761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object 2">
            <a:extLst>
              <a:ext uri="{FF2B5EF4-FFF2-40B4-BE49-F238E27FC236}">
                <a16:creationId xmlns:a16="http://schemas.microsoft.com/office/drawing/2014/main" id="{68009FE7-BEBA-8AE6-EF52-312FE73A3144}"/>
              </a:ext>
            </a:extLst>
          </p:cNvPr>
          <p:cNvSpPr txBox="1">
            <a:spLocks/>
          </p:cNvSpPr>
          <p:nvPr/>
        </p:nvSpPr>
        <p:spPr>
          <a:xfrm>
            <a:off x="228600" y="128016"/>
            <a:ext cx="8686800" cy="984885"/>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pPr>
              <a:lnSpc>
                <a:spcPct val="100000"/>
              </a:lnSpc>
              <a:spcBef>
                <a:spcPts val="0"/>
              </a:spcBef>
            </a:pPr>
            <a:r>
              <a:rPr lang="en-US" dirty="0"/>
              <a:t>Models: Naive Bayes | Confusion Matrix |</a:t>
            </a:r>
          </a:p>
          <a:p>
            <a:pPr>
              <a:lnSpc>
                <a:spcPct val="100000"/>
              </a:lnSpc>
              <a:spcBef>
                <a:spcPts val="0"/>
              </a:spcBef>
            </a:pPr>
            <a:r>
              <a:rPr lang="en-US" dirty="0"/>
              <a:t>Multinomial NB | Training</a:t>
            </a:r>
            <a:endParaRPr lang="en-US" spc="-20" dirty="0">
              <a:solidFill>
                <a:srgbClr val="2D3B45"/>
              </a:solidFill>
            </a:endParaRPr>
          </a:p>
        </p:txBody>
      </p:sp>
      <p:sp>
        <p:nvSpPr>
          <p:cNvPr id="11" name="Slide Number Placeholder 4">
            <a:extLst>
              <a:ext uri="{FF2B5EF4-FFF2-40B4-BE49-F238E27FC236}">
                <a16:creationId xmlns:a16="http://schemas.microsoft.com/office/drawing/2014/main" id="{2D16402F-4DC3-34CB-9C66-680D4D84E20C}"/>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25</a:t>
            </a:fld>
            <a:endParaRPr lang="en-US" dirty="0">
              <a:solidFill>
                <a:srgbClr val="000000"/>
              </a:solidFill>
            </a:endParaRPr>
          </a:p>
        </p:txBody>
      </p:sp>
      <p:pic>
        <p:nvPicPr>
          <p:cNvPr id="263" name="Picture 262">
            <a:extLst>
              <a:ext uri="{FF2B5EF4-FFF2-40B4-BE49-F238E27FC236}">
                <a16:creationId xmlns:a16="http://schemas.microsoft.com/office/drawing/2014/main" id="{5D55014A-3085-A717-6EDC-04DE858CEEE3}"/>
              </a:ext>
            </a:extLst>
          </p:cNvPr>
          <p:cNvPicPr>
            <a:picLocks noChangeAspect="1"/>
          </p:cNvPicPr>
          <p:nvPr/>
        </p:nvPicPr>
        <p:blipFill>
          <a:blip r:embed="rId2"/>
          <a:stretch>
            <a:fillRect/>
          </a:stretch>
        </p:blipFill>
        <p:spPr>
          <a:xfrm>
            <a:off x="1203960" y="1657350"/>
            <a:ext cx="6736080" cy="3543300"/>
          </a:xfrm>
          <a:prstGeom prst="rect">
            <a:avLst/>
          </a:prstGeom>
        </p:spPr>
      </p:pic>
    </p:spTree>
    <p:extLst>
      <p:ext uri="{BB962C8B-B14F-4D97-AF65-F5344CB8AC3E}">
        <p14:creationId xmlns:p14="http://schemas.microsoft.com/office/powerpoint/2010/main" val="21100000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CDFC24-68FF-6B93-4E1D-E02AD40EA1F1}"/>
            </a:ext>
          </a:extLst>
        </p:cNvPr>
        <p:cNvGrpSpPr/>
        <p:nvPr/>
      </p:nvGrpSpPr>
      <p:grpSpPr>
        <a:xfrm>
          <a:off x="0" y="0"/>
          <a:ext cx="0" cy="0"/>
          <a:chOff x="0" y="0"/>
          <a:chExt cx="0" cy="0"/>
        </a:xfrm>
      </p:grpSpPr>
      <p:sp>
        <p:nvSpPr>
          <p:cNvPr id="5" name="object 2">
            <a:extLst>
              <a:ext uri="{FF2B5EF4-FFF2-40B4-BE49-F238E27FC236}">
                <a16:creationId xmlns:a16="http://schemas.microsoft.com/office/drawing/2014/main" id="{8F65ECAB-AA17-9998-2194-18479B4B1CA3}"/>
              </a:ext>
            </a:extLst>
          </p:cNvPr>
          <p:cNvSpPr txBox="1">
            <a:spLocks/>
          </p:cNvSpPr>
          <p:nvPr/>
        </p:nvSpPr>
        <p:spPr>
          <a:xfrm>
            <a:off x="228600" y="128016"/>
            <a:ext cx="8686800" cy="984885"/>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pPr>
              <a:lnSpc>
                <a:spcPct val="100000"/>
              </a:lnSpc>
              <a:spcBef>
                <a:spcPts val="0"/>
              </a:spcBef>
            </a:pPr>
            <a:r>
              <a:rPr lang="en-US" dirty="0"/>
              <a:t>Models: Naive Bayes | Confusion Matrix |</a:t>
            </a:r>
          </a:p>
          <a:p>
            <a:pPr>
              <a:lnSpc>
                <a:spcPct val="100000"/>
              </a:lnSpc>
              <a:spcBef>
                <a:spcPts val="0"/>
              </a:spcBef>
            </a:pPr>
            <a:r>
              <a:rPr lang="en-US" dirty="0"/>
              <a:t>Multinomial NB | Validation</a:t>
            </a:r>
            <a:endParaRPr lang="en-US" spc="-20" dirty="0">
              <a:solidFill>
                <a:srgbClr val="2D3B45"/>
              </a:solidFill>
            </a:endParaRPr>
          </a:p>
        </p:txBody>
      </p:sp>
      <p:sp>
        <p:nvSpPr>
          <p:cNvPr id="10" name="Slide Number Placeholder 4">
            <a:extLst>
              <a:ext uri="{FF2B5EF4-FFF2-40B4-BE49-F238E27FC236}">
                <a16:creationId xmlns:a16="http://schemas.microsoft.com/office/drawing/2014/main" id="{AA64903F-E0A6-346D-B24E-CF033276F594}"/>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26</a:t>
            </a:fld>
            <a:endParaRPr lang="en-US" dirty="0">
              <a:solidFill>
                <a:srgbClr val="000000"/>
              </a:solidFill>
            </a:endParaRPr>
          </a:p>
        </p:txBody>
      </p:sp>
      <p:grpSp>
        <p:nvGrpSpPr>
          <p:cNvPr id="405" name="Group 76">
            <a:extLst>
              <a:ext uri="{FF2B5EF4-FFF2-40B4-BE49-F238E27FC236}">
                <a16:creationId xmlns:a16="http://schemas.microsoft.com/office/drawing/2014/main" id="{0DE3196C-BD82-2A7A-8C55-639748DAB33F}"/>
              </a:ext>
            </a:extLst>
          </p:cNvPr>
          <p:cNvGrpSpPr>
            <a:grpSpLocks noChangeAspect="1"/>
          </p:cNvGrpSpPr>
          <p:nvPr/>
        </p:nvGrpSpPr>
        <p:grpSpPr bwMode="auto">
          <a:xfrm>
            <a:off x="1195388" y="1649413"/>
            <a:ext cx="6745288" cy="3581400"/>
            <a:chOff x="753" y="1039"/>
            <a:chExt cx="4249" cy="2256"/>
          </a:xfrm>
        </p:grpSpPr>
        <p:sp>
          <p:nvSpPr>
            <p:cNvPr id="406" name="AutoShape 75">
              <a:extLst>
                <a:ext uri="{FF2B5EF4-FFF2-40B4-BE49-F238E27FC236}">
                  <a16:creationId xmlns:a16="http://schemas.microsoft.com/office/drawing/2014/main" id="{F0B876C4-8671-66FA-DABE-9C8AB072A88A}"/>
                </a:ext>
              </a:extLst>
            </p:cNvPr>
            <p:cNvSpPr>
              <a:spLocks noChangeAspect="1" noChangeArrowheads="1" noTextEdit="1"/>
            </p:cNvSpPr>
            <p:nvPr/>
          </p:nvSpPr>
          <p:spPr bwMode="auto">
            <a:xfrm>
              <a:off x="758" y="1044"/>
              <a:ext cx="4244" cy="2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7" name="Rectangle 77">
              <a:extLst>
                <a:ext uri="{FF2B5EF4-FFF2-40B4-BE49-F238E27FC236}">
                  <a16:creationId xmlns:a16="http://schemas.microsoft.com/office/drawing/2014/main" id="{C85A9099-E832-9B09-33D8-E0E6AD9711FC}"/>
                </a:ext>
              </a:extLst>
            </p:cNvPr>
            <p:cNvSpPr>
              <a:spLocks noChangeArrowheads="1"/>
            </p:cNvSpPr>
            <p:nvPr/>
          </p:nvSpPr>
          <p:spPr bwMode="auto">
            <a:xfrm>
              <a:off x="758" y="1044"/>
              <a:ext cx="4244" cy="226"/>
            </a:xfrm>
            <a:prstGeom prst="rect">
              <a:avLst/>
            </a:prstGeom>
            <a:solidFill>
              <a:srgbClr val="538DD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8" name="Rectangle 78">
              <a:extLst>
                <a:ext uri="{FF2B5EF4-FFF2-40B4-BE49-F238E27FC236}">
                  <a16:creationId xmlns:a16="http://schemas.microsoft.com/office/drawing/2014/main" id="{C36D345F-8846-D5D8-1857-C76E950C941B}"/>
                </a:ext>
              </a:extLst>
            </p:cNvPr>
            <p:cNvSpPr>
              <a:spLocks noChangeArrowheads="1"/>
            </p:cNvSpPr>
            <p:nvPr/>
          </p:nvSpPr>
          <p:spPr bwMode="auto">
            <a:xfrm>
              <a:off x="758" y="1381"/>
              <a:ext cx="4244" cy="178"/>
            </a:xfrm>
            <a:prstGeom prst="rect">
              <a:avLst/>
            </a:prstGeom>
            <a:solidFill>
              <a:srgbClr val="538DD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9" name="Rectangle 79">
              <a:extLst>
                <a:ext uri="{FF2B5EF4-FFF2-40B4-BE49-F238E27FC236}">
                  <a16:creationId xmlns:a16="http://schemas.microsoft.com/office/drawing/2014/main" id="{ED0495AE-2408-C179-1847-097D078EE419}"/>
                </a:ext>
              </a:extLst>
            </p:cNvPr>
            <p:cNvSpPr>
              <a:spLocks noChangeArrowheads="1"/>
            </p:cNvSpPr>
            <p:nvPr/>
          </p:nvSpPr>
          <p:spPr bwMode="auto">
            <a:xfrm>
              <a:off x="2402" y="1554"/>
              <a:ext cx="2600" cy="163"/>
            </a:xfrm>
            <a:prstGeom prst="rect">
              <a:avLst/>
            </a:prstGeom>
            <a:solidFill>
              <a:srgbClr val="BDD7E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0" name="Rectangle 80">
              <a:extLst>
                <a:ext uri="{FF2B5EF4-FFF2-40B4-BE49-F238E27FC236}">
                  <a16:creationId xmlns:a16="http://schemas.microsoft.com/office/drawing/2014/main" id="{9E371881-BD9A-B6F4-087A-0910BFFA85C3}"/>
                </a:ext>
              </a:extLst>
            </p:cNvPr>
            <p:cNvSpPr>
              <a:spLocks noChangeArrowheads="1"/>
            </p:cNvSpPr>
            <p:nvPr/>
          </p:nvSpPr>
          <p:spPr bwMode="auto">
            <a:xfrm>
              <a:off x="758" y="1713"/>
              <a:ext cx="4244" cy="163"/>
            </a:xfrm>
            <a:prstGeom prst="rect">
              <a:avLst/>
            </a:prstGeom>
            <a:solidFill>
              <a:srgbClr val="E9F1F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1" name="Rectangle 81">
              <a:extLst>
                <a:ext uri="{FF2B5EF4-FFF2-40B4-BE49-F238E27FC236}">
                  <a16:creationId xmlns:a16="http://schemas.microsoft.com/office/drawing/2014/main" id="{F6897E70-8BE0-8E4E-B913-E88A2B1971C6}"/>
                </a:ext>
              </a:extLst>
            </p:cNvPr>
            <p:cNvSpPr>
              <a:spLocks noChangeArrowheads="1"/>
            </p:cNvSpPr>
            <p:nvPr/>
          </p:nvSpPr>
          <p:spPr bwMode="auto">
            <a:xfrm>
              <a:off x="758" y="2102"/>
              <a:ext cx="4244" cy="125"/>
            </a:xfrm>
            <a:prstGeom prst="rect">
              <a:avLst/>
            </a:prstGeom>
            <a:solidFill>
              <a:srgbClr val="E9F1F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2" name="Rectangle 82">
              <a:extLst>
                <a:ext uri="{FF2B5EF4-FFF2-40B4-BE49-F238E27FC236}">
                  <a16:creationId xmlns:a16="http://schemas.microsoft.com/office/drawing/2014/main" id="{BCF11E95-7B2C-4EAC-6548-74B6FB401454}"/>
                </a:ext>
              </a:extLst>
            </p:cNvPr>
            <p:cNvSpPr>
              <a:spLocks noChangeArrowheads="1"/>
            </p:cNvSpPr>
            <p:nvPr/>
          </p:nvSpPr>
          <p:spPr bwMode="auto">
            <a:xfrm>
              <a:off x="758" y="2223"/>
              <a:ext cx="4244" cy="12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3" name="Rectangle 83">
              <a:extLst>
                <a:ext uri="{FF2B5EF4-FFF2-40B4-BE49-F238E27FC236}">
                  <a16:creationId xmlns:a16="http://schemas.microsoft.com/office/drawing/2014/main" id="{2B59B386-1BB2-C9A2-326E-F9DC6CBE49D0}"/>
                </a:ext>
              </a:extLst>
            </p:cNvPr>
            <p:cNvSpPr>
              <a:spLocks noChangeArrowheads="1"/>
            </p:cNvSpPr>
            <p:nvPr/>
          </p:nvSpPr>
          <p:spPr bwMode="auto">
            <a:xfrm>
              <a:off x="758" y="2338"/>
              <a:ext cx="2600" cy="125"/>
            </a:xfrm>
            <a:prstGeom prst="rect">
              <a:avLst/>
            </a:prstGeom>
            <a:solidFill>
              <a:srgbClr val="538DD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4" name="Rectangle 84">
              <a:extLst>
                <a:ext uri="{FF2B5EF4-FFF2-40B4-BE49-F238E27FC236}">
                  <a16:creationId xmlns:a16="http://schemas.microsoft.com/office/drawing/2014/main" id="{ACB4DD3D-8D55-7E0B-2CD8-332210D37874}"/>
                </a:ext>
              </a:extLst>
            </p:cNvPr>
            <p:cNvSpPr>
              <a:spLocks noChangeArrowheads="1"/>
            </p:cNvSpPr>
            <p:nvPr/>
          </p:nvSpPr>
          <p:spPr bwMode="auto">
            <a:xfrm>
              <a:off x="758" y="2458"/>
              <a:ext cx="2600" cy="241"/>
            </a:xfrm>
            <a:prstGeom prst="rect">
              <a:avLst/>
            </a:prstGeom>
            <a:solidFill>
              <a:srgbClr val="E9F1F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5" name="Rectangle 85">
              <a:extLst>
                <a:ext uri="{FF2B5EF4-FFF2-40B4-BE49-F238E27FC236}">
                  <a16:creationId xmlns:a16="http://schemas.microsoft.com/office/drawing/2014/main" id="{EB9D05F9-B1F0-CB7E-983E-4014965D933D}"/>
                </a:ext>
              </a:extLst>
            </p:cNvPr>
            <p:cNvSpPr>
              <a:spLocks noChangeArrowheads="1"/>
            </p:cNvSpPr>
            <p:nvPr/>
          </p:nvSpPr>
          <p:spPr bwMode="auto">
            <a:xfrm>
              <a:off x="758" y="2809"/>
              <a:ext cx="2600" cy="121"/>
            </a:xfrm>
            <a:prstGeom prst="rect">
              <a:avLst/>
            </a:prstGeom>
            <a:solidFill>
              <a:srgbClr val="E9F1F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6" name="Rectangle 86">
              <a:extLst>
                <a:ext uri="{FF2B5EF4-FFF2-40B4-BE49-F238E27FC236}">
                  <a16:creationId xmlns:a16="http://schemas.microsoft.com/office/drawing/2014/main" id="{320DBB44-C2ED-DE82-BEBB-6B163113BE06}"/>
                </a:ext>
              </a:extLst>
            </p:cNvPr>
            <p:cNvSpPr>
              <a:spLocks noChangeArrowheads="1"/>
            </p:cNvSpPr>
            <p:nvPr/>
          </p:nvSpPr>
          <p:spPr bwMode="auto">
            <a:xfrm>
              <a:off x="758" y="3040"/>
              <a:ext cx="2600" cy="121"/>
            </a:xfrm>
            <a:prstGeom prst="rect">
              <a:avLst/>
            </a:prstGeom>
            <a:solidFill>
              <a:srgbClr val="E9F1F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7" name="Rectangle 87">
              <a:extLst>
                <a:ext uri="{FF2B5EF4-FFF2-40B4-BE49-F238E27FC236}">
                  <a16:creationId xmlns:a16="http://schemas.microsoft.com/office/drawing/2014/main" id="{96D214F3-7E5B-A442-CAD6-7F7FBDBA6E68}"/>
                </a:ext>
              </a:extLst>
            </p:cNvPr>
            <p:cNvSpPr>
              <a:spLocks noChangeArrowheads="1"/>
            </p:cNvSpPr>
            <p:nvPr/>
          </p:nvSpPr>
          <p:spPr bwMode="auto">
            <a:xfrm>
              <a:off x="1426" y="1742"/>
              <a:ext cx="365"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a:ln>
                    <a:noFill/>
                  </a:ln>
                  <a:solidFill>
                    <a:srgbClr val="000000"/>
                  </a:solidFill>
                  <a:effectLst/>
                  <a:latin typeface="Calibri" panose="020F0502020204030204" pitchFamily="34" charset="0"/>
                </a:rPr>
                <a:t>Partition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18" name="Rectangle 88">
              <a:extLst>
                <a:ext uri="{FF2B5EF4-FFF2-40B4-BE49-F238E27FC236}">
                  <a16:creationId xmlns:a16="http://schemas.microsoft.com/office/drawing/2014/main" id="{22D9FA35-412D-9E66-5AEC-081C5425D4D6}"/>
                </a:ext>
              </a:extLst>
            </p:cNvPr>
            <p:cNvSpPr>
              <a:spLocks noChangeArrowheads="1"/>
            </p:cNvSpPr>
            <p:nvPr/>
          </p:nvSpPr>
          <p:spPr bwMode="auto">
            <a:xfrm>
              <a:off x="2628" y="1742"/>
              <a:ext cx="553"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a:ln>
                    <a:noFill/>
                  </a:ln>
                  <a:solidFill>
                    <a:srgbClr val="000000"/>
                  </a:solidFill>
                  <a:effectLst/>
                  <a:latin typeface="Calibri" panose="020F0502020204030204" pitchFamily="34" charset="0"/>
                </a:rPr>
                <a:t>0 Not Abusive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19" name="Rectangle 89">
              <a:extLst>
                <a:ext uri="{FF2B5EF4-FFF2-40B4-BE49-F238E27FC236}">
                  <a16:creationId xmlns:a16="http://schemas.microsoft.com/office/drawing/2014/main" id="{11B806B8-DF7B-A76F-6984-69B3DA032657}"/>
                </a:ext>
              </a:extLst>
            </p:cNvPr>
            <p:cNvSpPr>
              <a:spLocks noChangeArrowheads="1"/>
            </p:cNvSpPr>
            <p:nvPr/>
          </p:nvSpPr>
          <p:spPr bwMode="auto">
            <a:xfrm>
              <a:off x="3656" y="1742"/>
              <a:ext cx="399"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a:ln>
                    <a:noFill/>
                  </a:ln>
                  <a:solidFill>
                    <a:srgbClr val="000000"/>
                  </a:solidFill>
                  <a:effectLst/>
                  <a:latin typeface="Calibri" panose="020F0502020204030204" pitchFamily="34" charset="0"/>
                </a:rPr>
                <a:t>1 Abusive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20" name="Rectangle 90">
              <a:extLst>
                <a:ext uri="{FF2B5EF4-FFF2-40B4-BE49-F238E27FC236}">
                  <a16:creationId xmlns:a16="http://schemas.microsoft.com/office/drawing/2014/main" id="{F6F57E68-59D0-6760-8048-145B961D3BEB}"/>
                </a:ext>
              </a:extLst>
            </p:cNvPr>
            <p:cNvSpPr>
              <a:spLocks noChangeArrowheads="1"/>
            </p:cNvSpPr>
            <p:nvPr/>
          </p:nvSpPr>
          <p:spPr bwMode="auto">
            <a:xfrm>
              <a:off x="4565" y="1742"/>
              <a:ext cx="231"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a:ln>
                    <a:noFill/>
                  </a:ln>
                  <a:solidFill>
                    <a:srgbClr val="000000"/>
                  </a:solidFill>
                  <a:effectLst/>
                  <a:latin typeface="Calibri" panose="020F0502020204030204" pitchFamily="34" charset="0"/>
                </a:rPr>
                <a:t>Total</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21" name="Rectangle 91">
              <a:extLst>
                <a:ext uri="{FF2B5EF4-FFF2-40B4-BE49-F238E27FC236}">
                  <a16:creationId xmlns:a16="http://schemas.microsoft.com/office/drawing/2014/main" id="{3048E510-46BD-9124-2E06-053F6B453BA6}"/>
                </a:ext>
              </a:extLst>
            </p:cNvPr>
            <p:cNvSpPr>
              <a:spLocks noChangeArrowheads="1"/>
            </p:cNvSpPr>
            <p:nvPr/>
          </p:nvSpPr>
          <p:spPr bwMode="auto">
            <a:xfrm>
              <a:off x="777" y="1881"/>
              <a:ext cx="827"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Actual 0 (Not Abusive)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22" name="Rectangle 92">
              <a:extLst>
                <a:ext uri="{FF2B5EF4-FFF2-40B4-BE49-F238E27FC236}">
                  <a16:creationId xmlns:a16="http://schemas.microsoft.com/office/drawing/2014/main" id="{38F16D38-F8FB-2941-CBD3-0931117D607D}"/>
                </a:ext>
              </a:extLst>
            </p:cNvPr>
            <p:cNvSpPr>
              <a:spLocks noChangeArrowheads="1"/>
            </p:cNvSpPr>
            <p:nvPr/>
          </p:nvSpPr>
          <p:spPr bwMode="auto">
            <a:xfrm>
              <a:off x="2796" y="1881"/>
              <a:ext cx="221"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1045</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23" name="Rectangle 93">
              <a:extLst>
                <a:ext uri="{FF2B5EF4-FFF2-40B4-BE49-F238E27FC236}">
                  <a16:creationId xmlns:a16="http://schemas.microsoft.com/office/drawing/2014/main" id="{92FA6ACB-7BE5-E277-B312-6C6B91063F07}"/>
                </a:ext>
              </a:extLst>
            </p:cNvPr>
            <p:cNvSpPr>
              <a:spLocks noChangeArrowheads="1"/>
            </p:cNvSpPr>
            <p:nvPr/>
          </p:nvSpPr>
          <p:spPr bwMode="auto">
            <a:xfrm>
              <a:off x="3767" y="1881"/>
              <a:ext cx="173"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573</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24" name="Rectangle 94">
              <a:extLst>
                <a:ext uri="{FF2B5EF4-FFF2-40B4-BE49-F238E27FC236}">
                  <a16:creationId xmlns:a16="http://schemas.microsoft.com/office/drawing/2014/main" id="{0C9C64F0-00FC-AA66-63AE-B1B2CA4BD9B6}"/>
                </a:ext>
              </a:extLst>
            </p:cNvPr>
            <p:cNvSpPr>
              <a:spLocks noChangeArrowheads="1"/>
            </p:cNvSpPr>
            <p:nvPr/>
          </p:nvSpPr>
          <p:spPr bwMode="auto">
            <a:xfrm>
              <a:off x="4570" y="1881"/>
              <a:ext cx="221"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1618</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25" name="Rectangle 95">
              <a:extLst>
                <a:ext uri="{FF2B5EF4-FFF2-40B4-BE49-F238E27FC236}">
                  <a16:creationId xmlns:a16="http://schemas.microsoft.com/office/drawing/2014/main" id="{7A518CA7-83E9-3A4A-1971-A17AFD18F369}"/>
                </a:ext>
              </a:extLst>
            </p:cNvPr>
            <p:cNvSpPr>
              <a:spLocks noChangeArrowheads="1"/>
            </p:cNvSpPr>
            <p:nvPr/>
          </p:nvSpPr>
          <p:spPr bwMode="auto">
            <a:xfrm>
              <a:off x="777" y="1996"/>
              <a:ext cx="678"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Actual 1 (Abusive)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26" name="Rectangle 96">
              <a:extLst>
                <a:ext uri="{FF2B5EF4-FFF2-40B4-BE49-F238E27FC236}">
                  <a16:creationId xmlns:a16="http://schemas.microsoft.com/office/drawing/2014/main" id="{21B1724C-AEF0-6039-5FFC-1F158FC11DFC}"/>
                </a:ext>
              </a:extLst>
            </p:cNvPr>
            <p:cNvSpPr>
              <a:spLocks noChangeArrowheads="1"/>
            </p:cNvSpPr>
            <p:nvPr/>
          </p:nvSpPr>
          <p:spPr bwMode="auto">
            <a:xfrm>
              <a:off x="2815" y="1996"/>
              <a:ext cx="173"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227</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27" name="Rectangle 97">
              <a:extLst>
                <a:ext uri="{FF2B5EF4-FFF2-40B4-BE49-F238E27FC236}">
                  <a16:creationId xmlns:a16="http://schemas.microsoft.com/office/drawing/2014/main" id="{CC90A3B3-9DCA-609C-90C4-99ED4EFB8D86}"/>
                </a:ext>
              </a:extLst>
            </p:cNvPr>
            <p:cNvSpPr>
              <a:spLocks noChangeArrowheads="1"/>
            </p:cNvSpPr>
            <p:nvPr/>
          </p:nvSpPr>
          <p:spPr bwMode="auto">
            <a:xfrm>
              <a:off x="3748" y="1996"/>
              <a:ext cx="221"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1576</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28" name="Rectangle 98">
              <a:extLst>
                <a:ext uri="{FF2B5EF4-FFF2-40B4-BE49-F238E27FC236}">
                  <a16:creationId xmlns:a16="http://schemas.microsoft.com/office/drawing/2014/main" id="{FD52E166-8C57-7617-56AA-271AA8C11710}"/>
                </a:ext>
              </a:extLst>
            </p:cNvPr>
            <p:cNvSpPr>
              <a:spLocks noChangeArrowheads="1"/>
            </p:cNvSpPr>
            <p:nvPr/>
          </p:nvSpPr>
          <p:spPr bwMode="auto">
            <a:xfrm>
              <a:off x="4570" y="1996"/>
              <a:ext cx="221"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1803</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29" name="Rectangle 99">
              <a:extLst>
                <a:ext uri="{FF2B5EF4-FFF2-40B4-BE49-F238E27FC236}">
                  <a16:creationId xmlns:a16="http://schemas.microsoft.com/office/drawing/2014/main" id="{7AAD9FDB-BCF5-C28A-C79B-C4383EDA6E4E}"/>
                </a:ext>
              </a:extLst>
            </p:cNvPr>
            <p:cNvSpPr>
              <a:spLocks noChangeArrowheads="1"/>
            </p:cNvSpPr>
            <p:nvPr/>
          </p:nvSpPr>
          <p:spPr bwMode="auto">
            <a:xfrm>
              <a:off x="777" y="2112"/>
              <a:ext cx="231"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a:ln>
                    <a:noFill/>
                  </a:ln>
                  <a:solidFill>
                    <a:srgbClr val="000000"/>
                  </a:solidFill>
                  <a:effectLst/>
                  <a:latin typeface="Calibri" panose="020F0502020204030204" pitchFamily="34" charset="0"/>
                </a:rPr>
                <a:t>Total</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30" name="Rectangle 100">
              <a:extLst>
                <a:ext uri="{FF2B5EF4-FFF2-40B4-BE49-F238E27FC236}">
                  <a16:creationId xmlns:a16="http://schemas.microsoft.com/office/drawing/2014/main" id="{7D7FD254-794A-AAD7-451A-20EC5A272792}"/>
                </a:ext>
              </a:extLst>
            </p:cNvPr>
            <p:cNvSpPr>
              <a:spLocks noChangeArrowheads="1"/>
            </p:cNvSpPr>
            <p:nvPr/>
          </p:nvSpPr>
          <p:spPr bwMode="auto">
            <a:xfrm>
              <a:off x="2796" y="2112"/>
              <a:ext cx="226"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a:ln>
                    <a:noFill/>
                  </a:ln>
                  <a:solidFill>
                    <a:srgbClr val="000000"/>
                  </a:solidFill>
                  <a:effectLst/>
                  <a:latin typeface="Calibri" panose="020F0502020204030204" pitchFamily="34" charset="0"/>
                </a:rPr>
                <a:t>1272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31" name="Rectangle 101">
              <a:extLst>
                <a:ext uri="{FF2B5EF4-FFF2-40B4-BE49-F238E27FC236}">
                  <a16:creationId xmlns:a16="http://schemas.microsoft.com/office/drawing/2014/main" id="{3C1855FC-1795-46D4-81DF-9C76A99D6FE8}"/>
                </a:ext>
              </a:extLst>
            </p:cNvPr>
            <p:cNvSpPr>
              <a:spLocks noChangeArrowheads="1"/>
            </p:cNvSpPr>
            <p:nvPr/>
          </p:nvSpPr>
          <p:spPr bwMode="auto">
            <a:xfrm>
              <a:off x="3748" y="2112"/>
              <a:ext cx="226"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a:ln>
                    <a:noFill/>
                  </a:ln>
                  <a:solidFill>
                    <a:srgbClr val="000000"/>
                  </a:solidFill>
                  <a:effectLst/>
                  <a:latin typeface="Calibri" panose="020F0502020204030204" pitchFamily="34" charset="0"/>
                </a:rPr>
                <a:t>2149</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32" name="Rectangle 102">
              <a:extLst>
                <a:ext uri="{FF2B5EF4-FFF2-40B4-BE49-F238E27FC236}">
                  <a16:creationId xmlns:a16="http://schemas.microsoft.com/office/drawing/2014/main" id="{42CABDFB-8306-EAA2-172C-A93DA498DA60}"/>
                </a:ext>
              </a:extLst>
            </p:cNvPr>
            <p:cNvSpPr>
              <a:spLocks noChangeArrowheads="1"/>
            </p:cNvSpPr>
            <p:nvPr/>
          </p:nvSpPr>
          <p:spPr bwMode="auto">
            <a:xfrm>
              <a:off x="4570" y="2112"/>
              <a:ext cx="226"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a:ln>
                    <a:noFill/>
                  </a:ln>
                  <a:solidFill>
                    <a:srgbClr val="000000"/>
                  </a:solidFill>
                  <a:effectLst/>
                  <a:latin typeface="Calibri" panose="020F0502020204030204" pitchFamily="34" charset="0"/>
                </a:rPr>
                <a:t>3421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33" name="Rectangle 103">
              <a:extLst>
                <a:ext uri="{FF2B5EF4-FFF2-40B4-BE49-F238E27FC236}">
                  <a16:creationId xmlns:a16="http://schemas.microsoft.com/office/drawing/2014/main" id="{09F21A03-4608-21B0-C43E-77AB39F2414E}"/>
                </a:ext>
              </a:extLst>
            </p:cNvPr>
            <p:cNvSpPr>
              <a:spLocks noChangeArrowheads="1"/>
            </p:cNvSpPr>
            <p:nvPr/>
          </p:nvSpPr>
          <p:spPr bwMode="auto">
            <a:xfrm>
              <a:off x="777" y="2348"/>
              <a:ext cx="615"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FFFFFF"/>
                  </a:solidFill>
                  <a:effectLst/>
                  <a:latin typeface="Calibri" panose="020F0502020204030204" pitchFamily="34" charset="0"/>
                </a:rPr>
                <a:t>Training Metrics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34" name="Rectangle 104">
              <a:extLst>
                <a:ext uri="{FF2B5EF4-FFF2-40B4-BE49-F238E27FC236}">
                  <a16:creationId xmlns:a16="http://schemas.microsoft.com/office/drawing/2014/main" id="{F44E1CCD-0714-91CC-9B10-46A6F12219E8}"/>
                </a:ext>
              </a:extLst>
            </p:cNvPr>
            <p:cNvSpPr>
              <a:spLocks noChangeArrowheads="1"/>
            </p:cNvSpPr>
            <p:nvPr/>
          </p:nvSpPr>
          <p:spPr bwMode="auto">
            <a:xfrm>
              <a:off x="777" y="2468"/>
              <a:ext cx="634"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a:ln>
                    <a:noFill/>
                  </a:ln>
                  <a:solidFill>
                    <a:srgbClr val="000000"/>
                  </a:solidFill>
                  <a:effectLst/>
                  <a:latin typeface="Calibri" panose="020F0502020204030204" pitchFamily="34" charset="0"/>
                </a:rPr>
                <a:t>Training Metrics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35" name="Rectangle 105">
              <a:extLst>
                <a:ext uri="{FF2B5EF4-FFF2-40B4-BE49-F238E27FC236}">
                  <a16:creationId xmlns:a16="http://schemas.microsoft.com/office/drawing/2014/main" id="{C947D26D-F7BF-CF3E-3789-38B4504E98A2}"/>
                </a:ext>
              </a:extLst>
            </p:cNvPr>
            <p:cNvSpPr>
              <a:spLocks noChangeArrowheads="1"/>
            </p:cNvSpPr>
            <p:nvPr/>
          </p:nvSpPr>
          <p:spPr bwMode="auto">
            <a:xfrm>
              <a:off x="2777" y="2468"/>
              <a:ext cx="255"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a:ln>
                    <a:noFill/>
                  </a:ln>
                  <a:solidFill>
                    <a:srgbClr val="000000"/>
                  </a:solidFill>
                  <a:effectLst/>
                  <a:latin typeface="Calibri" panose="020F0502020204030204" pitchFamily="34" charset="0"/>
                </a:rPr>
                <a:t>Value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36" name="Rectangle 106">
              <a:extLst>
                <a:ext uri="{FF2B5EF4-FFF2-40B4-BE49-F238E27FC236}">
                  <a16:creationId xmlns:a16="http://schemas.microsoft.com/office/drawing/2014/main" id="{83038E27-B2A7-CC6D-BB3E-F36A7EE9968A}"/>
                </a:ext>
              </a:extLst>
            </p:cNvPr>
            <p:cNvSpPr>
              <a:spLocks noChangeArrowheads="1"/>
            </p:cNvSpPr>
            <p:nvPr/>
          </p:nvSpPr>
          <p:spPr bwMode="auto">
            <a:xfrm>
              <a:off x="777" y="2588"/>
              <a:ext cx="572"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Accuracy (ACC)</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37" name="Rectangle 107">
              <a:extLst>
                <a:ext uri="{FF2B5EF4-FFF2-40B4-BE49-F238E27FC236}">
                  <a16:creationId xmlns:a16="http://schemas.microsoft.com/office/drawing/2014/main" id="{02B58934-7586-F729-8817-6B467C80C59F}"/>
                </a:ext>
              </a:extLst>
            </p:cNvPr>
            <p:cNvSpPr>
              <a:spLocks noChangeArrowheads="1"/>
            </p:cNvSpPr>
            <p:nvPr/>
          </p:nvSpPr>
          <p:spPr bwMode="auto">
            <a:xfrm>
              <a:off x="2599" y="2588"/>
              <a:ext cx="615"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0.7662 (76.62%)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38" name="Rectangle 108">
              <a:extLst>
                <a:ext uri="{FF2B5EF4-FFF2-40B4-BE49-F238E27FC236}">
                  <a16:creationId xmlns:a16="http://schemas.microsoft.com/office/drawing/2014/main" id="{ACB4E6DF-DEC7-155A-AFF9-302E2EF2D591}"/>
                </a:ext>
              </a:extLst>
            </p:cNvPr>
            <p:cNvSpPr>
              <a:spLocks noChangeArrowheads="1"/>
            </p:cNvSpPr>
            <p:nvPr/>
          </p:nvSpPr>
          <p:spPr bwMode="auto">
            <a:xfrm>
              <a:off x="777" y="2704"/>
              <a:ext cx="846"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Calibri" panose="020F0502020204030204" pitchFamily="34" charset="0"/>
                </a:rPr>
                <a:t>Sensitivity (TPR/Recall)</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39" name="Rectangle 109">
              <a:extLst>
                <a:ext uri="{FF2B5EF4-FFF2-40B4-BE49-F238E27FC236}">
                  <a16:creationId xmlns:a16="http://schemas.microsoft.com/office/drawing/2014/main" id="{87D634D0-3CCE-C76F-BF7C-7C86A968F1C1}"/>
                </a:ext>
              </a:extLst>
            </p:cNvPr>
            <p:cNvSpPr>
              <a:spLocks noChangeArrowheads="1"/>
            </p:cNvSpPr>
            <p:nvPr/>
          </p:nvSpPr>
          <p:spPr bwMode="auto">
            <a:xfrm>
              <a:off x="2599" y="2704"/>
              <a:ext cx="615"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0.8741 (87.41%)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40" name="Rectangle 110">
              <a:extLst>
                <a:ext uri="{FF2B5EF4-FFF2-40B4-BE49-F238E27FC236}">
                  <a16:creationId xmlns:a16="http://schemas.microsoft.com/office/drawing/2014/main" id="{BCE0AFBA-9959-AE14-AFE9-661A08FECFEA}"/>
                </a:ext>
              </a:extLst>
            </p:cNvPr>
            <p:cNvSpPr>
              <a:spLocks noChangeArrowheads="1"/>
            </p:cNvSpPr>
            <p:nvPr/>
          </p:nvSpPr>
          <p:spPr bwMode="auto">
            <a:xfrm>
              <a:off x="777" y="2819"/>
              <a:ext cx="572"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Precision (PPV)</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41" name="Rectangle 111">
              <a:extLst>
                <a:ext uri="{FF2B5EF4-FFF2-40B4-BE49-F238E27FC236}">
                  <a16:creationId xmlns:a16="http://schemas.microsoft.com/office/drawing/2014/main" id="{DC6C8D2E-89B0-4610-5CD4-FE14B444CA63}"/>
                </a:ext>
              </a:extLst>
            </p:cNvPr>
            <p:cNvSpPr>
              <a:spLocks noChangeArrowheads="1"/>
            </p:cNvSpPr>
            <p:nvPr/>
          </p:nvSpPr>
          <p:spPr bwMode="auto">
            <a:xfrm>
              <a:off x="2599" y="2819"/>
              <a:ext cx="615"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0.7334 (73.34%)</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42" name="Rectangle 112">
              <a:extLst>
                <a:ext uri="{FF2B5EF4-FFF2-40B4-BE49-F238E27FC236}">
                  <a16:creationId xmlns:a16="http://schemas.microsoft.com/office/drawing/2014/main" id="{C4FAF89E-7E78-E4E2-170E-DAA799C5DC0F}"/>
                </a:ext>
              </a:extLst>
            </p:cNvPr>
            <p:cNvSpPr>
              <a:spLocks noChangeArrowheads="1"/>
            </p:cNvSpPr>
            <p:nvPr/>
          </p:nvSpPr>
          <p:spPr bwMode="auto">
            <a:xfrm>
              <a:off x="777" y="2934"/>
              <a:ext cx="601"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Specificity (SPC)</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43" name="Rectangle 113">
              <a:extLst>
                <a:ext uri="{FF2B5EF4-FFF2-40B4-BE49-F238E27FC236}">
                  <a16:creationId xmlns:a16="http://schemas.microsoft.com/office/drawing/2014/main" id="{696DCFAE-EFB5-2F44-BCF0-BBCBD2F51FE9}"/>
                </a:ext>
              </a:extLst>
            </p:cNvPr>
            <p:cNvSpPr>
              <a:spLocks noChangeArrowheads="1"/>
            </p:cNvSpPr>
            <p:nvPr/>
          </p:nvSpPr>
          <p:spPr bwMode="auto">
            <a:xfrm>
              <a:off x="2599" y="2934"/>
              <a:ext cx="615"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0.6459 (64.59%)</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44" name="Rectangle 114">
              <a:extLst>
                <a:ext uri="{FF2B5EF4-FFF2-40B4-BE49-F238E27FC236}">
                  <a16:creationId xmlns:a16="http://schemas.microsoft.com/office/drawing/2014/main" id="{DF6BE75A-62E5-8A8A-170F-0F4C64356C1C}"/>
                </a:ext>
              </a:extLst>
            </p:cNvPr>
            <p:cNvSpPr>
              <a:spLocks noChangeArrowheads="1"/>
            </p:cNvSpPr>
            <p:nvPr/>
          </p:nvSpPr>
          <p:spPr bwMode="auto">
            <a:xfrm>
              <a:off x="777" y="3050"/>
              <a:ext cx="341"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F1 Score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45" name="Rectangle 115">
              <a:extLst>
                <a:ext uri="{FF2B5EF4-FFF2-40B4-BE49-F238E27FC236}">
                  <a16:creationId xmlns:a16="http://schemas.microsoft.com/office/drawing/2014/main" id="{39D23573-2D09-7C32-1FF5-A63995EDDE08}"/>
                </a:ext>
              </a:extLst>
            </p:cNvPr>
            <p:cNvSpPr>
              <a:spLocks noChangeArrowheads="1"/>
            </p:cNvSpPr>
            <p:nvPr/>
          </p:nvSpPr>
          <p:spPr bwMode="auto">
            <a:xfrm>
              <a:off x="2599" y="3050"/>
              <a:ext cx="615"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0.7976 (79.76%)</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46" name="Rectangle 116">
              <a:extLst>
                <a:ext uri="{FF2B5EF4-FFF2-40B4-BE49-F238E27FC236}">
                  <a16:creationId xmlns:a16="http://schemas.microsoft.com/office/drawing/2014/main" id="{D1739CE7-B0A0-5FE0-5A54-D1E4899AECD4}"/>
                </a:ext>
              </a:extLst>
            </p:cNvPr>
            <p:cNvSpPr>
              <a:spLocks noChangeArrowheads="1"/>
            </p:cNvSpPr>
            <p:nvPr/>
          </p:nvSpPr>
          <p:spPr bwMode="auto">
            <a:xfrm>
              <a:off x="777" y="3165"/>
              <a:ext cx="639"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Matthews (MCC)</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47" name="Rectangle 117">
              <a:extLst>
                <a:ext uri="{FF2B5EF4-FFF2-40B4-BE49-F238E27FC236}">
                  <a16:creationId xmlns:a16="http://schemas.microsoft.com/office/drawing/2014/main" id="{8963E547-788D-0C45-379F-EE9F687F6BB5}"/>
                </a:ext>
              </a:extLst>
            </p:cNvPr>
            <p:cNvSpPr>
              <a:spLocks noChangeArrowheads="1"/>
            </p:cNvSpPr>
            <p:nvPr/>
          </p:nvSpPr>
          <p:spPr bwMode="auto">
            <a:xfrm>
              <a:off x="2599" y="3165"/>
              <a:ext cx="615"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0.5371 (53.71%)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48" name="Rectangle 118">
              <a:extLst>
                <a:ext uri="{FF2B5EF4-FFF2-40B4-BE49-F238E27FC236}">
                  <a16:creationId xmlns:a16="http://schemas.microsoft.com/office/drawing/2014/main" id="{73479CA6-F516-5768-F228-7B64CB570ECD}"/>
                </a:ext>
              </a:extLst>
            </p:cNvPr>
            <p:cNvSpPr>
              <a:spLocks noChangeArrowheads="1"/>
            </p:cNvSpPr>
            <p:nvPr/>
          </p:nvSpPr>
          <p:spPr bwMode="auto">
            <a:xfrm>
              <a:off x="1839" y="1087"/>
              <a:ext cx="2149"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a:ln>
                    <a:noFill/>
                  </a:ln>
                  <a:solidFill>
                    <a:srgbClr val="FFFFFF"/>
                  </a:solidFill>
                  <a:effectLst/>
                  <a:latin typeface="Calibri" panose="020F0502020204030204" pitchFamily="34" charset="0"/>
                </a:rPr>
                <a:t>Confusion Matrix Multinomial NB |Validation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49" name="Rectangle 119">
              <a:extLst>
                <a:ext uri="{FF2B5EF4-FFF2-40B4-BE49-F238E27FC236}">
                  <a16:creationId xmlns:a16="http://schemas.microsoft.com/office/drawing/2014/main" id="{0A5BDF5A-403A-98D1-E2FA-E70EE1921666}"/>
                </a:ext>
              </a:extLst>
            </p:cNvPr>
            <p:cNvSpPr>
              <a:spLocks noChangeArrowheads="1"/>
            </p:cNvSpPr>
            <p:nvPr/>
          </p:nvSpPr>
          <p:spPr bwMode="auto">
            <a:xfrm>
              <a:off x="777" y="1414"/>
              <a:ext cx="1242"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dirty="0">
                  <a:ln>
                    <a:noFill/>
                  </a:ln>
                  <a:solidFill>
                    <a:srgbClr val="FFFFFF"/>
                  </a:solidFill>
                  <a:effectLst/>
                  <a:latin typeface="Calibri" panose="020F0502020204030204" pitchFamily="34" charset="0"/>
                </a:rPr>
                <a:t>Confusion Matrix Multinomial NB</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50" name="Rectangle 120">
              <a:extLst>
                <a:ext uri="{FF2B5EF4-FFF2-40B4-BE49-F238E27FC236}">
                  <a16:creationId xmlns:a16="http://schemas.microsoft.com/office/drawing/2014/main" id="{2E7AE022-83EB-A97E-1F93-F3850308D570}"/>
                </a:ext>
              </a:extLst>
            </p:cNvPr>
            <p:cNvSpPr>
              <a:spLocks noChangeArrowheads="1"/>
            </p:cNvSpPr>
            <p:nvPr/>
          </p:nvSpPr>
          <p:spPr bwMode="auto">
            <a:xfrm>
              <a:off x="3531" y="1583"/>
              <a:ext cx="394"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a:ln>
                    <a:noFill/>
                  </a:ln>
                  <a:solidFill>
                    <a:srgbClr val="000000"/>
                  </a:solidFill>
                  <a:effectLst/>
                  <a:latin typeface="Calibri" panose="020F0502020204030204" pitchFamily="34" charset="0"/>
                </a:rPr>
                <a:t>Predicted</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51" name="Rectangle 121">
              <a:extLst>
                <a:ext uri="{FF2B5EF4-FFF2-40B4-BE49-F238E27FC236}">
                  <a16:creationId xmlns:a16="http://schemas.microsoft.com/office/drawing/2014/main" id="{15C51293-4BA5-249E-A7E9-A95E40DD18AC}"/>
                </a:ext>
              </a:extLst>
            </p:cNvPr>
            <p:cNvSpPr>
              <a:spLocks noChangeArrowheads="1"/>
            </p:cNvSpPr>
            <p:nvPr/>
          </p:nvSpPr>
          <p:spPr bwMode="auto">
            <a:xfrm>
              <a:off x="753" y="1039"/>
              <a:ext cx="10" cy="231"/>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2" name="Rectangle 122">
              <a:extLst>
                <a:ext uri="{FF2B5EF4-FFF2-40B4-BE49-F238E27FC236}">
                  <a16:creationId xmlns:a16="http://schemas.microsoft.com/office/drawing/2014/main" id="{F54B36A3-FC5B-AB5A-AD0A-AA523B7162B6}"/>
                </a:ext>
              </a:extLst>
            </p:cNvPr>
            <p:cNvSpPr>
              <a:spLocks noChangeArrowheads="1"/>
            </p:cNvSpPr>
            <p:nvPr/>
          </p:nvSpPr>
          <p:spPr bwMode="auto">
            <a:xfrm>
              <a:off x="4993" y="1049"/>
              <a:ext cx="9" cy="221"/>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3" name="Rectangle 123">
              <a:extLst>
                <a:ext uri="{FF2B5EF4-FFF2-40B4-BE49-F238E27FC236}">
                  <a16:creationId xmlns:a16="http://schemas.microsoft.com/office/drawing/2014/main" id="{7CA8271E-1AD4-21A0-2A2B-391DB40163DA}"/>
                </a:ext>
              </a:extLst>
            </p:cNvPr>
            <p:cNvSpPr>
              <a:spLocks noChangeArrowheads="1"/>
            </p:cNvSpPr>
            <p:nvPr/>
          </p:nvSpPr>
          <p:spPr bwMode="auto">
            <a:xfrm>
              <a:off x="753" y="1376"/>
              <a:ext cx="10" cy="851"/>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4" name="Rectangle 124">
              <a:extLst>
                <a:ext uri="{FF2B5EF4-FFF2-40B4-BE49-F238E27FC236}">
                  <a16:creationId xmlns:a16="http://schemas.microsoft.com/office/drawing/2014/main" id="{216E16A8-D2E1-B373-FEB2-4856A5ECDA50}"/>
                </a:ext>
              </a:extLst>
            </p:cNvPr>
            <p:cNvSpPr>
              <a:spLocks noChangeArrowheads="1"/>
            </p:cNvSpPr>
            <p:nvPr/>
          </p:nvSpPr>
          <p:spPr bwMode="auto">
            <a:xfrm>
              <a:off x="2397" y="1559"/>
              <a:ext cx="10" cy="668"/>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5" name="Rectangle 125">
              <a:extLst>
                <a:ext uri="{FF2B5EF4-FFF2-40B4-BE49-F238E27FC236}">
                  <a16:creationId xmlns:a16="http://schemas.microsoft.com/office/drawing/2014/main" id="{E5478319-4BE3-4429-4597-560D65C7D54D}"/>
                </a:ext>
              </a:extLst>
            </p:cNvPr>
            <p:cNvSpPr>
              <a:spLocks noChangeArrowheads="1"/>
            </p:cNvSpPr>
            <p:nvPr/>
          </p:nvSpPr>
          <p:spPr bwMode="auto">
            <a:xfrm>
              <a:off x="3349" y="1717"/>
              <a:ext cx="9" cy="510"/>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6" name="Rectangle 126">
              <a:extLst>
                <a:ext uri="{FF2B5EF4-FFF2-40B4-BE49-F238E27FC236}">
                  <a16:creationId xmlns:a16="http://schemas.microsoft.com/office/drawing/2014/main" id="{182F4B22-DD72-9FEF-FAFB-61F04D1F69C9}"/>
                </a:ext>
              </a:extLst>
            </p:cNvPr>
            <p:cNvSpPr>
              <a:spLocks noChangeArrowheads="1"/>
            </p:cNvSpPr>
            <p:nvPr/>
          </p:nvSpPr>
          <p:spPr bwMode="auto">
            <a:xfrm>
              <a:off x="753" y="2453"/>
              <a:ext cx="10" cy="823"/>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7" name="Rectangle 127">
              <a:extLst>
                <a:ext uri="{FF2B5EF4-FFF2-40B4-BE49-F238E27FC236}">
                  <a16:creationId xmlns:a16="http://schemas.microsoft.com/office/drawing/2014/main" id="{BB8DD476-FBE6-BBE4-1D64-4E3AA3168793}"/>
                </a:ext>
              </a:extLst>
            </p:cNvPr>
            <p:cNvSpPr>
              <a:spLocks noChangeArrowheads="1"/>
            </p:cNvSpPr>
            <p:nvPr/>
          </p:nvSpPr>
          <p:spPr bwMode="auto">
            <a:xfrm>
              <a:off x="4993" y="1386"/>
              <a:ext cx="9" cy="841"/>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8" name="Rectangle 128">
              <a:extLst>
                <a:ext uri="{FF2B5EF4-FFF2-40B4-BE49-F238E27FC236}">
                  <a16:creationId xmlns:a16="http://schemas.microsoft.com/office/drawing/2014/main" id="{17940B2D-8034-28F9-71E8-264232A51768}"/>
                </a:ext>
              </a:extLst>
            </p:cNvPr>
            <p:cNvSpPr>
              <a:spLocks noChangeArrowheads="1"/>
            </p:cNvSpPr>
            <p:nvPr/>
          </p:nvSpPr>
          <p:spPr bwMode="auto">
            <a:xfrm>
              <a:off x="2397" y="2463"/>
              <a:ext cx="10" cy="813"/>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9" name="Rectangle 129">
              <a:extLst>
                <a:ext uri="{FF2B5EF4-FFF2-40B4-BE49-F238E27FC236}">
                  <a16:creationId xmlns:a16="http://schemas.microsoft.com/office/drawing/2014/main" id="{2BB50733-6032-F735-5B6F-9F77F105906B}"/>
                </a:ext>
              </a:extLst>
            </p:cNvPr>
            <p:cNvSpPr>
              <a:spLocks noChangeArrowheads="1"/>
            </p:cNvSpPr>
            <p:nvPr/>
          </p:nvSpPr>
          <p:spPr bwMode="auto">
            <a:xfrm>
              <a:off x="3349" y="2463"/>
              <a:ext cx="9" cy="813"/>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0" name="Rectangle 130">
              <a:extLst>
                <a:ext uri="{FF2B5EF4-FFF2-40B4-BE49-F238E27FC236}">
                  <a16:creationId xmlns:a16="http://schemas.microsoft.com/office/drawing/2014/main" id="{A76FF1F5-EEEA-473B-1096-5C30054E31E3}"/>
                </a:ext>
              </a:extLst>
            </p:cNvPr>
            <p:cNvSpPr>
              <a:spLocks noChangeArrowheads="1"/>
            </p:cNvSpPr>
            <p:nvPr/>
          </p:nvSpPr>
          <p:spPr bwMode="auto">
            <a:xfrm>
              <a:off x="4300" y="1717"/>
              <a:ext cx="10" cy="510"/>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1" name="Rectangle 131">
              <a:extLst>
                <a:ext uri="{FF2B5EF4-FFF2-40B4-BE49-F238E27FC236}">
                  <a16:creationId xmlns:a16="http://schemas.microsoft.com/office/drawing/2014/main" id="{74EDFCBC-D4CB-B3C8-6B40-411ECAD88854}"/>
                </a:ext>
              </a:extLst>
            </p:cNvPr>
            <p:cNvSpPr>
              <a:spLocks noChangeArrowheads="1"/>
            </p:cNvSpPr>
            <p:nvPr/>
          </p:nvSpPr>
          <p:spPr bwMode="auto">
            <a:xfrm>
              <a:off x="763" y="1039"/>
              <a:ext cx="4239" cy="10"/>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2" name="Rectangle 132">
              <a:extLst>
                <a:ext uri="{FF2B5EF4-FFF2-40B4-BE49-F238E27FC236}">
                  <a16:creationId xmlns:a16="http://schemas.microsoft.com/office/drawing/2014/main" id="{A5C225FA-D29F-D3D6-9227-EDA939E9DA81}"/>
                </a:ext>
              </a:extLst>
            </p:cNvPr>
            <p:cNvSpPr>
              <a:spLocks noChangeArrowheads="1"/>
            </p:cNvSpPr>
            <p:nvPr/>
          </p:nvSpPr>
          <p:spPr bwMode="auto">
            <a:xfrm>
              <a:off x="763" y="1260"/>
              <a:ext cx="4239" cy="10"/>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3" name="Rectangle 133">
              <a:extLst>
                <a:ext uri="{FF2B5EF4-FFF2-40B4-BE49-F238E27FC236}">
                  <a16:creationId xmlns:a16="http://schemas.microsoft.com/office/drawing/2014/main" id="{36BD7D82-52C9-825B-FBE1-0702742B43C9}"/>
                </a:ext>
              </a:extLst>
            </p:cNvPr>
            <p:cNvSpPr>
              <a:spLocks noChangeArrowheads="1"/>
            </p:cNvSpPr>
            <p:nvPr/>
          </p:nvSpPr>
          <p:spPr bwMode="auto">
            <a:xfrm>
              <a:off x="763" y="1376"/>
              <a:ext cx="4239" cy="10"/>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4" name="Rectangle 134">
              <a:extLst>
                <a:ext uri="{FF2B5EF4-FFF2-40B4-BE49-F238E27FC236}">
                  <a16:creationId xmlns:a16="http://schemas.microsoft.com/office/drawing/2014/main" id="{9CD3D93C-4EB3-D608-4020-27A3AE2EDD58}"/>
                </a:ext>
              </a:extLst>
            </p:cNvPr>
            <p:cNvSpPr>
              <a:spLocks noChangeArrowheads="1"/>
            </p:cNvSpPr>
            <p:nvPr/>
          </p:nvSpPr>
          <p:spPr bwMode="auto">
            <a:xfrm>
              <a:off x="763" y="1549"/>
              <a:ext cx="4239" cy="10"/>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5" name="Rectangle 135">
              <a:extLst>
                <a:ext uri="{FF2B5EF4-FFF2-40B4-BE49-F238E27FC236}">
                  <a16:creationId xmlns:a16="http://schemas.microsoft.com/office/drawing/2014/main" id="{D332F1B1-C8FA-D292-6453-7BE4652061F2}"/>
                </a:ext>
              </a:extLst>
            </p:cNvPr>
            <p:cNvSpPr>
              <a:spLocks noChangeArrowheads="1"/>
            </p:cNvSpPr>
            <p:nvPr/>
          </p:nvSpPr>
          <p:spPr bwMode="auto">
            <a:xfrm>
              <a:off x="763" y="1708"/>
              <a:ext cx="4239" cy="9"/>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6" name="Rectangle 136">
              <a:extLst>
                <a:ext uri="{FF2B5EF4-FFF2-40B4-BE49-F238E27FC236}">
                  <a16:creationId xmlns:a16="http://schemas.microsoft.com/office/drawing/2014/main" id="{C4FAA130-01D4-41C6-B27F-854988D025F9}"/>
                </a:ext>
              </a:extLst>
            </p:cNvPr>
            <p:cNvSpPr>
              <a:spLocks noChangeArrowheads="1"/>
            </p:cNvSpPr>
            <p:nvPr/>
          </p:nvSpPr>
          <p:spPr bwMode="auto">
            <a:xfrm>
              <a:off x="763" y="1867"/>
              <a:ext cx="4239" cy="9"/>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7" name="Rectangle 137">
              <a:extLst>
                <a:ext uri="{FF2B5EF4-FFF2-40B4-BE49-F238E27FC236}">
                  <a16:creationId xmlns:a16="http://schemas.microsoft.com/office/drawing/2014/main" id="{1846DABE-54F5-C1AF-218B-5F127018ABDF}"/>
                </a:ext>
              </a:extLst>
            </p:cNvPr>
            <p:cNvSpPr>
              <a:spLocks noChangeArrowheads="1"/>
            </p:cNvSpPr>
            <p:nvPr/>
          </p:nvSpPr>
          <p:spPr bwMode="auto">
            <a:xfrm>
              <a:off x="763" y="1982"/>
              <a:ext cx="4239" cy="10"/>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8" name="Rectangle 138">
              <a:extLst>
                <a:ext uri="{FF2B5EF4-FFF2-40B4-BE49-F238E27FC236}">
                  <a16:creationId xmlns:a16="http://schemas.microsoft.com/office/drawing/2014/main" id="{61101892-CDAA-1E79-B468-A8165D0D557D}"/>
                </a:ext>
              </a:extLst>
            </p:cNvPr>
            <p:cNvSpPr>
              <a:spLocks noChangeArrowheads="1"/>
            </p:cNvSpPr>
            <p:nvPr/>
          </p:nvSpPr>
          <p:spPr bwMode="auto">
            <a:xfrm>
              <a:off x="763" y="2097"/>
              <a:ext cx="4239" cy="10"/>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9" name="Rectangle 139">
              <a:extLst>
                <a:ext uri="{FF2B5EF4-FFF2-40B4-BE49-F238E27FC236}">
                  <a16:creationId xmlns:a16="http://schemas.microsoft.com/office/drawing/2014/main" id="{6AB23CCD-A18A-5C24-F5E3-5C9FF0DA4D38}"/>
                </a:ext>
              </a:extLst>
            </p:cNvPr>
            <p:cNvSpPr>
              <a:spLocks noChangeArrowheads="1"/>
            </p:cNvSpPr>
            <p:nvPr/>
          </p:nvSpPr>
          <p:spPr bwMode="auto">
            <a:xfrm>
              <a:off x="763" y="2218"/>
              <a:ext cx="4239" cy="9"/>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0" name="Rectangle 140">
              <a:extLst>
                <a:ext uri="{FF2B5EF4-FFF2-40B4-BE49-F238E27FC236}">
                  <a16:creationId xmlns:a16="http://schemas.microsoft.com/office/drawing/2014/main" id="{D6A80CC5-3556-2008-2FA5-DFB9453E076E}"/>
                </a:ext>
              </a:extLst>
            </p:cNvPr>
            <p:cNvSpPr>
              <a:spLocks noChangeArrowheads="1"/>
            </p:cNvSpPr>
            <p:nvPr/>
          </p:nvSpPr>
          <p:spPr bwMode="auto">
            <a:xfrm>
              <a:off x="763" y="2453"/>
              <a:ext cx="2595" cy="10"/>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1" name="Rectangle 141">
              <a:extLst>
                <a:ext uri="{FF2B5EF4-FFF2-40B4-BE49-F238E27FC236}">
                  <a16:creationId xmlns:a16="http://schemas.microsoft.com/office/drawing/2014/main" id="{55B7CA25-38CA-5D3A-77A1-837217432764}"/>
                </a:ext>
              </a:extLst>
            </p:cNvPr>
            <p:cNvSpPr>
              <a:spLocks noChangeArrowheads="1"/>
            </p:cNvSpPr>
            <p:nvPr/>
          </p:nvSpPr>
          <p:spPr bwMode="auto">
            <a:xfrm>
              <a:off x="763" y="2574"/>
              <a:ext cx="2595" cy="9"/>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2" name="Rectangle 142">
              <a:extLst>
                <a:ext uri="{FF2B5EF4-FFF2-40B4-BE49-F238E27FC236}">
                  <a16:creationId xmlns:a16="http://schemas.microsoft.com/office/drawing/2014/main" id="{D1962A72-B638-9ED1-FB08-9116FDBF34C2}"/>
                </a:ext>
              </a:extLst>
            </p:cNvPr>
            <p:cNvSpPr>
              <a:spLocks noChangeArrowheads="1"/>
            </p:cNvSpPr>
            <p:nvPr/>
          </p:nvSpPr>
          <p:spPr bwMode="auto">
            <a:xfrm>
              <a:off x="763" y="2689"/>
              <a:ext cx="2595" cy="10"/>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3" name="Rectangle 143">
              <a:extLst>
                <a:ext uri="{FF2B5EF4-FFF2-40B4-BE49-F238E27FC236}">
                  <a16:creationId xmlns:a16="http://schemas.microsoft.com/office/drawing/2014/main" id="{69A92C31-2D77-82FA-CB16-9ACA9AB14419}"/>
                </a:ext>
              </a:extLst>
            </p:cNvPr>
            <p:cNvSpPr>
              <a:spLocks noChangeArrowheads="1"/>
            </p:cNvSpPr>
            <p:nvPr/>
          </p:nvSpPr>
          <p:spPr bwMode="auto">
            <a:xfrm>
              <a:off x="763" y="2805"/>
              <a:ext cx="2595" cy="9"/>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4" name="Rectangle 144">
              <a:extLst>
                <a:ext uri="{FF2B5EF4-FFF2-40B4-BE49-F238E27FC236}">
                  <a16:creationId xmlns:a16="http://schemas.microsoft.com/office/drawing/2014/main" id="{192AA059-3B97-70AA-6A79-86F1C51338CF}"/>
                </a:ext>
              </a:extLst>
            </p:cNvPr>
            <p:cNvSpPr>
              <a:spLocks noChangeArrowheads="1"/>
            </p:cNvSpPr>
            <p:nvPr/>
          </p:nvSpPr>
          <p:spPr bwMode="auto">
            <a:xfrm>
              <a:off x="763" y="2920"/>
              <a:ext cx="2595" cy="10"/>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5" name="Rectangle 145">
              <a:extLst>
                <a:ext uri="{FF2B5EF4-FFF2-40B4-BE49-F238E27FC236}">
                  <a16:creationId xmlns:a16="http://schemas.microsoft.com/office/drawing/2014/main" id="{C2E27271-ADDA-8A70-43F6-A989D4C5FB2D}"/>
                </a:ext>
              </a:extLst>
            </p:cNvPr>
            <p:cNvSpPr>
              <a:spLocks noChangeArrowheads="1"/>
            </p:cNvSpPr>
            <p:nvPr/>
          </p:nvSpPr>
          <p:spPr bwMode="auto">
            <a:xfrm>
              <a:off x="763" y="3035"/>
              <a:ext cx="2595" cy="10"/>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6" name="Rectangle 146">
              <a:extLst>
                <a:ext uri="{FF2B5EF4-FFF2-40B4-BE49-F238E27FC236}">
                  <a16:creationId xmlns:a16="http://schemas.microsoft.com/office/drawing/2014/main" id="{704A8962-14A0-FA12-6945-E7C84424F38D}"/>
                </a:ext>
              </a:extLst>
            </p:cNvPr>
            <p:cNvSpPr>
              <a:spLocks noChangeArrowheads="1"/>
            </p:cNvSpPr>
            <p:nvPr/>
          </p:nvSpPr>
          <p:spPr bwMode="auto">
            <a:xfrm>
              <a:off x="763" y="3151"/>
              <a:ext cx="2595" cy="10"/>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7" name="Rectangle 147">
              <a:extLst>
                <a:ext uri="{FF2B5EF4-FFF2-40B4-BE49-F238E27FC236}">
                  <a16:creationId xmlns:a16="http://schemas.microsoft.com/office/drawing/2014/main" id="{3900D511-C523-9568-9295-03313C1BAF48}"/>
                </a:ext>
              </a:extLst>
            </p:cNvPr>
            <p:cNvSpPr>
              <a:spLocks noChangeArrowheads="1"/>
            </p:cNvSpPr>
            <p:nvPr/>
          </p:nvSpPr>
          <p:spPr bwMode="auto">
            <a:xfrm>
              <a:off x="763" y="3266"/>
              <a:ext cx="2595" cy="10"/>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4486955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65B964-DB63-3971-D2E5-AF88D28B881C}"/>
            </a:ext>
          </a:extLst>
        </p:cNvPr>
        <p:cNvGrpSpPr/>
        <p:nvPr/>
      </p:nvGrpSpPr>
      <p:grpSpPr>
        <a:xfrm>
          <a:off x="0" y="0"/>
          <a:ext cx="0" cy="0"/>
          <a:chOff x="0" y="0"/>
          <a:chExt cx="0" cy="0"/>
        </a:xfrm>
      </p:grpSpPr>
      <p:sp>
        <p:nvSpPr>
          <p:cNvPr id="5" name="object 2">
            <a:extLst>
              <a:ext uri="{FF2B5EF4-FFF2-40B4-BE49-F238E27FC236}">
                <a16:creationId xmlns:a16="http://schemas.microsoft.com/office/drawing/2014/main" id="{7A8D5395-AF91-CB89-2EDA-8B98AAE3498E}"/>
              </a:ext>
            </a:extLst>
          </p:cNvPr>
          <p:cNvSpPr txBox="1">
            <a:spLocks/>
          </p:cNvSpPr>
          <p:nvPr/>
        </p:nvSpPr>
        <p:spPr>
          <a:xfrm>
            <a:off x="228600" y="128016"/>
            <a:ext cx="8373533" cy="984885"/>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pPr>
              <a:lnSpc>
                <a:spcPct val="100000"/>
              </a:lnSpc>
              <a:spcBef>
                <a:spcPts val="0"/>
              </a:spcBef>
            </a:pPr>
            <a:r>
              <a:rPr lang="en-US" dirty="0"/>
              <a:t>Models: Naive Bayes | Confusion Matrix |</a:t>
            </a:r>
          </a:p>
          <a:p>
            <a:pPr>
              <a:lnSpc>
                <a:spcPct val="100000"/>
              </a:lnSpc>
              <a:spcBef>
                <a:spcPts val="0"/>
              </a:spcBef>
            </a:pPr>
            <a:r>
              <a:rPr lang="en-US" dirty="0"/>
              <a:t>Bernoulli NB | Training</a:t>
            </a:r>
            <a:endParaRPr lang="en-US" spc="-20" dirty="0">
              <a:solidFill>
                <a:srgbClr val="2D3B45"/>
              </a:solidFill>
            </a:endParaRPr>
          </a:p>
        </p:txBody>
      </p:sp>
      <p:sp>
        <p:nvSpPr>
          <p:cNvPr id="7" name="Slide Number Placeholder 4">
            <a:extLst>
              <a:ext uri="{FF2B5EF4-FFF2-40B4-BE49-F238E27FC236}">
                <a16:creationId xmlns:a16="http://schemas.microsoft.com/office/drawing/2014/main" id="{1C060D19-89A9-0F01-3F01-9FB2D9A4F873}"/>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27</a:t>
            </a:fld>
            <a:endParaRPr lang="en-US" dirty="0">
              <a:solidFill>
                <a:srgbClr val="000000"/>
              </a:solidFill>
            </a:endParaRPr>
          </a:p>
        </p:txBody>
      </p:sp>
      <p:pic>
        <p:nvPicPr>
          <p:cNvPr id="6" name="Picture 5">
            <a:extLst>
              <a:ext uri="{FF2B5EF4-FFF2-40B4-BE49-F238E27FC236}">
                <a16:creationId xmlns:a16="http://schemas.microsoft.com/office/drawing/2014/main" id="{DB359FC6-B874-A733-343F-E55F81423AB4}"/>
              </a:ext>
            </a:extLst>
          </p:cNvPr>
          <p:cNvPicPr>
            <a:picLocks noChangeAspect="1"/>
          </p:cNvPicPr>
          <p:nvPr/>
        </p:nvPicPr>
        <p:blipFill>
          <a:blip r:embed="rId2"/>
          <a:stretch>
            <a:fillRect/>
          </a:stretch>
        </p:blipFill>
        <p:spPr>
          <a:xfrm>
            <a:off x="1203960" y="1657350"/>
            <a:ext cx="6736080" cy="3543300"/>
          </a:xfrm>
          <a:prstGeom prst="rect">
            <a:avLst/>
          </a:prstGeom>
        </p:spPr>
      </p:pic>
    </p:spTree>
    <p:extLst>
      <p:ext uri="{BB962C8B-B14F-4D97-AF65-F5344CB8AC3E}">
        <p14:creationId xmlns:p14="http://schemas.microsoft.com/office/powerpoint/2010/main" val="27090831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12631-8878-24C0-E57E-1EAB3020436A}"/>
            </a:ext>
          </a:extLst>
        </p:cNvPr>
        <p:cNvGrpSpPr/>
        <p:nvPr/>
      </p:nvGrpSpPr>
      <p:grpSpPr>
        <a:xfrm>
          <a:off x="0" y="0"/>
          <a:ext cx="0" cy="0"/>
          <a:chOff x="0" y="0"/>
          <a:chExt cx="0" cy="0"/>
        </a:xfrm>
      </p:grpSpPr>
      <p:sp>
        <p:nvSpPr>
          <p:cNvPr id="10" name="object 2">
            <a:extLst>
              <a:ext uri="{FF2B5EF4-FFF2-40B4-BE49-F238E27FC236}">
                <a16:creationId xmlns:a16="http://schemas.microsoft.com/office/drawing/2014/main" id="{8971967B-30CB-05D6-9DCD-4D70523D8F44}"/>
              </a:ext>
            </a:extLst>
          </p:cNvPr>
          <p:cNvSpPr txBox="1">
            <a:spLocks/>
          </p:cNvSpPr>
          <p:nvPr/>
        </p:nvSpPr>
        <p:spPr>
          <a:xfrm>
            <a:off x="228600" y="128016"/>
            <a:ext cx="8686800" cy="984885"/>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pPr>
              <a:lnSpc>
                <a:spcPct val="100000"/>
              </a:lnSpc>
              <a:spcBef>
                <a:spcPts val="0"/>
              </a:spcBef>
            </a:pPr>
            <a:r>
              <a:rPr lang="en-US" dirty="0"/>
              <a:t>Models: Naive Bayes | Confusion Matrix |</a:t>
            </a:r>
          </a:p>
          <a:p>
            <a:pPr>
              <a:lnSpc>
                <a:spcPct val="100000"/>
              </a:lnSpc>
              <a:spcBef>
                <a:spcPts val="0"/>
              </a:spcBef>
            </a:pPr>
            <a:r>
              <a:rPr lang="en-US" dirty="0"/>
              <a:t>Bernoulli NB | Validation</a:t>
            </a:r>
            <a:endParaRPr lang="en-US" spc="-20" dirty="0">
              <a:solidFill>
                <a:srgbClr val="2D3B45"/>
              </a:solidFill>
            </a:endParaRPr>
          </a:p>
        </p:txBody>
      </p:sp>
      <p:sp>
        <p:nvSpPr>
          <p:cNvPr id="11" name="Slide Number Placeholder 4">
            <a:extLst>
              <a:ext uri="{FF2B5EF4-FFF2-40B4-BE49-F238E27FC236}">
                <a16:creationId xmlns:a16="http://schemas.microsoft.com/office/drawing/2014/main" id="{0886691B-15B8-115A-6ABF-A8BCB43F7F00}"/>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28</a:t>
            </a:fld>
            <a:endParaRPr lang="en-US" dirty="0">
              <a:solidFill>
                <a:srgbClr val="000000"/>
              </a:solidFill>
            </a:endParaRPr>
          </a:p>
        </p:txBody>
      </p:sp>
      <p:grpSp>
        <p:nvGrpSpPr>
          <p:cNvPr id="4" name="Group 4">
            <a:extLst>
              <a:ext uri="{FF2B5EF4-FFF2-40B4-BE49-F238E27FC236}">
                <a16:creationId xmlns:a16="http://schemas.microsoft.com/office/drawing/2014/main" id="{19DB13C5-3412-5568-7DF2-7838A8C17D29}"/>
              </a:ext>
            </a:extLst>
          </p:cNvPr>
          <p:cNvGrpSpPr>
            <a:grpSpLocks noChangeAspect="1"/>
          </p:cNvGrpSpPr>
          <p:nvPr/>
        </p:nvGrpSpPr>
        <p:grpSpPr bwMode="auto">
          <a:xfrm>
            <a:off x="1195388" y="1649413"/>
            <a:ext cx="6745288" cy="3581400"/>
            <a:chOff x="753" y="1039"/>
            <a:chExt cx="4249" cy="2256"/>
          </a:xfrm>
        </p:grpSpPr>
        <p:sp>
          <p:nvSpPr>
            <p:cNvPr id="6" name="AutoShape 3">
              <a:extLst>
                <a:ext uri="{FF2B5EF4-FFF2-40B4-BE49-F238E27FC236}">
                  <a16:creationId xmlns:a16="http://schemas.microsoft.com/office/drawing/2014/main" id="{785C6B70-E0B9-EE00-EAA2-E6E739F7B5B8}"/>
                </a:ext>
              </a:extLst>
            </p:cNvPr>
            <p:cNvSpPr>
              <a:spLocks noChangeAspect="1" noChangeArrowheads="1" noTextEdit="1"/>
            </p:cNvSpPr>
            <p:nvPr/>
          </p:nvSpPr>
          <p:spPr bwMode="auto">
            <a:xfrm>
              <a:off x="758" y="1044"/>
              <a:ext cx="4244" cy="2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 name="Rectangle 5">
              <a:extLst>
                <a:ext uri="{FF2B5EF4-FFF2-40B4-BE49-F238E27FC236}">
                  <a16:creationId xmlns:a16="http://schemas.microsoft.com/office/drawing/2014/main" id="{9966C49A-A9C8-2F22-0FED-7B6019094E77}"/>
                </a:ext>
              </a:extLst>
            </p:cNvPr>
            <p:cNvSpPr>
              <a:spLocks noChangeArrowheads="1"/>
            </p:cNvSpPr>
            <p:nvPr/>
          </p:nvSpPr>
          <p:spPr bwMode="auto">
            <a:xfrm>
              <a:off x="758" y="1044"/>
              <a:ext cx="4244" cy="226"/>
            </a:xfrm>
            <a:prstGeom prst="rect">
              <a:avLst/>
            </a:prstGeom>
            <a:solidFill>
              <a:srgbClr val="538DD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 name="Rectangle 6">
              <a:extLst>
                <a:ext uri="{FF2B5EF4-FFF2-40B4-BE49-F238E27FC236}">
                  <a16:creationId xmlns:a16="http://schemas.microsoft.com/office/drawing/2014/main" id="{65963639-90FB-D509-A5E4-2C1D47B1B553}"/>
                </a:ext>
              </a:extLst>
            </p:cNvPr>
            <p:cNvSpPr>
              <a:spLocks noChangeArrowheads="1"/>
            </p:cNvSpPr>
            <p:nvPr/>
          </p:nvSpPr>
          <p:spPr bwMode="auto">
            <a:xfrm>
              <a:off x="758" y="1381"/>
              <a:ext cx="4244" cy="178"/>
            </a:xfrm>
            <a:prstGeom prst="rect">
              <a:avLst/>
            </a:prstGeom>
            <a:solidFill>
              <a:srgbClr val="538DD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Rectangle 7">
              <a:extLst>
                <a:ext uri="{FF2B5EF4-FFF2-40B4-BE49-F238E27FC236}">
                  <a16:creationId xmlns:a16="http://schemas.microsoft.com/office/drawing/2014/main" id="{B3361322-B704-3666-A145-0A72010113FF}"/>
                </a:ext>
              </a:extLst>
            </p:cNvPr>
            <p:cNvSpPr>
              <a:spLocks noChangeArrowheads="1"/>
            </p:cNvSpPr>
            <p:nvPr/>
          </p:nvSpPr>
          <p:spPr bwMode="auto">
            <a:xfrm>
              <a:off x="2402" y="1554"/>
              <a:ext cx="2600" cy="163"/>
            </a:xfrm>
            <a:prstGeom prst="rect">
              <a:avLst/>
            </a:prstGeom>
            <a:solidFill>
              <a:srgbClr val="BDD7E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Rectangle 8">
              <a:extLst>
                <a:ext uri="{FF2B5EF4-FFF2-40B4-BE49-F238E27FC236}">
                  <a16:creationId xmlns:a16="http://schemas.microsoft.com/office/drawing/2014/main" id="{398B5E4C-CC21-522F-18BA-D470A80C8679}"/>
                </a:ext>
              </a:extLst>
            </p:cNvPr>
            <p:cNvSpPr>
              <a:spLocks noChangeArrowheads="1"/>
            </p:cNvSpPr>
            <p:nvPr/>
          </p:nvSpPr>
          <p:spPr bwMode="auto">
            <a:xfrm>
              <a:off x="758" y="1713"/>
              <a:ext cx="4244" cy="163"/>
            </a:xfrm>
            <a:prstGeom prst="rect">
              <a:avLst/>
            </a:prstGeom>
            <a:solidFill>
              <a:srgbClr val="E9F1F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Rectangle 9">
              <a:extLst>
                <a:ext uri="{FF2B5EF4-FFF2-40B4-BE49-F238E27FC236}">
                  <a16:creationId xmlns:a16="http://schemas.microsoft.com/office/drawing/2014/main" id="{F7A2A29C-E8D8-0C6F-96BF-53B9CF84CC29}"/>
                </a:ext>
              </a:extLst>
            </p:cNvPr>
            <p:cNvSpPr>
              <a:spLocks noChangeArrowheads="1"/>
            </p:cNvSpPr>
            <p:nvPr/>
          </p:nvSpPr>
          <p:spPr bwMode="auto">
            <a:xfrm>
              <a:off x="758" y="2102"/>
              <a:ext cx="4244" cy="125"/>
            </a:xfrm>
            <a:prstGeom prst="rect">
              <a:avLst/>
            </a:prstGeom>
            <a:solidFill>
              <a:srgbClr val="E9F1F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Rectangle 10">
              <a:extLst>
                <a:ext uri="{FF2B5EF4-FFF2-40B4-BE49-F238E27FC236}">
                  <a16:creationId xmlns:a16="http://schemas.microsoft.com/office/drawing/2014/main" id="{62662BB5-2C73-56DD-74BB-398B3EA2F0A2}"/>
                </a:ext>
              </a:extLst>
            </p:cNvPr>
            <p:cNvSpPr>
              <a:spLocks noChangeArrowheads="1"/>
            </p:cNvSpPr>
            <p:nvPr/>
          </p:nvSpPr>
          <p:spPr bwMode="auto">
            <a:xfrm>
              <a:off x="758" y="2223"/>
              <a:ext cx="4244" cy="12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Rectangle 11">
              <a:extLst>
                <a:ext uri="{FF2B5EF4-FFF2-40B4-BE49-F238E27FC236}">
                  <a16:creationId xmlns:a16="http://schemas.microsoft.com/office/drawing/2014/main" id="{3160B6B9-E47F-04E5-8985-F43D550790D1}"/>
                </a:ext>
              </a:extLst>
            </p:cNvPr>
            <p:cNvSpPr>
              <a:spLocks noChangeArrowheads="1"/>
            </p:cNvSpPr>
            <p:nvPr/>
          </p:nvSpPr>
          <p:spPr bwMode="auto">
            <a:xfrm>
              <a:off x="758" y="2338"/>
              <a:ext cx="2600" cy="125"/>
            </a:xfrm>
            <a:prstGeom prst="rect">
              <a:avLst/>
            </a:prstGeom>
            <a:solidFill>
              <a:srgbClr val="538DD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Rectangle 12">
              <a:extLst>
                <a:ext uri="{FF2B5EF4-FFF2-40B4-BE49-F238E27FC236}">
                  <a16:creationId xmlns:a16="http://schemas.microsoft.com/office/drawing/2014/main" id="{F44E577B-974C-AEE7-F3AD-D3F594E7D560}"/>
                </a:ext>
              </a:extLst>
            </p:cNvPr>
            <p:cNvSpPr>
              <a:spLocks noChangeArrowheads="1"/>
            </p:cNvSpPr>
            <p:nvPr/>
          </p:nvSpPr>
          <p:spPr bwMode="auto">
            <a:xfrm>
              <a:off x="758" y="2458"/>
              <a:ext cx="2600" cy="241"/>
            </a:xfrm>
            <a:prstGeom prst="rect">
              <a:avLst/>
            </a:prstGeom>
            <a:solidFill>
              <a:srgbClr val="E9F1F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Rectangle 13">
              <a:extLst>
                <a:ext uri="{FF2B5EF4-FFF2-40B4-BE49-F238E27FC236}">
                  <a16:creationId xmlns:a16="http://schemas.microsoft.com/office/drawing/2014/main" id="{021C0BC9-593D-4A39-4F4D-0BC10E58FC17}"/>
                </a:ext>
              </a:extLst>
            </p:cNvPr>
            <p:cNvSpPr>
              <a:spLocks noChangeArrowheads="1"/>
            </p:cNvSpPr>
            <p:nvPr/>
          </p:nvSpPr>
          <p:spPr bwMode="auto">
            <a:xfrm>
              <a:off x="758" y="2809"/>
              <a:ext cx="2600" cy="121"/>
            </a:xfrm>
            <a:prstGeom prst="rect">
              <a:avLst/>
            </a:prstGeom>
            <a:solidFill>
              <a:srgbClr val="E9F1F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Rectangle 14">
              <a:extLst>
                <a:ext uri="{FF2B5EF4-FFF2-40B4-BE49-F238E27FC236}">
                  <a16:creationId xmlns:a16="http://schemas.microsoft.com/office/drawing/2014/main" id="{4DB43EC0-C0E6-3632-0996-C93835E58B4E}"/>
                </a:ext>
              </a:extLst>
            </p:cNvPr>
            <p:cNvSpPr>
              <a:spLocks noChangeArrowheads="1"/>
            </p:cNvSpPr>
            <p:nvPr/>
          </p:nvSpPr>
          <p:spPr bwMode="auto">
            <a:xfrm>
              <a:off x="758" y="3040"/>
              <a:ext cx="2600" cy="121"/>
            </a:xfrm>
            <a:prstGeom prst="rect">
              <a:avLst/>
            </a:prstGeom>
            <a:solidFill>
              <a:srgbClr val="E9F1F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Rectangle 15">
              <a:extLst>
                <a:ext uri="{FF2B5EF4-FFF2-40B4-BE49-F238E27FC236}">
                  <a16:creationId xmlns:a16="http://schemas.microsoft.com/office/drawing/2014/main" id="{8BBE48B6-AAF8-3818-7947-8F18469BF7EB}"/>
                </a:ext>
              </a:extLst>
            </p:cNvPr>
            <p:cNvSpPr>
              <a:spLocks noChangeArrowheads="1"/>
            </p:cNvSpPr>
            <p:nvPr/>
          </p:nvSpPr>
          <p:spPr bwMode="auto">
            <a:xfrm>
              <a:off x="1426" y="1742"/>
              <a:ext cx="365"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a:ln>
                    <a:noFill/>
                  </a:ln>
                  <a:solidFill>
                    <a:srgbClr val="000000"/>
                  </a:solidFill>
                  <a:effectLst/>
                  <a:latin typeface="Calibri" panose="020F0502020204030204" pitchFamily="34" charset="0"/>
                </a:rPr>
                <a:t>Partition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0" name="Rectangle 16">
              <a:extLst>
                <a:ext uri="{FF2B5EF4-FFF2-40B4-BE49-F238E27FC236}">
                  <a16:creationId xmlns:a16="http://schemas.microsoft.com/office/drawing/2014/main" id="{BBF7D5FC-3246-5503-10A8-554944DB2190}"/>
                </a:ext>
              </a:extLst>
            </p:cNvPr>
            <p:cNvSpPr>
              <a:spLocks noChangeArrowheads="1"/>
            </p:cNvSpPr>
            <p:nvPr/>
          </p:nvSpPr>
          <p:spPr bwMode="auto">
            <a:xfrm>
              <a:off x="2628" y="1742"/>
              <a:ext cx="553"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a:ln>
                    <a:noFill/>
                  </a:ln>
                  <a:solidFill>
                    <a:srgbClr val="000000"/>
                  </a:solidFill>
                  <a:effectLst/>
                  <a:latin typeface="Calibri" panose="020F0502020204030204" pitchFamily="34" charset="0"/>
                </a:rPr>
                <a:t>0 Not Abusive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1" name="Rectangle 17">
              <a:extLst>
                <a:ext uri="{FF2B5EF4-FFF2-40B4-BE49-F238E27FC236}">
                  <a16:creationId xmlns:a16="http://schemas.microsoft.com/office/drawing/2014/main" id="{340D2DD9-077B-E183-EF63-A9504AAFD02C}"/>
                </a:ext>
              </a:extLst>
            </p:cNvPr>
            <p:cNvSpPr>
              <a:spLocks noChangeArrowheads="1"/>
            </p:cNvSpPr>
            <p:nvPr/>
          </p:nvSpPr>
          <p:spPr bwMode="auto">
            <a:xfrm>
              <a:off x="3656" y="1742"/>
              <a:ext cx="399"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a:ln>
                    <a:noFill/>
                  </a:ln>
                  <a:solidFill>
                    <a:srgbClr val="000000"/>
                  </a:solidFill>
                  <a:effectLst/>
                  <a:latin typeface="Calibri" panose="020F0502020204030204" pitchFamily="34" charset="0"/>
                </a:rPr>
                <a:t>1 Abusive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2" name="Rectangle 18">
              <a:extLst>
                <a:ext uri="{FF2B5EF4-FFF2-40B4-BE49-F238E27FC236}">
                  <a16:creationId xmlns:a16="http://schemas.microsoft.com/office/drawing/2014/main" id="{688B07BB-C019-2519-159C-14E33666EC08}"/>
                </a:ext>
              </a:extLst>
            </p:cNvPr>
            <p:cNvSpPr>
              <a:spLocks noChangeArrowheads="1"/>
            </p:cNvSpPr>
            <p:nvPr/>
          </p:nvSpPr>
          <p:spPr bwMode="auto">
            <a:xfrm>
              <a:off x="4565" y="1742"/>
              <a:ext cx="231"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a:ln>
                    <a:noFill/>
                  </a:ln>
                  <a:solidFill>
                    <a:srgbClr val="000000"/>
                  </a:solidFill>
                  <a:effectLst/>
                  <a:latin typeface="Calibri" panose="020F0502020204030204" pitchFamily="34" charset="0"/>
                </a:rPr>
                <a:t>Total</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3" name="Rectangle 19">
              <a:extLst>
                <a:ext uri="{FF2B5EF4-FFF2-40B4-BE49-F238E27FC236}">
                  <a16:creationId xmlns:a16="http://schemas.microsoft.com/office/drawing/2014/main" id="{CAC68750-FDFE-C369-7CD1-E24684FC7234}"/>
                </a:ext>
              </a:extLst>
            </p:cNvPr>
            <p:cNvSpPr>
              <a:spLocks noChangeArrowheads="1"/>
            </p:cNvSpPr>
            <p:nvPr/>
          </p:nvSpPr>
          <p:spPr bwMode="auto">
            <a:xfrm>
              <a:off x="777" y="1881"/>
              <a:ext cx="827"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Actual 0 (Not Abusive)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4" name="Rectangle 20">
              <a:extLst>
                <a:ext uri="{FF2B5EF4-FFF2-40B4-BE49-F238E27FC236}">
                  <a16:creationId xmlns:a16="http://schemas.microsoft.com/office/drawing/2014/main" id="{9F8CADDA-9010-8A70-F8DA-AFFDE61B6AEB}"/>
                </a:ext>
              </a:extLst>
            </p:cNvPr>
            <p:cNvSpPr>
              <a:spLocks noChangeArrowheads="1"/>
            </p:cNvSpPr>
            <p:nvPr/>
          </p:nvSpPr>
          <p:spPr bwMode="auto">
            <a:xfrm>
              <a:off x="2796" y="1881"/>
              <a:ext cx="221"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1011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5" name="Rectangle 21">
              <a:extLst>
                <a:ext uri="{FF2B5EF4-FFF2-40B4-BE49-F238E27FC236}">
                  <a16:creationId xmlns:a16="http://schemas.microsoft.com/office/drawing/2014/main" id="{9791ECF0-1428-39D1-D076-097D90167C4C}"/>
                </a:ext>
              </a:extLst>
            </p:cNvPr>
            <p:cNvSpPr>
              <a:spLocks noChangeArrowheads="1"/>
            </p:cNvSpPr>
            <p:nvPr/>
          </p:nvSpPr>
          <p:spPr bwMode="auto">
            <a:xfrm>
              <a:off x="3767" y="1881"/>
              <a:ext cx="173"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607</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6" name="Rectangle 22">
              <a:extLst>
                <a:ext uri="{FF2B5EF4-FFF2-40B4-BE49-F238E27FC236}">
                  <a16:creationId xmlns:a16="http://schemas.microsoft.com/office/drawing/2014/main" id="{33F767E3-C5FC-C4C1-E83D-272BA1374A58}"/>
                </a:ext>
              </a:extLst>
            </p:cNvPr>
            <p:cNvSpPr>
              <a:spLocks noChangeArrowheads="1"/>
            </p:cNvSpPr>
            <p:nvPr/>
          </p:nvSpPr>
          <p:spPr bwMode="auto">
            <a:xfrm>
              <a:off x="4570" y="1881"/>
              <a:ext cx="221"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1618</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7" name="Rectangle 23">
              <a:extLst>
                <a:ext uri="{FF2B5EF4-FFF2-40B4-BE49-F238E27FC236}">
                  <a16:creationId xmlns:a16="http://schemas.microsoft.com/office/drawing/2014/main" id="{D71FA506-0471-E45C-9FD8-9ECDBA32A6B7}"/>
                </a:ext>
              </a:extLst>
            </p:cNvPr>
            <p:cNvSpPr>
              <a:spLocks noChangeArrowheads="1"/>
            </p:cNvSpPr>
            <p:nvPr/>
          </p:nvSpPr>
          <p:spPr bwMode="auto">
            <a:xfrm>
              <a:off x="777" y="1996"/>
              <a:ext cx="678"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Actual 1 (Abusive)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8" name="Rectangle 24">
              <a:extLst>
                <a:ext uri="{FF2B5EF4-FFF2-40B4-BE49-F238E27FC236}">
                  <a16:creationId xmlns:a16="http://schemas.microsoft.com/office/drawing/2014/main" id="{2EBBE924-95BB-7A9C-6139-739D329A3D70}"/>
                </a:ext>
              </a:extLst>
            </p:cNvPr>
            <p:cNvSpPr>
              <a:spLocks noChangeArrowheads="1"/>
            </p:cNvSpPr>
            <p:nvPr/>
          </p:nvSpPr>
          <p:spPr bwMode="auto">
            <a:xfrm>
              <a:off x="2815" y="1996"/>
              <a:ext cx="173"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221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9" name="Rectangle 25">
              <a:extLst>
                <a:ext uri="{FF2B5EF4-FFF2-40B4-BE49-F238E27FC236}">
                  <a16:creationId xmlns:a16="http://schemas.microsoft.com/office/drawing/2014/main" id="{65734399-514B-8C53-4476-86A82022A9ED}"/>
                </a:ext>
              </a:extLst>
            </p:cNvPr>
            <p:cNvSpPr>
              <a:spLocks noChangeArrowheads="1"/>
            </p:cNvSpPr>
            <p:nvPr/>
          </p:nvSpPr>
          <p:spPr bwMode="auto">
            <a:xfrm>
              <a:off x="3748" y="1996"/>
              <a:ext cx="221"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1582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0" name="Rectangle 26">
              <a:extLst>
                <a:ext uri="{FF2B5EF4-FFF2-40B4-BE49-F238E27FC236}">
                  <a16:creationId xmlns:a16="http://schemas.microsoft.com/office/drawing/2014/main" id="{89DEA45A-E206-FEC9-5395-768FE64D5746}"/>
                </a:ext>
              </a:extLst>
            </p:cNvPr>
            <p:cNvSpPr>
              <a:spLocks noChangeArrowheads="1"/>
            </p:cNvSpPr>
            <p:nvPr/>
          </p:nvSpPr>
          <p:spPr bwMode="auto">
            <a:xfrm>
              <a:off x="4570" y="1996"/>
              <a:ext cx="221"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1803</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1" name="Rectangle 27">
              <a:extLst>
                <a:ext uri="{FF2B5EF4-FFF2-40B4-BE49-F238E27FC236}">
                  <a16:creationId xmlns:a16="http://schemas.microsoft.com/office/drawing/2014/main" id="{5E43B13C-459F-873B-9B61-4548AA4CB6C5}"/>
                </a:ext>
              </a:extLst>
            </p:cNvPr>
            <p:cNvSpPr>
              <a:spLocks noChangeArrowheads="1"/>
            </p:cNvSpPr>
            <p:nvPr/>
          </p:nvSpPr>
          <p:spPr bwMode="auto">
            <a:xfrm>
              <a:off x="777" y="2112"/>
              <a:ext cx="231"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a:ln>
                    <a:noFill/>
                  </a:ln>
                  <a:solidFill>
                    <a:srgbClr val="000000"/>
                  </a:solidFill>
                  <a:effectLst/>
                  <a:latin typeface="Calibri" panose="020F0502020204030204" pitchFamily="34" charset="0"/>
                </a:rPr>
                <a:t>Total</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2" name="Rectangle 28">
              <a:extLst>
                <a:ext uri="{FF2B5EF4-FFF2-40B4-BE49-F238E27FC236}">
                  <a16:creationId xmlns:a16="http://schemas.microsoft.com/office/drawing/2014/main" id="{19AB82E3-5DAA-4AF1-DC4D-0E3191134064}"/>
                </a:ext>
              </a:extLst>
            </p:cNvPr>
            <p:cNvSpPr>
              <a:spLocks noChangeArrowheads="1"/>
            </p:cNvSpPr>
            <p:nvPr/>
          </p:nvSpPr>
          <p:spPr bwMode="auto">
            <a:xfrm>
              <a:off x="2796" y="2112"/>
              <a:ext cx="226"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a:ln>
                    <a:noFill/>
                  </a:ln>
                  <a:solidFill>
                    <a:srgbClr val="000000"/>
                  </a:solidFill>
                  <a:effectLst/>
                  <a:latin typeface="Calibri" panose="020F0502020204030204" pitchFamily="34" charset="0"/>
                </a:rPr>
                <a:t>1232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3" name="Rectangle 29">
              <a:extLst>
                <a:ext uri="{FF2B5EF4-FFF2-40B4-BE49-F238E27FC236}">
                  <a16:creationId xmlns:a16="http://schemas.microsoft.com/office/drawing/2014/main" id="{8E7208AD-6284-A694-19C2-92DC35AC8D7A}"/>
                </a:ext>
              </a:extLst>
            </p:cNvPr>
            <p:cNvSpPr>
              <a:spLocks noChangeArrowheads="1"/>
            </p:cNvSpPr>
            <p:nvPr/>
          </p:nvSpPr>
          <p:spPr bwMode="auto">
            <a:xfrm>
              <a:off x="3748" y="2112"/>
              <a:ext cx="226"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a:ln>
                    <a:noFill/>
                  </a:ln>
                  <a:solidFill>
                    <a:srgbClr val="000000"/>
                  </a:solidFill>
                  <a:effectLst/>
                  <a:latin typeface="Calibri" panose="020F0502020204030204" pitchFamily="34" charset="0"/>
                </a:rPr>
                <a:t>2189</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4" name="Rectangle 30">
              <a:extLst>
                <a:ext uri="{FF2B5EF4-FFF2-40B4-BE49-F238E27FC236}">
                  <a16:creationId xmlns:a16="http://schemas.microsoft.com/office/drawing/2014/main" id="{F5FBEB30-6382-2A33-1A9D-B6E9AC5792E5}"/>
                </a:ext>
              </a:extLst>
            </p:cNvPr>
            <p:cNvSpPr>
              <a:spLocks noChangeArrowheads="1"/>
            </p:cNvSpPr>
            <p:nvPr/>
          </p:nvSpPr>
          <p:spPr bwMode="auto">
            <a:xfrm>
              <a:off x="4570" y="2112"/>
              <a:ext cx="226"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a:ln>
                    <a:noFill/>
                  </a:ln>
                  <a:solidFill>
                    <a:srgbClr val="000000"/>
                  </a:solidFill>
                  <a:effectLst/>
                  <a:latin typeface="Calibri" panose="020F0502020204030204" pitchFamily="34" charset="0"/>
                </a:rPr>
                <a:t>3421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5" name="Rectangle 31">
              <a:extLst>
                <a:ext uri="{FF2B5EF4-FFF2-40B4-BE49-F238E27FC236}">
                  <a16:creationId xmlns:a16="http://schemas.microsoft.com/office/drawing/2014/main" id="{DD1CDF05-227F-E6A7-E762-098397014559}"/>
                </a:ext>
              </a:extLst>
            </p:cNvPr>
            <p:cNvSpPr>
              <a:spLocks noChangeArrowheads="1"/>
            </p:cNvSpPr>
            <p:nvPr/>
          </p:nvSpPr>
          <p:spPr bwMode="auto">
            <a:xfrm>
              <a:off x="777" y="2348"/>
              <a:ext cx="615"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FFFFFF"/>
                  </a:solidFill>
                  <a:effectLst/>
                  <a:latin typeface="Calibri" panose="020F0502020204030204" pitchFamily="34" charset="0"/>
                </a:rPr>
                <a:t>Training Metrics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6" name="Rectangle 32">
              <a:extLst>
                <a:ext uri="{FF2B5EF4-FFF2-40B4-BE49-F238E27FC236}">
                  <a16:creationId xmlns:a16="http://schemas.microsoft.com/office/drawing/2014/main" id="{1252224E-2057-67C1-5F9A-94B6A9FE34A7}"/>
                </a:ext>
              </a:extLst>
            </p:cNvPr>
            <p:cNvSpPr>
              <a:spLocks noChangeArrowheads="1"/>
            </p:cNvSpPr>
            <p:nvPr/>
          </p:nvSpPr>
          <p:spPr bwMode="auto">
            <a:xfrm>
              <a:off x="777" y="2468"/>
              <a:ext cx="634"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a:ln>
                    <a:noFill/>
                  </a:ln>
                  <a:solidFill>
                    <a:srgbClr val="000000"/>
                  </a:solidFill>
                  <a:effectLst/>
                  <a:latin typeface="Calibri" panose="020F0502020204030204" pitchFamily="34" charset="0"/>
                </a:rPr>
                <a:t>Training Metrics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7" name="Rectangle 33">
              <a:extLst>
                <a:ext uri="{FF2B5EF4-FFF2-40B4-BE49-F238E27FC236}">
                  <a16:creationId xmlns:a16="http://schemas.microsoft.com/office/drawing/2014/main" id="{5BE30963-CEB1-8FF6-8DE3-DC375F4561EF}"/>
                </a:ext>
              </a:extLst>
            </p:cNvPr>
            <p:cNvSpPr>
              <a:spLocks noChangeArrowheads="1"/>
            </p:cNvSpPr>
            <p:nvPr/>
          </p:nvSpPr>
          <p:spPr bwMode="auto">
            <a:xfrm>
              <a:off x="2777" y="2468"/>
              <a:ext cx="255"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a:ln>
                    <a:noFill/>
                  </a:ln>
                  <a:solidFill>
                    <a:srgbClr val="000000"/>
                  </a:solidFill>
                  <a:effectLst/>
                  <a:latin typeface="Calibri" panose="020F0502020204030204" pitchFamily="34" charset="0"/>
                </a:rPr>
                <a:t>Value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8" name="Rectangle 34">
              <a:extLst>
                <a:ext uri="{FF2B5EF4-FFF2-40B4-BE49-F238E27FC236}">
                  <a16:creationId xmlns:a16="http://schemas.microsoft.com/office/drawing/2014/main" id="{C417E389-CD5A-438B-F9D8-DF4E184A36DA}"/>
                </a:ext>
              </a:extLst>
            </p:cNvPr>
            <p:cNvSpPr>
              <a:spLocks noChangeArrowheads="1"/>
            </p:cNvSpPr>
            <p:nvPr/>
          </p:nvSpPr>
          <p:spPr bwMode="auto">
            <a:xfrm>
              <a:off x="777" y="2588"/>
              <a:ext cx="572"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Accuracy (ACC)</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9" name="Rectangle 35">
              <a:extLst>
                <a:ext uri="{FF2B5EF4-FFF2-40B4-BE49-F238E27FC236}">
                  <a16:creationId xmlns:a16="http://schemas.microsoft.com/office/drawing/2014/main" id="{6A182EEA-B8F3-917D-F28E-FC87C5AF9744}"/>
                </a:ext>
              </a:extLst>
            </p:cNvPr>
            <p:cNvSpPr>
              <a:spLocks noChangeArrowheads="1"/>
            </p:cNvSpPr>
            <p:nvPr/>
          </p:nvSpPr>
          <p:spPr bwMode="auto">
            <a:xfrm>
              <a:off x="2599" y="2588"/>
              <a:ext cx="615"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0.7580 (75.80%)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0" name="Rectangle 36">
              <a:extLst>
                <a:ext uri="{FF2B5EF4-FFF2-40B4-BE49-F238E27FC236}">
                  <a16:creationId xmlns:a16="http://schemas.microsoft.com/office/drawing/2014/main" id="{7EF1F2C9-EEFD-AFE2-5D35-198C310B1BDB}"/>
                </a:ext>
              </a:extLst>
            </p:cNvPr>
            <p:cNvSpPr>
              <a:spLocks noChangeArrowheads="1"/>
            </p:cNvSpPr>
            <p:nvPr/>
          </p:nvSpPr>
          <p:spPr bwMode="auto">
            <a:xfrm>
              <a:off x="777" y="2704"/>
              <a:ext cx="846"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Calibri" panose="020F0502020204030204" pitchFamily="34" charset="0"/>
                </a:rPr>
                <a:t>Sensitivity (TPR/Recall)</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1" name="Rectangle 37">
              <a:extLst>
                <a:ext uri="{FF2B5EF4-FFF2-40B4-BE49-F238E27FC236}">
                  <a16:creationId xmlns:a16="http://schemas.microsoft.com/office/drawing/2014/main" id="{8598FCF7-F093-E83C-F634-300D999FDBD9}"/>
                </a:ext>
              </a:extLst>
            </p:cNvPr>
            <p:cNvSpPr>
              <a:spLocks noChangeArrowheads="1"/>
            </p:cNvSpPr>
            <p:nvPr/>
          </p:nvSpPr>
          <p:spPr bwMode="auto">
            <a:xfrm>
              <a:off x="2599" y="2704"/>
              <a:ext cx="615"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0.8774 (87.74%)</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2" name="Rectangle 38">
              <a:extLst>
                <a:ext uri="{FF2B5EF4-FFF2-40B4-BE49-F238E27FC236}">
                  <a16:creationId xmlns:a16="http://schemas.microsoft.com/office/drawing/2014/main" id="{EB976384-A5D4-2A2F-B9D9-AC2D66F5468B}"/>
                </a:ext>
              </a:extLst>
            </p:cNvPr>
            <p:cNvSpPr>
              <a:spLocks noChangeArrowheads="1"/>
            </p:cNvSpPr>
            <p:nvPr/>
          </p:nvSpPr>
          <p:spPr bwMode="auto">
            <a:xfrm>
              <a:off x="777" y="2819"/>
              <a:ext cx="572"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Precision (PPV)</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3" name="Rectangle 39">
              <a:extLst>
                <a:ext uri="{FF2B5EF4-FFF2-40B4-BE49-F238E27FC236}">
                  <a16:creationId xmlns:a16="http://schemas.microsoft.com/office/drawing/2014/main" id="{DF4BB145-3CA4-A8E5-D728-5C15DFF4DBDC}"/>
                </a:ext>
              </a:extLst>
            </p:cNvPr>
            <p:cNvSpPr>
              <a:spLocks noChangeArrowheads="1"/>
            </p:cNvSpPr>
            <p:nvPr/>
          </p:nvSpPr>
          <p:spPr bwMode="auto">
            <a:xfrm>
              <a:off x="2599" y="2819"/>
              <a:ext cx="615"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0.7227 (72.27%)</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4" name="Rectangle 40">
              <a:extLst>
                <a:ext uri="{FF2B5EF4-FFF2-40B4-BE49-F238E27FC236}">
                  <a16:creationId xmlns:a16="http://schemas.microsoft.com/office/drawing/2014/main" id="{D7FB207F-5BB8-5ED3-B65F-CDD26CF4CD69}"/>
                </a:ext>
              </a:extLst>
            </p:cNvPr>
            <p:cNvSpPr>
              <a:spLocks noChangeArrowheads="1"/>
            </p:cNvSpPr>
            <p:nvPr/>
          </p:nvSpPr>
          <p:spPr bwMode="auto">
            <a:xfrm>
              <a:off x="777" y="2934"/>
              <a:ext cx="601"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Specificity (SPC)</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5" name="Rectangle 41">
              <a:extLst>
                <a:ext uri="{FF2B5EF4-FFF2-40B4-BE49-F238E27FC236}">
                  <a16:creationId xmlns:a16="http://schemas.microsoft.com/office/drawing/2014/main" id="{D9521148-659D-C5E3-B6EC-956D2B1EFE13}"/>
                </a:ext>
              </a:extLst>
            </p:cNvPr>
            <p:cNvSpPr>
              <a:spLocks noChangeArrowheads="1"/>
            </p:cNvSpPr>
            <p:nvPr/>
          </p:nvSpPr>
          <p:spPr bwMode="auto">
            <a:xfrm>
              <a:off x="2599" y="2934"/>
              <a:ext cx="615"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0.6248 (62.48%)</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6" name="Rectangle 42">
              <a:extLst>
                <a:ext uri="{FF2B5EF4-FFF2-40B4-BE49-F238E27FC236}">
                  <a16:creationId xmlns:a16="http://schemas.microsoft.com/office/drawing/2014/main" id="{E7FA8CE2-684F-5ABF-02DB-3D4C449435E4}"/>
                </a:ext>
              </a:extLst>
            </p:cNvPr>
            <p:cNvSpPr>
              <a:spLocks noChangeArrowheads="1"/>
            </p:cNvSpPr>
            <p:nvPr/>
          </p:nvSpPr>
          <p:spPr bwMode="auto">
            <a:xfrm>
              <a:off x="777" y="3050"/>
              <a:ext cx="341"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F1 Score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7" name="Rectangle 43">
              <a:extLst>
                <a:ext uri="{FF2B5EF4-FFF2-40B4-BE49-F238E27FC236}">
                  <a16:creationId xmlns:a16="http://schemas.microsoft.com/office/drawing/2014/main" id="{E85BDAE4-0DBC-94FD-9927-B2AADB128ADE}"/>
                </a:ext>
              </a:extLst>
            </p:cNvPr>
            <p:cNvSpPr>
              <a:spLocks noChangeArrowheads="1"/>
            </p:cNvSpPr>
            <p:nvPr/>
          </p:nvSpPr>
          <p:spPr bwMode="auto">
            <a:xfrm>
              <a:off x="2599" y="3050"/>
              <a:ext cx="615"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0.7926 (79.26%)</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8" name="Rectangle 44">
              <a:extLst>
                <a:ext uri="{FF2B5EF4-FFF2-40B4-BE49-F238E27FC236}">
                  <a16:creationId xmlns:a16="http://schemas.microsoft.com/office/drawing/2014/main" id="{B5F1E9C4-1AC2-8485-A462-05BBDF4F4460}"/>
                </a:ext>
              </a:extLst>
            </p:cNvPr>
            <p:cNvSpPr>
              <a:spLocks noChangeArrowheads="1"/>
            </p:cNvSpPr>
            <p:nvPr/>
          </p:nvSpPr>
          <p:spPr bwMode="auto">
            <a:xfrm>
              <a:off x="777" y="3165"/>
              <a:ext cx="639"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Matthews (MCC)</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9" name="Rectangle 45">
              <a:extLst>
                <a:ext uri="{FF2B5EF4-FFF2-40B4-BE49-F238E27FC236}">
                  <a16:creationId xmlns:a16="http://schemas.microsoft.com/office/drawing/2014/main" id="{A98C4FCA-BD4E-B18A-1799-B1D2C40579B9}"/>
                </a:ext>
              </a:extLst>
            </p:cNvPr>
            <p:cNvSpPr>
              <a:spLocks noChangeArrowheads="1"/>
            </p:cNvSpPr>
            <p:nvPr/>
          </p:nvSpPr>
          <p:spPr bwMode="auto">
            <a:xfrm>
              <a:off x="2599" y="3165"/>
              <a:ext cx="615"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0.5224 (52.24%)</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0" name="Rectangle 46">
              <a:extLst>
                <a:ext uri="{FF2B5EF4-FFF2-40B4-BE49-F238E27FC236}">
                  <a16:creationId xmlns:a16="http://schemas.microsoft.com/office/drawing/2014/main" id="{C46B03D3-1DA3-130D-C224-0563413BE1B4}"/>
                </a:ext>
              </a:extLst>
            </p:cNvPr>
            <p:cNvSpPr>
              <a:spLocks noChangeArrowheads="1"/>
            </p:cNvSpPr>
            <p:nvPr/>
          </p:nvSpPr>
          <p:spPr bwMode="auto">
            <a:xfrm>
              <a:off x="1964" y="1087"/>
              <a:ext cx="1980"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rgbClr val="FFFFFF"/>
                  </a:solidFill>
                  <a:effectLst/>
                  <a:latin typeface="Calibri" panose="020F0502020204030204" pitchFamily="34" charset="0"/>
                </a:rPr>
                <a:t>Confusion Matrix Bernoulli NB |Validation</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1" name="Rectangle 47">
              <a:extLst>
                <a:ext uri="{FF2B5EF4-FFF2-40B4-BE49-F238E27FC236}">
                  <a16:creationId xmlns:a16="http://schemas.microsoft.com/office/drawing/2014/main" id="{114E81ED-ADA4-626D-D79D-EE433430FF8D}"/>
                </a:ext>
              </a:extLst>
            </p:cNvPr>
            <p:cNvSpPr>
              <a:spLocks noChangeArrowheads="1"/>
            </p:cNvSpPr>
            <p:nvPr/>
          </p:nvSpPr>
          <p:spPr bwMode="auto">
            <a:xfrm>
              <a:off x="777" y="1414"/>
              <a:ext cx="1144"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a:ln>
                    <a:noFill/>
                  </a:ln>
                  <a:solidFill>
                    <a:srgbClr val="FFFFFF"/>
                  </a:solidFill>
                  <a:effectLst/>
                  <a:latin typeface="Calibri" panose="020F0502020204030204" pitchFamily="34" charset="0"/>
                </a:rPr>
                <a:t>Confusion Matrix Bernoulli NB</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2" name="Rectangle 48">
              <a:extLst>
                <a:ext uri="{FF2B5EF4-FFF2-40B4-BE49-F238E27FC236}">
                  <a16:creationId xmlns:a16="http://schemas.microsoft.com/office/drawing/2014/main" id="{B883BDC2-F32A-5E32-3864-512FBC870095}"/>
                </a:ext>
              </a:extLst>
            </p:cNvPr>
            <p:cNvSpPr>
              <a:spLocks noChangeArrowheads="1"/>
            </p:cNvSpPr>
            <p:nvPr/>
          </p:nvSpPr>
          <p:spPr bwMode="auto">
            <a:xfrm>
              <a:off x="3531" y="1583"/>
              <a:ext cx="394"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a:ln>
                    <a:noFill/>
                  </a:ln>
                  <a:solidFill>
                    <a:srgbClr val="000000"/>
                  </a:solidFill>
                  <a:effectLst/>
                  <a:latin typeface="Calibri" panose="020F0502020204030204" pitchFamily="34" charset="0"/>
                </a:rPr>
                <a:t>Predicted</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3" name="Rectangle 49">
              <a:extLst>
                <a:ext uri="{FF2B5EF4-FFF2-40B4-BE49-F238E27FC236}">
                  <a16:creationId xmlns:a16="http://schemas.microsoft.com/office/drawing/2014/main" id="{EFC0F408-F0D9-C490-4FC2-0EAB98E52115}"/>
                </a:ext>
              </a:extLst>
            </p:cNvPr>
            <p:cNvSpPr>
              <a:spLocks noChangeArrowheads="1"/>
            </p:cNvSpPr>
            <p:nvPr/>
          </p:nvSpPr>
          <p:spPr bwMode="auto">
            <a:xfrm>
              <a:off x="753" y="1039"/>
              <a:ext cx="10" cy="231"/>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Rectangle 50">
              <a:extLst>
                <a:ext uri="{FF2B5EF4-FFF2-40B4-BE49-F238E27FC236}">
                  <a16:creationId xmlns:a16="http://schemas.microsoft.com/office/drawing/2014/main" id="{DAE19BE3-871D-8ACA-6D51-C0DB9CE27DD4}"/>
                </a:ext>
              </a:extLst>
            </p:cNvPr>
            <p:cNvSpPr>
              <a:spLocks noChangeArrowheads="1"/>
            </p:cNvSpPr>
            <p:nvPr/>
          </p:nvSpPr>
          <p:spPr bwMode="auto">
            <a:xfrm>
              <a:off x="4993" y="1049"/>
              <a:ext cx="9" cy="221"/>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Rectangle 51">
              <a:extLst>
                <a:ext uri="{FF2B5EF4-FFF2-40B4-BE49-F238E27FC236}">
                  <a16:creationId xmlns:a16="http://schemas.microsoft.com/office/drawing/2014/main" id="{1A3AD019-9900-7063-7483-CA10A496E365}"/>
                </a:ext>
              </a:extLst>
            </p:cNvPr>
            <p:cNvSpPr>
              <a:spLocks noChangeArrowheads="1"/>
            </p:cNvSpPr>
            <p:nvPr/>
          </p:nvSpPr>
          <p:spPr bwMode="auto">
            <a:xfrm>
              <a:off x="753" y="1376"/>
              <a:ext cx="10" cy="851"/>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Rectangle 52">
              <a:extLst>
                <a:ext uri="{FF2B5EF4-FFF2-40B4-BE49-F238E27FC236}">
                  <a16:creationId xmlns:a16="http://schemas.microsoft.com/office/drawing/2014/main" id="{812B4C68-BFAE-5F0A-BD97-F93D564CD99A}"/>
                </a:ext>
              </a:extLst>
            </p:cNvPr>
            <p:cNvSpPr>
              <a:spLocks noChangeArrowheads="1"/>
            </p:cNvSpPr>
            <p:nvPr/>
          </p:nvSpPr>
          <p:spPr bwMode="auto">
            <a:xfrm>
              <a:off x="2397" y="1559"/>
              <a:ext cx="10" cy="668"/>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Rectangle 53">
              <a:extLst>
                <a:ext uri="{FF2B5EF4-FFF2-40B4-BE49-F238E27FC236}">
                  <a16:creationId xmlns:a16="http://schemas.microsoft.com/office/drawing/2014/main" id="{B534F276-34DE-2C3E-467C-991CF215D423}"/>
                </a:ext>
              </a:extLst>
            </p:cNvPr>
            <p:cNvSpPr>
              <a:spLocks noChangeArrowheads="1"/>
            </p:cNvSpPr>
            <p:nvPr/>
          </p:nvSpPr>
          <p:spPr bwMode="auto">
            <a:xfrm>
              <a:off x="3349" y="1717"/>
              <a:ext cx="9" cy="510"/>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 name="Rectangle 54">
              <a:extLst>
                <a:ext uri="{FF2B5EF4-FFF2-40B4-BE49-F238E27FC236}">
                  <a16:creationId xmlns:a16="http://schemas.microsoft.com/office/drawing/2014/main" id="{918E1D98-CB8B-94B7-A34B-505DA3D5E0C6}"/>
                </a:ext>
              </a:extLst>
            </p:cNvPr>
            <p:cNvSpPr>
              <a:spLocks noChangeArrowheads="1"/>
            </p:cNvSpPr>
            <p:nvPr/>
          </p:nvSpPr>
          <p:spPr bwMode="auto">
            <a:xfrm>
              <a:off x="753" y="2453"/>
              <a:ext cx="10" cy="823"/>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Rectangle 55">
              <a:extLst>
                <a:ext uri="{FF2B5EF4-FFF2-40B4-BE49-F238E27FC236}">
                  <a16:creationId xmlns:a16="http://schemas.microsoft.com/office/drawing/2014/main" id="{9DC22ED7-4623-0272-1513-2A6E14A7334C}"/>
                </a:ext>
              </a:extLst>
            </p:cNvPr>
            <p:cNvSpPr>
              <a:spLocks noChangeArrowheads="1"/>
            </p:cNvSpPr>
            <p:nvPr/>
          </p:nvSpPr>
          <p:spPr bwMode="auto">
            <a:xfrm>
              <a:off x="4993" y="1386"/>
              <a:ext cx="9" cy="841"/>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Rectangle 56">
              <a:extLst>
                <a:ext uri="{FF2B5EF4-FFF2-40B4-BE49-F238E27FC236}">
                  <a16:creationId xmlns:a16="http://schemas.microsoft.com/office/drawing/2014/main" id="{A65BF9F8-4886-BF1C-AC89-3EEB35911EA9}"/>
                </a:ext>
              </a:extLst>
            </p:cNvPr>
            <p:cNvSpPr>
              <a:spLocks noChangeArrowheads="1"/>
            </p:cNvSpPr>
            <p:nvPr/>
          </p:nvSpPr>
          <p:spPr bwMode="auto">
            <a:xfrm>
              <a:off x="2397" y="2463"/>
              <a:ext cx="10" cy="813"/>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Rectangle 57">
              <a:extLst>
                <a:ext uri="{FF2B5EF4-FFF2-40B4-BE49-F238E27FC236}">
                  <a16:creationId xmlns:a16="http://schemas.microsoft.com/office/drawing/2014/main" id="{B25834FC-08D0-E319-30D4-7B559B21BCDD}"/>
                </a:ext>
              </a:extLst>
            </p:cNvPr>
            <p:cNvSpPr>
              <a:spLocks noChangeArrowheads="1"/>
            </p:cNvSpPr>
            <p:nvPr/>
          </p:nvSpPr>
          <p:spPr bwMode="auto">
            <a:xfrm>
              <a:off x="3349" y="2463"/>
              <a:ext cx="9" cy="813"/>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 name="Rectangle 58">
              <a:extLst>
                <a:ext uri="{FF2B5EF4-FFF2-40B4-BE49-F238E27FC236}">
                  <a16:creationId xmlns:a16="http://schemas.microsoft.com/office/drawing/2014/main" id="{AF4279A7-45CC-78C6-1032-F68296F94657}"/>
                </a:ext>
              </a:extLst>
            </p:cNvPr>
            <p:cNvSpPr>
              <a:spLocks noChangeArrowheads="1"/>
            </p:cNvSpPr>
            <p:nvPr/>
          </p:nvSpPr>
          <p:spPr bwMode="auto">
            <a:xfrm>
              <a:off x="4300" y="1717"/>
              <a:ext cx="10" cy="510"/>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3" name="Rectangle 59">
              <a:extLst>
                <a:ext uri="{FF2B5EF4-FFF2-40B4-BE49-F238E27FC236}">
                  <a16:creationId xmlns:a16="http://schemas.microsoft.com/office/drawing/2014/main" id="{A1D19932-58A3-2F2F-2221-9B19897341DB}"/>
                </a:ext>
              </a:extLst>
            </p:cNvPr>
            <p:cNvSpPr>
              <a:spLocks noChangeArrowheads="1"/>
            </p:cNvSpPr>
            <p:nvPr/>
          </p:nvSpPr>
          <p:spPr bwMode="auto">
            <a:xfrm>
              <a:off x="763" y="1039"/>
              <a:ext cx="4239" cy="10"/>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Rectangle 60">
              <a:extLst>
                <a:ext uri="{FF2B5EF4-FFF2-40B4-BE49-F238E27FC236}">
                  <a16:creationId xmlns:a16="http://schemas.microsoft.com/office/drawing/2014/main" id="{52FAA286-F1A8-8EE1-5090-6C31C2CFFD5B}"/>
                </a:ext>
              </a:extLst>
            </p:cNvPr>
            <p:cNvSpPr>
              <a:spLocks noChangeArrowheads="1"/>
            </p:cNvSpPr>
            <p:nvPr/>
          </p:nvSpPr>
          <p:spPr bwMode="auto">
            <a:xfrm>
              <a:off x="763" y="1260"/>
              <a:ext cx="4239" cy="10"/>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5" name="Rectangle 61">
              <a:extLst>
                <a:ext uri="{FF2B5EF4-FFF2-40B4-BE49-F238E27FC236}">
                  <a16:creationId xmlns:a16="http://schemas.microsoft.com/office/drawing/2014/main" id="{1C51C1F6-076C-0E59-5EA8-3BCBD7DB68B2}"/>
                </a:ext>
              </a:extLst>
            </p:cNvPr>
            <p:cNvSpPr>
              <a:spLocks noChangeArrowheads="1"/>
            </p:cNvSpPr>
            <p:nvPr/>
          </p:nvSpPr>
          <p:spPr bwMode="auto">
            <a:xfrm>
              <a:off x="763" y="1376"/>
              <a:ext cx="4239" cy="10"/>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 name="Rectangle 62">
              <a:extLst>
                <a:ext uri="{FF2B5EF4-FFF2-40B4-BE49-F238E27FC236}">
                  <a16:creationId xmlns:a16="http://schemas.microsoft.com/office/drawing/2014/main" id="{0CC6E327-9C5C-FB79-C482-A6488CB68E8B}"/>
                </a:ext>
              </a:extLst>
            </p:cNvPr>
            <p:cNvSpPr>
              <a:spLocks noChangeArrowheads="1"/>
            </p:cNvSpPr>
            <p:nvPr/>
          </p:nvSpPr>
          <p:spPr bwMode="auto">
            <a:xfrm>
              <a:off x="763" y="1549"/>
              <a:ext cx="4239" cy="10"/>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 name="Rectangle 63">
              <a:extLst>
                <a:ext uri="{FF2B5EF4-FFF2-40B4-BE49-F238E27FC236}">
                  <a16:creationId xmlns:a16="http://schemas.microsoft.com/office/drawing/2014/main" id="{E5872CDD-7896-1791-64DA-C0339DA2C15C}"/>
                </a:ext>
              </a:extLst>
            </p:cNvPr>
            <p:cNvSpPr>
              <a:spLocks noChangeArrowheads="1"/>
            </p:cNvSpPr>
            <p:nvPr/>
          </p:nvSpPr>
          <p:spPr bwMode="auto">
            <a:xfrm>
              <a:off x="763" y="1708"/>
              <a:ext cx="4239" cy="9"/>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8" name="Rectangle 64">
              <a:extLst>
                <a:ext uri="{FF2B5EF4-FFF2-40B4-BE49-F238E27FC236}">
                  <a16:creationId xmlns:a16="http://schemas.microsoft.com/office/drawing/2014/main" id="{3EC85781-9E94-D039-B8F5-30EFD97451E9}"/>
                </a:ext>
              </a:extLst>
            </p:cNvPr>
            <p:cNvSpPr>
              <a:spLocks noChangeArrowheads="1"/>
            </p:cNvSpPr>
            <p:nvPr/>
          </p:nvSpPr>
          <p:spPr bwMode="auto">
            <a:xfrm>
              <a:off x="763" y="1867"/>
              <a:ext cx="4239" cy="9"/>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9" name="Rectangle 65">
              <a:extLst>
                <a:ext uri="{FF2B5EF4-FFF2-40B4-BE49-F238E27FC236}">
                  <a16:creationId xmlns:a16="http://schemas.microsoft.com/office/drawing/2014/main" id="{55F19A3E-B5D6-A692-F9D8-DB8099975863}"/>
                </a:ext>
              </a:extLst>
            </p:cNvPr>
            <p:cNvSpPr>
              <a:spLocks noChangeArrowheads="1"/>
            </p:cNvSpPr>
            <p:nvPr/>
          </p:nvSpPr>
          <p:spPr bwMode="auto">
            <a:xfrm>
              <a:off x="763" y="1982"/>
              <a:ext cx="4239" cy="10"/>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0" name="Rectangle 66">
              <a:extLst>
                <a:ext uri="{FF2B5EF4-FFF2-40B4-BE49-F238E27FC236}">
                  <a16:creationId xmlns:a16="http://schemas.microsoft.com/office/drawing/2014/main" id="{FF3436E8-151D-F6CC-CE3E-D1F44894DC4F}"/>
                </a:ext>
              </a:extLst>
            </p:cNvPr>
            <p:cNvSpPr>
              <a:spLocks noChangeArrowheads="1"/>
            </p:cNvSpPr>
            <p:nvPr/>
          </p:nvSpPr>
          <p:spPr bwMode="auto">
            <a:xfrm>
              <a:off x="763" y="2097"/>
              <a:ext cx="4239" cy="10"/>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1" name="Rectangle 67">
              <a:extLst>
                <a:ext uri="{FF2B5EF4-FFF2-40B4-BE49-F238E27FC236}">
                  <a16:creationId xmlns:a16="http://schemas.microsoft.com/office/drawing/2014/main" id="{4DB0C799-F57A-1958-5F35-67AFFC197D7C}"/>
                </a:ext>
              </a:extLst>
            </p:cNvPr>
            <p:cNvSpPr>
              <a:spLocks noChangeArrowheads="1"/>
            </p:cNvSpPr>
            <p:nvPr/>
          </p:nvSpPr>
          <p:spPr bwMode="auto">
            <a:xfrm>
              <a:off x="763" y="2218"/>
              <a:ext cx="4239" cy="9"/>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2" name="Rectangle 68">
              <a:extLst>
                <a:ext uri="{FF2B5EF4-FFF2-40B4-BE49-F238E27FC236}">
                  <a16:creationId xmlns:a16="http://schemas.microsoft.com/office/drawing/2014/main" id="{73C8CF6F-829D-D7C7-9924-6F31B2A0168D}"/>
                </a:ext>
              </a:extLst>
            </p:cNvPr>
            <p:cNvSpPr>
              <a:spLocks noChangeArrowheads="1"/>
            </p:cNvSpPr>
            <p:nvPr/>
          </p:nvSpPr>
          <p:spPr bwMode="auto">
            <a:xfrm>
              <a:off x="763" y="2453"/>
              <a:ext cx="2595" cy="10"/>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3" name="Rectangle 69">
              <a:extLst>
                <a:ext uri="{FF2B5EF4-FFF2-40B4-BE49-F238E27FC236}">
                  <a16:creationId xmlns:a16="http://schemas.microsoft.com/office/drawing/2014/main" id="{F6B4E15B-9380-B76E-9804-1DA66D36F72C}"/>
                </a:ext>
              </a:extLst>
            </p:cNvPr>
            <p:cNvSpPr>
              <a:spLocks noChangeArrowheads="1"/>
            </p:cNvSpPr>
            <p:nvPr/>
          </p:nvSpPr>
          <p:spPr bwMode="auto">
            <a:xfrm>
              <a:off x="763" y="2574"/>
              <a:ext cx="2595" cy="9"/>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4" name="Rectangle 70">
              <a:extLst>
                <a:ext uri="{FF2B5EF4-FFF2-40B4-BE49-F238E27FC236}">
                  <a16:creationId xmlns:a16="http://schemas.microsoft.com/office/drawing/2014/main" id="{9B1E3AFB-7A40-5FD3-8B95-475E5AE72C3A}"/>
                </a:ext>
              </a:extLst>
            </p:cNvPr>
            <p:cNvSpPr>
              <a:spLocks noChangeArrowheads="1"/>
            </p:cNvSpPr>
            <p:nvPr/>
          </p:nvSpPr>
          <p:spPr bwMode="auto">
            <a:xfrm>
              <a:off x="763" y="2689"/>
              <a:ext cx="2595" cy="10"/>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5" name="Rectangle 71">
              <a:extLst>
                <a:ext uri="{FF2B5EF4-FFF2-40B4-BE49-F238E27FC236}">
                  <a16:creationId xmlns:a16="http://schemas.microsoft.com/office/drawing/2014/main" id="{0FC37BDB-1B7E-557F-37FA-24854E42EA7D}"/>
                </a:ext>
              </a:extLst>
            </p:cNvPr>
            <p:cNvSpPr>
              <a:spLocks noChangeArrowheads="1"/>
            </p:cNvSpPr>
            <p:nvPr/>
          </p:nvSpPr>
          <p:spPr bwMode="auto">
            <a:xfrm>
              <a:off x="763" y="2805"/>
              <a:ext cx="2595" cy="9"/>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6" name="Rectangle 72">
              <a:extLst>
                <a:ext uri="{FF2B5EF4-FFF2-40B4-BE49-F238E27FC236}">
                  <a16:creationId xmlns:a16="http://schemas.microsoft.com/office/drawing/2014/main" id="{113A717F-A55B-52B5-014A-8618E3A8EE14}"/>
                </a:ext>
              </a:extLst>
            </p:cNvPr>
            <p:cNvSpPr>
              <a:spLocks noChangeArrowheads="1"/>
            </p:cNvSpPr>
            <p:nvPr/>
          </p:nvSpPr>
          <p:spPr bwMode="auto">
            <a:xfrm>
              <a:off x="763" y="2920"/>
              <a:ext cx="2595" cy="10"/>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7" name="Rectangle 73">
              <a:extLst>
                <a:ext uri="{FF2B5EF4-FFF2-40B4-BE49-F238E27FC236}">
                  <a16:creationId xmlns:a16="http://schemas.microsoft.com/office/drawing/2014/main" id="{B577A14C-498C-07DB-C760-D3FD7BE5F41E}"/>
                </a:ext>
              </a:extLst>
            </p:cNvPr>
            <p:cNvSpPr>
              <a:spLocks noChangeArrowheads="1"/>
            </p:cNvSpPr>
            <p:nvPr/>
          </p:nvSpPr>
          <p:spPr bwMode="auto">
            <a:xfrm>
              <a:off x="763" y="3035"/>
              <a:ext cx="2595" cy="10"/>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8" name="Rectangle 74">
              <a:extLst>
                <a:ext uri="{FF2B5EF4-FFF2-40B4-BE49-F238E27FC236}">
                  <a16:creationId xmlns:a16="http://schemas.microsoft.com/office/drawing/2014/main" id="{83102867-361A-2C76-D43A-A664C62923D0}"/>
                </a:ext>
              </a:extLst>
            </p:cNvPr>
            <p:cNvSpPr>
              <a:spLocks noChangeArrowheads="1"/>
            </p:cNvSpPr>
            <p:nvPr/>
          </p:nvSpPr>
          <p:spPr bwMode="auto">
            <a:xfrm>
              <a:off x="763" y="3151"/>
              <a:ext cx="2595" cy="10"/>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9" name="Rectangle 75">
              <a:extLst>
                <a:ext uri="{FF2B5EF4-FFF2-40B4-BE49-F238E27FC236}">
                  <a16:creationId xmlns:a16="http://schemas.microsoft.com/office/drawing/2014/main" id="{34430862-EF98-8FE0-EEA2-76030E41F4D1}"/>
                </a:ext>
              </a:extLst>
            </p:cNvPr>
            <p:cNvSpPr>
              <a:spLocks noChangeArrowheads="1"/>
            </p:cNvSpPr>
            <p:nvPr/>
          </p:nvSpPr>
          <p:spPr bwMode="auto">
            <a:xfrm>
              <a:off x="763" y="3266"/>
              <a:ext cx="2595" cy="10"/>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6260009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51727F-BD62-F889-4778-B1BAAA5ADAC8}"/>
            </a:ext>
          </a:extLst>
        </p:cNvPr>
        <p:cNvGrpSpPr/>
        <p:nvPr/>
      </p:nvGrpSpPr>
      <p:grpSpPr>
        <a:xfrm>
          <a:off x="0" y="0"/>
          <a:ext cx="0" cy="0"/>
          <a:chOff x="0" y="0"/>
          <a:chExt cx="0" cy="0"/>
        </a:xfrm>
      </p:grpSpPr>
      <p:sp>
        <p:nvSpPr>
          <p:cNvPr id="7" name="object 2">
            <a:extLst>
              <a:ext uri="{FF2B5EF4-FFF2-40B4-BE49-F238E27FC236}">
                <a16:creationId xmlns:a16="http://schemas.microsoft.com/office/drawing/2014/main" id="{5DB03651-A674-D6B4-928D-0233187F4B94}"/>
              </a:ext>
            </a:extLst>
          </p:cNvPr>
          <p:cNvSpPr txBox="1">
            <a:spLocks/>
          </p:cNvSpPr>
          <p:nvPr/>
        </p:nvSpPr>
        <p:spPr>
          <a:xfrm>
            <a:off x="228600" y="128016"/>
            <a:ext cx="8830734" cy="984885"/>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pPr>
              <a:lnSpc>
                <a:spcPct val="100000"/>
              </a:lnSpc>
              <a:spcBef>
                <a:spcPts val="0"/>
              </a:spcBef>
            </a:pPr>
            <a:r>
              <a:rPr lang="en-US" dirty="0"/>
              <a:t>Models: Naive Bayes | Confusion Matrix |</a:t>
            </a:r>
          </a:p>
          <a:p>
            <a:pPr>
              <a:lnSpc>
                <a:spcPct val="100000"/>
              </a:lnSpc>
              <a:spcBef>
                <a:spcPts val="0"/>
              </a:spcBef>
            </a:pPr>
            <a:r>
              <a:rPr lang="en-US" dirty="0"/>
              <a:t>Complement NB | Training</a:t>
            </a:r>
            <a:endParaRPr lang="en-US" spc="-20" dirty="0">
              <a:solidFill>
                <a:srgbClr val="2D3B45"/>
              </a:solidFill>
            </a:endParaRPr>
          </a:p>
        </p:txBody>
      </p:sp>
      <p:sp>
        <p:nvSpPr>
          <p:cNvPr id="9" name="Slide Number Placeholder 4">
            <a:extLst>
              <a:ext uri="{FF2B5EF4-FFF2-40B4-BE49-F238E27FC236}">
                <a16:creationId xmlns:a16="http://schemas.microsoft.com/office/drawing/2014/main" id="{4675222E-BD89-C5DD-677B-A94948685B0A}"/>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29</a:t>
            </a:fld>
            <a:endParaRPr lang="en-US" dirty="0">
              <a:solidFill>
                <a:srgbClr val="000000"/>
              </a:solidFill>
            </a:endParaRPr>
          </a:p>
        </p:txBody>
      </p:sp>
      <p:pic>
        <p:nvPicPr>
          <p:cNvPr id="3" name="Picture 2">
            <a:extLst>
              <a:ext uri="{FF2B5EF4-FFF2-40B4-BE49-F238E27FC236}">
                <a16:creationId xmlns:a16="http://schemas.microsoft.com/office/drawing/2014/main" id="{6CD26632-4A8F-0BC7-E850-6D2C445523ED}"/>
              </a:ext>
            </a:extLst>
          </p:cNvPr>
          <p:cNvPicPr>
            <a:picLocks noChangeAspect="1"/>
          </p:cNvPicPr>
          <p:nvPr/>
        </p:nvPicPr>
        <p:blipFill>
          <a:blip r:embed="rId2"/>
          <a:stretch>
            <a:fillRect/>
          </a:stretch>
        </p:blipFill>
        <p:spPr>
          <a:xfrm>
            <a:off x="1203960" y="1657350"/>
            <a:ext cx="6736080" cy="3543300"/>
          </a:xfrm>
          <a:prstGeom prst="rect">
            <a:avLst/>
          </a:prstGeom>
        </p:spPr>
      </p:pic>
    </p:spTree>
    <p:extLst>
      <p:ext uri="{BB962C8B-B14F-4D97-AF65-F5344CB8AC3E}">
        <p14:creationId xmlns:p14="http://schemas.microsoft.com/office/powerpoint/2010/main" val="6914690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3BD1FA-8C3B-D57F-FFA4-06AB08C99EE6}"/>
            </a:ext>
          </a:extLst>
        </p:cNvPr>
        <p:cNvGrpSpPr/>
        <p:nvPr/>
      </p:nvGrpSpPr>
      <p:grpSpPr>
        <a:xfrm>
          <a:off x="0" y="0"/>
          <a:ext cx="0" cy="0"/>
          <a:chOff x="0" y="0"/>
          <a:chExt cx="0" cy="0"/>
        </a:xfrm>
      </p:grpSpPr>
      <p:sp>
        <p:nvSpPr>
          <p:cNvPr id="5" name="object 2">
            <a:extLst>
              <a:ext uri="{FF2B5EF4-FFF2-40B4-BE49-F238E27FC236}">
                <a16:creationId xmlns:a16="http://schemas.microsoft.com/office/drawing/2014/main" id="{E69C1D18-513F-C940-FC1F-7DD1E7AFC7ED}"/>
              </a:ext>
            </a:extLst>
          </p:cNvPr>
          <p:cNvSpPr txBox="1">
            <a:spLocks/>
          </p:cNvSpPr>
          <p:nvPr/>
        </p:nvSpPr>
        <p:spPr>
          <a:xfrm>
            <a:off x="228600" y="128016"/>
            <a:ext cx="8686800" cy="984885"/>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pPr>
              <a:lnSpc>
                <a:spcPct val="100000"/>
              </a:lnSpc>
              <a:spcBef>
                <a:spcPts val="0"/>
              </a:spcBef>
            </a:pPr>
            <a:r>
              <a:rPr lang="en-US" dirty="0"/>
              <a:t>Models: Naive Bayes | Confusion Matrix | </a:t>
            </a:r>
          </a:p>
          <a:p>
            <a:pPr>
              <a:lnSpc>
                <a:spcPct val="100000"/>
              </a:lnSpc>
              <a:spcBef>
                <a:spcPts val="0"/>
              </a:spcBef>
            </a:pPr>
            <a:r>
              <a:rPr lang="en-US" dirty="0"/>
              <a:t>Complement NB | Validation</a:t>
            </a:r>
            <a:endParaRPr lang="en-US" spc="-20" dirty="0">
              <a:solidFill>
                <a:srgbClr val="2D3B45"/>
              </a:solidFill>
            </a:endParaRPr>
          </a:p>
        </p:txBody>
      </p:sp>
      <p:sp>
        <p:nvSpPr>
          <p:cNvPr id="9" name="Slide Number Placeholder 4">
            <a:extLst>
              <a:ext uri="{FF2B5EF4-FFF2-40B4-BE49-F238E27FC236}">
                <a16:creationId xmlns:a16="http://schemas.microsoft.com/office/drawing/2014/main" id="{612F2D11-C422-5061-AADB-94D7FCE3DD7C}"/>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30</a:t>
            </a:fld>
            <a:endParaRPr lang="en-US" dirty="0">
              <a:solidFill>
                <a:srgbClr val="000000"/>
              </a:solidFill>
            </a:endParaRPr>
          </a:p>
        </p:txBody>
      </p:sp>
      <p:pic>
        <p:nvPicPr>
          <p:cNvPr id="3" name="Picture 2">
            <a:extLst>
              <a:ext uri="{FF2B5EF4-FFF2-40B4-BE49-F238E27FC236}">
                <a16:creationId xmlns:a16="http://schemas.microsoft.com/office/drawing/2014/main" id="{977AB105-3850-EF86-653A-1C166BF5D752}"/>
              </a:ext>
            </a:extLst>
          </p:cNvPr>
          <p:cNvPicPr>
            <a:picLocks noChangeAspect="1"/>
          </p:cNvPicPr>
          <p:nvPr/>
        </p:nvPicPr>
        <p:blipFill>
          <a:blip r:embed="rId2"/>
          <a:stretch>
            <a:fillRect/>
          </a:stretch>
        </p:blipFill>
        <p:spPr>
          <a:xfrm>
            <a:off x="1203960" y="1657350"/>
            <a:ext cx="6736080" cy="3543300"/>
          </a:xfrm>
          <a:prstGeom prst="rect">
            <a:avLst/>
          </a:prstGeom>
        </p:spPr>
      </p:pic>
    </p:spTree>
    <p:extLst>
      <p:ext uri="{BB962C8B-B14F-4D97-AF65-F5344CB8AC3E}">
        <p14:creationId xmlns:p14="http://schemas.microsoft.com/office/powerpoint/2010/main" val="3538846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2">
            <a:extLst>
              <a:ext uri="{FF2B5EF4-FFF2-40B4-BE49-F238E27FC236}">
                <a16:creationId xmlns:a16="http://schemas.microsoft.com/office/drawing/2014/main" id="{4AAF67D8-AF22-6A86-C710-90AFFB3F6132}"/>
              </a:ext>
            </a:extLst>
          </p:cNvPr>
          <p:cNvSpPr txBox="1">
            <a:spLocks/>
          </p:cNvSpPr>
          <p:nvPr/>
        </p:nvSpPr>
        <p:spPr>
          <a:xfrm>
            <a:off x="228600" y="128016"/>
            <a:ext cx="8001000" cy="984885"/>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pPr>
              <a:lnSpc>
                <a:spcPct val="100000"/>
              </a:lnSpc>
              <a:spcBef>
                <a:spcPts val="0"/>
              </a:spcBef>
            </a:pPr>
            <a:r>
              <a:rPr lang="en-US" dirty="0"/>
              <a:t>Models: Comparing Naive Bayes Classifiers | Training</a:t>
            </a:r>
            <a:endParaRPr lang="en-US" spc="-20" dirty="0">
              <a:solidFill>
                <a:srgbClr val="2D3B45"/>
              </a:solidFill>
            </a:endParaRPr>
          </a:p>
        </p:txBody>
      </p:sp>
      <p:sp>
        <p:nvSpPr>
          <p:cNvPr id="9" name="Slide Number Placeholder 4">
            <a:extLst>
              <a:ext uri="{FF2B5EF4-FFF2-40B4-BE49-F238E27FC236}">
                <a16:creationId xmlns:a16="http://schemas.microsoft.com/office/drawing/2014/main" id="{A9E14255-8732-676B-531C-0D048572907B}"/>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31</a:t>
            </a:fld>
            <a:endParaRPr lang="en-US" dirty="0">
              <a:solidFill>
                <a:srgbClr val="000000"/>
              </a:solidFill>
            </a:endParaRPr>
          </a:p>
        </p:txBody>
      </p:sp>
      <p:pic>
        <p:nvPicPr>
          <p:cNvPr id="3" name="Picture 2">
            <a:extLst>
              <a:ext uri="{FF2B5EF4-FFF2-40B4-BE49-F238E27FC236}">
                <a16:creationId xmlns:a16="http://schemas.microsoft.com/office/drawing/2014/main" id="{6C99581D-DE10-9E25-6311-396B4EE81E51}"/>
              </a:ext>
            </a:extLst>
          </p:cNvPr>
          <p:cNvPicPr>
            <a:picLocks noChangeAspect="1"/>
          </p:cNvPicPr>
          <p:nvPr/>
        </p:nvPicPr>
        <p:blipFill>
          <a:blip r:embed="rId2"/>
          <a:stretch>
            <a:fillRect/>
          </a:stretch>
        </p:blipFill>
        <p:spPr>
          <a:xfrm>
            <a:off x="930062" y="1627175"/>
            <a:ext cx="7269310" cy="2241210"/>
          </a:xfrm>
          <a:prstGeom prst="rect">
            <a:avLst/>
          </a:prstGeom>
        </p:spPr>
      </p:pic>
      <p:sp>
        <p:nvSpPr>
          <p:cNvPr id="2" name="TextBox 1">
            <a:extLst>
              <a:ext uri="{FF2B5EF4-FFF2-40B4-BE49-F238E27FC236}">
                <a16:creationId xmlns:a16="http://schemas.microsoft.com/office/drawing/2014/main" id="{C1F017B9-12C0-E0A3-2478-F802041CFB54}"/>
              </a:ext>
            </a:extLst>
          </p:cNvPr>
          <p:cNvSpPr txBox="1"/>
          <p:nvPr/>
        </p:nvSpPr>
        <p:spPr>
          <a:xfrm>
            <a:off x="938528" y="3868385"/>
            <a:ext cx="7321299" cy="2554545"/>
          </a:xfrm>
          <a:prstGeom prst="rect">
            <a:avLst/>
          </a:prstGeom>
          <a:noFill/>
        </p:spPr>
        <p:txBody>
          <a:bodyPr wrap="square">
            <a:spAutoFit/>
          </a:bodyPr>
          <a:lstStyle/>
          <a:p>
            <a:r>
              <a:rPr lang="en-US" sz="2000" b="1" dirty="0"/>
              <a:t>Note</a:t>
            </a:r>
            <a:r>
              <a:rPr lang="en-US" sz="2000" dirty="0"/>
              <a:t>: Light orange indicates the highest number in each row.</a:t>
            </a:r>
          </a:p>
          <a:p>
            <a:pPr marL="342900" indent="-342900">
              <a:buFont typeface="Arial" panose="020B0604020202020204" pitchFamily="34" charset="0"/>
              <a:buChar char="•"/>
            </a:pPr>
            <a:endParaRPr lang="en-US" sz="2000" dirty="0"/>
          </a:p>
          <a:p>
            <a:r>
              <a:rPr lang="en-US" sz="2000" b="1" dirty="0"/>
              <a:t>Note: </a:t>
            </a:r>
            <a:r>
              <a:rPr lang="en-US" sz="2000" dirty="0"/>
              <a:t>The training results, especially for </a:t>
            </a:r>
            <a:r>
              <a:rPr lang="en-US" sz="2000" b="1" dirty="0"/>
              <a:t>Complement Naive Bayes with an accuracy</a:t>
            </a:r>
            <a:r>
              <a:rPr lang="en-US" sz="2000" dirty="0"/>
              <a:t> of 0.9180, appear very strong. However, training performance alone does not show how well the model generalizes. The validation results on the next slide will help determine whether the model is overfitting.</a:t>
            </a:r>
          </a:p>
          <a:p>
            <a:endParaRPr lang="en-US" sz="2000" dirty="0"/>
          </a:p>
        </p:txBody>
      </p:sp>
    </p:spTree>
    <p:extLst>
      <p:ext uri="{BB962C8B-B14F-4D97-AF65-F5344CB8AC3E}">
        <p14:creationId xmlns:p14="http://schemas.microsoft.com/office/powerpoint/2010/main" val="25184456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2">
            <a:extLst>
              <a:ext uri="{FF2B5EF4-FFF2-40B4-BE49-F238E27FC236}">
                <a16:creationId xmlns:a16="http://schemas.microsoft.com/office/drawing/2014/main" id="{0A2E28C9-4E45-F8F3-F53C-0FB9074292C8}"/>
              </a:ext>
            </a:extLst>
          </p:cNvPr>
          <p:cNvSpPr txBox="1">
            <a:spLocks/>
          </p:cNvSpPr>
          <p:nvPr/>
        </p:nvSpPr>
        <p:spPr>
          <a:xfrm>
            <a:off x="228600" y="128016"/>
            <a:ext cx="8686800" cy="984885"/>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pPr>
              <a:lnSpc>
                <a:spcPct val="100000"/>
              </a:lnSpc>
              <a:spcBef>
                <a:spcPts val="0"/>
              </a:spcBef>
            </a:pPr>
            <a:r>
              <a:rPr lang="en-US" dirty="0"/>
              <a:t>Models: Comparing Naive Bayes Classifiers | Validation</a:t>
            </a:r>
            <a:endParaRPr lang="en-US" spc="-20" dirty="0">
              <a:solidFill>
                <a:srgbClr val="2D3B45"/>
              </a:solidFill>
            </a:endParaRPr>
          </a:p>
        </p:txBody>
      </p:sp>
      <p:sp>
        <p:nvSpPr>
          <p:cNvPr id="7" name="Slide Number Placeholder 4">
            <a:extLst>
              <a:ext uri="{FF2B5EF4-FFF2-40B4-BE49-F238E27FC236}">
                <a16:creationId xmlns:a16="http://schemas.microsoft.com/office/drawing/2014/main" id="{8EFAECD5-40C0-0F88-FF39-2AF62C6A6B20}"/>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32</a:t>
            </a:fld>
            <a:endParaRPr lang="en-US" dirty="0">
              <a:solidFill>
                <a:srgbClr val="000000"/>
              </a:solidFill>
            </a:endParaRPr>
          </a:p>
        </p:txBody>
      </p:sp>
      <p:sp>
        <p:nvSpPr>
          <p:cNvPr id="2" name="TextBox 1">
            <a:extLst>
              <a:ext uri="{FF2B5EF4-FFF2-40B4-BE49-F238E27FC236}">
                <a16:creationId xmlns:a16="http://schemas.microsoft.com/office/drawing/2014/main" id="{7257CBB8-2CB4-3AF8-C303-12B0BFD0A67B}"/>
              </a:ext>
            </a:extLst>
          </p:cNvPr>
          <p:cNvSpPr txBox="1"/>
          <p:nvPr/>
        </p:nvSpPr>
        <p:spPr>
          <a:xfrm>
            <a:off x="938528" y="3868385"/>
            <a:ext cx="7321299" cy="2554545"/>
          </a:xfrm>
          <a:prstGeom prst="rect">
            <a:avLst/>
          </a:prstGeom>
          <a:noFill/>
        </p:spPr>
        <p:txBody>
          <a:bodyPr wrap="square">
            <a:spAutoFit/>
          </a:bodyPr>
          <a:lstStyle/>
          <a:p>
            <a:r>
              <a:rPr lang="en-US" sz="2000" b="1" dirty="0"/>
              <a:t>Note: </a:t>
            </a:r>
            <a:r>
              <a:rPr lang="en-US" sz="2000" dirty="0"/>
              <a:t>Light orange indicates the highest number in each row.</a:t>
            </a:r>
          </a:p>
          <a:p>
            <a:endParaRPr lang="en-US" sz="2000" dirty="0"/>
          </a:p>
          <a:p>
            <a:r>
              <a:rPr lang="en-US" sz="2000" b="1" dirty="0"/>
              <a:t>Note: Compared to the training results, the validation accuracy </a:t>
            </a:r>
            <a:r>
              <a:rPr lang="en-US" sz="2000" dirty="0"/>
              <a:t>for Complement Naive Bayes drops from 0.9180 to 0.7857. This decline shows clear overfitting, meaning the model performs well on training data but less effectively on unseen validation data.</a:t>
            </a:r>
          </a:p>
          <a:p>
            <a:r>
              <a:rPr lang="en-US" sz="2000" dirty="0"/>
              <a:t> </a:t>
            </a:r>
          </a:p>
          <a:p>
            <a:pPr marL="342900" indent="-342900">
              <a:buFont typeface="Arial" panose="020B0604020202020204" pitchFamily="34" charset="0"/>
              <a:buChar char="•"/>
            </a:pPr>
            <a:endParaRPr lang="en-US" sz="2000" dirty="0"/>
          </a:p>
        </p:txBody>
      </p:sp>
      <p:pic>
        <p:nvPicPr>
          <p:cNvPr id="8" name="Picture 7">
            <a:extLst>
              <a:ext uri="{FF2B5EF4-FFF2-40B4-BE49-F238E27FC236}">
                <a16:creationId xmlns:a16="http://schemas.microsoft.com/office/drawing/2014/main" id="{E31579BC-AEDF-2B12-7CC6-58A13F9A4F4F}"/>
              </a:ext>
            </a:extLst>
          </p:cNvPr>
          <p:cNvPicPr>
            <a:picLocks noChangeAspect="1"/>
          </p:cNvPicPr>
          <p:nvPr/>
        </p:nvPicPr>
        <p:blipFill>
          <a:blip r:embed="rId2"/>
          <a:stretch>
            <a:fillRect/>
          </a:stretch>
        </p:blipFill>
        <p:spPr>
          <a:xfrm>
            <a:off x="938529" y="1627175"/>
            <a:ext cx="7265671" cy="2216691"/>
          </a:xfrm>
          <a:prstGeom prst="rect">
            <a:avLst/>
          </a:prstGeom>
        </p:spPr>
      </p:pic>
    </p:spTree>
    <p:extLst>
      <p:ext uri="{BB962C8B-B14F-4D97-AF65-F5344CB8AC3E}">
        <p14:creationId xmlns:p14="http://schemas.microsoft.com/office/powerpoint/2010/main" val="16589820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BEB07CD-3D0D-267B-8DB4-DA3A7EFC272D}"/>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33</a:t>
            </a:fld>
            <a:endParaRPr lang="en-US" dirty="0">
              <a:solidFill>
                <a:srgbClr val="000000"/>
              </a:solidFill>
            </a:endParaRPr>
          </a:p>
        </p:txBody>
      </p:sp>
      <p:sp>
        <p:nvSpPr>
          <p:cNvPr id="7" name="object 2">
            <a:extLst>
              <a:ext uri="{FF2B5EF4-FFF2-40B4-BE49-F238E27FC236}">
                <a16:creationId xmlns:a16="http://schemas.microsoft.com/office/drawing/2014/main" id="{DC71A3FF-E9A8-E4C9-B3C5-F6833765B22A}"/>
              </a:ext>
            </a:extLst>
          </p:cNvPr>
          <p:cNvSpPr txBox="1">
            <a:spLocks/>
          </p:cNvSpPr>
          <p:nvPr/>
        </p:nvSpPr>
        <p:spPr>
          <a:xfrm>
            <a:off x="228600" y="128016"/>
            <a:ext cx="8686800" cy="984885"/>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pPr>
              <a:lnSpc>
                <a:spcPct val="100000"/>
              </a:lnSpc>
              <a:spcBef>
                <a:spcPts val="0"/>
              </a:spcBef>
            </a:pPr>
            <a:r>
              <a:rPr lang="en-US" dirty="0"/>
              <a:t>Models: Comparing NB Classifiers (Validation Data)</a:t>
            </a:r>
            <a:endParaRPr lang="en-US" spc="-20" dirty="0">
              <a:solidFill>
                <a:srgbClr val="2D3B45"/>
              </a:solidFill>
            </a:endParaRPr>
          </a:p>
        </p:txBody>
      </p:sp>
      <p:sp>
        <p:nvSpPr>
          <p:cNvPr id="2" name="object 3">
            <a:extLst>
              <a:ext uri="{FF2B5EF4-FFF2-40B4-BE49-F238E27FC236}">
                <a16:creationId xmlns:a16="http://schemas.microsoft.com/office/drawing/2014/main" id="{5B6570B6-45B8-DDB7-865F-050499E6112F}"/>
              </a:ext>
            </a:extLst>
          </p:cNvPr>
          <p:cNvSpPr txBox="1"/>
          <p:nvPr/>
        </p:nvSpPr>
        <p:spPr>
          <a:xfrm>
            <a:off x="815787" y="903603"/>
            <a:ext cx="7440707" cy="5050793"/>
          </a:xfrm>
          <a:prstGeom prst="rect">
            <a:avLst/>
          </a:prstGeom>
        </p:spPr>
        <p:txBody>
          <a:bodyPr vert="horz" wrap="square" lIns="0" tIns="12700" rIns="0" bIns="0" rtlCol="0">
            <a:noAutofit/>
          </a:bodyPr>
          <a:lstStyle/>
          <a:p>
            <a:pPr marL="402336" indent="-310896" algn="just">
              <a:spcAft>
                <a:spcPts val="600"/>
              </a:spcAft>
              <a:buFont typeface="Arial" panose="020B0604020202020204" pitchFamily="34" charset="0"/>
              <a:buChar char="•"/>
            </a:pPr>
            <a:r>
              <a:rPr lang="en-GB" b="1" kern="100" dirty="0" err="1">
                <a:ea typeface="Aptos" panose="020B0004020202020204"/>
                <a:cs typeface="Times New Roman" panose="02020603050405020304" pitchFamily="18" charset="0"/>
              </a:rPr>
              <a:t>ComplementNB</a:t>
            </a:r>
            <a:r>
              <a:rPr lang="en-GB" b="1" kern="100" dirty="0">
                <a:ea typeface="Aptos" panose="020B0004020202020204"/>
                <a:cs typeface="Times New Roman" panose="02020603050405020304" pitchFamily="18" charset="0"/>
              </a:rPr>
              <a:t> </a:t>
            </a:r>
            <a:r>
              <a:rPr lang="en-US" b="1" kern="0" dirty="0">
                <a:ea typeface="Times New Roman" panose="02020603050405020304" pitchFamily="18" charset="0"/>
                <a:cs typeface="Times New Roman" panose="02020603050405020304" pitchFamily="18" charset="0"/>
              </a:rPr>
              <a:t>–</a:t>
            </a:r>
            <a:r>
              <a:rPr lang="en-GB" b="1" kern="100" dirty="0">
                <a:ea typeface="Aptos" panose="020B0004020202020204"/>
                <a:cs typeface="Times New Roman" panose="02020603050405020304" pitchFamily="18" charset="0"/>
              </a:rPr>
              <a:t> </a:t>
            </a:r>
            <a:r>
              <a:rPr lang="en-US" dirty="0"/>
              <a:t>Complement Naive Bayes achieved the </a:t>
            </a:r>
            <a:r>
              <a:rPr lang="en-US" b="1" dirty="0"/>
              <a:t>best overall performance</a:t>
            </a:r>
            <a:r>
              <a:rPr lang="en-US" dirty="0"/>
              <a:t>, recording the highest </a:t>
            </a:r>
            <a:r>
              <a:rPr lang="en-US" b="1" dirty="0"/>
              <a:t>accuracy (78.57%)</a:t>
            </a:r>
            <a:r>
              <a:rPr lang="en-US" dirty="0"/>
              <a:t>, </a:t>
            </a:r>
            <a:r>
              <a:rPr lang="en-US" b="1" dirty="0"/>
              <a:t>precision (77.18%), specificity (72.25%)</a:t>
            </a:r>
            <a:r>
              <a:rPr lang="en-US" dirty="0"/>
              <a:t>, and </a:t>
            </a:r>
            <a:r>
              <a:rPr lang="en-US" b="1" dirty="0"/>
              <a:t>F1 score (80.56%)</a:t>
            </a:r>
            <a:r>
              <a:rPr lang="en-US" dirty="0"/>
              <a:t>. It also achieved an </a:t>
            </a:r>
            <a:r>
              <a:rPr lang="en-US" b="1" dirty="0"/>
              <a:t>MCC score of 57.07%</a:t>
            </a:r>
            <a:r>
              <a:rPr lang="en-US" dirty="0"/>
              <a:t>, indicating a strong correlation between predictions and true labels. This model most effectively detects abusive comments while minimizing the misclassification of non-abusive ones.</a:t>
            </a:r>
          </a:p>
          <a:p>
            <a:pPr marL="91440" algn="just">
              <a:spcAft>
                <a:spcPts val="600"/>
              </a:spcAft>
            </a:pPr>
            <a:r>
              <a:rPr lang="en-US" dirty="0"/>
              <a:t>	</a:t>
            </a:r>
            <a:r>
              <a:rPr lang="en-US" b="1" dirty="0"/>
              <a:t>Note: </a:t>
            </a:r>
            <a:r>
              <a:rPr lang="en-US" dirty="0"/>
              <a:t>Although each of the three Naive Bayes options had similar 	summary statistics, Complement NB achieved the highest values for 	all metrics except one.</a:t>
            </a:r>
          </a:p>
          <a:p>
            <a:pPr marL="402336" indent="-310896" algn="just">
              <a:spcAft>
                <a:spcPts val="600"/>
              </a:spcAft>
              <a:buFont typeface="Arial" panose="020B0604020202020204" pitchFamily="34" charset="0"/>
              <a:buChar char="•"/>
            </a:pPr>
            <a:r>
              <a:rPr lang="en-US" b="1" kern="0" dirty="0">
                <a:ea typeface="Times New Roman" panose="02020603050405020304" pitchFamily="18" charset="0"/>
                <a:cs typeface="Times New Roman" panose="02020603050405020304" pitchFamily="18" charset="0"/>
              </a:rPr>
              <a:t>M</a:t>
            </a:r>
            <a:r>
              <a:rPr lang="en-GB" b="1" kern="100" dirty="0" err="1">
                <a:ea typeface="Aptos" panose="020B0004020202020204"/>
                <a:cs typeface="Times New Roman" panose="02020603050405020304" pitchFamily="18" charset="0"/>
              </a:rPr>
              <a:t>ultinomialNB</a:t>
            </a:r>
            <a:r>
              <a:rPr lang="en-GB" b="1" kern="100" dirty="0">
                <a:ea typeface="Aptos" panose="020B0004020202020204"/>
                <a:cs typeface="Times New Roman" panose="02020603050405020304" pitchFamily="18" charset="0"/>
              </a:rPr>
              <a:t> has balanced performance </a:t>
            </a:r>
            <a:r>
              <a:rPr lang="en-US" b="1" kern="0" dirty="0">
                <a:ea typeface="Times New Roman" panose="02020603050405020304" pitchFamily="18" charset="0"/>
                <a:cs typeface="Times New Roman" panose="02020603050405020304" pitchFamily="18" charset="0"/>
              </a:rPr>
              <a:t>–</a:t>
            </a:r>
            <a:r>
              <a:rPr lang="en-US" b="1" kern="100" dirty="0">
                <a:ea typeface="Aptos" panose="020B0004020202020204"/>
                <a:cs typeface="Times New Roman" panose="02020603050405020304" pitchFamily="18" charset="0"/>
              </a:rPr>
              <a:t> </a:t>
            </a:r>
            <a:r>
              <a:rPr lang="en-US" dirty="0"/>
              <a:t>Multinomial Naive Bayes performed consistently with a validation </a:t>
            </a:r>
            <a:r>
              <a:rPr lang="en-US" b="1" dirty="0"/>
              <a:t>accuracy of 76.62%</a:t>
            </a:r>
            <a:r>
              <a:rPr lang="en-US" dirty="0"/>
              <a:t> and </a:t>
            </a:r>
            <a:r>
              <a:rPr lang="en-US" b="1" dirty="0"/>
              <a:t>sensitivity of 87.41%</a:t>
            </a:r>
            <a:r>
              <a:rPr lang="en-US" dirty="0"/>
              <a:t>, showing strength in identifying abusive comments. However, its </a:t>
            </a:r>
            <a:r>
              <a:rPr lang="en-US" b="1" dirty="0"/>
              <a:t>precision (73.34%)</a:t>
            </a:r>
            <a:r>
              <a:rPr lang="en-US" dirty="0"/>
              <a:t> and </a:t>
            </a:r>
            <a:r>
              <a:rPr lang="en-US" b="1" dirty="0"/>
              <a:t>specificity (64.59%)</a:t>
            </a:r>
            <a:r>
              <a:rPr lang="en-US" dirty="0"/>
              <a:t> were lower, meaning it sometimes labeled non-abusive comments as abusive.</a:t>
            </a:r>
            <a:endParaRPr lang="en-US" kern="0" dirty="0">
              <a:ea typeface="Times New Roman" panose="02020603050405020304" pitchFamily="18" charset="0"/>
              <a:cs typeface="Times New Roman" panose="02020603050405020304" pitchFamily="18" charset="0"/>
            </a:endParaRPr>
          </a:p>
          <a:p>
            <a:pPr marL="402336" indent="-310896" algn="just">
              <a:spcAft>
                <a:spcPts val="600"/>
              </a:spcAft>
              <a:buFont typeface="Arial" panose="020B0604020202020204" pitchFamily="34" charset="0"/>
              <a:buChar char="•"/>
            </a:pPr>
            <a:r>
              <a:rPr lang="en-US" b="1" kern="0" dirty="0">
                <a:ea typeface="Times New Roman" panose="02020603050405020304" pitchFamily="18" charset="0"/>
                <a:cs typeface="Times New Roman" panose="02020603050405020304" pitchFamily="18" charset="0"/>
              </a:rPr>
              <a:t>B</a:t>
            </a:r>
            <a:r>
              <a:rPr lang="en-GB" b="1" kern="100" dirty="0" err="1">
                <a:ea typeface="Aptos" panose="020B0004020202020204"/>
                <a:cs typeface="Times New Roman" panose="02020603050405020304" pitchFamily="18" charset="0"/>
              </a:rPr>
              <a:t>ernoulliNB</a:t>
            </a:r>
            <a:r>
              <a:rPr lang="en-GB" b="1" kern="100" dirty="0">
                <a:ea typeface="Aptos" panose="020B0004020202020204"/>
                <a:cs typeface="Times New Roman" panose="02020603050405020304" pitchFamily="18" charset="0"/>
              </a:rPr>
              <a:t> </a:t>
            </a:r>
            <a:r>
              <a:rPr lang="en-US" b="1" kern="0" dirty="0">
                <a:ea typeface="Times New Roman" panose="02020603050405020304" pitchFamily="18" charset="0"/>
                <a:cs typeface="Times New Roman" panose="02020603050405020304" pitchFamily="18" charset="0"/>
              </a:rPr>
              <a:t>–</a:t>
            </a:r>
            <a:r>
              <a:rPr lang="en-GB" b="1" kern="100" dirty="0">
                <a:ea typeface="Aptos" panose="020B0004020202020204"/>
                <a:cs typeface="Times New Roman" panose="02020603050405020304" pitchFamily="18" charset="0"/>
              </a:rPr>
              <a:t> </a:t>
            </a:r>
            <a:r>
              <a:rPr lang="en-US" b="1" dirty="0"/>
              <a:t>Bernoulli Naive Bayes </a:t>
            </a:r>
            <a:r>
              <a:rPr lang="en-US" dirty="0"/>
              <a:t>produced results close to the other models but was weaker overall, showing the </a:t>
            </a:r>
            <a:r>
              <a:rPr lang="en-US" b="1" dirty="0"/>
              <a:t>lowest accuracy (75.80%)</a:t>
            </a:r>
            <a:r>
              <a:rPr lang="en-US" dirty="0"/>
              <a:t>, </a:t>
            </a:r>
            <a:r>
              <a:rPr lang="en-US" b="1" dirty="0"/>
              <a:t>precision (72.27%)</a:t>
            </a:r>
            <a:r>
              <a:rPr lang="en-US" dirty="0"/>
              <a:t>, and </a:t>
            </a:r>
            <a:r>
              <a:rPr lang="en-US" b="1" dirty="0"/>
              <a:t>specificity (62.48%)</a:t>
            </a:r>
            <a:r>
              <a:rPr lang="en-US" dirty="0"/>
              <a:t>. Despite similar trends, its simpler binary approach made it less accurate for TF-IDF-based text data.</a:t>
            </a:r>
            <a:endParaRPr lang="en-US" b="1" dirty="0"/>
          </a:p>
          <a:p>
            <a:pPr marL="403225" indent="-307975" algn="just">
              <a:spcAft>
                <a:spcPts val="600"/>
              </a:spcAft>
              <a:buFont typeface="Arial" panose="020B0604020202020204" pitchFamily="34" charset="0"/>
              <a:buChar char="•"/>
            </a:pPr>
            <a:endParaRPr lang="en-US" dirty="0"/>
          </a:p>
        </p:txBody>
      </p:sp>
    </p:spTree>
    <p:extLst>
      <p:ext uri="{BB962C8B-B14F-4D97-AF65-F5344CB8AC3E}">
        <p14:creationId xmlns:p14="http://schemas.microsoft.com/office/powerpoint/2010/main" val="20061370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FD2B61-23DB-70E2-5699-BCD38423DAA6}"/>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049A18F7-1868-08E2-FFAA-FAA06F8AF10C}"/>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34</a:t>
            </a:fld>
            <a:endParaRPr lang="en-US" dirty="0">
              <a:solidFill>
                <a:srgbClr val="000000"/>
              </a:solidFill>
            </a:endParaRPr>
          </a:p>
        </p:txBody>
      </p:sp>
      <p:sp>
        <p:nvSpPr>
          <p:cNvPr id="2" name="object 3">
            <a:extLst>
              <a:ext uri="{FF2B5EF4-FFF2-40B4-BE49-F238E27FC236}">
                <a16:creationId xmlns:a16="http://schemas.microsoft.com/office/drawing/2014/main" id="{ADBCE716-6F50-8A8D-D938-1EEB3FCFCB71}"/>
              </a:ext>
            </a:extLst>
          </p:cNvPr>
          <p:cNvSpPr txBox="1"/>
          <p:nvPr/>
        </p:nvSpPr>
        <p:spPr>
          <a:xfrm>
            <a:off x="815787" y="744578"/>
            <a:ext cx="7440707" cy="1577204"/>
          </a:xfrm>
          <a:prstGeom prst="rect">
            <a:avLst/>
          </a:prstGeom>
        </p:spPr>
        <p:txBody>
          <a:bodyPr vert="horz" wrap="square" lIns="0" tIns="12700" rIns="0" bIns="0" rtlCol="0">
            <a:noAutofit/>
          </a:bodyPr>
          <a:lstStyle/>
          <a:p>
            <a:pPr marL="402336" indent="-310896" algn="just">
              <a:spcAft>
                <a:spcPts val="600"/>
              </a:spcAft>
              <a:buFont typeface="Arial" panose="020B0604020202020204" pitchFamily="34" charset="0"/>
              <a:buChar char="•"/>
            </a:pPr>
            <a:r>
              <a:rPr lang="en-GB" b="1" kern="100" dirty="0">
                <a:ea typeface="Aptos" panose="020B0004020202020204"/>
                <a:cs typeface="Times New Roman" panose="02020603050405020304" pitchFamily="18" charset="0"/>
              </a:rPr>
              <a:t>Conclusion </a:t>
            </a:r>
            <a:r>
              <a:rPr lang="en-US" b="1" kern="0" dirty="0">
                <a:ea typeface="Times New Roman" panose="02020603050405020304" pitchFamily="18" charset="0"/>
                <a:cs typeface="Times New Roman" panose="02020603050405020304" pitchFamily="18" charset="0"/>
              </a:rPr>
              <a:t>–</a:t>
            </a:r>
            <a:r>
              <a:rPr lang="en-GB" b="1" kern="100" dirty="0">
                <a:ea typeface="Aptos" panose="020B0004020202020204"/>
                <a:cs typeface="Times New Roman" panose="02020603050405020304" pitchFamily="18" charset="0"/>
              </a:rPr>
              <a:t> </a:t>
            </a:r>
            <a:r>
              <a:rPr lang="en-US" dirty="0" err="1"/>
              <a:t>ComplementNB</a:t>
            </a:r>
            <a:r>
              <a:rPr lang="en-US" dirty="0"/>
              <a:t> demonstrated the most reliable performance across all metrics, showing a strong balance between detecting abusive comments and correctly identifying non-abusive ones.</a:t>
            </a:r>
          </a:p>
          <a:p>
            <a:pPr marL="402336" indent="-310896" algn="just">
              <a:spcAft>
                <a:spcPts val="600"/>
              </a:spcAft>
              <a:buFont typeface="Arial" panose="020B0604020202020204" pitchFamily="34" charset="0"/>
              <a:buChar char="•"/>
            </a:pPr>
            <a:endParaRPr lang="en-US" dirty="0"/>
          </a:p>
        </p:txBody>
      </p:sp>
    </p:spTree>
    <p:extLst>
      <p:ext uri="{BB962C8B-B14F-4D97-AF65-F5344CB8AC3E}">
        <p14:creationId xmlns:p14="http://schemas.microsoft.com/office/powerpoint/2010/main" val="31760617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61382-196E-9823-6563-063B206FDBF5}"/>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4E6F2C14-3B0A-5FC1-AF27-F007DB45072D}"/>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35</a:t>
            </a:fld>
            <a:endParaRPr lang="en-US" dirty="0">
              <a:solidFill>
                <a:srgbClr val="000000"/>
              </a:solidFill>
            </a:endParaRPr>
          </a:p>
        </p:txBody>
      </p:sp>
      <p:sp>
        <p:nvSpPr>
          <p:cNvPr id="7" name="object 2">
            <a:extLst>
              <a:ext uri="{FF2B5EF4-FFF2-40B4-BE49-F238E27FC236}">
                <a16:creationId xmlns:a16="http://schemas.microsoft.com/office/drawing/2014/main" id="{C80D51C7-A04B-4466-D118-3C0BCC5039DC}"/>
              </a:ext>
            </a:extLst>
          </p:cNvPr>
          <p:cNvSpPr txBox="1">
            <a:spLocks/>
          </p:cNvSpPr>
          <p:nvPr/>
        </p:nvSpPr>
        <p:spPr>
          <a:xfrm>
            <a:off x="228600" y="128016"/>
            <a:ext cx="8686800" cy="984885"/>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pPr>
              <a:lnSpc>
                <a:spcPct val="100000"/>
              </a:lnSpc>
              <a:spcBef>
                <a:spcPts val="0"/>
              </a:spcBef>
            </a:pPr>
            <a:r>
              <a:rPr lang="en-US" dirty="0"/>
              <a:t>Models: Binary Logistic Regression</a:t>
            </a:r>
            <a:endParaRPr lang="en-US" spc="-20" dirty="0">
              <a:solidFill>
                <a:srgbClr val="2D3B45"/>
              </a:solidFill>
            </a:endParaRPr>
          </a:p>
        </p:txBody>
      </p:sp>
      <p:sp>
        <p:nvSpPr>
          <p:cNvPr id="2" name="object 3">
            <a:extLst>
              <a:ext uri="{FF2B5EF4-FFF2-40B4-BE49-F238E27FC236}">
                <a16:creationId xmlns:a16="http://schemas.microsoft.com/office/drawing/2014/main" id="{9FCF640F-0A98-A893-5F3A-76598F283149}"/>
              </a:ext>
            </a:extLst>
          </p:cNvPr>
          <p:cNvSpPr txBox="1"/>
          <p:nvPr/>
        </p:nvSpPr>
        <p:spPr>
          <a:xfrm>
            <a:off x="815787" y="820476"/>
            <a:ext cx="7440707" cy="5353614"/>
          </a:xfrm>
          <a:prstGeom prst="rect">
            <a:avLst/>
          </a:prstGeom>
        </p:spPr>
        <p:txBody>
          <a:bodyPr vert="horz" wrap="square" lIns="0" tIns="12700" rIns="0" bIns="0" rtlCol="0">
            <a:noAutofit/>
          </a:bodyPr>
          <a:lstStyle/>
          <a:p>
            <a:pPr marL="91440" algn="just">
              <a:spcAft>
                <a:spcPts val="600"/>
              </a:spcAft>
            </a:pPr>
            <a:r>
              <a:rPr lang="en-US" sz="1900" b="1" dirty="0"/>
              <a:t>Reasons for Using Logistic Regression </a:t>
            </a:r>
          </a:p>
          <a:p>
            <a:pPr marL="402336" indent="-310896" algn="just">
              <a:spcAft>
                <a:spcPts val="600"/>
              </a:spcAft>
              <a:buFont typeface="Arial" panose="020B0604020202020204" pitchFamily="34" charset="0"/>
              <a:buChar char="•"/>
            </a:pPr>
            <a:r>
              <a:rPr lang="en-US" sz="1900" b="1" kern="0" dirty="0">
                <a:ea typeface="Times New Roman" panose="02020603050405020304" pitchFamily="18" charset="0"/>
                <a:cs typeface="Times New Roman" panose="02020603050405020304" pitchFamily="18" charset="0"/>
              </a:rPr>
              <a:t>Baseline for Interpretability &amp; Linguistic Analysis – </a:t>
            </a:r>
            <a:r>
              <a:rPr lang="en-US" sz="1900" dirty="0"/>
              <a:t>Logistic Regression allows identification of Hindi words or slang that are most influential in predicting abusive comments, providing transparency in how the model makes decisions.</a:t>
            </a:r>
            <a:endParaRPr lang="en-US" sz="1900" kern="0" dirty="0">
              <a:ea typeface="Times New Roman" panose="02020603050405020304" pitchFamily="18" charset="0"/>
              <a:cs typeface="Times New Roman" panose="02020603050405020304" pitchFamily="18" charset="0"/>
            </a:endParaRPr>
          </a:p>
          <a:p>
            <a:pPr marL="402336" indent="-310896" algn="just">
              <a:spcAft>
                <a:spcPts val="600"/>
              </a:spcAft>
              <a:buFont typeface="Arial" panose="020B0604020202020204" pitchFamily="34" charset="0"/>
              <a:buChar char="•"/>
            </a:pPr>
            <a:r>
              <a:rPr lang="en-US" sz="1900" b="1" kern="0" dirty="0">
                <a:ea typeface="Times New Roman" panose="02020603050405020304" pitchFamily="18" charset="0"/>
                <a:cs typeface="Times New Roman" panose="02020603050405020304" pitchFamily="18" charset="0"/>
              </a:rPr>
              <a:t>Efficient for Limited Hindi Data – </a:t>
            </a:r>
            <a:r>
              <a:rPr lang="en-US" sz="1900" kern="0" dirty="0">
                <a:ea typeface="Times New Roman" panose="02020603050405020304" pitchFamily="18" charset="0"/>
                <a:cs typeface="Times New Roman" panose="02020603050405020304" pitchFamily="18" charset="0"/>
              </a:rPr>
              <a:t>Because it works well even when it doesn’t have a lot of labeled examples, Logistic Regression is great for Hindi, where there isn’t much annotated abusive content available. </a:t>
            </a:r>
            <a:r>
              <a:rPr lang="en-US" sz="1900" dirty="0"/>
              <a:t>Logistic Regression performs well with limited labeled data because it is a simple linear model that generalizes effectively in high-dimensional, sparse feature spaces such as TF-IDF.</a:t>
            </a:r>
            <a:endParaRPr lang="en-US" sz="1900" kern="0" dirty="0">
              <a:ea typeface="Times New Roman" panose="02020603050405020304" pitchFamily="18" charset="0"/>
              <a:cs typeface="Times New Roman" panose="02020603050405020304" pitchFamily="18" charset="0"/>
            </a:endParaRPr>
          </a:p>
          <a:p>
            <a:pPr marL="402336" indent="-310896" algn="just">
              <a:spcAft>
                <a:spcPts val="600"/>
              </a:spcAft>
              <a:buFont typeface="Arial" panose="020B0604020202020204" pitchFamily="34" charset="0"/>
              <a:buChar char="•"/>
            </a:pPr>
            <a:r>
              <a:rPr lang="en-US" sz="1900" b="1" kern="0" dirty="0">
                <a:ea typeface="Times New Roman" panose="02020603050405020304" pitchFamily="18" charset="0"/>
                <a:cs typeface="Times New Roman" panose="02020603050405020304" pitchFamily="18" charset="0"/>
              </a:rPr>
              <a:t>Benchmark for Model Comparisons – </a:t>
            </a:r>
            <a:r>
              <a:rPr lang="en-US" sz="1900" kern="0" dirty="0">
                <a:ea typeface="Times New Roman" panose="02020603050405020304" pitchFamily="18" charset="0"/>
                <a:cs typeface="Times New Roman" panose="02020603050405020304" pitchFamily="18" charset="0"/>
              </a:rPr>
              <a:t>It’s a simple starting point that can be used to compare with more advanced models later, like Transformers, to check if they improve results.</a:t>
            </a:r>
          </a:p>
          <a:p>
            <a:pPr marL="402336" indent="-310896" algn="just">
              <a:spcAft>
                <a:spcPts val="600"/>
              </a:spcAft>
              <a:buFont typeface="Arial" panose="020B0604020202020204" pitchFamily="34" charset="0"/>
              <a:buChar char="•"/>
            </a:pPr>
            <a:r>
              <a:rPr lang="en-US" sz="1900" dirty="0"/>
              <a:t>Logistic Regression is designed to handle problems with two choices, like deciding if a comment is abusive or not, which matches this project’s task perfectly.</a:t>
            </a:r>
          </a:p>
          <a:p>
            <a:pPr marL="95250" algn="just">
              <a:spcAft>
                <a:spcPts val="600"/>
              </a:spcAft>
            </a:pPr>
            <a:endParaRPr lang="en-US" sz="1900" dirty="0"/>
          </a:p>
        </p:txBody>
      </p:sp>
    </p:spTree>
    <p:extLst>
      <p:ext uri="{BB962C8B-B14F-4D97-AF65-F5344CB8AC3E}">
        <p14:creationId xmlns:p14="http://schemas.microsoft.com/office/powerpoint/2010/main" val="41907269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37F2A4-1451-C9A0-0D5E-02021AFD7DC1}"/>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942C23DE-AF49-1F7F-1F63-C1DDC12C5144}"/>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36</a:t>
            </a:fld>
            <a:endParaRPr lang="en-US" dirty="0">
              <a:solidFill>
                <a:srgbClr val="000000"/>
              </a:solidFill>
            </a:endParaRPr>
          </a:p>
        </p:txBody>
      </p:sp>
      <p:sp>
        <p:nvSpPr>
          <p:cNvPr id="2" name="object 3">
            <a:extLst>
              <a:ext uri="{FF2B5EF4-FFF2-40B4-BE49-F238E27FC236}">
                <a16:creationId xmlns:a16="http://schemas.microsoft.com/office/drawing/2014/main" id="{0431276B-578A-4870-5E31-0AFD602EB2E1}"/>
              </a:ext>
            </a:extLst>
          </p:cNvPr>
          <p:cNvSpPr txBox="1"/>
          <p:nvPr/>
        </p:nvSpPr>
        <p:spPr>
          <a:xfrm>
            <a:off x="815787" y="1262058"/>
            <a:ext cx="7440707" cy="4606003"/>
          </a:xfrm>
          <a:custGeom>
            <a:avLst/>
            <a:gdLst>
              <a:gd name="connsiteX0" fmla="*/ 0 w 7440707"/>
              <a:gd name="connsiteY0" fmla="*/ 0 h 5353614"/>
              <a:gd name="connsiteX1" fmla="*/ 7440707 w 7440707"/>
              <a:gd name="connsiteY1" fmla="*/ 0 h 5353614"/>
              <a:gd name="connsiteX2" fmla="*/ 7440707 w 7440707"/>
              <a:gd name="connsiteY2" fmla="*/ 5353614 h 5353614"/>
              <a:gd name="connsiteX3" fmla="*/ 0 w 7440707"/>
              <a:gd name="connsiteY3" fmla="*/ 5353614 h 5353614"/>
              <a:gd name="connsiteX4" fmla="*/ 0 w 7440707"/>
              <a:gd name="connsiteY4" fmla="*/ 0 h 5353614"/>
              <a:gd name="connsiteX0" fmla="*/ 0 w 7440707"/>
              <a:gd name="connsiteY0" fmla="*/ 0 h 5353614"/>
              <a:gd name="connsiteX1" fmla="*/ 7440707 w 7440707"/>
              <a:gd name="connsiteY1" fmla="*/ 0 h 5353614"/>
              <a:gd name="connsiteX2" fmla="*/ 7440707 w 7440707"/>
              <a:gd name="connsiteY2" fmla="*/ 5353614 h 5353614"/>
              <a:gd name="connsiteX3" fmla="*/ 0 w 7440707"/>
              <a:gd name="connsiteY3" fmla="*/ 1584695 h 5353614"/>
              <a:gd name="connsiteX4" fmla="*/ 0 w 7440707"/>
              <a:gd name="connsiteY4" fmla="*/ 0 h 5353614"/>
              <a:gd name="connsiteX0" fmla="*/ 0 w 7440707"/>
              <a:gd name="connsiteY0" fmla="*/ 0 h 1624452"/>
              <a:gd name="connsiteX1" fmla="*/ 7440707 w 7440707"/>
              <a:gd name="connsiteY1" fmla="*/ 0 h 1624452"/>
              <a:gd name="connsiteX2" fmla="*/ 7432756 w 7440707"/>
              <a:gd name="connsiteY2" fmla="*/ 1624452 h 1624452"/>
              <a:gd name="connsiteX3" fmla="*/ 0 w 7440707"/>
              <a:gd name="connsiteY3" fmla="*/ 1584695 h 1624452"/>
              <a:gd name="connsiteX4" fmla="*/ 0 w 7440707"/>
              <a:gd name="connsiteY4" fmla="*/ 0 h 16244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40707" h="1624452">
                <a:moveTo>
                  <a:pt x="0" y="0"/>
                </a:moveTo>
                <a:lnTo>
                  <a:pt x="7440707" y="0"/>
                </a:lnTo>
                <a:cubicBezTo>
                  <a:pt x="7438057" y="541484"/>
                  <a:pt x="7435406" y="1082968"/>
                  <a:pt x="7432756" y="1624452"/>
                </a:cubicBezTo>
                <a:lnTo>
                  <a:pt x="0" y="1584695"/>
                </a:lnTo>
                <a:lnTo>
                  <a:pt x="0" y="0"/>
                </a:lnTo>
                <a:close/>
              </a:path>
            </a:pathLst>
          </a:custGeom>
        </p:spPr>
        <p:txBody>
          <a:bodyPr vert="horz" wrap="square" lIns="0" tIns="12700" rIns="0" bIns="0" rtlCol="0">
            <a:noAutofit/>
          </a:bodyPr>
          <a:lstStyle/>
          <a:p>
            <a:pPr marL="402336" indent="-310896" algn="just">
              <a:spcAft>
                <a:spcPts val="600"/>
              </a:spcAft>
              <a:buFont typeface="Arial" panose="020B0604020202020204" pitchFamily="34" charset="0"/>
              <a:buChar char="•"/>
            </a:pPr>
            <a:r>
              <a:rPr lang="en-US" sz="2000" dirty="0"/>
              <a:t>Logistic Regression contained </a:t>
            </a:r>
            <a:r>
              <a:rPr lang="en-US" sz="2000" b="1" dirty="0"/>
              <a:t>22,781 TF-IDF variables</a:t>
            </a:r>
            <a:r>
              <a:rPr lang="en-US" sz="2000" dirty="0"/>
              <a:t> and </a:t>
            </a:r>
            <a:r>
              <a:rPr lang="en-US" sz="2000" b="1" dirty="0"/>
              <a:t>8,212 training observations. </a:t>
            </a:r>
            <a:r>
              <a:rPr lang="en-US" sz="2000" dirty="0"/>
              <a:t>Because the number of predictors (P) is greater than the number of observations (n), the dataset is high-dimensional (p&gt;n). This creates sparse, highly collinear data and increases the risk of overfitting. </a:t>
            </a:r>
          </a:p>
          <a:p>
            <a:pPr marL="402336" indent="-310896" algn="just">
              <a:spcAft>
                <a:spcPts val="600"/>
              </a:spcAft>
              <a:buFont typeface="Arial" panose="020B0604020202020204" pitchFamily="34" charset="0"/>
              <a:buChar char="•"/>
            </a:pPr>
            <a:r>
              <a:rPr lang="en-US" sz="2000" b="1" dirty="0"/>
              <a:t>L2 regularization (Ridge)</a:t>
            </a:r>
            <a:r>
              <a:rPr lang="en-US" sz="2000" dirty="0"/>
              <a:t> was applied to control coefficient size and provide stability in this high-dimensional setting.</a:t>
            </a:r>
          </a:p>
          <a:p>
            <a:pPr marL="402336" indent="-310896" algn="just">
              <a:spcAft>
                <a:spcPts val="600"/>
              </a:spcAft>
              <a:buFont typeface="Arial" panose="020B0604020202020204" pitchFamily="34" charset="0"/>
              <a:buChar char="•"/>
            </a:pPr>
            <a:r>
              <a:rPr lang="en-US" sz="2000" dirty="0"/>
              <a:t>However, regularization does not fully solve issues caused by class imbalance; it mainly stabilizes coefficients.</a:t>
            </a:r>
          </a:p>
          <a:p>
            <a:pPr marL="402336" indent="-310896" algn="just">
              <a:spcAft>
                <a:spcPts val="600"/>
              </a:spcAft>
              <a:buFont typeface="Arial" panose="020B0604020202020204" pitchFamily="34" charset="0"/>
              <a:buChar char="•"/>
            </a:pPr>
            <a:r>
              <a:rPr lang="en-US" sz="2000" dirty="0"/>
              <a:t>The model used the </a:t>
            </a:r>
            <a:r>
              <a:rPr lang="en-US" sz="2000" b="1" dirty="0"/>
              <a:t>default L2 strength = 1.0</a:t>
            </a:r>
            <a:r>
              <a:rPr lang="en-US" sz="2000" dirty="0"/>
              <a:t>, which offered reliable convergence without </a:t>
            </a:r>
            <a:r>
              <a:rPr lang="en-US" sz="2000" dirty="0" err="1"/>
              <a:t>overshrinking</a:t>
            </a:r>
            <a:r>
              <a:rPr lang="en-US" sz="2000" dirty="0"/>
              <a:t> important linguistic patterns. </a:t>
            </a:r>
          </a:p>
          <a:p>
            <a:pPr marL="912813" indent="-341313" algn="just">
              <a:spcAft>
                <a:spcPts val="600"/>
              </a:spcAft>
              <a:buSzPct val="50000"/>
              <a:buFont typeface="Courier New" panose="02070309020205020404" pitchFamily="49" charset="0"/>
              <a:buChar char="o"/>
            </a:pPr>
            <a:r>
              <a:rPr lang="en-US" sz="2000" dirty="0"/>
              <a:t>This default value is commonly recommended when no tuning information is available and provides a balanced starting point.</a:t>
            </a:r>
          </a:p>
          <a:p>
            <a:pPr marL="95250" algn="just">
              <a:spcAft>
                <a:spcPts val="600"/>
              </a:spcAft>
            </a:pPr>
            <a:endParaRPr lang="en-US" sz="2000" dirty="0"/>
          </a:p>
        </p:txBody>
      </p:sp>
      <p:sp>
        <p:nvSpPr>
          <p:cNvPr id="6" name="object 2">
            <a:extLst>
              <a:ext uri="{FF2B5EF4-FFF2-40B4-BE49-F238E27FC236}">
                <a16:creationId xmlns:a16="http://schemas.microsoft.com/office/drawing/2014/main" id="{2011B2F1-D397-60AA-C2CA-4E88CF1DF267}"/>
              </a:ext>
            </a:extLst>
          </p:cNvPr>
          <p:cNvSpPr txBox="1">
            <a:spLocks/>
          </p:cNvSpPr>
          <p:nvPr/>
        </p:nvSpPr>
        <p:spPr>
          <a:xfrm>
            <a:off x="228600" y="128016"/>
            <a:ext cx="8686800" cy="984885"/>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n-US" dirty="0"/>
              <a:t>Logistic Regression – Regularization in High-Dimensional Data</a:t>
            </a:r>
          </a:p>
        </p:txBody>
      </p:sp>
    </p:spTree>
    <p:extLst>
      <p:ext uri="{BB962C8B-B14F-4D97-AF65-F5344CB8AC3E}">
        <p14:creationId xmlns:p14="http://schemas.microsoft.com/office/powerpoint/2010/main" val="96683564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D9BC40-2AB9-53D6-8A62-AF32C867D587}"/>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DECD574-C6C7-65B0-5603-D75456A902A0}"/>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37</a:t>
            </a:fld>
            <a:endParaRPr lang="en-US" dirty="0">
              <a:solidFill>
                <a:srgbClr val="000000"/>
              </a:solidFill>
            </a:endParaRPr>
          </a:p>
        </p:txBody>
      </p:sp>
      <p:sp>
        <p:nvSpPr>
          <p:cNvPr id="2" name="object 3">
            <a:extLst>
              <a:ext uri="{FF2B5EF4-FFF2-40B4-BE49-F238E27FC236}">
                <a16:creationId xmlns:a16="http://schemas.microsoft.com/office/drawing/2014/main" id="{E30C0116-896C-01C6-8B8D-03A5AD25E1AA}"/>
              </a:ext>
            </a:extLst>
          </p:cNvPr>
          <p:cNvSpPr txBox="1"/>
          <p:nvPr/>
        </p:nvSpPr>
        <p:spPr>
          <a:xfrm>
            <a:off x="815787" y="690522"/>
            <a:ext cx="7440707" cy="5527398"/>
          </a:xfrm>
          <a:custGeom>
            <a:avLst/>
            <a:gdLst>
              <a:gd name="connsiteX0" fmla="*/ 0 w 7440707"/>
              <a:gd name="connsiteY0" fmla="*/ 0 h 5353614"/>
              <a:gd name="connsiteX1" fmla="*/ 7440707 w 7440707"/>
              <a:gd name="connsiteY1" fmla="*/ 0 h 5353614"/>
              <a:gd name="connsiteX2" fmla="*/ 7440707 w 7440707"/>
              <a:gd name="connsiteY2" fmla="*/ 5353614 h 5353614"/>
              <a:gd name="connsiteX3" fmla="*/ 0 w 7440707"/>
              <a:gd name="connsiteY3" fmla="*/ 5353614 h 5353614"/>
              <a:gd name="connsiteX4" fmla="*/ 0 w 7440707"/>
              <a:gd name="connsiteY4" fmla="*/ 0 h 5353614"/>
              <a:gd name="connsiteX0" fmla="*/ 0 w 7440707"/>
              <a:gd name="connsiteY0" fmla="*/ 0 h 5353614"/>
              <a:gd name="connsiteX1" fmla="*/ 7440707 w 7440707"/>
              <a:gd name="connsiteY1" fmla="*/ 0 h 5353614"/>
              <a:gd name="connsiteX2" fmla="*/ 7440707 w 7440707"/>
              <a:gd name="connsiteY2" fmla="*/ 5353614 h 5353614"/>
              <a:gd name="connsiteX3" fmla="*/ 0 w 7440707"/>
              <a:gd name="connsiteY3" fmla="*/ 1584695 h 5353614"/>
              <a:gd name="connsiteX4" fmla="*/ 0 w 7440707"/>
              <a:gd name="connsiteY4" fmla="*/ 0 h 5353614"/>
              <a:gd name="connsiteX0" fmla="*/ 0 w 7440707"/>
              <a:gd name="connsiteY0" fmla="*/ 0 h 1624452"/>
              <a:gd name="connsiteX1" fmla="*/ 7440707 w 7440707"/>
              <a:gd name="connsiteY1" fmla="*/ 0 h 1624452"/>
              <a:gd name="connsiteX2" fmla="*/ 7432756 w 7440707"/>
              <a:gd name="connsiteY2" fmla="*/ 1624452 h 1624452"/>
              <a:gd name="connsiteX3" fmla="*/ 0 w 7440707"/>
              <a:gd name="connsiteY3" fmla="*/ 1584695 h 1624452"/>
              <a:gd name="connsiteX4" fmla="*/ 0 w 7440707"/>
              <a:gd name="connsiteY4" fmla="*/ 0 h 16244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40707" h="1624452">
                <a:moveTo>
                  <a:pt x="0" y="0"/>
                </a:moveTo>
                <a:lnTo>
                  <a:pt x="7440707" y="0"/>
                </a:lnTo>
                <a:cubicBezTo>
                  <a:pt x="7438057" y="541484"/>
                  <a:pt x="7435406" y="1082968"/>
                  <a:pt x="7432756" y="1624452"/>
                </a:cubicBezTo>
                <a:lnTo>
                  <a:pt x="0" y="1584695"/>
                </a:lnTo>
                <a:lnTo>
                  <a:pt x="0" y="0"/>
                </a:lnTo>
                <a:close/>
              </a:path>
            </a:pathLst>
          </a:custGeom>
        </p:spPr>
        <p:txBody>
          <a:bodyPr vert="horz" wrap="square" lIns="0" tIns="12700" rIns="0" bIns="0" rtlCol="0">
            <a:noAutofit/>
          </a:bodyPr>
          <a:lstStyle/>
          <a:p>
            <a:pPr marL="402336" indent="-310896" algn="just">
              <a:spcAft>
                <a:spcPts val="600"/>
              </a:spcAft>
              <a:buFont typeface="Arial" panose="020B0604020202020204" pitchFamily="34" charset="0"/>
              <a:buChar char="•"/>
            </a:pPr>
            <a:r>
              <a:rPr lang="en-US" sz="2000" dirty="0"/>
              <a:t>High dimensionality poses a challenge because the design matrix XᵀX becomes non-invertible when p &gt; n.</a:t>
            </a:r>
          </a:p>
          <a:p>
            <a:pPr marL="912813" indent="-341313" algn="just">
              <a:spcAft>
                <a:spcPts val="600"/>
              </a:spcAft>
              <a:buSzPct val="50000"/>
              <a:buFont typeface="Courier New" panose="02070309020205020404" pitchFamily="49" charset="0"/>
              <a:buChar char="o"/>
            </a:pPr>
            <a:r>
              <a:rPr lang="en-US" sz="2000" dirty="0"/>
              <a:t>Hastie et al. (2009) (Chapter 3, pages 47 – 48) describe that when predictors greatly exceed observations (p &gt;&gt; n), matrix inversion is mathematically impossible.</a:t>
            </a:r>
          </a:p>
          <a:p>
            <a:pPr marL="434340" indent="-342900" algn="just">
              <a:spcAft>
                <a:spcPts val="600"/>
              </a:spcAft>
              <a:buFont typeface="Courier New" panose="02070309020205020404" pitchFamily="49" charset="0"/>
              <a:buChar char="o"/>
            </a:pPr>
            <a:endParaRPr lang="en-US" sz="2000" dirty="0"/>
          </a:p>
          <a:p>
            <a:pPr marL="403225" indent="-285750">
              <a:lnSpc>
                <a:spcPct val="100000"/>
              </a:lnSpc>
              <a:spcBef>
                <a:spcPts val="0"/>
              </a:spcBef>
              <a:spcAft>
                <a:spcPts val="600"/>
              </a:spcAft>
            </a:pPr>
            <a:endParaRPr lang="en-US" sz="2000" b="1" dirty="0"/>
          </a:p>
          <a:p>
            <a:pPr marL="403225" indent="-285750">
              <a:lnSpc>
                <a:spcPct val="100000"/>
              </a:lnSpc>
              <a:spcBef>
                <a:spcPts val="0"/>
              </a:spcBef>
              <a:spcAft>
                <a:spcPts val="600"/>
              </a:spcAft>
            </a:pPr>
            <a:endParaRPr lang="en-US" sz="2000" b="1" dirty="0"/>
          </a:p>
          <a:p>
            <a:pPr marL="403225" indent="-285750">
              <a:lnSpc>
                <a:spcPct val="100000"/>
              </a:lnSpc>
              <a:spcBef>
                <a:spcPts val="0"/>
              </a:spcBef>
              <a:spcAft>
                <a:spcPts val="600"/>
              </a:spcAft>
            </a:pPr>
            <a:endParaRPr lang="en-US" sz="2000" b="1" dirty="0"/>
          </a:p>
          <a:p>
            <a:pPr marL="403225" indent="-285750">
              <a:lnSpc>
                <a:spcPct val="100000"/>
              </a:lnSpc>
              <a:spcBef>
                <a:spcPts val="0"/>
              </a:spcBef>
              <a:spcAft>
                <a:spcPts val="600"/>
              </a:spcAft>
            </a:pPr>
            <a:endParaRPr lang="en-US" sz="2000" b="1" dirty="0"/>
          </a:p>
          <a:p>
            <a:pPr marL="403225" indent="-285750">
              <a:lnSpc>
                <a:spcPct val="100000"/>
              </a:lnSpc>
              <a:spcBef>
                <a:spcPts val="0"/>
              </a:spcBef>
              <a:spcAft>
                <a:spcPts val="600"/>
              </a:spcAft>
            </a:pPr>
            <a:endParaRPr lang="en-US" sz="2000" b="1" dirty="0"/>
          </a:p>
          <a:p>
            <a:pPr marL="403225" indent="-285750">
              <a:lnSpc>
                <a:spcPct val="100000"/>
              </a:lnSpc>
              <a:spcBef>
                <a:spcPts val="0"/>
              </a:spcBef>
              <a:spcAft>
                <a:spcPts val="600"/>
              </a:spcAft>
            </a:pPr>
            <a:r>
              <a:rPr lang="en-US" sz="2000" b="1" dirty="0"/>
              <a:t>Sources:</a:t>
            </a:r>
          </a:p>
          <a:p>
            <a:pPr marL="443484" indent="-342900" algn="just">
              <a:spcAft>
                <a:spcPts val="600"/>
              </a:spcAft>
              <a:buFont typeface="Wingdings" panose="05000000000000000000" pitchFamily="2" charset="2"/>
              <a:buChar char="§"/>
            </a:pPr>
            <a:r>
              <a:rPr lang="en-US" sz="2000" dirty="0"/>
              <a:t>Hastie, T., </a:t>
            </a:r>
            <a:r>
              <a:rPr lang="en-US" sz="2000" dirty="0" err="1"/>
              <a:t>Tibshirani</a:t>
            </a:r>
            <a:r>
              <a:rPr lang="en-US" sz="2000" dirty="0"/>
              <a:t>, R., &amp; Friedman, J. (2009).</a:t>
            </a:r>
          </a:p>
          <a:p>
            <a:pPr marL="443484" indent="-342900" algn="just">
              <a:spcAft>
                <a:spcPts val="600"/>
              </a:spcAft>
              <a:buFont typeface="Wingdings" panose="05000000000000000000" pitchFamily="2" charset="2"/>
              <a:buChar char="§"/>
            </a:pPr>
            <a:r>
              <a:rPr lang="en-US" sz="2000" dirty="0"/>
              <a:t>Ng, A. Y. (2004). Feature selection, L1 vs. L2 regularization.</a:t>
            </a:r>
          </a:p>
          <a:p>
            <a:pPr marL="403225" indent="-285750">
              <a:lnSpc>
                <a:spcPct val="100000"/>
              </a:lnSpc>
              <a:spcBef>
                <a:spcPts val="0"/>
              </a:spcBef>
              <a:spcAft>
                <a:spcPts val="600"/>
              </a:spcAft>
            </a:pPr>
            <a:r>
              <a:rPr lang="en-US" sz="2000" b="1" dirty="0"/>
              <a:t> </a:t>
            </a:r>
            <a:endParaRPr lang="en-US" sz="2000" dirty="0"/>
          </a:p>
        </p:txBody>
      </p:sp>
    </p:spTree>
    <p:extLst>
      <p:ext uri="{BB962C8B-B14F-4D97-AF65-F5344CB8AC3E}">
        <p14:creationId xmlns:p14="http://schemas.microsoft.com/office/powerpoint/2010/main" val="35432892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7AC247-0365-900B-CE3E-2A00A397176D}"/>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87A34AAA-D4C7-ABA7-0F65-656880213412}"/>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38</a:t>
            </a:fld>
            <a:endParaRPr lang="en-US" dirty="0">
              <a:solidFill>
                <a:srgbClr val="000000"/>
              </a:solidFill>
            </a:endParaRPr>
          </a:p>
        </p:txBody>
      </p:sp>
      <p:sp>
        <p:nvSpPr>
          <p:cNvPr id="7" name="object 2">
            <a:extLst>
              <a:ext uri="{FF2B5EF4-FFF2-40B4-BE49-F238E27FC236}">
                <a16:creationId xmlns:a16="http://schemas.microsoft.com/office/drawing/2014/main" id="{100ADDF5-24FE-7E61-7FCD-74CB3C7286B3}"/>
              </a:ext>
            </a:extLst>
          </p:cNvPr>
          <p:cNvSpPr txBox="1">
            <a:spLocks/>
          </p:cNvSpPr>
          <p:nvPr/>
        </p:nvSpPr>
        <p:spPr>
          <a:xfrm>
            <a:off x="228600" y="128016"/>
            <a:ext cx="8686800" cy="984885"/>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n-US" dirty="0"/>
              <a:t>Logistic Regression – High-Dimensional Input Summary</a:t>
            </a:r>
          </a:p>
        </p:txBody>
      </p:sp>
      <p:sp>
        <p:nvSpPr>
          <p:cNvPr id="2" name="object 3">
            <a:extLst>
              <a:ext uri="{FF2B5EF4-FFF2-40B4-BE49-F238E27FC236}">
                <a16:creationId xmlns:a16="http://schemas.microsoft.com/office/drawing/2014/main" id="{648B8602-7A32-1AD1-4FCF-5F4D2560A311}"/>
              </a:ext>
            </a:extLst>
          </p:cNvPr>
          <p:cNvSpPr txBox="1"/>
          <p:nvPr/>
        </p:nvSpPr>
        <p:spPr>
          <a:xfrm>
            <a:off x="815787" y="914118"/>
            <a:ext cx="7440707" cy="5176581"/>
          </a:xfrm>
          <a:prstGeom prst="rect">
            <a:avLst/>
          </a:prstGeom>
        </p:spPr>
        <p:txBody>
          <a:bodyPr vert="horz" wrap="square" lIns="0" tIns="12700" rIns="0" bIns="0" rtlCol="0">
            <a:noAutofit/>
          </a:bodyPr>
          <a:lstStyle/>
          <a:p>
            <a:pPr marL="402336" indent="-310896" algn="just">
              <a:spcAft>
                <a:spcPts val="600"/>
              </a:spcAft>
              <a:buFont typeface="Arial" panose="020B0604020202020204" pitchFamily="34" charset="0"/>
              <a:buChar char="•"/>
            </a:pPr>
            <a:r>
              <a:rPr lang="en-US" sz="2000" dirty="0"/>
              <a:t>The TF-IDF vectorizer generated </a:t>
            </a:r>
            <a:r>
              <a:rPr lang="en-US" sz="2000" b="1" dirty="0"/>
              <a:t>22,781 independent variables </a:t>
            </a:r>
            <a:r>
              <a:rPr lang="en-US" sz="2000" dirty="0"/>
              <a:t>(one for each unique word in the dataset).</a:t>
            </a:r>
          </a:p>
          <a:p>
            <a:pPr marL="402336" indent="-310896" algn="just">
              <a:spcAft>
                <a:spcPts val="600"/>
              </a:spcAft>
              <a:buFont typeface="Arial" panose="020B0604020202020204" pitchFamily="34" charset="0"/>
              <a:buChar char="•"/>
            </a:pPr>
            <a:r>
              <a:rPr lang="en-US" sz="2000" dirty="0"/>
              <a:t>TF-IDF vocabulary was fitted on the </a:t>
            </a:r>
            <a:r>
              <a:rPr lang="en-US" sz="2000" b="1" dirty="0"/>
              <a:t>8,212</a:t>
            </a:r>
            <a:r>
              <a:rPr lang="en-US" sz="2000" dirty="0"/>
              <a:t> training comments only.</a:t>
            </a:r>
          </a:p>
          <a:p>
            <a:pPr marL="402336" indent="-310896" algn="just">
              <a:spcAft>
                <a:spcPts val="600"/>
              </a:spcAft>
              <a:buFont typeface="Arial" panose="020B0604020202020204" pitchFamily="34" charset="0"/>
              <a:buChar char="•"/>
            </a:pPr>
            <a:r>
              <a:rPr lang="en-US" sz="2000" dirty="0"/>
              <a:t>The dataset contains </a:t>
            </a:r>
            <a:r>
              <a:rPr lang="en-US" sz="2000" b="1" dirty="0"/>
              <a:t>13,687 total comments</a:t>
            </a:r>
            <a:r>
              <a:rPr lang="en-US" sz="2000" dirty="0"/>
              <a:t>, of which </a:t>
            </a:r>
            <a:r>
              <a:rPr lang="en-US" sz="2000" b="1" dirty="0"/>
              <a:t>8,212 comments </a:t>
            </a:r>
            <a:r>
              <a:rPr lang="en-US" sz="2000" dirty="0"/>
              <a:t>were used for training.</a:t>
            </a:r>
          </a:p>
          <a:p>
            <a:pPr marL="402336" indent="-310896" algn="just">
              <a:spcAft>
                <a:spcPts val="600"/>
              </a:spcAft>
              <a:buFont typeface="Arial" panose="020B0604020202020204" pitchFamily="34" charset="0"/>
              <a:buChar char="•"/>
            </a:pPr>
            <a:r>
              <a:rPr lang="en-US" sz="2000" dirty="0"/>
              <a:t>Therefore, the model had a </a:t>
            </a:r>
            <a:r>
              <a:rPr lang="en-US" sz="2000" b="1" dirty="0"/>
              <a:t>variables-to-observations ratio of 22,781 : 8,212,</a:t>
            </a:r>
            <a:r>
              <a:rPr lang="en-US" sz="2000" dirty="0"/>
              <a:t> meaning p &gt; n (high-dimensional setting).</a:t>
            </a:r>
          </a:p>
          <a:p>
            <a:pPr marL="402336" indent="-310896" algn="just">
              <a:spcAft>
                <a:spcPts val="600"/>
              </a:spcAft>
              <a:buFont typeface="Arial" panose="020B0604020202020204" pitchFamily="34" charset="0"/>
              <a:buChar char="•"/>
            </a:pPr>
            <a:r>
              <a:rPr lang="en-US" sz="2000" dirty="0"/>
              <a:t>High-dimensional TF-IDF data introduces challenges, such as:</a:t>
            </a:r>
          </a:p>
          <a:p>
            <a:pPr marL="860425" indent="-290513" algn="just">
              <a:spcAft>
                <a:spcPts val="600"/>
              </a:spcAft>
              <a:buSzPct val="50000"/>
              <a:buFont typeface="Courier New" panose="02070309020205020404" pitchFamily="49" charset="0"/>
              <a:buChar char="o"/>
            </a:pPr>
            <a:r>
              <a:rPr lang="en-US" sz="2000" dirty="0"/>
              <a:t>Sparse and highly collinear features,</a:t>
            </a:r>
          </a:p>
          <a:p>
            <a:pPr marL="860425" indent="-290513" algn="just">
              <a:spcAft>
                <a:spcPts val="600"/>
              </a:spcAft>
              <a:buSzPct val="50000"/>
              <a:buFont typeface="Courier New" panose="02070309020205020404" pitchFamily="49" charset="0"/>
              <a:buChar char="o"/>
            </a:pPr>
            <a:r>
              <a:rPr lang="en-US" sz="2000" dirty="0"/>
              <a:t>Increased risk of model overfitting,</a:t>
            </a:r>
          </a:p>
          <a:p>
            <a:pPr marL="860425" indent="-290513" algn="just">
              <a:spcAft>
                <a:spcPts val="600"/>
              </a:spcAft>
              <a:buSzPct val="50000"/>
              <a:buFont typeface="Courier New" panose="02070309020205020404" pitchFamily="49" charset="0"/>
              <a:buChar char="o"/>
            </a:pPr>
            <a:r>
              <a:rPr lang="en-US" sz="2000" dirty="0"/>
              <a:t>Difficulty interpreting model diagnostics.</a:t>
            </a:r>
          </a:p>
          <a:p>
            <a:pPr marL="111125" algn="just">
              <a:spcAft>
                <a:spcPts val="600"/>
              </a:spcAft>
              <a:buSzPct val="100000"/>
            </a:pPr>
            <a:endParaRPr lang="en-US" sz="2000" b="1" dirty="0"/>
          </a:p>
          <a:p>
            <a:pPr marL="111125" algn="just">
              <a:spcAft>
                <a:spcPts val="600"/>
              </a:spcAft>
              <a:buSzPct val="100000"/>
            </a:pPr>
            <a:endParaRPr lang="en-US" sz="2000" b="1" dirty="0"/>
          </a:p>
          <a:p>
            <a:pPr marL="111125" algn="just">
              <a:spcAft>
                <a:spcPts val="600"/>
              </a:spcAft>
              <a:buSzPct val="100000"/>
            </a:pPr>
            <a:r>
              <a:rPr lang="en-US" sz="2000" b="1" dirty="0"/>
              <a:t>Source: </a:t>
            </a:r>
            <a:r>
              <a:rPr lang="en-US" sz="2000" dirty="0" err="1"/>
              <a:t>Kakwani</a:t>
            </a:r>
            <a:r>
              <a:rPr lang="en-US" sz="2000" dirty="0"/>
              <a:t> et al. (2020), Mujahid et al. (2024)</a:t>
            </a:r>
          </a:p>
          <a:p>
            <a:pPr marL="95250" algn="just">
              <a:spcAft>
                <a:spcPts val="600"/>
              </a:spcAft>
            </a:pPr>
            <a:endParaRPr lang="en-US" sz="2000" dirty="0"/>
          </a:p>
        </p:txBody>
      </p:sp>
    </p:spTree>
    <p:extLst>
      <p:ext uri="{BB962C8B-B14F-4D97-AF65-F5344CB8AC3E}">
        <p14:creationId xmlns:p14="http://schemas.microsoft.com/office/powerpoint/2010/main" val="579596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AE163-B8D4-18A8-7AF6-3F96BC443A2D}"/>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5E1CEB65-F325-3E90-EAE3-ED76C5534CD0}"/>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39</a:t>
            </a:fld>
            <a:endParaRPr lang="en-US" dirty="0">
              <a:solidFill>
                <a:srgbClr val="000000"/>
              </a:solidFill>
            </a:endParaRPr>
          </a:p>
        </p:txBody>
      </p:sp>
      <p:sp>
        <p:nvSpPr>
          <p:cNvPr id="2" name="object 3">
            <a:extLst>
              <a:ext uri="{FF2B5EF4-FFF2-40B4-BE49-F238E27FC236}">
                <a16:creationId xmlns:a16="http://schemas.microsoft.com/office/drawing/2014/main" id="{F7E97B0F-0811-4F00-CC28-7470AD4B690D}"/>
              </a:ext>
            </a:extLst>
          </p:cNvPr>
          <p:cNvSpPr txBox="1"/>
          <p:nvPr/>
        </p:nvSpPr>
        <p:spPr>
          <a:xfrm>
            <a:off x="815787" y="723826"/>
            <a:ext cx="7440707" cy="4296582"/>
          </a:xfrm>
          <a:prstGeom prst="rect">
            <a:avLst/>
          </a:prstGeom>
        </p:spPr>
        <p:txBody>
          <a:bodyPr vert="horz" wrap="square" lIns="0" tIns="12700" rIns="0" bIns="0" rtlCol="0">
            <a:noAutofit/>
          </a:bodyPr>
          <a:lstStyle/>
          <a:p>
            <a:pPr marL="402336" indent="-310896" algn="just">
              <a:spcAft>
                <a:spcPts val="600"/>
              </a:spcAft>
              <a:buFont typeface="Arial" panose="020B0604020202020204" pitchFamily="34" charset="0"/>
              <a:buChar char="•"/>
            </a:pPr>
            <a:r>
              <a:rPr lang="en-US" sz="2000" dirty="0"/>
              <a:t>TF-IDF and Logistic Regression were trained only on the Training partition (8,212 comments), giving a predictor-to-observations ratio of 22,781 : 8,212 (p &gt; n).</a:t>
            </a:r>
          </a:p>
          <a:p>
            <a:pPr marL="402336" indent="-310896" algn="just">
              <a:spcAft>
                <a:spcPts val="600"/>
              </a:spcAft>
              <a:buFont typeface="Arial" panose="020B0604020202020204" pitchFamily="34" charset="0"/>
              <a:buChar char="•"/>
            </a:pPr>
            <a:r>
              <a:rPr lang="en-US" sz="2000" dirty="0"/>
              <a:t> TF-IDF matrix is:</a:t>
            </a:r>
          </a:p>
          <a:p>
            <a:pPr marL="859536" lvl="2" indent="-310896" algn="just">
              <a:spcAft>
                <a:spcPts val="600"/>
              </a:spcAft>
              <a:buSzPts val="1000"/>
              <a:buFont typeface="Courier New" panose="02070309020205020404" pitchFamily="49" charset="0"/>
              <a:buChar char="o"/>
              <a:tabLst>
                <a:tab pos="914400" algn="l"/>
              </a:tabLst>
            </a:pPr>
            <a:r>
              <a:rPr lang="en-US" sz="2000" dirty="0"/>
              <a:t>Very high-dimensional,</a:t>
            </a:r>
          </a:p>
          <a:p>
            <a:pPr marL="859536" lvl="2" indent="-310896" algn="just">
              <a:spcAft>
                <a:spcPts val="600"/>
              </a:spcAft>
              <a:buSzPts val="1000"/>
              <a:buFont typeface="Courier New" panose="02070309020205020404" pitchFamily="49" charset="0"/>
              <a:buChar char="o"/>
              <a:tabLst>
                <a:tab pos="914400" algn="l"/>
              </a:tabLst>
            </a:pPr>
            <a:r>
              <a:rPr lang="en-US" sz="2000" dirty="0"/>
              <a:t>Extremely sparse,</a:t>
            </a:r>
          </a:p>
          <a:p>
            <a:pPr marL="859536" lvl="2" indent="-310896" algn="just">
              <a:spcAft>
                <a:spcPts val="600"/>
              </a:spcAft>
              <a:buSzPts val="1000"/>
              <a:buFont typeface="Courier New" panose="02070309020205020404" pitchFamily="49" charset="0"/>
              <a:buChar char="o"/>
              <a:tabLst>
                <a:tab pos="914400" algn="l"/>
              </a:tabLst>
            </a:pPr>
            <a:r>
              <a:rPr lang="en-US" sz="2000" dirty="0"/>
              <a:t>Highly collinear.</a:t>
            </a:r>
          </a:p>
          <a:p>
            <a:pPr marL="429768" indent="-329184" algn="just">
              <a:spcAft>
                <a:spcPts val="600"/>
              </a:spcAft>
              <a:buFont typeface="Arial" panose="020B0604020202020204" pitchFamily="34" charset="0"/>
              <a:buChar char="•"/>
            </a:pPr>
            <a:r>
              <a:rPr lang="en-US" sz="2000" dirty="0"/>
              <a:t>These conditions cause the matrix XᵀX to be singular (non-invertible), which can be challenging. </a:t>
            </a:r>
          </a:p>
        </p:txBody>
      </p:sp>
    </p:spTree>
    <p:extLst>
      <p:ext uri="{BB962C8B-B14F-4D97-AF65-F5344CB8AC3E}">
        <p14:creationId xmlns:p14="http://schemas.microsoft.com/office/powerpoint/2010/main" val="401239969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2B7A1-8432-62A1-64EB-D41D8E296C20}"/>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F9B55355-3F65-9824-8FF3-B269001CC0B1}"/>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40</a:t>
            </a:fld>
            <a:endParaRPr lang="en-US" dirty="0">
              <a:solidFill>
                <a:srgbClr val="000000"/>
              </a:solidFill>
            </a:endParaRPr>
          </a:p>
        </p:txBody>
      </p:sp>
      <p:sp>
        <p:nvSpPr>
          <p:cNvPr id="2" name="object 3">
            <a:extLst>
              <a:ext uri="{FF2B5EF4-FFF2-40B4-BE49-F238E27FC236}">
                <a16:creationId xmlns:a16="http://schemas.microsoft.com/office/drawing/2014/main" id="{C7593F95-0571-86BC-56D4-AC4A2331ED1A}"/>
              </a:ext>
            </a:extLst>
          </p:cNvPr>
          <p:cNvSpPr txBox="1"/>
          <p:nvPr/>
        </p:nvSpPr>
        <p:spPr>
          <a:xfrm>
            <a:off x="815787" y="620458"/>
            <a:ext cx="7440707" cy="5724683"/>
          </a:xfrm>
          <a:prstGeom prst="rect">
            <a:avLst/>
          </a:prstGeom>
        </p:spPr>
        <p:txBody>
          <a:bodyPr vert="horz" wrap="square" lIns="0" tIns="12700" rIns="0" bIns="0" rtlCol="0">
            <a:noAutofit/>
          </a:bodyPr>
          <a:lstStyle/>
          <a:p>
            <a:pPr marL="429768" indent="-329184" algn="just">
              <a:spcAft>
                <a:spcPts val="600"/>
              </a:spcAft>
              <a:buFont typeface="Arial" panose="020B0604020202020204" pitchFamily="34" charset="0"/>
              <a:buChar char="•"/>
            </a:pPr>
            <a:r>
              <a:rPr lang="en-US" sz="2000" dirty="0"/>
              <a:t>Model interpretation used:</a:t>
            </a:r>
          </a:p>
          <a:p>
            <a:pPr marL="857250" lvl="1" indent="-285750" algn="just">
              <a:spcAft>
                <a:spcPts val="600"/>
              </a:spcAft>
              <a:buSzPct val="50000"/>
              <a:buFont typeface="Courier New" panose="02070309020205020404" pitchFamily="49" charset="0"/>
              <a:buChar char="o"/>
            </a:pPr>
            <a:r>
              <a:rPr lang="en-US" sz="2000" dirty="0"/>
              <a:t>Regularization paths,</a:t>
            </a:r>
          </a:p>
          <a:p>
            <a:pPr marL="857250" lvl="1" indent="-285750" algn="just">
              <a:spcAft>
                <a:spcPts val="600"/>
              </a:spcAft>
              <a:buSzPct val="50000"/>
              <a:buFont typeface="Courier New" panose="02070309020205020404" pitchFamily="49" charset="0"/>
              <a:buChar char="o"/>
            </a:pPr>
            <a:r>
              <a:rPr lang="en-US" sz="2000" dirty="0"/>
              <a:t>Coefficient magnitude tables,</a:t>
            </a:r>
          </a:p>
          <a:p>
            <a:pPr marL="857250" lvl="1" indent="-285750" algn="just">
              <a:spcAft>
                <a:spcPts val="600"/>
              </a:spcAft>
              <a:buSzPct val="50000"/>
              <a:buFont typeface="Courier New" panose="02070309020205020404" pitchFamily="49" charset="0"/>
              <a:buChar char="o"/>
            </a:pPr>
            <a:r>
              <a:rPr lang="en-US" sz="2000" dirty="0"/>
              <a:t>Partition-based performance metrics (Training, Validation, Testing).</a:t>
            </a:r>
          </a:p>
          <a:p>
            <a:pPr marL="402336" indent="-310896" algn="just">
              <a:spcAft>
                <a:spcPts val="600"/>
              </a:spcAft>
              <a:buFont typeface="Arial" panose="020B0604020202020204" pitchFamily="34" charset="0"/>
              <a:buChar char="•"/>
            </a:pPr>
            <a:r>
              <a:rPr lang="en-US" sz="2000" b="1" dirty="0"/>
              <a:t>Regularization paths: </a:t>
            </a:r>
            <a:r>
              <a:rPr lang="en-US" sz="2000" dirty="0"/>
              <a:t>show how coefficients shrink as the regularization penalty increases.</a:t>
            </a:r>
          </a:p>
          <a:p>
            <a:pPr marL="402336" indent="-310896" algn="just">
              <a:spcAft>
                <a:spcPts val="600"/>
              </a:spcAft>
              <a:buFont typeface="Arial" panose="020B0604020202020204" pitchFamily="34" charset="0"/>
              <a:buChar char="•"/>
            </a:pPr>
            <a:r>
              <a:rPr lang="en-US" sz="2000" b="1" dirty="0"/>
              <a:t>Coefficient magnitude tables: </a:t>
            </a:r>
            <a:r>
              <a:rPr lang="en-US" sz="2000" dirty="0"/>
              <a:t>List the strongest positive and negative predictors after L2 regularization.</a:t>
            </a:r>
          </a:p>
          <a:p>
            <a:pPr marL="429768" lvl="0" indent="-329184" algn="just">
              <a:spcAft>
                <a:spcPts val="600"/>
              </a:spcAft>
              <a:buFont typeface="Arial" panose="020B0604020202020204" pitchFamily="34" charset="0"/>
              <a:buChar char="•"/>
            </a:pPr>
            <a:r>
              <a:rPr lang="en-US" sz="2000" dirty="0"/>
              <a:t>Model-building code with regularization is shown on Slides 91–100.</a:t>
            </a:r>
          </a:p>
          <a:p>
            <a:pPr marL="429768" lvl="0" indent="-329184" algn="just">
              <a:spcAft>
                <a:spcPts val="600"/>
              </a:spcAft>
              <a:buFont typeface="Arial" panose="020B0604020202020204" pitchFamily="34" charset="0"/>
              <a:buChar char="•"/>
            </a:pPr>
            <a:endParaRPr lang="en-US" sz="2000" dirty="0"/>
          </a:p>
          <a:p>
            <a:pPr marL="100584" lvl="0" algn="just">
              <a:spcAft>
                <a:spcPts val="600"/>
              </a:spcAft>
            </a:pPr>
            <a:endParaRPr lang="en-US" sz="2000" dirty="0"/>
          </a:p>
          <a:p>
            <a:pPr marL="100584" lvl="0" algn="just">
              <a:spcAft>
                <a:spcPts val="600"/>
              </a:spcAft>
            </a:pPr>
            <a:r>
              <a:rPr lang="en-US" sz="2000" b="1" dirty="0"/>
              <a:t>Sources:</a:t>
            </a:r>
            <a:endParaRPr lang="en-US" sz="2000" dirty="0"/>
          </a:p>
          <a:p>
            <a:pPr marL="443484" indent="-342900" algn="just">
              <a:spcAft>
                <a:spcPts val="600"/>
              </a:spcAft>
              <a:buFont typeface="Wingdings" panose="05000000000000000000" pitchFamily="2" charset="2"/>
              <a:buChar char="§"/>
            </a:pPr>
            <a:r>
              <a:rPr lang="en-US" sz="2000" dirty="0"/>
              <a:t>Hastie, T., </a:t>
            </a:r>
            <a:r>
              <a:rPr lang="en-US" sz="2000" dirty="0" err="1"/>
              <a:t>Tibshirani</a:t>
            </a:r>
            <a:r>
              <a:rPr lang="en-US" sz="2000" dirty="0"/>
              <a:t>, R., &amp; Friedman, J. (2009).</a:t>
            </a:r>
          </a:p>
          <a:p>
            <a:pPr marL="443484" indent="-342900" algn="just">
              <a:spcAft>
                <a:spcPts val="600"/>
              </a:spcAft>
              <a:buFont typeface="Wingdings" panose="05000000000000000000" pitchFamily="2" charset="2"/>
              <a:buChar char="§"/>
            </a:pPr>
            <a:r>
              <a:rPr lang="en-US" sz="2000" dirty="0"/>
              <a:t>Ng, A. Y. (2004). Feature selection, L1 vs. L2 regularization.</a:t>
            </a:r>
          </a:p>
          <a:p>
            <a:pPr marL="429768" lvl="0" indent="-329184" algn="just">
              <a:spcAft>
                <a:spcPts val="600"/>
              </a:spcAft>
              <a:buFont typeface="Arial" panose="020B0604020202020204" pitchFamily="34" charset="0"/>
              <a:buChar char="•"/>
            </a:pPr>
            <a:endParaRPr lang="en-US" sz="2000" dirty="0"/>
          </a:p>
        </p:txBody>
      </p:sp>
    </p:spTree>
    <p:extLst>
      <p:ext uri="{BB962C8B-B14F-4D97-AF65-F5344CB8AC3E}">
        <p14:creationId xmlns:p14="http://schemas.microsoft.com/office/powerpoint/2010/main" val="391811278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53746A-D8E5-9FD8-9F27-84BE6F03A42D}"/>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518B48DC-24AB-B8B0-0F3D-2B1382466D6C}"/>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41</a:t>
            </a:fld>
            <a:endParaRPr lang="en-US" dirty="0">
              <a:solidFill>
                <a:srgbClr val="000000"/>
              </a:solidFill>
            </a:endParaRPr>
          </a:p>
        </p:txBody>
      </p:sp>
      <p:sp>
        <p:nvSpPr>
          <p:cNvPr id="7" name="object 2">
            <a:extLst>
              <a:ext uri="{FF2B5EF4-FFF2-40B4-BE49-F238E27FC236}">
                <a16:creationId xmlns:a16="http://schemas.microsoft.com/office/drawing/2014/main" id="{6531415F-973B-0E48-27F7-9B75172ACE29}"/>
              </a:ext>
            </a:extLst>
          </p:cNvPr>
          <p:cNvSpPr txBox="1">
            <a:spLocks/>
          </p:cNvSpPr>
          <p:nvPr/>
        </p:nvSpPr>
        <p:spPr>
          <a:xfrm>
            <a:off x="228600" y="128016"/>
            <a:ext cx="8686800" cy="984885"/>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n-US" dirty="0"/>
              <a:t>Logistic Regression – Top Predictive Features (Coefficients)</a:t>
            </a:r>
          </a:p>
        </p:txBody>
      </p:sp>
      <p:sp>
        <p:nvSpPr>
          <p:cNvPr id="2" name="object 3">
            <a:extLst>
              <a:ext uri="{FF2B5EF4-FFF2-40B4-BE49-F238E27FC236}">
                <a16:creationId xmlns:a16="http://schemas.microsoft.com/office/drawing/2014/main" id="{BADEAE19-5E2D-1C14-2814-D0003CA981DF}"/>
              </a:ext>
            </a:extLst>
          </p:cNvPr>
          <p:cNvSpPr txBox="1"/>
          <p:nvPr/>
        </p:nvSpPr>
        <p:spPr>
          <a:xfrm>
            <a:off x="815787" y="985901"/>
            <a:ext cx="7440707" cy="5353614"/>
          </a:xfrm>
          <a:prstGeom prst="rect">
            <a:avLst/>
          </a:prstGeom>
        </p:spPr>
        <p:txBody>
          <a:bodyPr vert="horz" wrap="square" lIns="0" tIns="12700" rIns="0" bIns="0" rtlCol="0">
            <a:noAutofit/>
          </a:bodyPr>
          <a:lstStyle/>
          <a:p>
            <a:pPr marL="402336" indent="-310896" algn="just">
              <a:spcAft>
                <a:spcPts val="600"/>
              </a:spcAft>
              <a:buFont typeface="Arial" panose="020B0604020202020204" pitchFamily="34" charset="0"/>
              <a:buChar char="•"/>
            </a:pPr>
            <a:r>
              <a:rPr lang="en-US" sz="2000" dirty="0"/>
              <a:t>Logistic Regression assigns a weight (coefficient) to every TF-IDF token.</a:t>
            </a:r>
          </a:p>
          <a:p>
            <a:pPr marL="402336" indent="-310896" algn="just">
              <a:spcAft>
                <a:spcPts val="600"/>
              </a:spcAft>
              <a:buFont typeface="Arial" panose="020B0604020202020204" pitchFamily="34" charset="0"/>
              <a:buChar char="•"/>
            </a:pPr>
            <a:r>
              <a:rPr lang="en-US" sz="2000" dirty="0"/>
              <a:t>Larger positive coefficients correspond to tokens strongly associated with abusive comments.</a:t>
            </a:r>
          </a:p>
          <a:p>
            <a:pPr marL="834390" lvl="1" indent="-285750" algn="just">
              <a:spcAft>
                <a:spcPts val="600"/>
              </a:spcAft>
              <a:buSzPct val="50000"/>
              <a:buFont typeface="Courier New" panose="02070309020205020404" pitchFamily="49" charset="0"/>
              <a:buChar char="o"/>
            </a:pPr>
            <a:r>
              <a:rPr lang="en-US" sz="2000" dirty="0"/>
              <a:t>Top Positive Coefficients (Abusive Predictors):</a:t>
            </a:r>
          </a:p>
          <a:p>
            <a:pPr marL="402336" indent="-310896" algn="just">
              <a:spcAft>
                <a:spcPts val="600"/>
              </a:spcAft>
              <a:buFont typeface="Arial" panose="020B0604020202020204" pitchFamily="34" charset="0"/>
              <a:buChar char="•"/>
            </a:pPr>
            <a:endParaRPr lang="en-US" sz="2000" dirty="0"/>
          </a:p>
          <a:p>
            <a:pPr marL="402336" indent="-310896" algn="just">
              <a:spcAft>
                <a:spcPts val="600"/>
              </a:spcAft>
              <a:buFont typeface="Arial" panose="020B0604020202020204" pitchFamily="34" charset="0"/>
              <a:buChar char="•"/>
            </a:pPr>
            <a:endParaRPr lang="en-US" sz="2000" dirty="0"/>
          </a:p>
          <a:p>
            <a:pPr marL="402336" indent="-310896" algn="just">
              <a:spcAft>
                <a:spcPts val="600"/>
              </a:spcAft>
              <a:buFont typeface="Arial" panose="020B0604020202020204" pitchFamily="34" charset="0"/>
              <a:buChar char="•"/>
            </a:pPr>
            <a:endParaRPr lang="en-US" sz="2000" dirty="0"/>
          </a:p>
          <a:p>
            <a:pPr marL="402336" indent="-310896" algn="just">
              <a:spcAft>
                <a:spcPts val="600"/>
              </a:spcAft>
              <a:buFont typeface="Arial" panose="020B0604020202020204" pitchFamily="34" charset="0"/>
              <a:buChar char="•"/>
            </a:pPr>
            <a:endParaRPr lang="en-US" sz="2000" dirty="0"/>
          </a:p>
          <a:p>
            <a:pPr marL="402336" indent="-310896" algn="just">
              <a:spcAft>
                <a:spcPts val="600"/>
              </a:spcAft>
              <a:buFont typeface="Arial" panose="020B0604020202020204" pitchFamily="34" charset="0"/>
              <a:buChar char="•"/>
            </a:pPr>
            <a:endParaRPr lang="en-US" sz="2000" dirty="0"/>
          </a:p>
          <a:p>
            <a:pPr marL="91440" algn="just">
              <a:spcAft>
                <a:spcPts val="600"/>
              </a:spcAft>
            </a:pPr>
            <a:endParaRPr lang="en-US" sz="2000" dirty="0"/>
          </a:p>
          <a:p>
            <a:pPr marL="95250" algn="just">
              <a:spcAft>
                <a:spcPts val="600"/>
              </a:spcAft>
            </a:pPr>
            <a:endParaRPr lang="en-US" sz="2000" dirty="0"/>
          </a:p>
        </p:txBody>
      </p:sp>
      <p:pic>
        <p:nvPicPr>
          <p:cNvPr id="8" name="Picture 7" descr="A screenshot of a calendar&#10;&#10;AI-generated content may be incorrect.">
            <a:extLst>
              <a:ext uri="{FF2B5EF4-FFF2-40B4-BE49-F238E27FC236}">
                <a16:creationId xmlns:a16="http://schemas.microsoft.com/office/drawing/2014/main" id="{0D7EF779-A95A-EE75-C88B-0DE97FD3313E}"/>
              </a:ext>
            </a:extLst>
          </p:cNvPr>
          <p:cNvPicPr>
            <a:picLocks noChangeAspect="1"/>
          </p:cNvPicPr>
          <p:nvPr/>
        </p:nvPicPr>
        <p:blipFill>
          <a:blip r:embed="rId2"/>
          <a:stretch>
            <a:fillRect/>
          </a:stretch>
        </p:blipFill>
        <p:spPr>
          <a:xfrm>
            <a:off x="946150" y="2689462"/>
            <a:ext cx="7258050" cy="3396776"/>
          </a:xfrm>
          <a:prstGeom prst="rect">
            <a:avLst/>
          </a:prstGeom>
        </p:spPr>
      </p:pic>
    </p:spTree>
    <p:extLst>
      <p:ext uri="{BB962C8B-B14F-4D97-AF65-F5344CB8AC3E}">
        <p14:creationId xmlns:p14="http://schemas.microsoft.com/office/powerpoint/2010/main" val="24478731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EDCE1C-66F2-DADA-0C44-5EDDEB3427C7}"/>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163FFB9F-4606-7323-4917-EA645F0E8B15}"/>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42</a:t>
            </a:fld>
            <a:endParaRPr lang="en-US" dirty="0">
              <a:solidFill>
                <a:srgbClr val="000000"/>
              </a:solidFill>
            </a:endParaRPr>
          </a:p>
        </p:txBody>
      </p:sp>
      <p:sp>
        <p:nvSpPr>
          <p:cNvPr id="2" name="object 3">
            <a:extLst>
              <a:ext uri="{FF2B5EF4-FFF2-40B4-BE49-F238E27FC236}">
                <a16:creationId xmlns:a16="http://schemas.microsoft.com/office/drawing/2014/main" id="{FAB69AD5-1739-A0F9-5DE3-1A2223A7CAA1}"/>
              </a:ext>
            </a:extLst>
          </p:cNvPr>
          <p:cNvSpPr txBox="1"/>
          <p:nvPr/>
        </p:nvSpPr>
        <p:spPr>
          <a:xfrm>
            <a:off x="815787" y="626580"/>
            <a:ext cx="7440707" cy="5353614"/>
          </a:xfrm>
          <a:prstGeom prst="rect">
            <a:avLst/>
          </a:prstGeom>
        </p:spPr>
        <p:txBody>
          <a:bodyPr vert="horz" wrap="square" lIns="0" tIns="12700" rIns="0" bIns="0" rtlCol="0">
            <a:noAutofit/>
          </a:bodyPr>
          <a:lstStyle/>
          <a:p>
            <a:pPr marL="377190" indent="-285750" algn="just">
              <a:spcAft>
                <a:spcPts val="600"/>
              </a:spcAft>
              <a:buFont typeface="Arial" panose="020B0604020202020204" pitchFamily="34" charset="0"/>
              <a:buChar char="•"/>
            </a:pPr>
            <a:r>
              <a:rPr lang="en-US" dirty="0"/>
              <a:t>Larger negative coefficients correspond to tokens associated with non-abusive comments.</a:t>
            </a:r>
          </a:p>
          <a:p>
            <a:pPr marL="834390" lvl="1" indent="-285750" algn="just">
              <a:spcAft>
                <a:spcPts val="600"/>
              </a:spcAft>
              <a:buSzPct val="50000"/>
              <a:buFont typeface="Courier New" panose="02070309020205020404" pitchFamily="49" charset="0"/>
              <a:buChar char="o"/>
            </a:pPr>
            <a:r>
              <a:rPr lang="en-US" dirty="0"/>
              <a:t>Top Negative Coefficients (Non-Abusive Predictors):</a:t>
            </a:r>
          </a:p>
          <a:p>
            <a:pPr marL="834390" lvl="1" indent="-285750" algn="just">
              <a:spcAft>
                <a:spcPts val="600"/>
              </a:spcAft>
              <a:buSzPct val="50000"/>
              <a:buFont typeface="Courier New" panose="02070309020205020404" pitchFamily="49" charset="0"/>
              <a:buChar char="o"/>
            </a:pPr>
            <a:endParaRPr lang="en-US" b="1" dirty="0"/>
          </a:p>
          <a:p>
            <a:pPr marL="834390" lvl="1" indent="-285750" algn="just">
              <a:spcAft>
                <a:spcPts val="600"/>
              </a:spcAft>
              <a:buSzPct val="50000"/>
              <a:buFont typeface="Courier New" panose="02070309020205020404" pitchFamily="49" charset="0"/>
              <a:buChar char="o"/>
            </a:pPr>
            <a:endParaRPr lang="en-US" b="1" dirty="0"/>
          </a:p>
          <a:p>
            <a:pPr marL="834390" lvl="1" indent="-285750" algn="just">
              <a:spcAft>
                <a:spcPts val="600"/>
              </a:spcAft>
              <a:buSzPct val="50000"/>
              <a:buFont typeface="Courier New" panose="02070309020205020404" pitchFamily="49" charset="0"/>
              <a:buChar char="o"/>
            </a:pPr>
            <a:endParaRPr lang="en-US" b="1" dirty="0"/>
          </a:p>
          <a:p>
            <a:pPr marL="834390" lvl="1" indent="-285750" algn="just">
              <a:spcAft>
                <a:spcPts val="600"/>
              </a:spcAft>
              <a:buSzPct val="50000"/>
              <a:buFont typeface="Courier New" panose="02070309020205020404" pitchFamily="49" charset="0"/>
              <a:buChar char="o"/>
            </a:pPr>
            <a:endParaRPr lang="en-US" b="1" dirty="0"/>
          </a:p>
          <a:p>
            <a:pPr marL="834390" lvl="1" indent="-285750" algn="just">
              <a:spcAft>
                <a:spcPts val="600"/>
              </a:spcAft>
              <a:buSzPct val="50000"/>
              <a:buFont typeface="Courier New" panose="02070309020205020404" pitchFamily="49" charset="0"/>
              <a:buChar char="o"/>
            </a:pPr>
            <a:endParaRPr lang="en-US" b="1" dirty="0"/>
          </a:p>
          <a:p>
            <a:pPr marL="548640" lvl="1" algn="just">
              <a:spcAft>
                <a:spcPts val="600"/>
              </a:spcAft>
              <a:buSzPct val="50000"/>
            </a:pPr>
            <a:endParaRPr lang="en-US" b="1" dirty="0"/>
          </a:p>
          <a:p>
            <a:pPr marL="404813" lvl="1" indent="-290513" algn="just">
              <a:spcAft>
                <a:spcPts val="600"/>
              </a:spcAft>
              <a:buSzPct val="100000"/>
              <a:buFont typeface="Arial" panose="020B0604020202020204" pitchFamily="34" charset="0"/>
              <a:buChar char="•"/>
              <a:tabLst>
                <a:tab pos="347663" algn="l"/>
              </a:tabLst>
            </a:pPr>
            <a:r>
              <a:rPr lang="en-US" dirty="0"/>
              <a:t>Out of the 22,781 TF-IDF predictor variables, 2,211 coefficients fall within the threshold range of –0.05 to +0.05. This leaves 20,570 variables with larger coefficients. </a:t>
            </a:r>
          </a:p>
          <a:p>
            <a:pPr marL="404813" lvl="1" indent="-290513" algn="just">
              <a:spcAft>
                <a:spcPts val="600"/>
              </a:spcAft>
              <a:buSzPct val="100000"/>
              <a:buFont typeface="Arial" panose="020B0604020202020204" pitchFamily="34" charset="0"/>
              <a:buChar char="•"/>
              <a:tabLst>
                <a:tab pos="347663" algn="l"/>
              </a:tabLst>
            </a:pPr>
            <a:r>
              <a:rPr lang="en-US" dirty="0"/>
              <a:t>Therefore, the predictor-to-observation ratio remains extremely high at 20,570 : 8,212, confirming the high-dimensional p &gt; n condition. </a:t>
            </a:r>
          </a:p>
          <a:p>
            <a:pPr marL="404813" lvl="1" algn="just">
              <a:spcAft>
                <a:spcPts val="600"/>
              </a:spcAft>
              <a:buSzPct val="50000"/>
            </a:pPr>
            <a:r>
              <a:rPr lang="en-US" b="1" dirty="0"/>
              <a:t>Note: Regularization shrank thousands of coefficients extremely close to zero, effectively performing variable selection.</a:t>
            </a:r>
          </a:p>
          <a:p>
            <a:pPr marL="834390" lvl="1" indent="-285750" algn="just">
              <a:spcAft>
                <a:spcPts val="600"/>
              </a:spcAft>
              <a:buSzPct val="50000"/>
              <a:buFont typeface="Courier New" panose="02070309020205020404" pitchFamily="49" charset="0"/>
              <a:buChar char="o"/>
            </a:pPr>
            <a:endParaRPr lang="en-US" dirty="0"/>
          </a:p>
          <a:p>
            <a:pPr marL="403225" indent="-307975" algn="just">
              <a:spcAft>
                <a:spcPts val="600"/>
              </a:spcAft>
              <a:buFont typeface="Arial" panose="020B0604020202020204" pitchFamily="34" charset="0"/>
              <a:buChar char="•"/>
            </a:pPr>
            <a:endParaRPr lang="en-US" dirty="0"/>
          </a:p>
        </p:txBody>
      </p:sp>
      <p:pic>
        <p:nvPicPr>
          <p:cNvPr id="6" name="Picture 5" descr="A screenshot of a computer&#10;&#10;AI-generated content may be incorrect.">
            <a:extLst>
              <a:ext uri="{FF2B5EF4-FFF2-40B4-BE49-F238E27FC236}">
                <a16:creationId xmlns:a16="http://schemas.microsoft.com/office/drawing/2014/main" id="{32AC5BE6-A266-99B9-EAC6-1F47E314FC8D}"/>
              </a:ext>
            </a:extLst>
          </p:cNvPr>
          <p:cNvPicPr>
            <a:picLocks noChangeAspect="1"/>
          </p:cNvPicPr>
          <p:nvPr/>
        </p:nvPicPr>
        <p:blipFill>
          <a:blip r:embed="rId2"/>
          <a:stretch>
            <a:fillRect/>
          </a:stretch>
        </p:blipFill>
        <p:spPr>
          <a:xfrm>
            <a:off x="887506" y="1520010"/>
            <a:ext cx="7316694" cy="2199136"/>
          </a:xfrm>
          <a:prstGeom prst="rect">
            <a:avLst/>
          </a:prstGeom>
        </p:spPr>
      </p:pic>
    </p:spTree>
    <p:extLst>
      <p:ext uri="{BB962C8B-B14F-4D97-AF65-F5344CB8AC3E}">
        <p14:creationId xmlns:p14="http://schemas.microsoft.com/office/powerpoint/2010/main" val="356985078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EF015-AC05-DC97-94C3-16A6E7989C1E}"/>
            </a:ext>
          </a:extLst>
        </p:cNvPr>
        <p:cNvGrpSpPr/>
        <p:nvPr/>
      </p:nvGrpSpPr>
      <p:grpSpPr>
        <a:xfrm>
          <a:off x="0" y="0"/>
          <a:ext cx="0" cy="0"/>
          <a:chOff x="0" y="0"/>
          <a:chExt cx="0" cy="0"/>
        </a:xfrm>
      </p:grpSpPr>
      <p:sp>
        <p:nvSpPr>
          <p:cNvPr id="5" name="object 2">
            <a:extLst>
              <a:ext uri="{FF2B5EF4-FFF2-40B4-BE49-F238E27FC236}">
                <a16:creationId xmlns:a16="http://schemas.microsoft.com/office/drawing/2014/main" id="{338643A9-D758-6EF8-94CF-A04863A2A72E}"/>
              </a:ext>
            </a:extLst>
          </p:cNvPr>
          <p:cNvSpPr txBox="1">
            <a:spLocks/>
          </p:cNvSpPr>
          <p:nvPr/>
        </p:nvSpPr>
        <p:spPr>
          <a:xfrm>
            <a:off x="228600" y="128016"/>
            <a:ext cx="8686800" cy="984885"/>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pPr>
              <a:lnSpc>
                <a:spcPct val="100000"/>
              </a:lnSpc>
              <a:spcBef>
                <a:spcPts val="0"/>
              </a:spcBef>
            </a:pPr>
            <a:r>
              <a:rPr lang="en-US" dirty="0"/>
              <a:t>Models: Binary Logistic Regression | </a:t>
            </a:r>
          </a:p>
          <a:p>
            <a:pPr>
              <a:lnSpc>
                <a:spcPct val="100000"/>
              </a:lnSpc>
              <a:spcBef>
                <a:spcPts val="0"/>
              </a:spcBef>
            </a:pPr>
            <a:r>
              <a:rPr lang="en-US" dirty="0"/>
              <a:t>Confusion Matrix | Training</a:t>
            </a:r>
            <a:endParaRPr lang="en-US" spc="-20" dirty="0">
              <a:solidFill>
                <a:srgbClr val="2D3B45"/>
              </a:solidFill>
            </a:endParaRPr>
          </a:p>
        </p:txBody>
      </p:sp>
      <p:sp>
        <p:nvSpPr>
          <p:cNvPr id="3" name="Slide Number Placeholder 4">
            <a:extLst>
              <a:ext uri="{FF2B5EF4-FFF2-40B4-BE49-F238E27FC236}">
                <a16:creationId xmlns:a16="http://schemas.microsoft.com/office/drawing/2014/main" id="{5ED50FB3-30F8-1F39-1762-3452F5601E45}"/>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43</a:t>
            </a:fld>
            <a:endParaRPr lang="en-US" dirty="0">
              <a:solidFill>
                <a:srgbClr val="000000"/>
              </a:solidFill>
            </a:endParaRPr>
          </a:p>
        </p:txBody>
      </p:sp>
      <p:grpSp>
        <p:nvGrpSpPr>
          <p:cNvPr id="9" name="Group 4">
            <a:extLst>
              <a:ext uri="{FF2B5EF4-FFF2-40B4-BE49-F238E27FC236}">
                <a16:creationId xmlns:a16="http://schemas.microsoft.com/office/drawing/2014/main" id="{2D2BE581-1323-E321-5BDF-8301DB21C950}"/>
              </a:ext>
            </a:extLst>
          </p:cNvPr>
          <p:cNvGrpSpPr>
            <a:grpSpLocks noChangeAspect="1"/>
          </p:cNvGrpSpPr>
          <p:nvPr/>
        </p:nvGrpSpPr>
        <p:grpSpPr bwMode="auto">
          <a:xfrm>
            <a:off x="1195388" y="1649413"/>
            <a:ext cx="6745288" cy="3581400"/>
            <a:chOff x="753" y="1039"/>
            <a:chExt cx="4249" cy="2256"/>
          </a:xfrm>
        </p:grpSpPr>
        <p:sp>
          <p:nvSpPr>
            <p:cNvPr id="10" name="AutoShape 3">
              <a:extLst>
                <a:ext uri="{FF2B5EF4-FFF2-40B4-BE49-F238E27FC236}">
                  <a16:creationId xmlns:a16="http://schemas.microsoft.com/office/drawing/2014/main" id="{E544BED2-02C3-1B02-2C09-CE87FC42B330}"/>
                </a:ext>
              </a:extLst>
            </p:cNvPr>
            <p:cNvSpPr>
              <a:spLocks noChangeAspect="1" noChangeArrowheads="1" noTextEdit="1"/>
            </p:cNvSpPr>
            <p:nvPr/>
          </p:nvSpPr>
          <p:spPr bwMode="auto">
            <a:xfrm>
              <a:off x="758" y="1044"/>
              <a:ext cx="4244" cy="2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Rectangle 5">
              <a:extLst>
                <a:ext uri="{FF2B5EF4-FFF2-40B4-BE49-F238E27FC236}">
                  <a16:creationId xmlns:a16="http://schemas.microsoft.com/office/drawing/2014/main" id="{B4D5E487-BBB0-312B-C9BF-961F25563E5D}"/>
                </a:ext>
              </a:extLst>
            </p:cNvPr>
            <p:cNvSpPr>
              <a:spLocks noChangeArrowheads="1"/>
            </p:cNvSpPr>
            <p:nvPr/>
          </p:nvSpPr>
          <p:spPr bwMode="auto">
            <a:xfrm>
              <a:off x="758" y="1044"/>
              <a:ext cx="4244" cy="226"/>
            </a:xfrm>
            <a:prstGeom prst="rect">
              <a:avLst/>
            </a:prstGeom>
            <a:solidFill>
              <a:srgbClr val="538DD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Rectangle 6">
              <a:extLst>
                <a:ext uri="{FF2B5EF4-FFF2-40B4-BE49-F238E27FC236}">
                  <a16:creationId xmlns:a16="http://schemas.microsoft.com/office/drawing/2014/main" id="{0DBA6D04-72AD-1067-E607-2ECF9C9301C4}"/>
                </a:ext>
              </a:extLst>
            </p:cNvPr>
            <p:cNvSpPr>
              <a:spLocks noChangeArrowheads="1"/>
            </p:cNvSpPr>
            <p:nvPr/>
          </p:nvSpPr>
          <p:spPr bwMode="auto">
            <a:xfrm>
              <a:off x="758" y="1381"/>
              <a:ext cx="4244" cy="178"/>
            </a:xfrm>
            <a:prstGeom prst="rect">
              <a:avLst/>
            </a:prstGeom>
            <a:solidFill>
              <a:srgbClr val="538DD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Rectangle 7">
              <a:extLst>
                <a:ext uri="{FF2B5EF4-FFF2-40B4-BE49-F238E27FC236}">
                  <a16:creationId xmlns:a16="http://schemas.microsoft.com/office/drawing/2014/main" id="{0E5AA928-E736-86DA-F5DF-FBB0DDE8A5D0}"/>
                </a:ext>
              </a:extLst>
            </p:cNvPr>
            <p:cNvSpPr>
              <a:spLocks noChangeArrowheads="1"/>
            </p:cNvSpPr>
            <p:nvPr/>
          </p:nvSpPr>
          <p:spPr bwMode="auto">
            <a:xfrm>
              <a:off x="2402" y="1554"/>
              <a:ext cx="2600" cy="163"/>
            </a:xfrm>
            <a:prstGeom prst="rect">
              <a:avLst/>
            </a:prstGeom>
            <a:solidFill>
              <a:srgbClr val="BDD7E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Rectangle 8">
              <a:extLst>
                <a:ext uri="{FF2B5EF4-FFF2-40B4-BE49-F238E27FC236}">
                  <a16:creationId xmlns:a16="http://schemas.microsoft.com/office/drawing/2014/main" id="{96AD9222-515E-2652-4DA5-1FE4F460E182}"/>
                </a:ext>
              </a:extLst>
            </p:cNvPr>
            <p:cNvSpPr>
              <a:spLocks noChangeArrowheads="1"/>
            </p:cNvSpPr>
            <p:nvPr/>
          </p:nvSpPr>
          <p:spPr bwMode="auto">
            <a:xfrm>
              <a:off x="758" y="1713"/>
              <a:ext cx="4244" cy="163"/>
            </a:xfrm>
            <a:prstGeom prst="rect">
              <a:avLst/>
            </a:prstGeom>
            <a:solidFill>
              <a:srgbClr val="E9F1F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Rectangle 9">
              <a:extLst>
                <a:ext uri="{FF2B5EF4-FFF2-40B4-BE49-F238E27FC236}">
                  <a16:creationId xmlns:a16="http://schemas.microsoft.com/office/drawing/2014/main" id="{74B36544-DDBB-89FB-8BEF-790EEE9B235D}"/>
                </a:ext>
              </a:extLst>
            </p:cNvPr>
            <p:cNvSpPr>
              <a:spLocks noChangeArrowheads="1"/>
            </p:cNvSpPr>
            <p:nvPr/>
          </p:nvSpPr>
          <p:spPr bwMode="auto">
            <a:xfrm>
              <a:off x="758" y="2102"/>
              <a:ext cx="4244" cy="125"/>
            </a:xfrm>
            <a:prstGeom prst="rect">
              <a:avLst/>
            </a:prstGeom>
            <a:solidFill>
              <a:srgbClr val="E9F1F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Rectangle 10">
              <a:extLst>
                <a:ext uri="{FF2B5EF4-FFF2-40B4-BE49-F238E27FC236}">
                  <a16:creationId xmlns:a16="http://schemas.microsoft.com/office/drawing/2014/main" id="{14A2A9C1-116E-5084-852B-F80CEF5AED8F}"/>
                </a:ext>
              </a:extLst>
            </p:cNvPr>
            <p:cNvSpPr>
              <a:spLocks noChangeArrowheads="1"/>
            </p:cNvSpPr>
            <p:nvPr/>
          </p:nvSpPr>
          <p:spPr bwMode="auto">
            <a:xfrm>
              <a:off x="758" y="2223"/>
              <a:ext cx="4244" cy="12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Rectangle 11">
              <a:extLst>
                <a:ext uri="{FF2B5EF4-FFF2-40B4-BE49-F238E27FC236}">
                  <a16:creationId xmlns:a16="http://schemas.microsoft.com/office/drawing/2014/main" id="{47F2E52B-F6CC-B8BC-4D51-7B591F114C99}"/>
                </a:ext>
              </a:extLst>
            </p:cNvPr>
            <p:cNvSpPr>
              <a:spLocks noChangeArrowheads="1"/>
            </p:cNvSpPr>
            <p:nvPr/>
          </p:nvSpPr>
          <p:spPr bwMode="auto">
            <a:xfrm>
              <a:off x="758" y="2338"/>
              <a:ext cx="2600" cy="125"/>
            </a:xfrm>
            <a:prstGeom prst="rect">
              <a:avLst/>
            </a:prstGeom>
            <a:solidFill>
              <a:srgbClr val="538DD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Rectangle 12">
              <a:extLst>
                <a:ext uri="{FF2B5EF4-FFF2-40B4-BE49-F238E27FC236}">
                  <a16:creationId xmlns:a16="http://schemas.microsoft.com/office/drawing/2014/main" id="{1DCC0D90-5281-4B5F-7B46-5561DB0CFBAD}"/>
                </a:ext>
              </a:extLst>
            </p:cNvPr>
            <p:cNvSpPr>
              <a:spLocks noChangeArrowheads="1"/>
            </p:cNvSpPr>
            <p:nvPr/>
          </p:nvSpPr>
          <p:spPr bwMode="auto">
            <a:xfrm>
              <a:off x="758" y="2458"/>
              <a:ext cx="2600" cy="241"/>
            </a:xfrm>
            <a:prstGeom prst="rect">
              <a:avLst/>
            </a:prstGeom>
            <a:solidFill>
              <a:srgbClr val="E9F1F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Rectangle 13">
              <a:extLst>
                <a:ext uri="{FF2B5EF4-FFF2-40B4-BE49-F238E27FC236}">
                  <a16:creationId xmlns:a16="http://schemas.microsoft.com/office/drawing/2014/main" id="{0B450E2A-0543-F068-9143-70F116F0BE8F}"/>
                </a:ext>
              </a:extLst>
            </p:cNvPr>
            <p:cNvSpPr>
              <a:spLocks noChangeArrowheads="1"/>
            </p:cNvSpPr>
            <p:nvPr/>
          </p:nvSpPr>
          <p:spPr bwMode="auto">
            <a:xfrm>
              <a:off x="758" y="2809"/>
              <a:ext cx="2600" cy="121"/>
            </a:xfrm>
            <a:prstGeom prst="rect">
              <a:avLst/>
            </a:prstGeom>
            <a:solidFill>
              <a:srgbClr val="E9F1F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Rectangle 14">
              <a:extLst>
                <a:ext uri="{FF2B5EF4-FFF2-40B4-BE49-F238E27FC236}">
                  <a16:creationId xmlns:a16="http://schemas.microsoft.com/office/drawing/2014/main" id="{F82FDD3F-56FB-2C87-225C-FDEAD98D5CDE}"/>
                </a:ext>
              </a:extLst>
            </p:cNvPr>
            <p:cNvSpPr>
              <a:spLocks noChangeArrowheads="1"/>
            </p:cNvSpPr>
            <p:nvPr/>
          </p:nvSpPr>
          <p:spPr bwMode="auto">
            <a:xfrm>
              <a:off x="758" y="3040"/>
              <a:ext cx="2600" cy="121"/>
            </a:xfrm>
            <a:prstGeom prst="rect">
              <a:avLst/>
            </a:prstGeom>
            <a:solidFill>
              <a:srgbClr val="E9F1F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Rectangle 15">
              <a:extLst>
                <a:ext uri="{FF2B5EF4-FFF2-40B4-BE49-F238E27FC236}">
                  <a16:creationId xmlns:a16="http://schemas.microsoft.com/office/drawing/2014/main" id="{50CB3C79-767D-4867-C3BC-5406CFAD87EF}"/>
                </a:ext>
              </a:extLst>
            </p:cNvPr>
            <p:cNvSpPr>
              <a:spLocks noChangeArrowheads="1"/>
            </p:cNvSpPr>
            <p:nvPr/>
          </p:nvSpPr>
          <p:spPr bwMode="auto">
            <a:xfrm>
              <a:off x="1426" y="1742"/>
              <a:ext cx="365"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a:ln>
                    <a:noFill/>
                  </a:ln>
                  <a:solidFill>
                    <a:srgbClr val="000000"/>
                  </a:solidFill>
                  <a:effectLst/>
                  <a:latin typeface="Calibri" panose="020F0502020204030204" pitchFamily="34" charset="0"/>
                </a:rPr>
                <a:t>Partition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2" name="Rectangle 16">
              <a:extLst>
                <a:ext uri="{FF2B5EF4-FFF2-40B4-BE49-F238E27FC236}">
                  <a16:creationId xmlns:a16="http://schemas.microsoft.com/office/drawing/2014/main" id="{287D65D2-2BE6-E82F-2DCD-FB25B14809A1}"/>
                </a:ext>
              </a:extLst>
            </p:cNvPr>
            <p:cNvSpPr>
              <a:spLocks noChangeArrowheads="1"/>
            </p:cNvSpPr>
            <p:nvPr/>
          </p:nvSpPr>
          <p:spPr bwMode="auto">
            <a:xfrm>
              <a:off x="2628" y="1742"/>
              <a:ext cx="553"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a:ln>
                    <a:noFill/>
                  </a:ln>
                  <a:solidFill>
                    <a:srgbClr val="000000"/>
                  </a:solidFill>
                  <a:effectLst/>
                  <a:latin typeface="Calibri" panose="020F0502020204030204" pitchFamily="34" charset="0"/>
                </a:rPr>
                <a:t>0 Not Abusive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3" name="Rectangle 17">
              <a:extLst>
                <a:ext uri="{FF2B5EF4-FFF2-40B4-BE49-F238E27FC236}">
                  <a16:creationId xmlns:a16="http://schemas.microsoft.com/office/drawing/2014/main" id="{6C24A74B-3481-3162-393E-B72B2D2ABB20}"/>
                </a:ext>
              </a:extLst>
            </p:cNvPr>
            <p:cNvSpPr>
              <a:spLocks noChangeArrowheads="1"/>
            </p:cNvSpPr>
            <p:nvPr/>
          </p:nvSpPr>
          <p:spPr bwMode="auto">
            <a:xfrm>
              <a:off x="3656" y="1742"/>
              <a:ext cx="399"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dirty="0">
                  <a:ln>
                    <a:noFill/>
                  </a:ln>
                  <a:solidFill>
                    <a:srgbClr val="000000"/>
                  </a:solidFill>
                  <a:effectLst/>
                  <a:latin typeface="Calibri" panose="020F0502020204030204" pitchFamily="34" charset="0"/>
                </a:rPr>
                <a:t>1 Abusive</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4" name="Rectangle 18">
              <a:extLst>
                <a:ext uri="{FF2B5EF4-FFF2-40B4-BE49-F238E27FC236}">
                  <a16:creationId xmlns:a16="http://schemas.microsoft.com/office/drawing/2014/main" id="{5A120E47-167A-9DB6-C71A-214B6BB5C8EF}"/>
                </a:ext>
              </a:extLst>
            </p:cNvPr>
            <p:cNvSpPr>
              <a:spLocks noChangeArrowheads="1"/>
            </p:cNvSpPr>
            <p:nvPr/>
          </p:nvSpPr>
          <p:spPr bwMode="auto">
            <a:xfrm>
              <a:off x="4565" y="1742"/>
              <a:ext cx="231"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a:ln>
                    <a:noFill/>
                  </a:ln>
                  <a:solidFill>
                    <a:srgbClr val="000000"/>
                  </a:solidFill>
                  <a:effectLst/>
                  <a:latin typeface="Calibri" panose="020F0502020204030204" pitchFamily="34" charset="0"/>
                </a:rPr>
                <a:t>Total</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5" name="Rectangle 19">
              <a:extLst>
                <a:ext uri="{FF2B5EF4-FFF2-40B4-BE49-F238E27FC236}">
                  <a16:creationId xmlns:a16="http://schemas.microsoft.com/office/drawing/2014/main" id="{0BC5DC25-EFE6-3ED4-635D-ACFFC840ED12}"/>
                </a:ext>
              </a:extLst>
            </p:cNvPr>
            <p:cNvSpPr>
              <a:spLocks noChangeArrowheads="1"/>
            </p:cNvSpPr>
            <p:nvPr/>
          </p:nvSpPr>
          <p:spPr bwMode="auto">
            <a:xfrm>
              <a:off x="777" y="1881"/>
              <a:ext cx="827"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Actual 0 (Not Abusive)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6" name="Rectangle 20">
              <a:extLst>
                <a:ext uri="{FF2B5EF4-FFF2-40B4-BE49-F238E27FC236}">
                  <a16:creationId xmlns:a16="http://schemas.microsoft.com/office/drawing/2014/main" id="{B926F0A7-3763-00A9-9F2A-E5B6804F8662}"/>
                </a:ext>
              </a:extLst>
            </p:cNvPr>
            <p:cNvSpPr>
              <a:spLocks noChangeArrowheads="1"/>
            </p:cNvSpPr>
            <p:nvPr/>
          </p:nvSpPr>
          <p:spPr bwMode="auto">
            <a:xfrm>
              <a:off x="2796" y="1881"/>
              <a:ext cx="221"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3575</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7" name="Rectangle 21">
              <a:extLst>
                <a:ext uri="{FF2B5EF4-FFF2-40B4-BE49-F238E27FC236}">
                  <a16:creationId xmlns:a16="http://schemas.microsoft.com/office/drawing/2014/main" id="{74428927-33D4-29FD-A3FA-8ABBAAE50891}"/>
                </a:ext>
              </a:extLst>
            </p:cNvPr>
            <p:cNvSpPr>
              <a:spLocks noChangeArrowheads="1"/>
            </p:cNvSpPr>
            <p:nvPr/>
          </p:nvSpPr>
          <p:spPr bwMode="auto">
            <a:xfrm>
              <a:off x="3767" y="1881"/>
              <a:ext cx="173"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309</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8" name="Rectangle 22">
              <a:extLst>
                <a:ext uri="{FF2B5EF4-FFF2-40B4-BE49-F238E27FC236}">
                  <a16:creationId xmlns:a16="http://schemas.microsoft.com/office/drawing/2014/main" id="{AFF8BBB6-97A9-7851-29F2-90680A2AED43}"/>
                </a:ext>
              </a:extLst>
            </p:cNvPr>
            <p:cNvSpPr>
              <a:spLocks noChangeArrowheads="1"/>
            </p:cNvSpPr>
            <p:nvPr/>
          </p:nvSpPr>
          <p:spPr bwMode="auto">
            <a:xfrm>
              <a:off x="4570" y="1881"/>
              <a:ext cx="221"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3884</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9" name="Rectangle 23">
              <a:extLst>
                <a:ext uri="{FF2B5EF4-FFF2-40B4-BE49-F238E27FC236}">
                  <a16:creationId xmlns:a16="http://schemas.microsoft.com/office/drawing/2014/main" id="{7A7FF577-89D9-F1E4-227A-B939D2F7707C}"/>
                </a:ext>
              </a:extLst>
            </p:cNvPr>
            <p:cNvSpPr>
              <a:spLocks noChangeArrowheads="1"/>
            </p:cNvSpPr>
            <p:nvPr/>
          </p:nvSpPr>
          <p:spPr bwMode="auto">
            <a:xfrm>
              <a:off x="777" y="1996"/>
              <a:ext cx="678"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Calibri" panose="020F0502020204030204" pitchFamily="34" charset="0"/>
                </a:rPr>
                <a:t>Actual 1 (Abusive)</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0" name="Rectangle 24">
              <a:extLst>
                <a:ext uri="{FF2B5EF4-FFF2-40B4-BE49-F238E27FC236}">
                  <a16:creationId xmlns:a16="http://schemas.microsoft.com/office/drawing/2014/main" id="{AF8A9F8D-3454-2525-ED75-1A150DDACB87}"/>
                </a:ext>
              </a:extLst>
            </p:cNvPr>
            <p:cNvSpPr>
              <a:spLocks noChangeArrowheads="1"/>
            </p:cNvSpPr>
            <p:nvPr/>
          </p:nvSpPr>
          <p:spPr bwMode="auto">
            <a:xfrm>
              <a:off x="2815" y="1996"/>
              <a:ext cx="173"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490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1" name="Rectangle 25">
              <a:extLst>
                <a:ext uri="{FF2B5EF4-FFF2-40B4-BE49-F238E27FC236}">
                  <a16:creationId xmlns:a16="http://schemas.microsoft.com/office/drawing/2014/main" id="{3E519725-5D98-5F0B-1F0D-EC5ABC498AF4}"/>
                </a:ext>
              </a:extLst>
            </p:cNvPr>
            <p:cNvSpPr>
              <a:spLocks noChangeArrowheads="1"/>
            </p:cNvSpPr>
            <p:nvPr/>
          </p:nvSpPr>
          <p:spPr bwMode="auto">
            <a:xfrm>
              <a:off x="3748" y="1996"/>
              <a:ext cx="221"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3838</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2" name="Rectangle 26">
              <a:extLst>
                <a:ext uri="{FF2B5EF4-FFF2-40B4-BE49-F238E27FC236}">
                  <a16:creationId xmlns:a16="http://schemas.microsoft.com/office/drawing/2014/main" id="{127BC995-1D66-FD52-ECB8-D15730D9002A}"/>
                </a:ext>
              </a:extLst>
            </p:cNvPr>
            <p:cNvSpPr>
              <a:spLocks noChangeArrowheads="1"/>
            </p:cNvSpPr>
            <p:nvPr/>
          </p:nvSpPr>
          <p:spPr bwMode="auto">
            <a:xfrm>
              <a:off x="4570" y="1996"/>
              <a:ext cx="221"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4328</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3" name="Rectangle 27">
              <a:extLst>
                <a:ext uri="{FF2B5EF4-FFF2-40B4-BE49-F238E27FC236}">
                  <a16:creationId xmlns:a16="http://schemas.microsoft.com/office/drawing/2014/main" id="{99AA5E10-D0A9-B3CB-EC4C-8B6268720DB5}"/>
                </a:ext>
              </a:extLst>
            </p:cNvPr>
            <p:cNvSpPr>
              <a:spLocks noChangeArrowheads="1"/>
            </p:cNvSpPr>
            <p:nvPr/>
          </p:nvSpPr>
          <p:spPr bwMode="auto">
            <a:xfrm>
              <a:off x="777" y="2112"/>
              <a:ext cx="231"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a:ln>
                    <a:noFill/>
                  </a:ln>
                  <a:solidFill>
                    <a:srgbClr val="000000"/>
                  </a:solidFill>
                  <a:effectLst/>
                  <a:latin typeface="Calibri" panose="020F0502020204030204" pitchFamily="34" charset="0"/>
                </a:rPr>
                <a:t>Total</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4" name="Rectangle 28">
              <a:extLst>
                <a:ext uri="{FF2B5EF4-FFF2-40B4-BE49-F238E27FC236}">
                  <a16:creationId xmlns:a16="http://schemas.microsoft.com/office/drawing/2014/main" id="{F36AE8CC-94D3-4522-C3B8-307049DACFD0}"/>
                </a:ext>
              </a:extLst>
            </p:cNvPr>
            <p:cNvSpPr>
              <a:spLocks noChangeArrowheads="1"/>
            </p:cNvSpPr>
            <p:nvPr/>
          </p:nvSpPr>
          <p:spPr bwMode="auto">
            <a:xfrm>
              <a:off x="2796" y="2112"/>
              <a:ext cx="226"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a:ln>
                    <a:noFill/>
                  </a:ln>
                  <a:solidFill>
                    <a:srgbClr val="000000"/>
                  </a:solidFill>
                  <a:effectLst/>
                  <a:latin typeface="Calibri" panose="020F0502020204030204" pitchFamily="34" charset="0"/>
                </a:rPr>
                <a:t>4065</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5" name="Rectangle 29">
              <a:extLst>
                <a:ext uri="{FF2B5EF4-FFF2-40B4-BE49-F238E27FC236}">
                  <a16:creationId xmlns:a16="http://schemas.microsoft.com/office/drawing/2014/main" id="{5357DFA9-EB9A-AE57-4B71-D3DFDC83E35E}"/>
                </a:ext>
              </a:extLst>
            </p:cNvPr>
            <p:cNvSpPr>
              <a:spLocks noChangeArrowheads="1"/>
            </p:cNvSpPr>
            <p:nvPr/>
          </p:nvSpPr>
          <p:spPr bwMode="auto">
            <a:xfrm>
              <a:off x="3748" y="2112"/>
              <a:ext cx="226"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dirty="0">
                  <a:ln>
                    <a:noFill/>
                  </a:ln>
                  <a:solidFill>
                    <a:srgbClr val="000000"/>
                  </a:solidFill>
                  <a:effectLst/>
                  <a:latin typeface="Calibri" panose="020F0502020204030204" pitchFamily="34" charset="0"/>
                </a:rPr>
                <a:t>4147</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6" name="Rectangle 30">
              <a:extLst>
                <a:ext uri="{FF2B5EF4-FFF2-40B4-BE49-F238E27FC236}">
                  <a16:creationId xmlns:a16="http://schemas.microsoft.com/office/drawing/2014/main" id="{EBBB7629-C974-C7C1-9222-2CD336AB98FB}"/>
                </a:ext>
              </a:extLst>
            </p:cNvPr>
            <p:cNvSpPr>
              <a:spLocks noChangeArrowheads="1"/>
            </p:cNvSpPr>
            <p:nvPr/>
          </p:nvSpPr>
          <p:spPr bwMode="auto">
            <a:xfrm>
              <a:off x="4570" y="2112"/>
              <a:ext cx="226"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a:ln>
                    <a:noFill/>
                  </a:ln>
                  <a:solidFill>
                    <a:srgbClr val="000000"/>
                  </a:solidFill>
                  <a:effectLst/>
                  <a:latin typeface="Calibri" panose="020F0502020204030204" pitchFamily="34" charset="0"/>
                </a:rPr>
                <a:t>8212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7" name="Rectangle 31">
              <a:extLst>
                <a:ext uri="{FF2B5EF4-FFF2-40B4-BE49-F238E27FC236}">
                  <a16:creationId xmlns:a16="http://schemas.microsoft.com/office/drawing/2014/main" id="{8160D868-7D9E-D3A4-69E3-4F72D9B6E977}"/>
                </a:ext>
              </a:extLst>
            </p:cNvPr>
            <p:cNvSpPr>
              <a:spLocks noChangeArrowheads="1"/>
            </p:cNvSpPr>
            <p:nvPr/>
          </p:nvSpPr>
          <p:spPr bwMode="auto">
            <a:xfrm>
              <a:off x="777" y="2348"/>
              <a:ext cx="615"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FFFFFF"/>
                  </a:solidFill>
                  <a:effectLst/>
                  <a:latin typeface="Calibri" panose="020F0502020204030204" pitchFamily="34" charset="0"/>
                </a:rPr>
                <a:t>Training Metrics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8" name="Rectangle 32">
              <a:extLst>
                <a:ext uri="{FF2B5EF4-FFF2-40B4-BE49-F238E27FC236}">
                  <a16:creationId xmlns:a16="http://schemas.microsoft.com/office/drawing/2014/main" id="{9BF44AEB-3661-79A4-170D-5070FA45D0BA}"/>
                </a:ext>
              </a:extLst>
            </p:cNvPr>
            <p:cNvSpPr>
              <a:spLocks noChangeArrowheads="1"/>
            </p:cNvSpPr>
            <p:nvPr/>
          </p:nvSpPr>
          <p:spPr bwMode="auto">
            <a:xfrm>
              <a:off x="777" y="2468"/>
              <a:ext cx="634"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a:ln>
                    <a:noFill/>
                  </a:ln>
                  <a:solidFill>
                    <a:srgbClr val="000000"/>
                  </a:solidFill>
                  <a:effectLst/>
                  <a:latin typeface="Calibri" panose="020F0502020204030204" pitchFamily="34" charset="0"/>
                </a:rPr>
                <a:t>Training Metrics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9" name="Rectangle 33">
              <a:extLst>
                <a:ext uri="{FF2B5EF4-FFF2-40B4-BE49-F238E27FC236}">
                  <a16:creationId xmlns:a16="http://schemas.microsoft.com/office/drawing/2014/main" id="{4BCE9675-732A-A940-DEDE-F1A6D38F76AD}"/>
                </a:ext>
              </a:extLst>
            </p:cNvPr>
            <p:cNvSpPr>
              <a:spLocks noChangeArrowheads="1"/>
            </p:cNvSpPr>
            <p:nvPr/>
          </p:nvSpPr>
          <p:spPr bwMode="auto">
            <a:xfrm>
              <a:off x="2777" y="2468"/>
              <a:ext cx="255"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a:ln>
                    <a:noFill/>
                  </a:ln>
                  <a:solidFill>
                    <a:srgbClr val="000000"/>
                  </a:solidFill>
                  <a:effectLst/>
                  <a:latin typeface="Calibri" panose="020F0502020204030204" pitchFamily="34" charset="0"/>
                </a:rPr>
                <a:t>Value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0" name="Rectangle 34">
              <a:extLst>
                <a:ext uri="{FF2B5EF4-FFF2-40B4-BE49-F238E27FC236}">
                  <a16:creationId xmlns:a16="http://schemas.microsoft.com/office/drawing/2014/main" id="{20D49CE5-560B-6758-769B-F32E1CB01F9C}"/>
                </a:ext>
              </a:extLst>
            </p:cNvPr>
            <p:cNvSpPr>
              <a:spLocks noChangeArrowheads="1"/>
            </p:cNvSpPr>
            <p:nvPr/>
          </p:nvSpPr>
          <p:spPr bwMode="auto">
            <a:xfrm>
              <a:off x="777" y="2588"/>
              <a:ext cx="572"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Accuracy (ACC)</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1" name="Rectangle 35">
              <a:extLst>
                <a:ext uri="{FF2B5EF4-FFF2-40B4-BE49-F238E27FC236}">
                  <a16:creationId xmlns:a16="http://schemas.microsoft.com/office/drawing/2014/main" id="{C367C036-A3B8-2F6C-B551-CF8528B2583B}"/>
                </a:ext>
              </a:extLst>
            </p:cNvPr>
            <p:cNvSpPr>
              <a:spLocks noChangeArrowheads="1"/>
            </p:cNvSpPr>
            <p:nvPr/>
          </p:nvSpPr>
          <p:spPr bwMode="auto">
            <a:xfrm>
              <a:off x="2599" y="2588"/>
              <a:ext cx="615"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0.9027 (90.27%)</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2" name="Rectangle 36">
              <a:extLst>
                <a:ext uri="{FF2B5EF4-FFF2-40B4-BE49-F238E27FC236}">
                  <a16:creationId xmlns:a16="http://schemas.microsoft.com/office/drawing/2014/main" id="{621B2765-2165-A1E6-8806-A34F23761E90}"/>
                </a:ext>
              </a:extLst>
            </p:cNvPr>
            <p:cNvSpPr>
              <a:spLocks noChangeArrowheads="1"/>
            </p:cNvSpPr>
            <p:nvPr/>
          </p:nvSpPr>
          <p:spPr bwMode="auto">
            <a:xfrm>
              <a:off x="777" y="2704"/>
              <a:ext cx="846"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Calibri" panose="020F0502020204030204" pitchFamily="34" charset="0"/>
                </a:rPr>
                <a:t>Sensitivity (TPR/Recall)</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3" name="Rectangle 37">
              <a:extLst>
                <a:ext uri="{FF2B5EF4-FFF2-40B4-BE49-F238E27FC236}">
                  <a16:creationId xmlns:a16="http://schemas.microsoft.com/office/drawing/2014/main" id="{730F3086-2E6E-FBDA-C4B7-1A388A921591}"/>
                </a:ext>
              </a:extLst>
            </p:cNvPr>
            <p:cNvSpPr>
              <a:spLocks noChangeArrowheads="1"/>
            </p:cNvSpPr>
            <p:nvPr/>
          </p:nvSpPr>
          <p:spPr bwMode="auto">
            <a:xfrm>
              <a:off x="2599" y="2704"/>
              <a:ext cx="615"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0.8868 (88.68%)</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4" name="Rectangle 38">
              <a:extLst>
                <a:ext uri="{FF2B5EF4-FFF2-40B4-BE49-F238E27FC236}">
                  <a16:creationId xmlns:a16="http://schemas.microsoft.com/office/drawing/2014/main" id="{6F5390B9-A1ED-53A1-0999-672EFE892D70}"/>
                </a:ext>
              </a:extLst>
            </p:cNvPr>
            <p:cNvSpPr>
              <a:spLocks noChangeArrowheads="1"/>
            </p:cNvSpPr>
            <p:nvPr/>
          </p:nvSpPr>
          <p:spPr bwMode="auto">
            <a:xfrm>
              <a:off x="777" y="2819"/>
              <a:ext cx="572"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Precision (PPV)</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5" name="Rectangle 39">
              <a:extLst>
                <a:ext uri="{FF2B5EF4-FFF2-40B4-BE49-F238E27FC236}">
                  <a16:creationId xmlns:a16="http://schemas.microsoft.com/office/drawing/2014/main" id="{18E3D4DF-BD1F-DCA4-66BC-3B10C3BC508A}"/>
                </a:ext>
              </a:extLst>
            </p:cNvPr>
            <p:cNvSpPr>
              <a:spLocks noChangeArrowheads="1"/>
            </p:cNvSpPr>
            <p:nvPr/>
          </p:nvSpPr>
          <p:spPr bwMode="auto">
            <a:xfrm>
              <a:off x="2599" y="2819"/>
              <a:ext cx="615"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0.9255 (92.55%)</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6" name="Rectangle 40">
              <a:extLst>
                <a:ext uri="{FF2B5EF4-FFF2-40B4-BE49-F238E27FC236}">
                  <a16:creationId xmlns:a16="http://schemas.microsoft.com/office/drawing/2014/main" id="{52EB7A1F-0A08-0654-AD0A-E59F24701026}"/>
                </a:ext>
              </a:extLst>
            </p:cNvPr>
            <p:cNvSpPr>
              <a:spLocks noChangeArrowheads="1"/>
            </p:cNvSpPr>
            <p:nvPr/>
          </p:nvSpPr>
          <p:spPr bwMode="auto">
            <a:xfrm>
              <a:off x="777" y="2934"/>
              <a:ext cx="601"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Specificity (SPC)</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7" name="Rectangle 41">
              <a:extLst>
                <a:ext uri="{FF2B5EF4-FFF2-40B4-BE49-F238E27FC236}">
                  <a16:creationId xmlns:a16="http://schemas.microsoft.com/office/drawing/2014/main" id="{053EDC4A-28DA-F8C0-E36D-80A9686CBA3B}"/>
                </a:ext>
              </a:extLst>
            </p:cNvPr>
            <p:cNvSpPr>
              <a:spLocks noChangeArrowheads="1"/>
            </p:cNvSpPr>
            <p:nvPr/>
          </p:nvSpPr>
          <p:spPr bwMode="auto">
            <a:xfrm>
              <a:off x="2599" y="2934"/>
              <a:ext cx="615"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0.9204 (92.04%)</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8" name="Rectangle 42">
              <a:extLst>
                <a:ext uri="{FF2B5EF4-FFF2-40B4-BE49-F238E27FC236}">
                  <a16:creationId xmlns:a16="http://schemas.microsoft.com/office/drawing/2014/main" id="{7FC5553C-22A3-FF1E-C0EE-1E34DAB1ABAE}"/>
                </a:ext>
              </a:extLst>
            </p:cNvPr>
            <p:cNvSpPr>
              <a:spLocks noChangeArrowheads="1"/>
            </p:cNvSpPr>
            <p:nvPr/>
          </p:nvSpPr>
          <p:spPr bwMode="auto">
            <a:xfrm>
              <a:off x="777" y="3050"/>
              <a:ext cx="341"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F1 Score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9" name="Rectangle 43">
              <a:extLst>
                <a:ext uri="{FF2B5EF4-FFF2-40B4-BE49-F238E27FC236}">
                  <a16:creationId xmlns:a16="http://schemas.microsoft.com/office/drawing/2014/main" id="{60E61E93-A48D-30FA-4FA6-065C88E429FD}"/>
                </a:ext>
              </a:extLst>
            </p:cNvPr>
            <p:cNvSpPr>
              <a:spLocks noChangeArrowheads="1"/>
            </p:cNvSpPr>
            <p:nvPr/>
          </p:nvSpPr>
          <p:spPr bwMode="auto">
            <a:xfrm>
              <a:off x="2599" y="3050"/>
              <a:ext cx="615"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0.9057 (90.57%)</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0" name="Rectangle 44">
              <a:extLst>
                <a:ext uri="{FF2B5EF4-FFF2-40B4-BE49-F238E27FC236}">
                  <a16:creationId xmlns:a16="http://schemas.microsoft.com/office/drawing/2014/main" id="{40B6D84C-368C-CE7B-A59A-A4EFCE2A676A}"/>
                </a:ext>
              </a:extLst>
            </p:cNvPr>
            <p:cNvSpPr>
              <a:spLocks noChangeArrowheads="1"/>
            </p:cNvSpPr>
            <p:nvPr/>
          </p:nvSpPr>
          <p:spPr bwMode="auto">
            <a:xfrm>
              <a:off x="777" y="3165"/>
              <a:ext cx="639"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Matthews (MCC)</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1" name="Rectangle 45">
              <a:extLst>
                <a:ext uri="{FF2B5EF4-FFF2-40B4-BE49-F238E27FC236}">
                  <a16:creationId xmlns:a16="http://schemas.microsoft.com/office/drawing/2014/main" id="{0313BA41-6398-7F1B-13CA-3167C641E039}"/>
                </a:ext>
              </a:extLst>
            </p:cNvPr>
            <p:cNvSpPr>
              <a:spLocks noChangeArrowheads="1"/>
            </p:cNvSpPr>
            <p:nvPr/>
          </p:nvSpPr>
          <p:spPr bwMode="auto">
            <a:xfrm>
              <a:off x="2599" y="3165"/>
              <a:ext cx="615"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0.8061 (80.61%)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2" name="Rectangle 46">
              <a:extLst>
                <a:ext uri="{FF2B5EF4-FFF2-40B4-BE49-F238E27FC236}">
                  <a16:creationId xmlns:a16="http://schemas.microsoft.com/office/drawing/2014/main" id="{E1D2339F-797D-2660-55A8-95FD870C2DA6}"/>
                </a:ext>
              </a:extLst>
            </p:cNvPr>
            <p:cNvSpPr>
              <a:spLocks noChangeArrowheads="1"/>
            </p:cNvSpPr>
            <p:nvPr/>
          </p:nvSpPr>
          <p:spPr bwMode="auto">
            <a:xfrm>
              <a:off x="1647" y="1087"/>
              <a:ext cx="2533"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a:ln>
                    <a:noFill/>
                  </a:ln>
                  <a:solidFill>
                    <a:srgbClr val="FFFFFF"/>
                  </a:solidFill>
                  <a:effectLst/>
                  <a:latin typeface="Calibri" panose="020F0502020204030204" pitchFamily="34" charset="0"/>
                </a:rPr>
                <a:t>Confusion Matrix Binary Logistic Regression  |Training</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3" name="Rectangle 47">
              <a:extLst>
                <a:ext uri="{FF2B5EF4-FFF2-40B4-BE49-F238E27FC236}">
                  <a16:creationId xmlns:a16="http://schemas.microsoft.com/office/drawing/2014/main" id="{38DF6F1B-1353-168C-C876-C14CAD050252}"/>
                </a:ext>
              </a:extLst>
            </p:cNvPr>
            <p:cNvSpPr>
              <a:spLocks noChangeArrowheads="1"/>
            </p:cNvSpPr>
            <p:nvPr/>
          </p:nvSpPr>
          <p:spPr bwMode="auto">
            <a:xfrm>
              <a:off x="777" y="1414"/>
              <a:ext cx="1611"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dirty="0">
                  <a:ln>
                    <a:noFill/>
                  </a:ln>
                  <a:solidFill>
                    <a:srgbClr val="FFFFFF"/>
                  </a:solidFill>
                  <a:effectLst/>
                  <a:latin typeface="Calibri" panose="020F0502020204030204" pitchFamily="34" charset="0"/>
                </a:rPr>
                <a:t>Confusion Matrix Binary Logistic Regression</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4" name="Rectangle 48">
              <a:extLst>
                <a:ext uri="{FF2B5EF4-FFF2-40B4-BE49-F238E27FC236}">
                  <a16:creationId xmlns:a16="http://schemas.microsoft.com/office/drawing/2014/main" id="{B9316CD8-2B03-4713-58A4-5FAD29071234}"/>
                </a:ext>
              </a:extLst>
            </p:cNvPr>
            <p:cNvSpPr>
              <a:spLocks noChangeArrowheads="1"/>
            </p:cNvSpPr>
            <p:nvPr/>
          </p:nvSpPr>
          <p:spPr bwMode="auto">
            <a:xfrm>
              <a:off x="3531" y="1583"/>
              <a:ext cx="394"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a:ln>
                    <a:noFill/>
                  </a:ln>
                  <a:solidFill>
                    <a:srgbClr val="000000"/>
                  </a:solidFill>
                  <a:effectLst/>
                  <a:latin typeface="Calibri" panose="020F0502020204030204" pitchFamily="34" charset="0"/>
                </a:rPr>
                <a:t>Predicted</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5" name="Rectangle 49">
              <a:extLst>
                <a:ext uri="{FF2B5EF4-FFF2-40B4-BE49-F238E27FC236}">
                  <a16:creationId xmlns:a16="http://schemas.microsoft.com/office/drawing/2014/main" id="{CBEDE97F-8266-A1B7-5BF6-D5BF2EE94791}"/>
                </a:ext>
              </a:extLst>
            </p:cNvPr>
            <p:cNvSpPr>
              <a:spLocks noChangeArrowheads="1"/>
            </p:cNvSpPr>
            <p:nvPr/>
          </p:nvSpPr>
          <p:spPr bwMode="auto">
            <a:xfrm>
              <a:off x="753" y="1039"/>
              <a:ext cx="10" cy="231"/>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Rectangle 50">
              <a:extLst>
                <a:ext uri="{FF2B5EF4-FFF2-40B4-BE49-F238E27FC236}">
                  <a16:creationId xmlns:a16="http://schemas.microsoft.com/office/drawing/2014/main" id="{722334F3-75A9-B0F5-6F8E-C71C414A8D3E}"/>
                </a:ext>
              </a:extLst>
            </p:cNvPr>
            <p:cNvSpPr>
              <a:spLocks noChangeArrowheads="1"/>
            </p:cNvSpPr>
            <p:nvPr/>
          </p:nvSpPr>
          <p:spPr bwMode="auto">
            <a:xfrm>
              <a:off x="4993" y="1049"/>
              <a:ext cx="9" cy="221"/>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Rectangle 51">
              <a:extLst>
                <a:ext uri="{FF2B5EF4-FFF2-40B4-BE49-F238E27FC236}">
                  <a16:creationId xmlns:a16="http://schemas.microsoft.com/office/drawing/2014/main" id="{420330EA-11A3-EB67-A9E3-A49BC8322065}"/>
                </a:ext>
              </a:extLst>
            </p:cNvPr>
            <p:cNvSpPr>
              <a:spLocks noChangeArrowheads="1"/>
            </p:cNvSpPr>
            <p:nvPr/>
          </p:nvSpPr>
          <p:spPr bwMode="auto">
            <a:xfrm>
              <a:off x="753" y="1376"/>
              <a:ext cx="10" cy="851"/>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 name="Rectangle 52">
              <a:extLst>
                <a:ext uri="{FF2B5EF4-FFF2-40B4-BE49-F238E27FC236}">
                  <a16:creationId xmlns:a16="http://schemas.microsoft.com/office/drawing/2014/main" id="{145ADCFE-ED92-6D03-A2F1-DDB2794F0E6C}"/>
                </a:ext>
              </a:extLst>
            </p:cNvPr>
            <p:cNvSpPr>
              <a:spLocks noChangeArrowheads="1"/>
            </p:cNvSpPr>
            <p:nvPr/>
          </p:nvSpPr>
          <p:spPr bwMode="auto">
            <a:xfrm>
              <a:off x="2397" y="1559"/>
              <a:ext cx="10" cy="668"/>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Rectangle 53">
              <a:extLst>
                <a:ext uri="{FF2B5EF4-FFF2-40B4-BE49-F238E27FC236}">
                  <a16:creationId xmlns:a16="http://schemas.microsoft.com/office/drawing/2014/main" id="{0E34F32F-584B-CA31-2917-56A6D09D722B}"/>
                </a:ext>
              </a:extLst>
            </p:cNvPr>
            <p:cNvSpPr>
              <a:spLocks noChangeArrowheads="1"/>
            </p:cNvSpPr>
            <p:nvPr/>
          </p:nvSpPr>
          <p:spPr bwMode="auto">
            <a:xfrm>
              <a:off x="3349" y="1717"/>
              <a:ext cx="9" cy="510"/>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Rectangle 54">
              <a:extLst>
                <a:ext uri="{FF2B5EF4-FFF2-40B4-BE49-F238E27FC236}">
                  <a16:creationId xmlns:a16="http://schemas.microsoft.com/office/drawing/2014/main" id="{1577E640-9253-0161-0562-33AD254D340E}"/>
                </a:ext>
              </a:extLst>
            </p:cNvPr>
            <p:cNvSpPr>
              <a:spLocks noChangeArrowheads="1"/>
            </p:cNvSpPr>
            <p:nvPr/>
          </p:nvSpPr>
          <p:spPr bwMode="auto">
            <a:xfrm>
              <a:off x="753" y="2453"/>
              <a:ext cx="10" cy="823"/>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Rectangle 55">
              <a:extLst>
                <a:ext uri="{FF2B5EF4-FFF2-40B4-BE49-F238E27FC236}">
                  <a16:creationId xmlns:a16="http://schemas.microsoft.com/office/drawing/2014/main" id="{3840563B-BB77-83AF-7441-DB150B1A2414}"/>
                </a:ext>
              </a:extLst>
            </p:cNvPr>
            <p:cNvSpPr>
              <a:spLocks noChangeArrowheads="1"/>
            </p:cNvSpPr>
            <p:nvPr/>
          </p:nvSpPr>
          <p:spPr bwMode="auto">
            <a:xfrm>
              <a:off x="4993" y="1386"/>
              <a:ext cx="9" cy="841"/>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 name="Rectangle 56">
              <a:extLst>
                <a:ext uri="{FF2B5EF4-FFF2-40B4-BE49-F238E27FC236}">
                  <a16:creationId xmlns:a16="http://schemas.microsoft.com/office/drawing/2014/main" id="{3505B02B-2CB4-065F-900E-47F57E80AE8E}"/>
                </a:ext>
              </a:extLst>
            </p:cNvPr>
            <p:cNvSpPr>
              <a:spLocks noChangeArrowheads="1"/>
            </p:cNvSpPr>
            <p:nvPr/>
          </p:nvSpPr>
          <p:spPr bwMode="auto">
            <a:xfrm>
              <a:off x="2397" y="2463"/>
              <a:ext cx="10" cy="813"/>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3" name="Rectangle 57">
              <a:extLst>
                <a:ext uri="{FF2B5EF4-FFF2-40B4-BE49-F238E27FC236}">
                  <a16:creationId xmlns:a16="http://schemas.microsoft.com/office/drawing/2014/main" id="{20D8CC02-DA9C-467A-B53F-C42DADCC0BBA}"/>
                </a:ext>
              </a:extLst>
            </p:cNvPr>
            <p:cNvSpPr>
              <a:spLocks noChangeArrowheads="1"/>
            </p:cNvSpPr>
            <p:nvPr/>
          </p:nvSpPr>
          <p:spPr bwMode="auto">
            <a:xfrm>
              <a:off x="3349" y="2463"/>
              <a:ext cx="9" cy="813"/>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Rectangle 58">
              <a:extLst>
                <a:ext uri="{FF2B5EF4-FFF2-40B4-BE49-F238E27FC236}">
                  <a16:creationId xmlns:a16="http://schemas.microsoft.com/office/drawing/2014/main" id="{3A4004D9-A7A5-FDC0-1DB8-7D45962C1B19}"/>
                </a:ext>
              </a:extLst>
            </p:cNvPr>
            <p:cNvSpPr>
              <a:spLocks noChangeArrowheads="1"/>
            </p:cNvSpPr>
            <p:nvPr/>
          </p:nvSpPr>
          <p:spPr bwMode="auto">
            <a:xfrm>
              <a:off x="4300" y="1717"/>
              <a:ext cx="10" cy="510"/>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5" name="Rectangle 59">
              <a:extLst>
                <a:ext uri="{FF2B5EF4-FFF2-40B4-BE49-F238E27FC236}">
                  <a16:creationId xmlns:a16="http://schemas.microsoft.com/office/drawing/2014/main" id="{0AC54D43-3891-C835-34F8-5E48AD7BD5CE}"/>
                </a:ext>
              </a:extLst>
            </p:cNvPr>
            <p:cNvSpPr>
              <a:spLocks noChangeArrowheads="1"/>
            </p:cNvSpPr>
            <p:nvPr/>
          </p:nvSpPr>
          <p:spPr bwMode="auto">
            <a:xfrm>
              <a:off x="763" y="1039"/>
              <a:ext cx="4239" cy="10"/>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 name="Rectangle 60">
              <a:extLst>
                <a:ext uri="{FF2B5EF4-FFF2-40B4-BE49-F238E27FC236}">
                  <a16:creationId xmlns:a16="http://schemas.microsoft.com/office/drawing/2014/main" id="{430C669A-383E-9107-9DBB-53559ABE1343}"/>
                </a:ext>
              </a:extLst>
            </p:cNvPr>
            <p:cNvSpPr>
              <a:spLocks noChangeArrowheads="1"/>
            </p:cNvSpPr>
            <p:nvPr/>
          </p:nvSpPr>
          <p:spPr bwMode="auto">
            <a:xfrm>
              <a:off x="763" y="1260"/>
              <a:ext cx="4239" cy="10"/>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 name="Rectangle 61">
              <a:extLst>
                <a:ext uri="{FF2B5EF4-FFF2-40B4-BE49-F238E27FC236}">
                  <a16:creationId xmlns:a16="http://schemas.microsoft.com/office/drawing/2014/main" id="{DD8CA24B-22EF-0D57-5B49-79B11B807D8B}"/>
                </a:ext>
              </a:extLst>
            </p:cNvPr>
            <p:cNvSpPr>
              <a:spLocks noChangeArrowheads="1"/>
            </p:cNvSpPr>
            <p:nvPr/>
          </p:nvSpPr>
          <p:spPr bwMode="auto">
            <a:xfrm>
              <a:off x="763" y="1376"/>
              <a:ext cx="4239" cy="10"/>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8" name="Rectangle 62">
              <a:extLst>
                <a:ext uri="{FF2B5EF4-FFF2-40B4-BE49-F238E27FC236}">
                  <a16:creationId xmlns:a16="http://schemas.microsoft.com/office/drawing/2014/main" id="{C806664C-78FD-BA92-01CB-170276EA19A9}"/>
                </a:ext>
              </a:extLst>
            </p:cNvPr>
            <p:cNvSpPr>
              <a:spLocks noChangeArrowheads="1"/>
            </p:cNvSpPr>
            <p:nvPr/>
          </p:nvSpPr>
          <p:spPr bwMode="auto">
            <a:xfrm>
              <a:off x="763" y="1549"/>
              <a:ext cx="4239" cy="10"/>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9" name="Rectangle 63">
              <a:extLst>
                <a:ext uri="{FF2B5EF4-FFF2-40B4-BE49-F238E27FC236}">
                  <a16:creationId xmlns:a16="http://schemas.microsoft.com/office/drawing/2014/main" id="{193C1A53-BE1D-7518-8DA1-92EB51572A61}"/>
                </a:ext>
              </a:extLst>
            </p:cNvPr>
            <p:cNvSpPr>
              <a:spLocks noChangeArrowheads="1"/>
            </p:cNvSpPr>
            <p:nvPr/>
          </p:nvSpPr>
          <p:spPr bwMode="auto">
            <a:xfrm>
              <a:off x="763" y="1708"/>
              <a:ext cx="4239" cy="9"/>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0" name="Rectangle 64">
              <a:extLst>
                <a:ext uri="{FF2B5EF4-FFF2-40B4-BE49-F238E27FC236}">
                  <a16:creationId xmlns:a16="http://schemas.microsoft.com/office/drawing/2014/main" id="{3A58AAAB-FDB7-7C5C-3E6E-272DA81C667A}"/>
                </a:ext>
              </a:extLst>
            </p:cNvPr>
            <p:cNvSpPr>
              <a:spLocks noChangeArrowheads="1"/>
            </p:cNvSpPr>
            <p:nvPr/>
          </p:nvSpPr>
          <p:spPr bwMode="auto">
            <a:xfrm>
              <a:off x="763" y="1867"/>
              <a:ext cx="4239" cy="9"/>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1" name="Rectangle 65">
              <a:extLst>
                <a:ext uri="{FF2B5EF4-FFF2-40B4-BE49-F238E27FC236}">
                  <a16:creationId xmlns:a16="http://schemas.microsoft.com/office/drawing/2014/main" id="{3533D197-6830-991E-33AB-E76AA88B7A5C}"/>
                </a:ext>
              </a:extLst>
            </p:cNvPr>
            <p:cNvSpPr>
              <a:spLocks noChangeArrowheads="1"/>
            </p:cNvSpPr>
            <p:nvPr/>
          </p:nvSpPr>
          <p:spPr bwMode="auto">
            <a:xfrm>
              <a:off x="763" y="1982"/>
              <a:ext cx="4239" cy="10"/>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2" name="Rectangle 66">
              <a:extLst>
                <a:ext uri="{FF2B5EF4-FFF2-40B4-BE49-F238E27FC236}">
                  <a16:creationId xmlns:a16="http://schemas.microsoft.com/office/drawing/2014/main" id="{EC0490DE-0ACC-5D40-CB2B-B253B776B63B}"/>
                </a:ext>
              </a:extLst>
            </p:cNvPr>
            <p:cNvSpPr>
              <a:spLocks noChangeArrowheads="1"/>
            </p:cNvSpPr>
            <p:nvPr/>
          </p:nvSpPr>
          <p:spPr bwMode="auto">
            <a:xfrm>
              <a:off x="763" y="2097"/>
              <a:ext cx="4239" cy="10"/>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3" name="Rectangle 67">
              <a:extLst>
                <a:ext uri="{FF2B5EF4-FFF2-40B4-BE49-F238E27FC236}">
                  <a16:creationId xmlns:a16="http://schemas.microsoft.com/office/drawing/2014/main" id="{F9B77C85-5F62-7637-494C-B40BC840F9E9}"/>
                </a:ext>
              </a:extLst>
            </p:cNvPr>
            <p:cNvSpPr>
              <a:spLocks noChangeArrowheads="1"/>
            </p:cNvSpPr>
            <p:nvPr/>
          </p:nvSpPr>
          <p:spPr bwMode="auto">
            <a:xfrm>
              <a:off x="763" y="2218"/>
              <a:ext cx="4239" cy="9"/>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4" name="Rectangle 68">
              <a:extLst>
                <a:ext uri="{FF2B5EF4-FFF2-40B4-BE49-F238E27FC236}">
                  <a16:creationId xmlns:a16="http://schemas.microsoft.com/office/drawing/2014/main" id="{0A4A834D-FB08-0190-863C-589F1DF52C31}"/>
                </a:ext>
              </a:extLst>
            </p:cNvPr>
            <p:cNvSpPr>
              <a:spLocks noChangeArrowheads="1"/>
            </p:cNvSpPr>
            <p:nvPr/>
          </p:nvSpPr>
          <p:spPr bwMode="auto">
            <a:xfrm>
              <a:off x="763" y="2453"/>
              <a:ext cx="2595" cy="10"/>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5" name="Rectangle 69">
              <a:extLst>
                <a:ext uri="{FF2B5EF4-FFF2-40B4-BE49-F238E27FC236}">
                  <a16:creationId xmlns:a16="http://schemas.microsoft.com/office/drawing/2014/main" id="{7CD55437-DE5F-8D44-7B53-2246E885218A}"/>
                </a:ext>
              </a:extLst>
            </p:cNvPr>
            <p:cNvSpPr>
              <a:spLocks noChangeArrowheads="1"/>
            </p:cNvSpPr>
            <p:nvPr/>
          </p:nvSpPr>
          <p:spPr bwMode="auto">
            <a:xfrm>
              <a:off x="763" y="2574"/>
              <a:ext cx="2595" cy="9"/>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6" name="Rectangle 70">
              <a:extLst>
                <a:ext uri="{FF2B5EF4-FFF2-40B4-BE49-F238E27FC236}">
                  <a16:creationId xmlns:a16="http://schemas.microsoft.com/office/drawing/2014/main" id="{8F74016D-ADED-69EC-AB4F-8749464A3C37}"/>
                </a:ext>
              </a:extLst>
            </p:cNvPr>
            <p:cNvSpPr>
              <a:spLocks noChangeArrowheads="1"/>
            </p:cNvSpPr>
            <p:nvPr/>
          </p:nvSpPr>
          <p:spPr bwMode="auto">
            <a:xfrm>
              <a:off x="763" y="2689"/>
              <a:ext cx="2595" cy="10"/>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7" name="Rectangle 71">
              <a:extLst>
                <a:ext uri="{FF2B5EF4-FFF2-40B4-BE49-F238E27FC236}">
                  <a16:creationId xmlns:a16="http://schemas.microsoft.com/office/drawing/2014/main" id="{72CE1785-3ACF-21E3-57AA-38E0BE24EFFA}"/>
                </a:ext>
              </a:extLst>
            </p:cNvPr>
            <p:cNvSpPr>
              <a:spLocks noChangeArrowheads="1"/>
            </p:cNvSpPr>
            <p:nvPr/>
          </p:nvSpPr>
          <p:spPr bwMode="auto">
            <a:xfrm>
              <a:off x="763" y="2805"/>
              <a:ext cx="2595" cy="9"/>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8" name="Rectangle 72">
              <a:extLst>
                <a:ext uri="{FF2B5EF4-FFF2-40B4-BE49-F238E27FC236}">
                  <a16:creationId xmlns:a16="http://schemas.microsoft.com/office/drawing/2014/main" id="{66F512DD-D63B-D693-04F0-A9BBFE8561C7}"/>
                </a:ext>
              </a:extLst>
            </p:cNvPr>
            <p:cNvSpPr>
              <a:spLocks noChangeArrowheads="1"/>
            </p:cNvSpPr>
            <p:nvPr/>
          </p:nvSpPr>
          <p:spPr bwMode="auto">
            <a:xfrm>
              <a:off x="763" y="2920"/>
              <a:ext cx="2595" cy="10"/>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9" name="Rectangle 73">
              <a:extLst>
                <a:ext uri="{FF2B5EF4-FFF2-40B4-BE49-F238E27FC236}">
                  <a16:creationId xmlns:a16="http://schemas.microsoft.com/office/drawing/2014/main" id="{E5B4361C-EA75-FF1D-03D1-3B8FC1FBAB9F}"/>
                </a:ext>
              </a:extLst>
            </p:cNvPr>
            <p:cNvSpPr>
              <a:spLocks noChangeArrowheads="1"/>
            </p:cNvSpPr>
            <p:nvPr/>
          </p:nvSpPr>
          <p:spPr bwMode="auto">
            <a:xfrm>
              <a:off x="763" y="3035"/>
              <a:ext cx="2595" cy="10"/>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0" name="Rectangle 74">
              <a:extLst>
                <a:ext uri="{FF2B5EF4-FFF2-40B4-BE49-F238E27FC236}">
                  <a16:creationId xmlns:a16="http://schemas.microsoft.com/office/drawing/2014/main" id="{E77D6B90-B7C6-FB78-A5E7-DCAF5D7C4294}"/>
                </a:ext>
              </a:extLst>
            </p:cNvPr>
            <p:cNvSpPr>
              <a:spLocks noChangeArrowheads="1"/>
            </p:cNvSpPr>
            <p:nvPr/>
          </p:nvSpPr>
          <p:spPr bwMode="auto">
            <a:xfrm>
              <a:off x="763" y="3151"/>
              <a:ext cx="2595" cy="10"/>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1" name="Rectangle 75">
              <a:extLst>
                <a:ext uri="{FF2B5EF4-FFF2-40B4-BE49-F238E27FC236}">
                  <a16:creationId xmlns:a16="http://schemas.microsoft.com/office/drawing/2014/main" id="{D9825C50-02A5-2A0C-6145-C4B79292E5EA}"/>
                </a:ext>
              </a:extLst>
            </p:cNvPr>
            <p:cNvSpPr>
              <a:spLocks noChangeArrowheads="1"/>
            </p:cNvSpPr>
            <p:nvPr/>
          </p:nvSpPr>
          <p:spPr bwMode="auto">
            <a:xfrm>
              <a:off x="763" y="3266"/>
              <a:ext cx="2595" cy="10"/>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56703459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E7A970-EAC5-F935-79C3-1D076432CDAD}"/>
            </a:ext>
          </a:extLst>
        </p:cNvPr>
        <p:cNvGrpSpPr/>
        <p:nvPr/>
      </p:nvGrpSpPr>
      <p:grpSpPr>
        <a:xfrm>
          <a:off x="0" y="0"/>
          <a:ext cx="0" cy="0"/>
          <a:chOff x="0" y="0"/>
          <a:chExt cx="0" cy="0"/>
        </a:xfrm>
      </p:grpSpPr>
      <p:sp>
        <p:nvSpPr>
          <p:cNvPr id="5" name="object 2">
            <a:extLst>
              <a:ext uri="{FF2B5EF4-FFF2-40B4-BE49-F238E27FC236}">
                <a16:creationId xmlns:a16="http://schemas.microsoft.com/office/drawing/2014/main" id="{4D2F67FA-C349-44E6-A689-E77BB0F2230D}"/>
              </a:ext>
            </a:extLst>
          </p:cNvPr>
          <p:cNvSpPr txBox="1">
            <a:spLocks/>
          </p:cNvSpPr>
          <p:nvPr/>
        </p:nvSpPr>
        <p:spPr>
          <a:xfrm>
            <a:off x="228600" y="128016"/>
            <a:ext cx="8686800" cy="984885"/>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pPr>
              <a:lnSpc>
                <a:spcPct val="100000"/>
              </a:lnSpc>
              <a:spcBef>
                <a:spcPts val="0"/>
              </a:spcBef>
            </a:pPr>
            <a:r>
              <a:rPr lang="en-US" dirty="0"/>
              <a:t>Models: Binary Logistic Regression | </a:t>
            </a:r>
          </a:p>
          <a:p>
            <a:pPr>
              <a:lnSpc>
                <a:spcPct val="100000"/>
              </a:lnSpc>
              <a:spcBef>
                <a:spcPts val="0"/>
              </a:spcBef>
            </a:pPr>
            <a:r>
              <a:rPr lang="en-US" dirty="0"/>
              <a:t>Confusion Matrix | Validation</a:t>
            </a:r>
            <a:endParaRPr lang="en-US" spc="-20" dirty="0">
              <a:solidFill>
                <a:srgbClr val="2D3B45"/>
              </a:solidFill>
            </a:endParaRPr>
          </a:p>
        </p:txBody>
      </p:sp>
      <p:sp>
        <p:nvSpPr>
          <p:cNvPr id="2" name="Slide Number Placeholder 4">
            <a:extLst>
              <a:ext uri="{FF2B5EF4-FFF2-40B4-BE49-F238E27FC236}">
                <a16:creationId xmlns:a16="http://schemas.microsoft.com/office/drawing/2014/main" id="{8F89168E-A477-77FB-2B2C-40E93BB381C4}"/>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44</a:t>
            </a:fld>
            <a:endParaRPr lang="en-US" dirty="0">
              <a:solidFill>
                <a:srgbClr val="000000"/>
              </a:solidFill>
            </a:endParaRPr>
          </a:p>
        </p:txBody>
      </p:sp>
      <p:grpSp>
        <p:nvGrpSpPr>
          <p:cNvPr id="11" name="Group 4">
            <a:extLst>
              <a:ext uri="{FF2B5EF4-FFF2-40B4-BE49-F238E27FC236}">
                <a16:creationId xmlns:a16="http://schemas.microsoft.com/office/drawing/2014/main" id="{AA22D15E-75D5-2BF3-96CB-9E38BF4E4D9E}"/>
              </a:ext>
            </a:extLst>
          </p:cNvPr>
          <p:cNvGrpSpPr>
            <a:grpSpLocks noChangeAspect="1"/>
          </p:cNvGrpSpPr>
          <p:nvPr/>
        </p:nvGrpSpPr>
        <p:grpSpPr bwMode="auto">
          <a:xfrm>
            <a:off x="1195388" y="1649413"/>
            <a:ext cx="6745288" cy="3581400"/>
            <a:chOff x="753" y="1039"/>
            <a:chExt cx="4249" cy="2256"/>
          </a:xfrm>
        </p:grpSpPr>
        <p:sp>
          <p:nvSpPr>
            <p:cNvPr id="12" name="AutoShape 3">
              <a:extLst>
                <a:ext uri="{FF2B5EF4-FFF2-40B4-BE49-F238E27FC236}">
                  <a16:creationId xmlns:a16="http://schemas.microsoft.com/office/drawing/2014/main" id="{66E0524D-15B8-9E6A-57D0-C41770805289}"/>
                </a:ext>
              </a:extLst>
            </p:cNvPr>
            <p:cNvSpPr>
              <a:spLocks noChangeAspect="1" noChangeArrowheads="1" noTextEdit="1"/>
            </p:cNvSpPr>
            <p:nvPr/>
          </p:nvSpPr>
          <p:spPr bwMode="auto">
            <a:xfrm>
              <a:off x="758" y="1044"/>
              <a:ext cx="4244" cy="2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Rectangle 5">
              <a:extLst>
                <a:ext uri="{FF2B5EF4-FFF2-40B4-BE49-F238E27FC236}">
                  <a16:creationId xmlns:a16="http://schemas.microsoft.com/office/drawing/2014/main" id="{CE0261EF-00DA-1C3D-7863-BE107978EAC6}"/>
                </a:ext>
              </a:extLst>
            </p:cNvPr>
            <p:cNvSpPr>
              <a:spLocks noChangeArrowheads="1"/>
            </p:cNvSpPr>
            <p:nvPr/>
          </p:nvSpPr>
          <p:spPr bwMode="auto">
            <a:xfrm>
              <a:off x="758" y="1044"/>
              <a:ext cx="4244" cy="226"/>
            </a:xfrm>
            <a:prstGeom prst="rect">
              <a:avLst/>
            </a:prstGeom>
            <a:solidFill>
              <a:srgbClr val="538DD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Rectangle 6">
              <a:extLst>
                <a:ext uri="{FF2B5EF4-FFF2-40B4-BE49-F238E27FC236}">
                  <a16:creationId xmlns:a16="http://schemas.microsoft.com/office/drawing/2014/main" id="{DC06733B-3E41-C64E-62F4-CCCEFD9ABAF5}"/>
                </a:ext>
              </a:extLst>
            </p:cNvPr>
            <p:cNvSpPr>
              <a:spLocks noChangeArrowheads="1"/>
            </p:cNvSpPr>
            <p:nvPr/>
          </p:nvSpPr>
          <p:spPr bwMode="auto">
            <a:xfrm>
              <a:off x="758" y="1381"/>
              <a:ext cx="4244" cy="178"/>
            </a:xfrm>
            <a:prstGeom prst="rect">
              <a:avLst/>
            </a:prstGeom>
            <a:solidFill>
              <a:srgbClr val="538DD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Rectangle 7">
              <a:extLst>
                <a:ext uri="{FF2B5EF4-FFF2-40B4-BE49-F238E27FC236}">
                  <a16:creationId xmlns:a16="http://schemas.microsoft.com/office/drawing/2014/main" id="{3AA99BE0-4A97-FBD6-8A96-705B980B73BD}"/>
                </a:ext>
              </a:extLst>
            </p:cNvPr>
            <p:cNvSpPr>
              <a:spLocks noChangeArrowheads="1"/>
            </p:cNvSpPr>
            <p:nvPr/>
          </p:nvSpPr>
          <p:spPr bwMode="auto">
            <a:xfrm>
              <a:off x="2402" y="1554"/>
              <a:ext cx="2600" cy="163"/>
            </a:xfrm>
            <a:prstGeom prst="rect">
              <a:avLst/>
            </a:prstGeom>
            <a:solidFill>
              <a:srgbClr val="BDD7E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Rectangle 8">
              <a:extLst>
                <a:ext uri="{FF2B5EF4-FFF2-40B4-BE49-F238E27FC236}">
                  <a16:creationId xmlns:a16="http://schemas.microsoft.com/office/drawing/2014/main" id="{1FA9B6E4-84E3-B6DD-9ED6-73C36290494C}"/>
                </a:ext>
              </a:extLst>
            </p:cNvPr>
            <p:cNvSpPr>
              <a:spLocks noChangeArrowheads="1"/>
            </p:cNvSpPr>
            <p:nvPr/>
          </p:nvSpPr>
          <p:spPr bwMode="auto">
            <a:xfrm>
              <a:off x="758" y="1713"/>
              <a:ext cx="4244" cy="163"/>
            </a:xfrm>
            <a:prstGeom prst="rect">
              <a:avLst/>
            </a:prstGeom>
            <a:solidFill>
              <a:srgbClr val="E9F1F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Rectangle 9">
              <a:extLst>
                <a:ext uri="{FF2B5EF4-FFF2-40B4-BE49-F238E27FC236}">
                  <a16:creationId xmlns:a16="http://schemas.microsoft.com/office/drawing/2014/main" id="{EFB9CD8F-3D7B-180C-75CD-0F5290CD2163}"/>
                </a:ext>
              </a:extLst>
            </p:cNvPr>
            <p:cNvSpPr>
              <a:spLocks noChangeArrowheads="1"/>
            </p:cNvSpPr>
            <p:nvPr/>
          </p:nvSpPr>
          <p:spPr bwMode="auto">
            <a:xfrm>
              <a:off x="758" y="2102"/>
              <a:ext cx="4244" cy="125"/>
            </a:xfrm>
            <a:prstGeom prst="rect">
              <a:avLst/>
            </a:prstGeom>
            <a:solidFill>
              <a:srgbClr val="E9F1F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Rectangle 10">
              <a:extLst>
                <a:ext uri="{FF2B5EF4-FFF2-40B4-BE49-F238E27FC236}">
                  <a16:creationId xmlns:a16="http://schemas.microsoft.com/office/drawing/2014/main" id="{11FFAAFD-0111-EB00-849A-58141FCAA34E}"/>
                </a:ext>
              </a:extLst>
            </p:cNvPr>
            <p:cNvSpPr>
              <a:spLocks noChangeArrowheads="1"/>
            </p:cNvSpPr>
            <p:nvPr/>
          </p:nvSpPr>
          <p:spPr bwMode="auto">
            <a:xfrm>
              <a:off x="758" y="2223"/>
              <a:ext cx="4244" cy="12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Rectangle 11">
              <a:extLst>
                <a:ext uri="{FF2B5EF4-FFF2-40B4-BE49-F238E27FC236}">
                  <a16:creationId xmlns:a16="http://schemas.microsoft.com/office/drawing/2014/main" id="{534FCFF7-BADD-7101-D433-300278690582}"/>
                </a:ext>
              </a:extLst>
            </p:cNvPr>
            <p:cNvSpPr>
              <a:spLocks noChangeArrowheads="1"/>
            </p:cNvSpPr>
            <p:nvPr/>
          </p:nvSpPr>
          <p:spPr bwMode="auto">
            <a:xfrm>
              <a:off x="758" y="2338"/>
              <a:ext cx="2600" cy="125"/>
            </a:xfrm>
            <a:prstGeom prst="rect">
              <a:avLst/>
            </a:prstGeom>
            <a:solidFill>
              <a:srgbClr val="538DD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Rectangle 12">
              <a:extLst>
                <a:ext uri="{FF2B5EF4-FFF2-40B4-BE49-F238E27FC236}">
                  <a16:creationId xmlns:a16="http://schemas.microsoft.com/office/drawing/2014/main" id="{790A80D0-4139-F551-8171-9D02A2A048A2}"/>
                </a:ext>
              </a:extLst>
            </p:cNvPr>
            <p:cNvSpPr>
              <a:spLocks noChangeArrowheads="1"/>
            </p:cNvSpPr>
            <p:nvPr/>
          </p:nvSpPr>
          <p:spPr bwMode="auto">
            <a:xfrm>
              <a:off x="758" y="2458"/>
              <a:ext cx="2600" cy="241"/>
            </a:xfrm>
            <a:prstGeom prst="rect">
              <a:avLst/>
            </a:prstGeom>
            <a:solidFill>
              <a:srgbClr val="E9F1F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Rectangle 13">
              <a:extLst>
                <a:ext uri="{FF2B5EF4-FFF2-40B4-BE49-F238E27FC236}">
                  <a16:creationId xmlns:a16="http://schemas.microsoft.com/office/drawing/2014/main" id="{948DE9A8-4483-ECCE-A1D6-A631B30640F2}"/>
                </a:ext>
              </a:extLst>
            </p:cNvPr>
            <p:cNvSpPr>
              <a:spLocks noChangeArrowheads="1"/>
            </p:cNvSpPr>
            <p:nvPr/>
          </p:nvSpPr>
          <p:spPr bwMode="auto">
            <a:xfrm>
              <a:off x="758" y="2809"/>
              <a:ext cx="2600" cy="121"/>
            </a:xfrm>
            <a:prstGeom prst="rect">
              <a:avLst/>
            </a:prstGeom>
            <a:solidFill>
              <a:srgbClr val="E9F1F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Rectangle 14">
              <a:extLst>
                <a:ext uri="{FF2B5EF4-FFF2-40B4-BE49-F238E27FC236}">
                  <a16:creationId xmlns:a16="http://schemas.microsoft.com/office/drawing/2014/main" id="{6E829CD9-89B7-2686-3886-A5532945ABCD}"/>
                </a:ext>
              </a:extLst>
            </p:cNvPr>
            <p:cNvSpPr>
              <a:spLocks noChangeArrowheads="1"/>
            </p:cNvSpPr>
            <p:nvPr/>
          </p:nvSpPr>
          <p:spPr bwMode="auto">
            <a:xfrm>
              <a:off x="758" y="3040"/>
              <a:ext cx="2600" cy="121"/>
            </a:xfrm>
            <a:prstGeom prst="rect">
              <a:avLst/>
            </a:prstGeom>
            <a:solidFill>
              <a:srgbClr val="E9F1F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Rectangle 15">
              <a:extLst>
                <a:ext uri="{FF2B5EF4-FFF2-40B4-BE49-F238E27FC236}">
                  <a16:creationId xmlns:a16="http://schemas.microsoft.com/office/drawing/2014/main" id="{7FCC5669-72CF-432E-CA75-BA99580061D1}"/>
                </a:ext>
              </a:extLst>
            </p:cNvPr>
            <p:cNvSpPr>
              <a:spLocks noChangeArrowheads="1"/>
            </p:cNvSpPr>
            <p:nvPr/>
          </p:nvSpPr>
          <p:spPr bwMode="auto">
            <a:xfrm>
              <a:off x="1426" y="1742"/>
              <a:ext cx="365"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a:ln>
                    <a:noFill/>
                  </a:ln>
                  <a:solidFill>
                    <a:srgbClr val="000000"/>
                  </a:solidFill>
                  <a:effectLst/>
                  <a:latin typeface="Calibri" panose="020F0502020204030204" pitchFamily="34" charset="0"/>
                </a:rPr>
                <a:t>Partition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4" name="Rectangle 16">
              <a:extLst>
                <a:ext uri="{FF2B5EF4-FFF2-40B4-BE49-F238E27FC236}">
                  <a16:creationId xmlns:a16="http://schemas.microsoft.com/office/drawing/2014/main" id="{8F5BAFC6-10D8-151E-CD9C-EDC10861A135}"/>
                </a:ext>
              </a:extLst>
            </p:cNvPr>
            <p:cNvSpPr>
              <a:spLocks noChangeArrowheads="1"/>
            </p:cNvSpPr>
            <p:nvPr/>
          </p:nvSpPr>
          <p:spPr bwMode="auto">
            <a:xfrm>
              <a:off x="2628" y="1742"/>
              <a:ext cx="553"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a:ln>
                    <a:noFill/>
                  </a:ln>
                  <a:solidFill>
                    <a:srgbClr val="000000"/>
                  </a:solidFill>
                  <a:effectLst/>
                  <a:latin typeface="Calibri" panose="020F0502020204030204" pitchFamily="34" charset="0"/>
                </a:rPr>
                <a:t>0 Not Abusive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5" name="Rectangle 17">
              <a:extLst>
                <a:ext uri="{FF2B5EF4-FFF2-40B4-BE49-F238E27FC236}">
                  <a16:creationId xmlns:a16="http://schemas.microsoft.com/office/drawing/2014/main" id="{0C24C3B2-2A10-95B3-E5AD-33D271484D20}"/>
                </a:ext>
              </a:extLst>
            </p:cNvPr>
            <p:cNvSpPr>
              <a:spLocks noChangeArrowheads="1"/>
            </p:cNvSpPr>
            <p:nvPr/>
          </p:nvSpPr>
          <p:spPr bwMode="auto">
            <a:xfrm>
              <a:off x="3656" y="1742"/>
              <a:ext cx="399"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a:ln>
                    <a:noFill/>
                  </a:ln>
                  <a:solidFill>
                    <a:srgbClr val="000000"/>
                  </a:solidFill>
                  <a:effectLst/>
                  <a:latin typeface="Calibri" panose="020F0502020204030204" pitchFamily="34" charset="0"/>
                </a:rPr>
                <a:t>1 Abusive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6" name="Rectangle 18">
              <a:extLst>
                <a:ext uri="{FF2B5EF4-FFF2-40B4-BE49-F238E27FC236}">
                  <a16:creationId xmlns:a16="http://schemas.microsoft.com/office/drawing/2014/main" id="{4E4E5360-C478-724C-BECC-F40866ABEEC1}"/>
                </a:ext>
              </a:extLst>
            </p:cNvPr>
            <p:cNvSpPr>
              <a:spLocks noChangeArrowheads="1"/>
            </p:cNvSpPr>
            <p:nvPr/>
          </p:nvSpPr>
          <p:spPr bwMode="auto">
            <a:xfrm>
              <a:off x="4565" y="1742"/>
              <a:ext cx="231"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a:ln>
                    <a:noFill/>
                  </a:ln>
                  <a:solidFill>
                    <a:srgbClr val="000000"/>
                  </a:solidFill>
                  <a:effectLst/>
                  <a:latin typeface="Calibri" panose="020F0502020204030204" pitchFamily="34" charset="0"/>
                </a:rPr>
                <a:t>Total</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7" name="Rectangle 19">
              <a:extLst>
                <a:ext uri="{FF2B5EF4-FFF2-40B4-BE49-F238E27FC236}">
                  <a16:creationId xmlns:a16="http://schemas.microsoft.com/office/drawing/2014/main" id="{5F67B67D-4889-212F-B44C-8AD4E85E96A6}"/>
                </a:ext>
              </a:extLst>
            </p:cNvPr>
            <p:cNvSpPr>
              <a:spLocks noChangeArrowheads="1"/>
            </p:cNvSpPr>
            <p:nvPr/>
          </p:nvSpPr>
          <p:spPr bwMode="auto">
            <a:xfrm>
              <a:off x="777" y="1881"/>
              <a:ext cx="827"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Actual 0 (Not Abusive)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8" name="Rectangle 20">
              <a:extLst>
                <a:ext uri="{FF2B5EF4-FFF2-40B4-BE49-F238E27FC236}">
                  <a16:creationId xmlns:a16="http://schemas.microsoft.com/office/drawing/2014/main" id="{170E60FE-8F2E-D066-5326-FBF6B89F0057}"/>
                </a:ext>
              </a:extLst>
            </p:cNvPr>
            <p:cNvSpPr>
              <a:spLocks noChangeArrowheads="1"/>
            </p:cNvSpPr>
            <p:nvPr/>
          </p:nvSpPr>
          <p:spPr bwMode="auto">
            <a:xfrm>
              <a:off x="2796" y="1881"/>
              <a:ext cx="221"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1140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29" name="Rectangle 21">
              <a:extLst>
                <a:ext uri="{FF2B5EF4-FFF2-40B4-BE49-F238E27FC236}">
                  <a16:creationId xmlns:a16="http://schemas.microsoft.com/office/drawing/2014/main" id="{6BF240F4-544D-8912-ADB3-04BE808F3B17}"/>
                </a:ext>
              </a:extLst>
            </p:cNvPr>
            <p:cNvSpPr>
              <a:spLocks noChangeArrowheads="1"/>
            </p:cNvSpPr>
            <p:nvPr/>
          </p:nvSpPr>
          <p:spPr bwMode="auto">
            <a:xfrm>
              <a:off x="3767" y="1881"/>
              <a:ext cx="173"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478</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0" name="Rectangle 22">
              <a:extLst>
                <a:ext uri="{FF2B5EF4-FFF2-40B4-BE49-F238E27FC236}">
                  <a16:creationId xmlns:a16="http://schemas.microsoft.com/office/drawing/2014/main" id="{06F05BE6-53AA-F013-FC2A-D112A00DB6BA}"/>
                </a:ext>
              </a:extLst>
            </p:cNvPr>
            <p:cNvSpPr>
              <a:spLocks noChangeArrowheads="1"/>
            </p:cNvSpPr>
            <p:nvPr/>
          </p:nvSpPr>
          <p:spPr bwMode="auto">
            <a:xfrm>
              <a:off x="4570" y="1881"/>
              <a:ext cx="221"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1618</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1" name="Rectangle 23">
              <a:extLst>
                <a:ext uri="{FF2B5EF4-FFF2-40B4-BE49-F238E27FC236}">
                  <a16:creationId xmlns:a16="http://schemas.microsoft.com/office/drawing/2014/main" id="{B2AC820C-EAE1-0D7B-FB82-592BC9904C4D}"/>
                </a:ext>
              </a:extLst>
            </p:cNvPr>
            <p:cNvSpPr>
              <a:spLocks noChangeArrowheads="1"/>
            </p:cNvSpPr>
            <p:nvPr/>
          </p:nvSpPr>
          <p:spPr bwMode="auto">
            <a:xfrm>
              <a:off x="777" y="1996"/>
              <a:ext cx="678"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Actual 1 (Abusive)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2" name="Rectangle 24">
              <a:extLst>
                <a:ext uri="{FF2B5EF4-FFF2-40B4-BE49-F238E27FC236}">
                  <a16:creationId xmlns:a16="http://schemas.microsoft.com/office/drawing/2014/main" id="{9A97CA54-FD4B-5733-D3CA-CD964E619BA1}"/>
                </a:ext>
              </a:extLst>
            </p:cNvPr>
            <p:cNvSpPr>
              <a:spLocks noChangeArrowheads="1"/>
            </p:cNvSpPr>
            <p:nvPr/>
          </p:nvSpPr>
          <p:spPr bwMode="auto">
            <a:xfrm>
              <a:off x="2815" y="1996"/>
              <a:ext cx="173"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202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3" name="Rectangle 25">
              <a:extLst>
                <a:ext uri="{FF2B5EF4-FFF2-40B4-BE49-F238E27FC236}">
                  <a16:creationId xmlns:a16="http://schemas.microsoft.com/office/drawing/2014/main" id="{317DAF8E-6079-99B3-BE5B-3B38C8771B38}"/>
                </a:ext>
              </a:extLst>
            </p:cNvPr>
            <p:cNvSpPr>
              <a:spLocks noChangeArrowheads="1"/>
            </p:cNvSpPr>
            <p:nvPr/>
          </p:nvSpPr>
          <p:spPr bwMode="auto">
            <a:xfrm>
              <a:off x="3748" y="1996"/>
              <a:ext cx="221"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1601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4" name="Rectangle 26">
              <a:extLst>
                <a:ext uri="{FF2B5EF4-FFF2-40B4-BE49-F238E27FC236}">
                  <a16:creationId xmlns:a16="http://schemas.microsoft.com/office/drawing/2014/main" id="{5678995B-FE95-E9A2-2C2E-1D6E8CD2B595}"/>
                </a:ext>
              </a:extLst>
            </p:cNvPr>
            <p:cNvSpPr>
              <a:spLocks noChangeArrowheads="1"/>
            </p:cNvSpPr>
            <p:nvPr/>
          </p:nvSpPr>
          <p:spPr bwMode="auto">
            <a:xfrm>
              <a:off x="4570" y="1996"/>
              <a:ext cx="221"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1803</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5" name="Rectangle 27">
              <a:extLst>
                <a:ext uri="{FF2B5EF4-FFF2-40B4-BE49-F238E27FC236}">
                  <a16:creationId xmlns:a16="http://schemas.microsoft.com/office/drawing/2014/main" id="{4A00C379-B492-B4A5-ED17-854F475380ED}"/>
                </a:ext>
              </a:extLst>
            </p:cNvPr>
            <p:cNvSpPr>
              <a:spLocks noChangeArrowheads="1"/>
            </p:cNvSpPr>
            <p:nvPr/>
          </p:nvSpPr>
          <p:spPr bwMode="auto">
            <a:xfrm>
              <a:off x="777" y="2112"/>
              <a:ext cx="231"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a:ln>
                    <a:noFill/>
                  </a:ln>
                  <a:solidFill>
                    <a:srgbClr val="000000"/>
                  </a:solidFill>
                  <a:effectLst/>
                  <a:latin typeface="Calibri" panose="020F0502020204030204" pitchFamily="34" charset="0"/>
                </a:rPr>
                <a:t>Total</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6" name="Rectangle 28">
              <a:extLst>
                <a:ext uri="{FF2B5EF4-FFF2-40B4-BE49-F238E27FC236}">
                  <a16:creationId xmlns:a16="http://schemas.microsoft.com/office/drawing/2014/main" id="{CE96D5C7-1CED-FF32-F7F2-EED55077268A}"/>
                </a:ext>
              </a:extLst>
            </p:cNvPr>
            <p:cNvSpPr>
              <a:spLocks noChangeArrowheads="1"/>
            </p:cNvSpPr>
            <p:nvPr/>
          </p:nvSpPr>
          <p:spPr bwMode="auto">
            <a:xfrm>
              <a:off x="2796" y="2112"/>
              <a:ext cx="226"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a:ln>
                    <a:noFill/>
                  </a:ln>
                  <a:solidFill>
                    <a:srgbClr val="000000"/>
                  </a:solidFill>
                  <a:effectLst/>
                  <a:latin typeface="Calibri" panose="020F0502020204030204" pitchFamily="34" charset="0"/>
                </a:rPr>
                <a:t>1342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7" name="Rectangle 29">
              <a:extLst>
                <a:ext uri="{FF2B5EF4-FFF2-40B4-BE49-F238E27FC236}">
                  <a16:creationId xmlns:a16="http://schemas.microsoft.com/office/drawing/2014/main" id="{0077F976-2C35-9F7E-EA00-B1650D57F66F}"/>
                </a:ext>
              </a:extLst>
            </p:cNvPr>
            <p:cNvSpPr>
              <a:spLocks noChangeArrowheads="1"/>
            </p:cNvSpPr>
            <p:nvPr/>
          </p:nvSpPr>
          <p:spPr bwMode="auto">
            <a:xfrm>
              <a:off x="3748" y="2112"/>
              <a:ext cx="226"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a:ln>
                    <a:noFill/>
                  </a:ln>
                  <a:solidFill>
                    <a:srgbClr val="000000"/>
                  </a:solidFill>
                  <a:effectLst/>
                  <a:latin typeface="Calibri" panose="020F0502020204030204" pitchFamily="34" charset="0"/>
                </a:rPr>
                <a:t>2079</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8" name="Rectangle 30">
              <a:extLst>
                <a:ext uri="{FF2B5EF4-FFF2-40B4-BE49-F238E27FC236}">
                  <a16:creationId xmlns:a16="http://schemas.microsoft.com/office/drawing/2014/main" id="{02D15183-E92A-DCE0-6AE3-0632FB0134A8}"/>
                </a:ext>
              </a:extLst>
            </p:cNvPr>
            <p:cNvSpPr>
              <a:spLocks noChangeArrowheads="1"/>
            </p:cNvSpPr>
            <p:nvPr/>
          </p:nvSpPr>
          <p:spPr bwMode="auto">
            <a:xfrm>
              <a:off x="4570" y="2112"/>
              <a:ext cx="226"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a:ln>
                    <a:noFill/>
                  </a:ln>
                  <a:solidFill>
                    <a:srgbClr val="000000"/>
                  </a:solidFill>
                  <a:effectLst/>
                  <a:latin typeface="Calibri" panose="020F0502020204030204" pitchFamily="34" charset="0"/>
                </a:rPr>
                <a:t>3421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9" name="Rectangle 31">
              <a:extLst>
                <a:ext uri="{FF2B5EF4-FFF2-40B4-BE49-F238E27FC236}">
                  <a16:creationId xmlns:a16="http://schemas.microsoft.com/office/drawing/2014/main" id="{E47AC303-3F7C-A2E2-D290-C32AF686345C}"/>
                </a:ext>
              </a:extLst>
            </p:cNvPr>
            <p:cNvSpPr>
              <a:spLocks noChangeArrowheads="1"/>
            </p:cNvSpPr>
            <p:nvPr/>
          </p:nvSpPr>
          <p:spPr bwMode="auto">
            <a:xfrm>
              <a:off x="777" y="2348"/>
              <a:ext cx="615"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FFFFFF"/>
                  </a:solidFill>
                  <a:effectLst/>
                  <a:latin typeface="Calibri" panose="020F0502020204030204" pitchFamily="34" charset="0"/>
                </a:rPr>
                <a:t>Training Metrics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0" name="Rectangle 32">
              <a:extLst>
                <a:ext uri="{FF2B5EF4-FFF2-40B4-BE49-F238E27FC236}">
                  <a16:creationId xmlns:a16="http://schemas.microsoft.com/office/drawing/2014/main" id="{22F0C68C-8728-96FC-FD7E-5CC292076DD4}"/>
                </a:ext>
              </a:extLst>
            </p:cNvPr>
            <p:cNvSpPr>
              <a:spLocks noChangeArrowheads="1"/>
            </p:cNvSpPr>
            <p:nvPr/>
          </p:nvSpPr>
          <p:spPr bwMode="auto">
            <a:xfrm>
              <a:off x="777" y="2468"/>
              <a:ext cx="634"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a:ln>
                    <a:noFill/>
                  </a:ln>
                  <a:solidFill>
                    <a:srgbClr val="000000"/>
                  </a:solidFill>
                  <a:effectLst/>
                  <a:latin typeface="Calibri" panose="020F0502020204030204" pitchFamily="34" charset="0"/>
                </a:rPr>
                <a:t>Training Metrics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1" name="Rectangle 33">
              <a:extLst>
                <a:ext uri="{FF2B5EF4-FFF2-40B4-BE49-F238E27FC236}">
                  <a16:creationId xmlns:a16="http://schemas.microsoft.com/office/drawing/2014/main" id="{B11D850C-2DAF-AEDB-60DC-DEE50C5D4927}"/>
                </a:ext>
              </a:extLst>
            </p:cNvPr>
            <p:cNvSpPr>
              <a:spLocks noChangeArrowheads="1"/>
            </p:cNvSpPr>
            <p:nvPr/>
          </p:nvSpPr>
          <p:spPr bwMode="auto">
            <a:xfrm>
              <a:off x="2777" y="2468"/>
              <a:ext cx="255"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dirty="0">
                  <a:ln>
                    <a:noFill/>
                  </a:ln>
                  <a:solidFill>
                    <a:srgbClr val="000000"/>
                  </a:solidFill>
                  <a:effectLst/>
                  <a:latin typeface="Calibri" panose="020F0502020204030204" pitchFamily="34" charset="0"/>
                </a:rPr>
                <a:t>Value</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2" name="Rectangle 34">
              <a:extLst>
                <a:ext uri="{FF2B5EF4-FFF2-40B4-BE49-F238E27FC236}">
                  <a16:creationId xmlns:a16="http://schemas.microsoft.com/office/drawing/2014/main" id="{450B92E8-31CE-7687-B960-65F3FD2C6952}"/>
                </a:ext>
              </a:extLst>
            </p:cNvPr>
            <p:cNvSpPr>
              <a:spLocks noChangeArrowheads="1"/>
            </p:cNvSpPr>
            <p:nvPr/>
          </p:nvSpPr>
          <p:spPr bwMode="auto">
            <a:xfrm>
              <a:off x="777" y="2588"/>
              <a:ext cx="572"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Accuracy (ACC)</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3" name="Rectangle 35">
              <a:extLst>
                <a:ext uri="{FF2B5EF4-FFF2-40B4-BE49-F238E27FC236}">
                  <a16:creationId xmlns:a16="http://schemas.microsoft.com/office/drawing/2014/main" id="{114085E3-E897-0E6A-43CC-8D9D95ABC9C2}"/>
                </a:ext>
              </a:extLst>
            </p:cNvPr>
            <p:cNvSpPr>
              <a:spLocks noChangeArrowheads="1"/>
            </p:cNvSpPr>
            <p:nvPr/>
          </p:nvSpPr>
          <p:spPr bwMode="auto">
            <a:xfrm>
              <a:off x="2599" y="2588"/>
              <a:ext cx="615"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0.8012 (80.12%)</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4" name="Rectangle 36">
              <a:extLst>
                <a:ext uri="{FF2B5EF4-FFF2-40B4-BE49-F238E27FC236}">
                  <a16:creationId xmlns:a16="http://schemas.microsoft.com/office/drawing/2014/main" id="{E41A3A21-9DCB-546D-A57D-D7474D987BF0}"/>
                </a:ext>
              </a:extLst>
            </p:cNvPr>
            <p:cNvSpPr>
              <a:spLocks noChangeArrowheads="1"/>
            </p:cNvSpPr>
            <p:nvPr/>
          </p:nvSpPr>
          <p:spPr bwMode="auto">
            <a:xfrm>
              <a:off x="777" y="2704"/>
              <a:ext cx="846"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Calibri" panose="020F0502020204030204" pitchFamily="34" charset="0"/>
                </a:rPr>
                <a:t>Sensitivity (TPR/Recall)</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5" name="Rectangle 37">
              <a:extLst>
                <a:ext uri="{FF2B5EF4-FFF2-40B4-BE49-F238E27FC236}">
                  <a16:creationId xmlns:a16="http://schemas.microsoft.com/office/drawing/2014/main" id="{B3A1052E-0969-0EF9-1D8B-408F0121EC76}"/>
                </a:ext>
              </a:extLst>
            </p:cNvPr>
            <p:cNvSpPr>
              <a:spLocks noChangeArrowheads="1"/>
            </p:cNvSpPr>
            <p:nvPr/>
          </p:nvSpPr>
          <p:spPr bwMode="auto">
            <a:xfrm>
              <a:off x="2599" y="2704"/>
              <a:ext cx="615"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0.8880 (88.80%)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6" name="Rectangle 38">
              <a:extLst>
                <a:ext uri="{FF2B5EF4-FFF2-40B4-BE49-F238E27FC236}">
                  <a16:creationId xmlns:a16="http://schemas.microsoft.com/office/drawing/2014/main" id="{9058A23D-1154-81A1-3F25-DE8189589CD1}"/>
                </a:ext>
              </a:extLst>
            </p:cNvPr>
            <p:cNvSpPr>
              <a:spLocks noChangeArrowheads="1"/>
            </p:cNvSpPr>
            <p:nvPr/>
          </p:nvSpPr>
          <p:spPr bwMode="auto">
            <a:xfrm>
              <a:off x="777" y="2819"/>
              <a:ext cx="572"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Precision (PPV)</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7" name="Rectangle 39">
              <a:extLst>
                <a:ext uri="{FF2B5EF4-FFF2-40B4-BE49-F238E27FC236}">
                  <a16:creationId xmlns:a16="http://schemas.microsoft.com/office/drawing/2014/main" id="{A1D9A4F9-4C0A-CEB1-4929-616A272A3219}"/>
                </a:ext>
              </a:extLst>
            </p:cNvPr>
            <p:cNvSpPr>
              <a:spLocks noChangeArrowheads="1"/>
            </p:cNvSpPr>
            <p:nvPr/>
          </p:nvSpPr>
          <p:spPr bwMode="auto">
            <a:xfrm>
              <a:off x="2599" y="2819"/>
              <a:ext cx="615"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0.7701 (77.01%)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8" name="Rectangle 40">
              <a:extLst>
                <a:ext uri="{FF2B5EF4-FFF2-40B4-BE49-F238E27FC236}">
                  <a16:creationId xmlns:a16="http://schemas.microsoft.com/office/drawing/2014/main" id="{4594C6DB-069B-81BE-B50B-4361DE4D354E}"/>
                </a:ext>
              </a:extLst>
            </p:cNvPr>
            <p:cNvSpPr>
              <a:spLocks noChangeArrowheads="1"/>
            </p:cNvSpPr>
            <p:nvPr/>
          </p:nvSpPr>
          <p:spPr bwMode="auto">
            <a:xfrm>
              <a:off x="777" y="2934"/>
              <a:ext cx="601"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Specificity (SPC)</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9" name="Rectangle 41">
              <a:extLst>
                <a:ext uri="{FF2B5EF4-FFF2-40B4-BE49-F238E27FC236}">
                  <a16:creationId xmlns:a16="http://schemas.microsoft.com/office/drawing/2014/main" id="{D7A766A7-06F5-7C43-00B9-2715E5DCD509}"/>
                </a:ext>
              </a:extLst>
            </p:cNvPr>
            <p:cNvSpPr>
              <a:spLocks noChangeArrowheads="1"/>
            </p:cNvSpPr>
            <p:nvPr/>
          </p:nvSpPr>
          <p:spPr bwMode="auto">
            <a:xfrm>
              <a:off x="2599" y="2934"/>
              <a:ext cx="615"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0.7046 (70.46%)</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0" name="Rectangle 42">
              <a:extLst>
                <a:ext uri="{FF2B5EF4-FFF2-40B4-BE49-F238E27FC236}">
                  <a16:creationId xmlns:a16="http://schemas.microsoft.com/office/drawing/2014/main" id="{5644366F-B568-C1FC-2258-78131C1AF925}"/>
                </a:ext>
              </a:extLst>
            </p:cNvPr>
            <p:cNvSpPr>
              <a:spLocks noChangeArrowheads="1"/>
            </p:cNvSpPr>
            <p:nvPr/>
          </p:nvSpPr>
          <p:spPr bwMode="auto">
            <a:xfrm>
              <a:off x="777" y="3050"/>
              <a:ext cx="341"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F1 Score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1" name="Rectangle 43">
              <a:extLst>
                <a:ext uri="{FF2B5EF4-FFF2-40B4-BE49-F238E27FC236}">
                  <a16:creationId xmlns:a16="http://schemas.microsoft.com/office/drawing/2014/main" id="{61AADF12-E261-B100-1DDA-E11070E1EEE8}"/>
                </a:ext>
              </a:extLst>
            </p:cNvPr>
            <p:cNvSpPr>
              <a:spLocks noChangeArrowheads="1"/>
            </p:cNvSpPr>
            <p:nvPr/>
          </p:nvSpPr>
          <p:spPr bwMode="auto">
            <a:xfrm>
              <a:off x="2599" y="3050"/>
              <a:ext cx="615"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0.8248 (82.48%)</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2" name="Rectangle 44">
              <a:extLst>
                <a:ext uri="{FF2B5EF4-FFF2-40B4-BE49-F238E27FC236}">
                  <a16:creationId xmlns:a16="http://schemas.microsoft.com/office/drawing/2014/main" id="{96DBE1F5-039F-EEA2-0779-DB056C4C2880}"/>
                </a:ext>
              </a:extLst>
            </p:cNvPr>
            <p:cNvSpPr>
              <a:spLocks noChangeArrowheads="1"/>
            </p:cNvSpPr>
            <p:nvPr/>
          </p:nvSpPr>
          <p:spPr bwMode="auto">
            <a:xfrm>
              <a:off x="777" y="3165"/>
              <a:ext cx="639"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Matthews (MCC)</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3" name="Rectangle 45">
              <a:extLst>
                <a:ext uri="{FF2B5EF4-FFF2-40B4-BE49-F238E27FC236}">
                  <a16:creationId xmlns:a16="http://schemas.microsoft.com/office/drawing/2014/main" id="{6857C405-FF30-25A2-D557-536466663BBD}"/>
                </a:ext>
              </a:extLst>
            </p:cNvPr>
            <p:cNvSpPr>
              <a:spLocks noChangeArrowheads="1"/>
            </p:cNvSpPr>
            <p:nvPr/>
          </p:nvSpPr>
          <p:spPr bwMode="auto">
            <a:xfrm>
              <a:off x="2599" y="3165"/>
              <a:ext cx="615"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Calibri" panose="020F0502020204030204" pitchFamily="34" charset="0"/>
                </a:rPr>
                <a:t>0.6059 (60.59%)</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4" name="Rectangle 46">
              <a:extLst>
                <a:ext uri="{FF2B5EF4-FFF2-40B4-BE49-F238E27FC236}">
                  <a16:creationId xmlns:a16="http://schemas.microsoft.com/office/drawing/2014/main" id="{E9EFF7C4-9E57-094D-BFA7-28CB46A19BB8}"/>
                </a:ext>
              </a:extLst>
            </p:cNvPr>
            <p:cNvSpPr>
              <a:spLocks noChangeArrowheads="1"/>
            </p:cNvSpPr>
            <p:nvPr/>
          </p:nvSpPr>
          <p:spPr bwMode="auto">
            <a:xfrm>
              <a:off x="1599" y="1087"/>
              <a:ext cx="2650"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a:ln>
                    <a:noFill/>
                  </a:ln>
                  <a:solidFill>
                    <a:srgbClr val="FFFFFF"/>
                  </a:solidFill>
                  <a:effectLst/>
                  <a:latin typeface="Calibri" panose="020F0502020204030204" pitchFamily="34" charset="0"/>
                </a:rPr>
                <a:t>Confusion Matrix Binary Logistic Regression  | Validation</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5" name="Rectangle 47">
              <a:extLst>
                <a:ext uri="{FF2B5EF4-FFF2-40B4-BE49-F238E27FC236}">
                  <a16:creationId xmlns:a16="http://schemas.microsoft.com/office/drawing/2014/main" id="{463876A3-5FB2-733E-82E4-A8806BC746D8}"/>
                </a:ext>
              </a:extLst>
            </p:cNvPr>
            <p:cNvSpPr>
              <a:spLocks noChangeArrowheads="1"/>
            </p:cNvSpPr>
            <p:nvPr/>
          </p:nvSpPr>
          <p:spPr bwMode="auto">
            <a:xfrm>
              <a:off x="777" y="1414"/>
              <a:ext cx="1631"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dirty="0">
                  <a:ln>
                    <a:noFill/>
                  </a:ln>
                  <a:solidFill>
                    <a:srgbClr val="FFFFFF"/>
                  </a:solidFill>
                  <a:effectLst/>
                  <a:latin typeface="Calibri" panose="020F0502020204030204" pitchFamily="34" charset="0"/>
                </a:rPr>
                <a:t>Confusion  Matrix Binary Logistic Regression</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6" name="Rectangle 48">
              <a:extLst>
                <a:ext uri="{FF2B5EF4-FFF2-40B4-BE49-F238E27FC236}">
                  <a16:creationId xmlns:a16="http://schemas.microsoft.com/office/drawing/2014/main" id="{B2F34D4A-9689-F3BE-C7AC-06CE7286D226}"/>
                </a:ext>
              </a:extLst>
            </p:cNvPr>
            <p:cNvSpPr>
              <a:spLocks noChangeArrowheads="1"/>
            </p:cNvSpPr>
            <p:nvPr/>
          </p:nvSpPr>
          <p:spPr bwMode="auto">
            <a:xfrm>
              <a:off x="3531" y="1583"/>
              <a:ext cx="394" cy="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a:ln>
                    <a:noFill/>
                  </a:ln>
                  <a:solidFill>
                    <a:srgbClr val="000000"/>
                  </a:solidFill>
                  <a:effectLst/>
                  <a:latin typeface="Calibri" panose="020F0502020204030204" pitchFamily="34" charset="0"/>
                </a:rPr>
                <a:t>Predicted</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57" name="Rectangle 49">
              <a:extLst>
                <a:ext uri="{FF2B5EF4-FFF2-40B4-BE49-F238E27FC236}">
                  <a16:creationId xmlns:a16="http://schemas.microsoft.com/office/drawing/2014/main" id="{6B674191-4FCA-8DCF-7327-068B9F05F305}"/>
                </a:ext>
              </a:extLst>
            </p:cNvPr>
            <p:cNvSpPr>
              <a:spLocks noChangeArrowheads="1"/>
            </p:cNvSpPr>
            <p:nvPr/>
          </p:nvSpPr>
          <p:spPr bwMode="auto">
            <a:xfrm>
              <a:off x="753" y="1039"/>
              <a:ext cx="10" cy="231"/>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 name="Rectangle 50">
              <a:extLst>
                <a:ext uri="{FF2B5EF4-FFF2-40B4-BE49-F238E27FC236}">
                  <a16:creationId xmlns:a16="http://schemas.microsoft.com/office/drawing/2014/main" id="{C6F6B0AE-D493-7B6B-E28B-F8483FE04069}"/>
                </a:ext>
              </a:extLst>
            </p:cNvPr>
            <p:cNvSpPr>
              <a:spLocks noChangeArrowheads="1"/>
            </p:cNvSpPr>
            <p:nvPr/>
          </p:nvSpPr>
          <p:spPr bwMode="auto">
            <a:xfrm>
              <a:off x="4993" y="1049"/>
              <a:ext cx="9" cy="221"/>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Rectangle 51">
              <a:extLst>
                <a:ext uri="{FF2B5EF4-FFF2-40B4-BE49-F238E27FC236}">
                  <a16:creationId xmlns:a16="http://schemas.microsoft.com/office/drawing/2014/main" id="{7CA6E6EC-06E8-599E-814D-FE3185BF196D}"/>
                </a:ext>
              </a:extLst>
            </p:cNvPr>
            <p:cNvSpPr>
              <a:spLocks noChangeArrowheads="1"/>
            </p:cNvSpPr>
            <p:nvPr/>
          </p:nvSpPr>
          <p:spPr bwMode="auto">
            <a:xfrm>
              <a:off x="753" y="1376"/>
              <a:ext cx="10" cy="851"/>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Rectangle 52">
              <a:extLst>
                <a:ext uri="{FF2B5EF4-FFF2-40B4-BE49-F238E27FC236}">
                  <a16:creationId xmlns:a16="http://schemas.microsoft.com/office/drawing/2014/main" id="{935E8DEE-6659-968E-CC23-971FAEF370D2}"/>
                </a:ext>
              </a:extLst>
            </p:cNvPr>
            <p:cNvSpPr>
              <a:spLocks noChangeArrowheads="1"/>
            </p:cNvSpPr>
            <p:nvPr/>
          </p:nvSpPr>
          <p:spPr bwMode="auto">
            <a:xfrm>
              <a:off x="2397" y="1559"/>
              <a:ext cx="10" cy="668"/>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Rectangle 53">
              <a:extLst>
                <a:ext uri="{FF2B5EF4-FFF2-40B4-BE49-F238E27FC236}">
                  <a16:creationId xmlns:a16="http://schemas.microsoft.com/office/drawing/2014/main" id="{E0726F95-0212-F2CC-C515-BF6FA22066CD}"/>
                </a:ext>
              </a:extLst>
            </p:cNvPr>
            <p:cNvSpPr>
              <a:spLocks noChangeArrowheads="1"/>
            </p:cNvSpPr>
            <p:nvPr/>
          </p:nvSpPr>
          <p:spPr bwMode="auto">
            <a:xfrm>
              <a:off x="3349" y="1717"/>
              <a:ext cx="9" cy="510"/>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 name="Rectangle 54">
              <a:extLst>
                <a:ext uri="{FF2B5EF4-FFF2-40B4-BE49-F238E27FC236}">
                  <a16:creationId xmlns:a16="http://schemas.microsoft.com/office/drawing/2014/main" id="{C30DEC4B-DC94-1BB5-2977-A72BF956DB10}"/>
                </a:ext>
              </a:extLst>
            </p:cNvPr>
            <p:cNvSpPr>
              <a:spLocks noChangeArrowheads="1"/>
            </p:cNvSpPr>
            <p:nvPr/>
          </p:nvSpPr>
          <p:spPr bwMode="auto">
            <a:xfrm>
              <a:off x="753" y="2453"/>
              <a:ext cx="10" cy="823"/>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3" name="Rectangle 55">
              <a:extLst>
                <a:ext uri="{FF2B5EF4-FFF2-40B4-BE49-F238E27FC236}">
                  <a16:creationId xmlns:a16="http://schemas.microsoft.com/office/drawing/2014/main" id="{A96A7D20-5D6A-803D-2AC9-8BCAEFCA4E01}"/>
                </a:ext>
              </a:extLst>
            </p:cNvPr>
            <p:cNvSpPr>
              <a:spLocks noChangeArrowheads="1"/>
            </p:cNvSpPr>
            <p:nvPr/>
          </p:nvSpPr>
          <p:spPr bwMode="auto">
            <a:xfrm>
              <a:off x="4993" y="1386"/>
              <a:ext cx="9" cy="841"/>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Rectangle 56">
              <a:extLst>
                <a:ext uri="{FF2B5EF4-FFF2-40B4-BE49-F238E27FC236}">
                  <a16:creationId xmlns:a16="http://schemas.microsoft.com/office/drawing/2014/main" id="{ACEF0F6C-051E-8C34-1B46-5799C7B2600E}"/>
                </a:ext>
              </a:extLst>
            </p:cNvPr>
            <p:cNvSpPr>
              <a:spLocks noChangeArrowheads="1"/>
            </p:cNvSpPr>
            <p:nvPr/>
          </p:nvSpPr>
          <p:spPr bwMode="auto">
            <a:xfrm>
              <a:off x="2397" y="2463"/>
              <a:ext cx="10" cy="813"/>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5" name="Rectangle 57">
              <a:extLst>
                <a:ext uri="{FF2B5EF4-FFF2-40B4-BE49-F238E27FC236}">
                  <a16:creationId xmlns:a16="http://schemas.microsoft.com/office/drawing/2014/main" id="{F9037D02-8526-361D-D36A-5EB5859B4EE2}"/>
                </a:ext>
              </a:extLst>
            </p:cNvPr>
            <p:cNvSpPr>
              <a:spLocks noChangeArrowheads="1"/>
            </p:cNvSpPr>
            <p:nvPr/>
          </p:nvSpPr>
          <p:spPr bwMode="auto">
            <a:xfrm>
              <a:off x="3349" y="2463"/>
              <a:ext cx="9" cy="813"/>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 name="Rectangle 58">
              <a:extLst>
                <a:ext uri="{FF2B5EF4-FFF2-40B4-BE49-F238E27FC236}">
                  <a16:creationId xmlns:a16="http://schemas.microsoft.com/office/drawing/2014/main" id="{A513A97C-603B-1F7C-BAA6-275C498EAA77}"/>
                </a:ext>
              </a:extLst>
            </p:cNvPr>
            <p:cNvSpPr>
              <a:spLocks noChangeArrowheads="1"/>
            </p:cNvSpPr>
            <p:nvPr/>
          </p:nvSpPr>
          <p:spPr bwMode="auto">
            <a:xfrm>
              <a:off x="4300" y="1717"/>
              <a:ext cx="10" cy="510"/>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 name="Rectangle 59">
              <a:extLst>
                <a:ext uri="{FF2B5EF4-FFF2-40B4-BE49-F238E27FC236}">
                  <a16:creationId xmlns:a16="http://schemas.microsoft.com/office/drawing/2014/main" id="{ACFEFF85-489E-CAF0-AEDB-4565419646A4}"/>
                </a:ext>
              </a:extLst>
            </p:cNvPr>
            <p:cNvSpPr>
              <a:spLocks noChangeArrowheads="1"/>
            </p:cNvSpPr>
            <p:nvPr/>
          </p:nvSpPr>
          <p:spPr bwMode="auto">
            <a:xfrm>
              <a:off x="763" y="1039"/>
              <a:ext cx="4239" cy="10"/>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8" name="Rectangle 60">
              <a:extLst>
                <a:ext uri="{FF2B5EF4-FFF2-40B4-BE49-F238E27FC236}">
                  <a16:creationId xmlns:a16="http://schemas.microsoft.com/office/drawing/2014/main" id="{D9478864-F45F-DC7B-2003-29DEFCDCEE86}"/>
                </a:ext>
              </a:extLst>
            </p:cNvPr>
            <p:cNvSpPr>
              <a:spLocks noChangeArrowheads="1"/>
            </p:cNvSpPr>
            <p:nvPr/>
          </p:nvSpPr>
          <p:spPr bwMode="auto">
            <a:xfrm>
              <a:off x="763" y="1260"/>
              <a:ext cx="4239" cy="10"/>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9" name="Rectangle 61">
              <a:extLst>
                <a:ext uri="{FF2B5EF4-FFF2-40B4-BE49-F238E27FC236}">
                  <a16:creationId xmlns:a16="http://schemas.microsoft.com/office/drawing/2014/main" id="{646F46F3-9BF0-F1E2-17C1-9BBC4A2FE8FE}"/>
                </a:ext>
              </a:extLst>
            </p:cNvPr>
            <p:cNvSpPr>
              <a:spLocks noChangeArrowheads="1"/>
            </p:cNvSpPr>
            <p:nvPr/>
          </p:nvSpPr>
          <p:spPr bwMode="auto">
            <a:xfrm>
              <a:off x="763" y="1376"/>
              <a:ext cx="4239" cy="10"/>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0" name="Rectangle 62">
              <a:extLst>
                <a:ext uri="{FF2B5EF4-FFF2-40B4-BE49-F238E27FC236}">
                  <a16:creationId xmlns:a16="http://schemas.microsoft.com/office/drawing/2014/main" id="{2AF69ABC-ED05-F040-CD1B-101AB2B272BE}"/>
                </a:ext>
              </a:extLst>
            </p:cNvPr>
            <p:cNvSpPr>
              <a:spLocks noChangeArrowheads="1"/>
            </p:cNvSpPr>
            <p:nvPr/>
          </p:nvSpPr>
          <p:spPr bwMode="auto">
            <a:xfrm>
              <a:off x="763" y="1549"/>
              <a:ext cx="4239" cy="10"/>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1" name="Rectangle 63">
              <a:extLst>
                <a:ext uri="{FF2B5EF4-FFF2-40B4-BE49-F238E27FC236}">
                  <a16:creationId xmlns:a16="http://schemas.microsoft.com/office/drawing/2014/main" id="{25A668BD-A266-E2FF-DAEE-138797509376}"/>
                </a:ext>
              </a:extLst>
            </p:cNvPr>
            <p:cNvSpPr>
              <a:spLocks noChangeArrowheads="1"/>
            </p:cNvSpPr>
            <p:nvPr/>
          </p:nvSpPr>
          <p:spPr bwMode="auto">
            <a:xfrm>
              <a:off x="763" y="1708"/>
              <a:ext cx="4239" cy="9"/>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2" name="Rectangle 64">
              <a:extLst>
                <a:ext uri="{FF2B5EF4-FFF2-40B4-BE49-F238E27FC236}">
                  <a16:creationId xmlns:a16="http://schemas.microsoft.com/office/drawing/2014/main" id="{83365990-79C4-18CB-2D4F-824709236AD9}"/>
                </a:ext>
              </a:extLst>
            </p:cNvPr>
            <p:cNvSpPr>
              <a:spLocks noChangeArrowheads="1"/>
            </p:cNvSpPr>
            <p:nvPr/>
          </p:nvSpPr>
          <p:spPr bwMode="auto">
            <a:xfrm>
              <a:off x="763" y="1867"/>
              <a:ext cx="4239" cy="9"/>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3" name="Rectangle 65">
              <a:extLst>
                <a:ext uri="{FF2B5EF4-FFF2-40B4-BE49-F238E27FC236}">
                  <a16:creationId xmlns:a16="http://schemas.microsoft.com/office/drawing/2014/main" id="{A0F238CA-F397-98EC-4288-626400E0860D}"/>
                </a:ext>
              </a:extLst>
            </p:cNvPr>
            <p:cNvSpPr>
              <a:spLocks noChangeArrowheads="1"/>
            </p:cNvSpPr>
            <p:nvPr/>
          </p:nvSpPr>
          <p:spPr bwMode="auto">
            <a:xfrm>
              <a:off x="763" y="1982"/>
              <a:ext cx="4239" cy="10"/>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4" name="Rectangle 66">
              <a:extLst>
                <a:ext uri="{FF2B5EF4-FFF2-40B4-BE49-F238E27FC236}">
                  <a16:creationId xmlns:a16="http://schemas.microsoft.com/office/drawing/2014/main" id="{AE33A9B3-F9BF-C394-3B26-E7CC3D5E3B95}"/>
                </a:ext>
              </a:extLst>
            </p:cNvPr>
            <p:cNvSpPr>
              <a:spLocks noChangeArrowheads="1"/>
            </p:cNvSpPr>
            <p:nvPr/>
          </p:nvSpPr>
          <p:spPr bwMode="auto">
            <a:xfrm>
              <a:off x="763" y="2097"/>
              <a:ext cx="4239" cy="10"/>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5" name="Rectangle 67">
              <a:extLst>
                <a:ext uri="{FF2B5EF4-FFF2-40B4-BE49-F238E27FC236}">
                  <a16:creationId xmlns:a16="http://schemas.microsoft.com/office/drawing/2014/main" id="{4DE745E2-FBCA-310C-EA02-DEDFBB53BA89}"/>
                </a:ext>
              </a:extLst>
            </p:cNvPr>
            <p:cNvSpPr>
              <a:spLocks noChangeArrowheads="1"/>
            </p:cNvSpPr>
            <p:nvPr/>
          </p:nvSpPr>
          <p:spPr bwMode="auto">
            <a:xfrm>
              <a:off x="763" y="2218"/>
              <a:ext cx="4239" cy="9"/>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6" name="Rectangle 68">
              <a:extLst>
                <a:ext uri="{FF2B5EF4-FFF2-40B4-BE49-F238E27FC236}">
                  <a16:creationId xmlns:a16="http://schemas.microsoft.com/office/drawing/2014/main" id="{006B67FB-8409-B3F3-60EA-1537F51A8794}"/>
                </a:ext>
              </a:extLst>
            </p:cNvPr>
            <p:cNvSpPr>
              <a:spLocks noChangeArrowheads="1"/>
            </p:cNvSpPr>
            <p:nvPr/>
          </p:nvSpPr>
          <p:spPr bwMode="auto">
            <a:xfrm>
              <a:off x="763" y="2453"/>
              <a:ext cx="2595" cy="10"/>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7" name="Rectangle 69">
              <a:extLst>
                <a:ext uri="{FF2B5EF4-FFF2-40B4-BE49-F238E27FC236}">
                  <a16:creationId xmlns:a16="http://schemas.microsoft.com/office/drawing/2014/main" id="{A425534E-6C5C-17F5-1208-8E046F608518}"/>
                </a:ext>
              </a:extLst>
            </p:cNvPr>
            <p:cNvSpPr>
              <a:spLocks noChangeArrowheads="1"/>
            </p:cNvSpPr>
            <p:nvPr/>
          </p:nvSpPr>
          <p:spPr bwMode="auto">
            <a:xfrm>
              <a:off x="763" y="2574"/>
              <a:ext cx="2595" cy="9"/>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8" name="Rectangle 70">
              <a:extLst>
                <a:ext uri="{FF2B5EF4-FFF2-40B4-BE49-F238E27FC236}">
                  <a16:creationId xmlns:a16="http://schemas.microsoft.com/office/drawing/2014/main" id="{2C4AB815-DE28-8011-6124-1C02DCD97135}"/>
                </a:ext>
              </a:extLst>
            </p:cNvPr>
            <p:cNvSpPr>
              <a:spLocks noChangeArrowheads="1"/>
            </p:cNvSpPr>
            <p:nvPr/>
          </p:nvSpPr>
          <p:spPr bwMode="auto">
            <a:xfrm>
              <a:off x="763" y="2689"/>
              <a:ext cx="2595" cy="10"/>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9" name="Rectangle 71">
              <a:extLst>
                <a:ext uri="{FF2B5EF4-FFF2-40B4-BE49-F238E27FC236}">
                  <a16:creationId xmlns:a16="http://schemas.microsoft.com/office/drawing/2014/main" id="{3820B575-6BA7-C730-49B5-601E7DE2DFD4}"/>
                </a:ext>
              </a:extLst>
            </p:cNvPr>
            <p:cNvSpPr>
              <a:spLocks noChangeArrowheads="1"/>
            </p:cNvSpPr>
            <p:nvPr/>
          </p:nvSpPr>
          <p:spPr bwMode="auto">
            <a:xfrm>
              <a:off x="763" y="2805"/>
              <a:ext cx="2595" cy="9"/>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0" name="Rectangle 72">
              <a:extLst>
                <a:ext uri="{FF2B5EF4-FFF2-40B4-BE49-F238E27FC236}">
                  <a16:creationId xmlns:a16="http://schemas.microsoft.com/office/drawing/2014/main" id="{7D6E6D47-6BE4-E99C-8786-5810CF738025}"/>
                </a:ext>
              </a:extLst>
            </p:cNvPr>
            <p:cNvSpPr>
              <a:spLocks noChangeArrowheads="1"/>
            </p:cNvSpPr>
            <p:nvPr/>
          </p:nvSpPr>
          <p:spPr bwMode="auto">
            <a:xfrm>
              <a:off x="763" y="2920"/>
              <a:ext cx="2595" cy="10"/>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1" name="Rectangle 73">
              <a:extLst>
                <a:ext uri="{FF2B5EF4-FFF2-40B4-BE49-F238E27FC236}">
                  <a16:creationId xmlns:a16="http://schemas.microsoft.com/office/drawing/2014/main" id="{EB941C23-F74E-82C4-0BD6-4CA40C6F9A24}"/>
                </a:ext>
              </a:extLst>
            </p:cNvPr>
            <p:cNvSpPr>
              <a:spLocks noChangeArrowheads="1"/>
            </p:cNvSpPr>
            <p:nvPr/>
          </p:nvSpPr>
          <p:spPr bwMode="auto">
            <a:xfrm>
              <a:off x="763" y="3035"/>
              <a:ext cx="2595" cy="10"/>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2" name="Rectangle 74">
              <a:extLst>
                <a:ext uri="{FF2B5EF4-FFF2-40B4-BE49-F238E27FC236}">
                  <a16:creationId xmlns:a16="http://schemas.microsoft.com/office/drawing/2014/main" id="{493C305A-C206-9E9B-4895-EC133BD00841}"/>
                </a:ext>
              </a:extLst>
            </p:cNvPr>
            <p:cNvSpPr>
              <a:spLocks noChangeArrowheads="1"/>
            </p:cNvSpPr>
            <p:nvPr/>
          </p:nvSpPr>
          <p:spPr bwMode="auto">
            <a:xfrm>
              <a:off x="763" y="3151"/>
              <a:ext cx="2595" cy="10"/>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83" name="Rectangle 75">
              <a:extLst>
                <a:ext uri="{FF2B5EF4-FFF2-40B4-BE49-F238E27FC236}">
                  <a16:creationId xmlns:a16="http://schemas.microsoft.com/office/drawing/2014/main" id="{D3D7C5FC-0DF7-686D-36AD-2C2C3FD71659}"/>
                </a:ext>
              </a:extLst>
            </p:cNvPr>
            <p:cNvSpPr>
              <a:spLocks noChangeArrowheads="1"/>
            </p:cNvSpPr>
            <p:nvPr/>
          </p:nvSpPr>
          <p:spPr bwMode="auto">
            <a:xfrm>
              <a:off x="763" y="3266"/>
              <a:ext cx="2595" cy="10"/>
            </a:xfrm>
            <a:prstGeom prst="rect">
              <a:avLst/>
            </a:prstGeom>
            <a:solidFill>
              <a:srgbClr val="9E9E9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402932222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F9E4137E-F0DB-9EE2-E616-D1C8C7E86C20}"/>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45</a:t>
            </a:fld>
            <a:endParaRPr lang="en-US" dirty="0">
              <a:solidFill>
                <a:srgbClr val="000000"/>
              </a:solidFill>
            </a:endParaRPr>
          </a:p>
        </p:txBody>
      </p:sp>
      <p:sp>
        <p:nvSpPr>
          <p:cNvPr id="6" name="object 2">
            <a:extLst>
              <a:ext uri="{FF2B5EF4-FFF2-40B4-BE49-F238E27FC236}">
                <a16:creationId xmlns:a16="http://schemas.microsoft.com/office/drawing/2014/main" id="{21FA64EC-53D7-9910-B178-D57F9FAE639A}"/>
              </a:ext>
            </a:extLst>
          </p:cNvPr>
          <p:cNvSpPr txBox="1">
            <a:spLocks/>
          </p:cNvSpPr>
          <p:nvPr/>
        </p:nvSpPr>
        <p:spPr>
          <a:xfrm>
            <a:off x="228600" y="128016"/>
            <a:ext cx="8686800" cy="984885"/>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pPr>
              <a:lnSpc>
                <a:spcPct val="100000"/>
              </a:lnSpc>
              <a:spcBef>
                <a:spcPts val="0"/>
              </a:spcBef>
            </a:pPr>
            <a:r>
              <a:rPr lang="en-US" dirty="0"/>
              <a:t>Models: Logistic Regression – Evaluation Summary</a:t>
            </a:r>
            <a:endParaRPr lang="en-US" spc="-20" dirty="0">
              <a:solidFill>
                <a:srgbClr val="2D3B45"/>
              </a:solidFill>
            </a:endParaRPr>
          </a:p>
        </p:txBody>
      </p:sp>
      <p:sp>
        <p:nvSpPr>
          <p:cNvPr id="2" name="object 3">
            <a:extLst>
              <a:ext uri="{FF2B5EF4-FFF2-40B4-BE49-F238E27FC236}">
                <a16:creationId xmlns:a16="http://schemas.microsoft.com/office/drawing/2014/main" id="{232C1CDA-451F-AE4B-9FDA-7A2C634D44EC}"/>
              </a:ext>
            </a:extLst>
          </p:cNvPr>
          <p:cNvSpPr txBox="1"/>
          <p:nvPr/>
        </p:nvSpPr>
        <p:spPr>
          <a:xfrm>
            <a:off x="914400" y="901885"/>
            <a:ext cx="7315200" cy="5211699"/>
          </a:xfrm>
          <a:prstGeom prst="rect">
            <a:avLst/>
          </a:prstGeom>
        </p:spPr>
        <p:txBody>
          <a:bodyPr vert="horz" wrap="square" lIns="0" tIns="12700" rIns="0" bIns="0" rtlCol="0">
            <a:noAutofit/>
          </a:bodyPr>
          <a:lstStyle/>
          <a:p>
            <a:pPr marL="329184" marR="5080" indent="-342900" algn="just">
              <a:spcAft>
                <a:spcPts val="600"/>
              </a:spcAft>
              <a:buSzPct val="102500"/>
              <a:buFont typeface="Arial MT"/>
              <a:buChar char="•"/>
              <a:tabLst>
                <a:tab pos="354965" algn="l"/>
              </a:tabLst>
            </a:pPr>
            <a:r>
              <a:rPr lang="en-US" sz="2000" b="1" dirty="0">
                <a:cs typeface="Calibri"/>
              </a:rPr>
              <a:t>Training:</a:t>
            </a:r>
            <a:r>
              <a:rPr sz="2000" b="1" spc="-60" dirty="0">
                <a:cs typeface="Calibri"/>
              </a:rPr>
              <a:t> </a:t>
            </a:r>
            <a:r>
              <a:rPr lang="en-US" sz="2000" dirty="0"/>
              <a:t>The model performed very well on the training data, with an </a:t>
            </a:r>
            <a:r>
              <a:rPr lang="en-US" sz="2000" b="1" dirty="0"/>
              <a:t>accuracy of 90.27%</a:t>
            </a:r>
            <a:r>
              <a:rPr lang="en-US" sz="2000" dirty="0"/>
              <a:t>, meaning it got most predictions right. Its </a:t>
            </a:r>
            <a:r>
              <a:rPr lang="en-US" sz="2000" b="1" dirty="0"/>
              <a:t>sensitivity was 88.68%</a:t>
            </a:r>
            <a:r>
              <a:rPr lang="en-US" sz="2000" dirty="0"/>
              <a:t>, indicating it was effective at detecting abusive comments. The </a:t>
            </a:r>
            <a:r>
              <a:rPr lang="en-US" sz="2000" b="1" dirty="0"/>
              <a:t>precision was 92.55%</a:t>
            </a:r>
            <a:r>
              <a:rPr lang="en-US" sz="2000" dirty="0"/>
              <a:t>,</a:t>
            </a:r>
            <a:r>
              <a:rPr lang="en-US" sz="2000" b="1" dirty="0"/>
              <a:t> </a:t>
            </a:r>
            <a:r>
              <a:rPr lang="en-US" sz="2000" dirty="0"/>
              <a:t>so when it flagged a comment as abusive, it was right most of the time. The </a:t>
            </a:r>
            <a:r>
              <a:rPr lang="en-US" sz="2000" b="1" dirty="0"/>
              <a:t>specificity was 92.04%</a:t>
            </a:r>
            <a:r>
              <a:rPr lang="en-US" sz="2000" dirty="0"/>
              <a:t>,</a:t>
            </a:r>
            <a:r>
              <a:rPr lang="en-US" sz="2000" b="1" dirty="0"/>
              <a:t> </a:t>
            </a:r>
            <a:r>
              <a:rPr lang="en-US" sz="2000" dirty="0"/>
              <a:t>meaning it also correctly identified non-abusive comments. The </a:t>
            </a:r>
            <a:r>
              <a:rPr lang="en-US" sz="2000" b="1" dirty="0"/>
              <a:t>F1 score was 90.57%</a:t>
            </a:r>
            <a:r>
              <a:rPr lang="en-US" sz="2000" dirty="0"/>
              <a:t>,</a:t>
            </a:r>
            <a:r>
              <a:rPr lang="en-US" sz="2000" b="1" dirty="0"/>
              <a:t> </a:t>
            </a:r>
            <a:r>
              <a:rPr lang="en-US" sz="2000" dirty="0"/>
              <a:t>showing a strong balance between precision and sensitivity, and the </a:t>
            </a:r>
            <a:r>
              <a:rPr lang="en-US" sz="2000" b="1" dirty="0"/>
              <a:t>MCC was 80.61%</a:t>
            </a:r>
            <a:r>
              <a:rPr lang="en-US" sz="2000" dirty="0"/>
              <a:t>, reflecting overall solid performance.</a:t>
            </a:r>
            <a:endParaRPr lang="en-US" sz="2000" kern="100" dirty="0">
              <a:ea typeface="Aptos" panose="020B0004020202020204"/>
              <a:cs typeface="Times New Roman" panose="02020603050405020304" pitchFamily="18" charset="0"/>
            </a:endParaRPr>
          </a:p>
          <a:p>
            <a:pPr marL="329184" marR="5080" indent="-342900" algn="just">
              <a:spcAft>
                <a:spcPts val="600"/>
              </a:spcAft>
              <a:buSzPct val="102500"/>
              <a:buFont typeface="Arial MT"/>
              <a:buChar char="•"/>
              <a:tabLst>
                <a:tab pos="354965" algn="l"/>
              </a:tabLst>
            </a:pPr>
            <a:r>
              <a:rPr lang="en-GB" sz="2000" b="1" kern="100" dirty="0">
                <a:solidFill>
                  <a:srgbClr val="2D3B45"/>
                </a:solidFill>
                <a:cs typeface="Times New Roman" panose="02020603050405020304" pitchFamily="18" charset="0"/>
              </a:rPr>
              <a:t>V</a:t>
            </a:r>
            <a:r>
              <a:rPr lang="en-GB" sz="2000" b="1" kern="100" dirty="0">
                <a:ea typeface="Aptos" panose="020B0004020202020204"/>
                <a:cs typeface="Times New Roman" panose="02020603050405020304" pitchFamily="18" charset="0"/>
              </a:rPr>
              <a:t>alidation:</a:t>
            </a:r>
            <a:r>
              <a:rPr lang="en-GB" sz="2000" kern="100" dirty="0">
                <a:ea typeface="Aptos" panose="020B0004020202020204"/>
                <a:cs typeface="Times New Roman" panose="02020603050405020304" pitchFamily="18" charset="0"/>
              </a:rPr>
              <a:t> </a:t>
            </a:r>
            <a:r>
              <a:rPr lang="en-US" sz="2000" dirty="0"/>
              <a:t>The model’s </a:t>
            </a:r>
            <a:r>
              <a:rPr lang="en-US" sz="2000" b="1" dirty="0"/>
              <a:t>accuracy dropped to 80.12%</a:t>
            </a:r>
            <a:r>
              <a:rPr lang="en-US" sz="2000" dirty="0"/>
              <a:t>,</a:t>
            </a:r>
            <a:r>
              <a:rPr lang="en-US" sz="2000" b="1" dirty="0"/>
              <a:t> </a:t>
            </a:r>
            <a:r>
              <a:rPr lang="en-US" sz="2000" dirty="0"/>
              <a:t>suggesting some overfitting. The </a:t>
            </a:r>
            <a:r>
              <a:rPr lang="en-US" sz="2000" b="1" dirty="0"/>
              <a:t>sensitivity was 88.80%</a:t>
            </a:r>
            <a:r>
              <a:rPr lang="en-US" sz="2000" dirty="0"/>
              <a:t>, so it still detected most abusive comments. The </a:t>
            </a:r>
            <a:r>
              <a:rPr lang="en-US" sz="2000" b="1" dirty="0"/>
              <a:t>precision was 77.01%</a:t>
            </a:r>
            <a:r>
              <a:rPr lang="en-US" sz="2000" dirty="0"/>
              <a:t>,</a:t>
            </a:r>
            <a:r>
              <a:rPr lang="en-US" sz="2000" b="1" dirty="0"/>
              <a:t> </a:t>
            </a:r>
            <a:r>
              <a:rPr lang="en-US" sz="2000" dirty="0"/>
              <a:t>showing it maintained good prediction quality, and </a:t>
            </a:r>
            <a:r>
              <a:rPr lang="en-US" sz="2000" b="1" dirty="0"/>
              <a:t>specificity was 70.46%</a:t>
            </a:r>
            <a:r>
              <a:rPr lang="en-US" sz="2000" dirty="0"/>
              <a:t>, indicating a fair ability to recognize non-abusive comments. The </a:t>
            </a:r>
            <a:r>
              <a:rPr lang="en-US" sz="2000" b="1" dirty="0"/>
              <a:t>F1 score was 82.48%</a:t>
            </a:r>
            <a:r>
              <a:rPr lang="en-US" sz="2000" dirty="0"/>
              <a:t>, showing a good balance between precision and sensitivity, and </a:t>
            </a:r>
            <a:r>
              <a:rPr lang="en-US" sz="2000" b="1" dirty="0"/>
              <a:t>MCC was 60.59%</a:t>
            </a:r>
            <a:r>
              <a:rPr lang="en-US" sz="2000" dirty="0"/>
              <a:t>,</a:t>
            </a:r>
            <a:r>
              <a:rPr lang="en-US" sz="2000" b="1" dirty="0"/>
              <a:t> </a:t>
            </a:r>
            <a:r>
              <a:rPr lang="en-US" sz="2000" dirty="0"/>
              <a:t>reflecting fair overall performance.</a:t>
            </a:r>
          </a:p>
          <a:p>
            <a:pPr marR="5080" algn="just">
              <a:spcAft>
                <a:spcPts val="600"/>
              </a:spcAft>
              <a:buSzPct val="102500"/>
              <a:tabLst>
                <a:tab pos="354965" algn="l"/>
              </a:tabLst>
            </a:pPr>
            <a:endParaRPr sz="2000" dirty="0">
              <a:latin typeface="Calibri"/>
              <a:cs typeface="Calibri"/>
            </a:endParaRPr>
          </a:p>
        </p:txBody>
      </p:sp>
    </p:spTree>
    <p:extLst>
      <p:ext uri="{BB962C8B-B14F-4D97-AF65-F5344CB8AC3E}">
        <p14:creationId xmlns:p14="http://schemas.microsoft.com/office/powerpoint/2010/main" val="145502722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4">
            <a:extLst>
              <a:ext uri="{FF2B5EF4-FFF2-40B4-BE49-F238E27FC236}">
                <a16:creationId xmlns:a16="http://schemas.microsoft.com/office/drawing/2014/main" id="{AFA9D54A-7AB7-3610-BFE2-6EDEFD7EAE2C}"/>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46</a:t>
            </a:fld>
            <a:endParaRPr lang="en-US" dirty="0">
              <a:solidFill>
                <a:srgbClr val="000000"/>
              </a:solidFill>
            </a:endParaRPr>
          </a:p>
        </p:txBody>
      </p:sp>
      <p:sp>
        <p:nvSpPr>
          <p:cNvPr id="7" name="object 2">
            <a:extLst>
              <a:ext uri="{FF2B5EF4-FFF2-40B4-BE49-F238E27FC236}">
                <a16:creationId xmlns:a16="http://schemas.microsoft.com/office/drawing/2014/main" id="{95E4EC45-92D4-A45D-23A7-37525F718D54}"/>
              </a:ext>
            </a:extLst>
          </p:cNvPr>
          <p:cNvSpPr txBox="1">
            <a:spLocks/>
          </p:cNvSpPr>
          <p:nvPr/>
        </p:nvSpPr>
        <p:spPr>
          <a:xfrm>
            <a:off x="228600" y="128016"/>
            <a:ext cx="8686800" cy="984885"/>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pPr>
              <a:lnSpc>
                <a:spcPct val="100000"/>
              </a:lnSpc>
              <a:spcBef>
                <a:spcPts val="0"/>
              </a:spcBef>
            </a:pPr>
            <a:r>
              <a:rPr lang="en-US" dirty="0"/>
              <a:t>Models: Comparing Best NB &amp; Logistic Regression</a:t>
            </a:r>
            <a:endParaRPr lang="en-US" spc="-20" dirty="0">
              <a:solidFill>
                <a:srgbClr val="2D3B45"/>
              </a:solidFill>
            </a:endParaRPr>
          </a:p>
        </p:txBody>
      </p:sp>
      <p:pic>
        <p:nvPicPr>
          <p:cNvPr id="5" name="Picture 4">
            <a:extLst>
              <a:ext uri="{FF2B5EF4-FFF2-40B4-BE49-F238E27FC236}">
                <a16:creationId xmlns:a16="http://schemas.microsoft.com/office/drawing/2014/main" id="{689D65DA-9286-F8DC-811E-A160E9B8F2F6}"/>
              </a:ext>
            </a:extLst>
          </p:cNvPr>
          <p:cNvPicPr>
            <a:picLocks noChangeAspect="1"/>
          </p:cNvPicPr>
          <p:nvPr/>
        </p:nvPicPr>
        <p:blipFill>
          <a:blip r:embed="rId2"/>
          <a:stretch>
            <a:fillRect/>
          </a:stretch>
        </p:blipFill>
        <p:spPr>
          <a:xfrm>
            <a:off x="922867" y="999490"/>
            <a:ext cx="7315200" cy="2534900"/>
          </a:xfrm>
          <a:prstGeom prst="rect">
            <a:avLst/>
          </a:prstGeom>
        </p:spPr>
      </p:pic>
      <p:sp>
        <p:nvSpPr>
          <p:cNvPr id="8" name="Content Placeholder 3">
            <a:extLst>
              <a:ext uri="{FF2B5EF4-FFF2-40B4-BE49-F238E27FC236}">
                <a16:creationId xmlns:a16="http://schemas.microsoft.com/office/drawing/2014/main" id="{1B6589B7-0FD2-F6ED-CD6E-AEAC54CEF24F}"/>
              </a:ext>
            </a:extLst>
          </p:cNvPr>
          <p:cNvSpPr>
            <a:spLocks noGrp="1"/>
          </p:cNvSpPr>
          <p:nvPr>
            <p:ph idx="1"/>
          </p:nvPr>
        </p:nvSpPr>
        <p:spPr>
          <a:xfrm>
            <a:off x="829733" y="3534390"/>
            <a:ext cx="7501467" cy="2429510"/>
          </a:xfrm>
        </p:spPr>
        <p:txBody>
          <a:bodyPr>
            <a:noAutofit/>
          </a:bodyPr>
          <a:lstStyle/>
          <a:p>
            <a:pPr marL="0" indent="0" algn="just">
              <a:spcAft>
                <a:spcPts val="600"/>
              </a:spcAft>
              <a:buNone/>
            </a:pPr>
            <a:r>
              <a:rPr lang="en-US" sz="2000" b="1" dirty="0"/>
              <a:t>Note: </a:t>
            </a:r>
            <a:r>
              <a:rPr lang="en-US" sz="2000" dirty="0"/>
              <a:t>The values highlighted in </a:t>
            </a:r>
            <a:r>
              <a:rPr lang="en-US" sz="2000" b="1" dirty="0"/>
              <a:t>light orange</a:t>
            </a:r>
            <a:r>
              <a:rPr lang="en-US" sz="2000" dirty="0"/>
              <a:t> represent the </a:t>
            </a:r>
            <a:r>
              <a:rPr lang="en-US" sz="2000" b="1" dirty="0"/>
              <a:t>highest scores across each metric. </a:t>
            </a:r>
            <a:r>
              <a:rPr lang="en-US" sz="2000" dirty="0"/>
              <a:t>All comparisons are based on the </a:t>
            </a:r>
            <a:r>
              <a:rPr lang="en-US" sz="2000" b="1" dirty="0"/>
              <a:t>validation partition</a:t>
            </a:r>
            <a:r>
              <a:rPr lang="en-US" sz="2000" dirty="0"/>
              <a:t> results for the models.</a:t>
            </a:r>
          </a:p>
          <a:p>
            <a:pPr marL="0" indent="0" algn="just">
              <a:spcAft>
                <a:spcPts val="600"/>
              </a:spcAft>
              <a:buNone/>
            </a:pPr>
            <a:r>
              <a:rPr lang="en-US" sz="2000" dirty="0"/>
              <a:t>The results show that Logistic Regression slightly outperformed </a:t>
            </a:r>
            <a:r>
              <a:rPr lang="en-US" sz="2000" dirty="0" err="1"/>
              <a:t>ComplementNB</a:t>
            </a:r>
            <a:r>
              <a:rPr lang="en-US" sz="2000" dirty="0"/>
              <a:t> on the validation partition, especially in accuracy and sensitivity, while </a:t>
            </a:r>
            <a:r>
              <a:rPr lang="en-US" sz="2000" dirty="0" err="1"/>
              <a:t>ComplementNB</a:t>
            </a:r>
            <a:r>
              <a:rPr lang="en-US" sz="2000" dirty="0"/>
              <a:t> maintained stronger training results.</a:t>
            </a:r>
          </a:p>
          <a:p>
            <a:pPr marL="0" indent="0" algn="just">
              <a:spcAft>
                <a:spcPts val="600"/>
              </a:spcAft>
              <a:buNone/>
            </a:pPr>
            <a:r>
              <a:rPr lang="en-US" sz="2000" dirty="0"/>
              <a:t> </a:t>
            </a:r>
          </a:p>
        </p:txBody>
      </p:sp>
    </p:spTree>
    <p:extLst>
      <p:ext uri="{BB962C8B-B14F-4D97-AF65-F5344CB8AC3E}">
        <p14:creationId xmlns:p14="http://schemas.microsoft.com/office/powerpoint/2010/main" val="91018772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4">
            <a:extLst>
              <a:ext uri="{FF2B5EF4-FFF2-40B4-BE49-F238E27FC236}">
                <a16:creationId xmlns:a16="http://schemas.microsoft.com/office/drawing/2014/main" id="{19B4638D-5C79-CE52-9167-52A657A1168B}"/>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47</a:t>
            </a:fld>
            <a:endParaRPr lang="en-US" dirty="0">
              <a:solidFill>
                <a:srgbClr val="000000"/>
              </a:solidFill>
            </a:endParaRPr>
          </a:p>
        </p:txBody>
      </p:sp>
      <p:sp>
        <p:nvSpPr>
          <p:cNvPr id="8" name="object 2">
            <a:extLst>
              <a:ext uri="{FF2B5EF4-FFF2-40B4-BE49-F238E27FC236}">
                <a16:creationId xmlns:a16="http://schemas.microsoft.com/office/drawing/2014/main" id="{4AD561AE-656C-17F5-7557-1D9B68710CD0}"/>
              </a:ext>
            </a:extLst>
          </p:cNvPr>
          <p:cNvSpPr txBox="1">
            <a:spLocks/>
          </p:cNvSpPr>
          <p:nvPr/>
        </p:nvSpPr>
        <p:spPr>
          <a:xfrm>
            <a:off x="228600" y="128016"/>
            <a:ext cx="8686800" cy="984885"/>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pPr>
              <a:lnSpc>
                <a:spcPct val="100000"/>
              </a:lnSpc>
              <a:spcBef>
                <a:spcPts val="0"/>
              </a:spcBef>
            </a:pPr>
            <a:r>
              <a:rPr lang="en-US" dirty="0"/>
              <a:t>Model Comparison (Validation Data)</a:t>
            </a:r>
          </a:p>
          <a:p>
            <a:pPr>
              <a:lnSpc>
                <a:spcPct val="100000"/>
              </a:lnSpc>
              <a:spcBef>
                <a:spcPts val="0"/>
              </a:spcBef>
            </a:pPr>
            <a:endParaRPr lang="en-US" spc="-20" dirty="0">
              <a:solidFill>
                <a:srgbClr val="2D3B45"/>
              </a:solidFill>
            </a:endParaRPr>
          </a:p>
        </p:txBody>
      </p:sp>
      <p:sp>
        <p:nvSpPr>
          <p:cNvPr id="2" name="object 3">
            <a:extLst>
              <a:ext uri="{FF2B5EF4-FFF2-40B4-BE49-F238E27FC236}">
                <a16:creationId xmlns:a16="http://schemas.microsoft.com/office/drawing/2014/main" id="{F0F04D58-1CF0-4232-5265-6BC7523B2782}"/>
              </a:ext>
            </a:extLst>
          </p:cNvPr>
          <p:cNvSpPr txBox="1"/>
          <p:nvPr/>
        </p:nvSpPr>
        <p:spPr>
          <a:xfrm>
            <a:off x="815787" y="963707"/>
            <a:ext cx="7396879" cy="5335494"/>
          </a:xfrm>
          <a:prstGeom prst="rect">
            <a:avLst/>
          </a:prstGeom>
        </p:spPr>
        <p:txBody>
          <a:bodyPr vert="horz" wrap="square" lIns="0" tIns="12700" rIns="0" bIns="0" rtlCol="0">
            <a:noAutofit/>
          </a:bodyPr>
          <a:lstStyle/>
          <a:p>
            <a:pPr marL="403225" indent="-307975" algn="just">
              <a:spcAft>
                <a:spcPts val="600"/>
              </a:spcAft>
              <a:buFont typeface="Arial" panose="020B0604020202020204" pitchFamily="34" charset="0"/>
              <a:buChar char="•"/>
            </a:pPr>
            <a:r>
              <a:rPr lang="en-US" sz="2000" b="1" spc="-45" dirty="0">
                <a:solidFill>
                  <a:srgbClr val="2D3B45"/>
                </a:solidFill>
                <a:cs typeface="Calibri"/>
              </a:rPr>
              <a:t>A</a:t>
            </a:r>
            <a:r>
              <a:rPr lang="en-US" sz="2000" b="1" dirty="0"/>
              <a:t>ccuracy: </a:t>
            </a:r>
            <a:r>
              <a:rPr lang="en-US" sz="2000" dirty="0"/>
              <a:t>Logistic Regression (80.12%) is slightly better than Complement Naive Bayes (78.57%), meaning Logistic Regression makes correct predictions more often overall.</a:t>
            </a:r>
          </a:p>
          <a:p>
            <a:pPr marL="403225" indent="-307975" algn="just">
              <a:spcAft>
                <a:spcPts val="600"/>
              </a:spcAft>
              <a:buFont typeface="Arial" panose="020B0604020202020204" pitchFamily="34" charset="0"/>
              <a:buChar char="•"/>
            </a:pPr>
            <a:r>
              <a:rPr lang="en-US" sz="2000" b="1" kern="0" dirty="0">
                <a:ea typeface="Times New Roman" panose="02020603050405020304" pitchFamily="18" charset="0"/>
                <a:cs typeface="Times New Roman" panose="02020603050405020304" pitchFamily="18" charset="0"/>
              </a:rPr>
              <a:t>S</a:t>
            </a:r>
            <a:r>
              <a:rPr lang="en-US" sz="2000" b="1" dirty="0"/>
              <a:t>ensitivity (Recall): </a:t>
            </a:r>
            <a:r>
              <a:rPr lang="en-US" sz="2000" dirty="0"/>
              <a:t>Logistic Regression (88.80%) outperforms Complement Naive Bayes (84.25%), in identifying abusive comments.</a:t>
            </a:r>
            <a:endParaRPr lang="en-US" sz="2000" kern="0" dirty="0">
              <a:ea typeface="Times New Roman" panose="02020603050405020304" pitchFamily="18" charset="0"/>
              <a:cs typeface="Times New Roman" panose="02020603050405020304" pitchFamily="18" charset="0"/>
            </a:endParaRPr>
          </a:p>
          <a:p>
            <a:pPr marL="403225" indent="-307975" algn="just">
              <a:spcAft>
                <a:spcPts val="600"/>
              </a:spcAft>
              <a:buFont typeface="Arial" panose="020B0604020202020204" pitchFamily="34" charset="0"/>
              <a:buChar char="•"/>
            </a:pPr>
            <a:r>
              <a:rPr lang="en-US" sz="2000" b="1" kern="0" dirty="0">
                <a:ea typeface="Times New Roman" panose="02020603050405020304" pitchFamily="18" charset="0"/>
                <a:cs typeface="Times New Roman" panose="02020603050405020304" pitchFamily="18" charset="0"/>
              </a:rPr>
              <a:t>P</a:t>
            </a:r>
            <a:r>
              <a:rPr lang="en-US" sz="2000" b="1" dirty="0"/>
              <a:t>recision: </a:t>
            </a:r>
            <a:r>
              <a:rPr lang="en-US" sz="2000" dirty="0"/>
              <a:t>Complement Naive Bayes (77.18%) performs slightly better than Logistic Regression (77.01%), indicating that Complement Naive Bayes is marginally better at avoiding non-abusive.</a:t>
            </a:r>
            <a:endParaRPr lang="en-US" sz="2000" kern="0" dirty="0">
              <a:ea typeface="Times New Roman" panose="02020603050405020304" pitchFamily="18" charset="0"/>
              <a:cs typeface="Times New Roman" panose="02020603050405020304" pitchFamily="18" charset="0"/>
            </a:endParaRPr>
          </a:p>
          <a:p>
            <a:pPr marL="403225" indent="-307975" algn="just">
              <a:spcAft>
                <a:spcPts val="600"/>
              </a:spcAft>
              <a:buFont typeface="Arial" panose="020B0604020202020204" pitchFamily="34" charset="0"/>
              <a:buChar char="•"/>
            </a:pPr>
            <a:r>
              <a:rPr lang="en-US" sz="2000" b="1" kern="0" dirty="0">
                <a:ea typeface="Times New Roman" panose="02020603050405020304" pitchFamily="18" charset="0"/>
                <a:cs typeface="Times New Roman" panose="02020603050405020304" pitchFamily="18" charset="0"/>
              </a:rPr>
              <a:t>S</a:t>
            </a:r>
            <a:r>
              <a:rPr lang="en-US" sz="2000" b="1" dirty="0"/>
              <a:t>pecificity: </a:t>
            </a:r>
            <a:r>
              <a:rPr lang="en-US" sz="2000" dirty="0"/>
              <a:t>Complement Naive Bayes (72.25%) performs better than Logistic Regression (70.46%), indicating that it more </a:t>
            </a:r>
            <a:r>
              <a:rPr lang="en-US" sz="2000" spc="20" dirty="0"/>
              <a:t>accurately</a:t>
            </a:r>
            <a:r>
              <a:rPr lang="en-US" sz="2000" dirty="0"/>
              <a:t> identifies non-abusive comments.</a:t>
            </a:r>
          </a:p>
          <a:p>
            <a:pPr marL="403225" indent="-307975" algn="just">
              <a:spcAft>
                <a:spcPts val="600"/>
              </a:spcAft>
              <a:buFont typeface="Arial" panose="020B0604020202020204" pitchFamily="34" charset="0"/>
              <a:buChar char="•"/>
            </a:pPr>
            <a:r>
              <a:rPr lang="en-US" sz="2000" b="1" dirty="0"/>
              <a:t>F1 Score: </a:t>
            </a:r>
            <a:r>
              <a:rPr lang="en-US" sz="2000" dirty="0"/>
              <a:t>Logistic Regression (82.48%) is higher than Complement Naive Bayes (80.56%), showing Logistic Regression is a better balance between precision and sensitivity.</a:t>
            </a:r>
          </a:p>
          <a:p>
            <a:pPr marL="403225" indent="-307975" algn="just">
              <a:spcAft>
                <a:spcPts val="600"/>
              </a:spcAft>
              <a:buFont typeface="Arial" panose="020B0604020202020204" pitchFamily="34" charset="0"/>
              <a:buChar char="•"/>
            </a:pPr>
            <a:endParaRPr lang="en-US" sz="2000" dirty="0"/>
          </a:p>
          <a:p>
            <a:pPr marL="403225" indent="-307975" algn="just">
              <a:spcAft>
                <a:spcPts val="600"/>
              </a:spcAft>
              <a:buFont typeface="Arial" panose="020B0604020202020204" pitchFamily="34" charset="0"/>
              <a:buChar char="•"/>
            </a:pPr>
            <a:endParaRPr lang="en-US" sz="2000" dirty="0"/>
          </a:p>
          <a:p>
            <a:pPr marL="403225" indent="-307975" algn="just">
              <a:spcAft>
                <a:spcPts val="600"/>
              </a:spcAft>
              <a:buFont typeface="Arial" panose="020B0604020202020204" pitchFamily="34" charset="0"/>
              <a:buChar char="•"/>
            </a:pPr>
            <a:endParaRPr lang="en-US" sz="2000" dirty="0"/>
          </a:p>
        </p:txBody>
      </p:sp>
    </p:spTree>
    <p:extLst>
      <p:ext uri="{BB962C8B-B14F-4D97-AF65-F5344CB8AC3E}">
        <p14:creationId xmlns:p14="http://schemas.microsoft.com/office/powerpoint/2010/main" val="366939697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A87235D7-5C6C-7F08-D994-C7C6C9E3C633}"/>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48</a:t>
            </a:fld>
            <a:endParaRPr lang="en-US" dirty="0">
              <a:solidFill>
                <a:srgbClr val="000000"/>
              </a:solidFill>
            </a:endParaRPr>
          </a:p>
        </p:txBody>
      </p:sp>
      <p:sp>
        <p:nvSpPr>
          <p:cNvPr id="2" name="object 3">
            <a:extLst>
              <a:ext uri="{FF2B5EF4-FFF2-40B4-BE49-F238E27FC236}">
                <a16:creationId xmlns:a16="http://schemas.microsoft.com/office/drawing/2014/main" id="{F6264D98-14DE-1D38-411C-7E83683E625E}"/>
              </a:ext>
            </a:extLst>
          </p:cNvPr>
          <p:cNvSpPr txBox="1"/>
          <p:nvPr/>
        </p:nvSpPr>
        <p:spPr>
          <a:xfrm>
            <a:off x="815788" y="625039"/>
            <a:ext cx="7315200" cy="5146174"/>
          </a:xfrm>
          <a:prstGeom prst="rect">
            <a:avLst/>
          </a:prstGeom>
        </p:spPr>
        <p:txBody>
          <a:bodyPr vert="horz" wrap="square" lIns="0" tIns="12700" rIns="0" bIns="0" rtlCol="0">
            <a:noAutofit/>
          </a:bodyPr>
          <a:lstStyle/>
          <a:p>
            <a:pPr marL="403225" indent="-307975" algn="just">
              <a:spcAft>
                <a:spcPts val="600"/>
              </a:spcAft>
              <a:buFont typeface="Arial" panose="020B0604020202020204" pitchFamily="34" charset="0"/>
              <a:buChar char="•"/>
            </a:pPr>
            <a:r>
              <a:rPr lang="en-US" sz="2000" b="1" dirty="0"/>
              <a:t>Matthews Correlation Coefficient (</a:t>
            </a:r>
            <a:r>
              <a:rPr lang="en-US" sz="2000" b="1" spc="-45" dirty="0">
                <a:solidFill>
                  <a:srgbClr val="2D3B45"/>
                </a:solidFill>
                <a:cs typeface="Calibri"/>
              </a:rPr>
              <a:t>M</a:t>
            </a:r>
            <a:r>
              <a:rPr lang="en-US" sz="2000" b="1" dirty="0"/>
              <a:t>CC): </a:t>
            </a:r>
            <a:r>
              <a:rPr lang="en-US" sz="2000" dirty="0"/>
              <a:t>Logistic Regression (60.59%) is higher than Complement Naive Bayes (57.07%), indicating that </a:t>
            </a:r>
            <a:r>
              <a:rPr lang="en-US" sz="2000" b="1" dirty="0"/>
              <a:t>Logistic Regression</a:t>
            </a:r>
            <a:r>
              <a:rPr lang="en-US" sz="2000" dirty="0"/>
              <a:t> has stronger overall performance when handling imbalanced data.</a:t>
            </a:r>
          </a:p>
          <a:p>
            <a:pPr marL="403225" indent="-307975" algn="just">
              <a:spcAft>
                <a:spcPts val="600"/>
              </a:spcAft>
              <a:buFont typeface="Arial" panose="020B0604020202020204" pitchFamily="34" charset="0"/>
              <a:buChar char="•"/>
            </a:pPr>
            <a:r>
              <a:rPr lang="en-US" sz="2000" b="1" dirty="0"/>
              <a:t>Conclusion: Logistic Regression </a:t>
            </a:r>
            <a:r>
              <a:rPr lang="en-US" sz="2000" dirty="0"/>
              <a:t>proved to be more dependable. While the overall differences between the two models are not very large, Logistic Regression showed slightly better and more consistent performance on the validation data, particularly in accuracy, specificity, F1 score, and MCC. Complement Naive Bayes achieved higher precision and was more effective at identifying non-abusive comments, but its performance dropped more between training and validation. Overall, Logistic Regression provides steadier results across the evaluation metrics, whereas Complement Naive Bayes is preferable when precision and reducing false positives are the main priorities.</a:t>
            </a:r>
          </a:p>
          <a:p>
            <a:pPr marL="58738"/>
            <a:r>
              <a:rPr lang="en-US" sz="2000" dirty="0"/>
              <a:t> </a:t>
            </a:r>
          </a:p>
          <a:p>
            <a:pPr marL="403225" indent="-307975" algn="just">
              <a:spcAft>
                <a:spcPts val="600"/>
              </a:spcAft>
              <a:buFont typeface="Arial" panose="020B0604020202020204" pitchFamily="34" charset="0"/>
              <a:buChar char="•"/>
            </a:pPr>
            <a:endParaRPr lang="en-US" sz="2000" dirty="0"/>
          </a:p>
        </p:txBody>
      </p:sp>
    </p:spTree>
    <p:extLst>
      <p:ext uri="{BB962C8B-B14F-4D97-AF65-F5344CB8AC3E}">
        <p14:creationId xmlns:p14="http://schemas.microsoft.com/office/powerpoint/2010/main" val="248260497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96641E-0056-D947-6B8B-C69C2B8E0A5E}"/>
            </a:ext>
          </a:extLst>
        </p:cNvPr>
        <p:cNvGrpSpPr/>
        <p:nvPr/>
      </p:nvGrpSpPr>
      <p:grpSpPr>
        <a:xfrm>
          <a:off x="0" y="0"/>
          <a:ext cx="0" cy="0"/>
          <a:chOff x="0" y="0"/>
          <a:chExt cx="0" cy="0"/>
        </a:xfrm>
      </p:grpSpPr>
      <p:sp>
        <p:nvSpPr>
          <p:cNvPr id="5" name="object 2">
            <a:extLst>
              <a:ext uri="{FF2B5EF4-FFF2-40B4-BE49-F238E27FC236}">
                <a16:creationId xmlns:a16="http://schemas.microsoft.com/office/drawing/2014/main" id="{74464AE9-AE6A-F3F6-6A7F-7BBB3F5CB236}"/>
              </a:ext>
            </a:extLst>
          </p:cNvPr>
          <p:cNvSpPr txBox="1">
            <a:spLocks/>
          </p:cNvSpPr>
          <p:nvPr/>
        </p:nvSpPr>
        <p:spPr>
          <a:xfrm>
            <a:off x="228600" y="128016"/>
            <a:ext cx="8686800" cy="984885"/>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pPr>
              <a:lnSpc>
                <a:spcPct val="100000"/>
              </a:lnSpc>
              <a:spcBef>
                <a:spcPts val="0"/>
              </a:spcBef>
            </a:pPr>
            <a:r>
              <a:rPr lang="en-US" dirty="0"/>
              <a:t>Models: Binary Logistic Regression |</a:t>
            </a:r>
          </a:p>
          <a:p>
            <a:pPr>
              <a:lnSpc>
                <a:spcPct val="100000"/>
              </a:lnSpc>
              <a:spcBef>
                <a:spcPts val="0"/>
              </a:spcBef>
            </a:pPr>
            <a:r>
              <a:rPr lang="en-US" dirty="0"/>
              <a:t>Confusion Matrix | Testing</a:t>
            </a:r>
            <a:endParaRPr lang="en-US" spc="-20" dirty="0">
              <a:solidFill>
                <a:srgbClr val="2D3B45"/>
              </a:solidFill>
            </a:endParaRPr>
          </a:p>
        </p:txBody>
      </p:sp>
      <p:sp>
        <p:nvSpPr>
          <p:cNvPr id="2" name="Slide Number Placeholder 4">
            <a:extLst>
              <a:ext uri="{FF2B5EF4-FFF2-40B4-BE49-F238E27FC236}">
                <a16:creationId xmlns:a16="http://schemas.microsoft.com/office/drawing/2014/main" id="{DAAB1864-EC63-4980-5039-25A4B9B293C1}"/>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49</a:t>
            </a:fld>
            <a:endParaRPr lang="en-US" dirty="0">
              <a:solidFill>
                <a:srgbClr val="000000"/>
              </a:solidFill>
            </a:endParaRPr>
          </a:p>
        </p:txBody>
      </p:sp>
      <p:pic>
        <p:nvPicPr>
          <p:cNvPr id="4" name="Picture 3">
            <a:extLst>
              <a:ext uri="{FF2B5EF4-FFF2-40B4-BE49-F238E27FC236}">
                <a16:creationId xmlns:a16="http://schemas.microsoft.com/office/drawing/2014/main" id="{4EEF0F8B-489C-433E-4026-94596F573C0D}"/>
              </a:ext>
            </a:extLst>
          </p:cNvPr>
          <p:cNvPicPr>
            <a:picLocks noChangeAspect="1"/>
          </p:cNvPicPr>
          <p:nvPr/>
        </p:nvPicPr>
        <p:blipFill>
          <a:blip r:embed="rId2"/>
          <a:stretch>
            <a:fillRect/>
          </a:stretch>
        </p:blipFill>
        <p:spPr>
          <a:xfrm>
            <a:off x="1492758" y="1844802"/>
            <a:ext cx="6158484" cy="3168396"/>
          </a:xfrm>
          <a:prstGeom prst="rect">
            <a:avLst/>
          </a:prstGeom>
        </p:spPr>
      </p:pic>
    </p:spTree>
    <p:extLst>
      <p:ext uri="{BB962C8B-B14F-4D97-AF65-F5344CB8AC3E}">
        <p14:creationId xmlns:p14="http://schemas.microsoft.com/office/powerpoint/2010/main" val="100449513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a:extLst>
              <a:ext uri="{FF2B5EF4-FFF2-40B4-BE49-F238E27FC236}">
                <a16:creationId xmlns:a16="http://schemas.microsoft.com/office/drawing/2014/main" id="{1A291B29-B50A-4A4E-AB8B-4CA8A61D1B26}"/>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4767" y="944553"/>
            <a:ext cx="7523798" cy="4025380"/>
          </a:xfrm>
          <a:prstGeom prst="rect">
            <a:avLst/>
          </a:prstGeom>
          <a:noFill/>
          <a:extLst>
            <a:ext uri="{909E8E84-426E-40DD-AFC4-6F175D3DCCD1}">
              <a14:hiddenFill xmlns:a14="http://schemas.microsoft.com/office/drawing/2010/main">
                <a:solidFill>
                  <a:srgbClr val="FFFFFF"/>
                </a:solidFill>
              </a14:hiddenFill>
            </a:ext>
          </a:extLst>
        </p:spPr>
      </p:pic>
      <p:sp>
        <p:nvSpPr>
          <p:cNvPr id="4" name="object 2">
            <a:extLst>
              <a:ext uri="{FF2B5EF4-FFF2-40B4-BE49-F238E27FC236}">
                <a16:creationId xmlns:a16="http://schemas.microsoft.com/office/drawing/2014/main" id="{77CDAC63-72C7-4A2A-B3EC-C2D694602FA6}"/>
              </a:ext>
            </a:extLst>
          </p:cNvPr>
          <p:cNvSpPr txBox="1">
            <a:spLocks/>
          </p:cNvSpPr>
          <p:nvPr/>
        </p:nvSpPr>
        <p:spPr>
          <a:xfrm>
            <a:off x="228600" y="128016"/>
            <a:ext cx="8686800" cy="984885"/>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pPr>
              <a:lnSpc>
                <a:spcPct val="100000"/>
              </a:lnSpc>
              <a:spcBef>
                <a:spcPts val="0"/>
              </a:spcBef>
            </a:pPr>
            <a:r>
              <a:rPr lang="en-US" dirty="0"/>
              <a:t>Models: </a:t>
            </a:r>
            <a:r>
              <a:rPr lang="en-US" kern="100" dirty="0">
                <a:ea typeface="Aptos" panose="020B0004020202020204" pitchFamily="34" charset="0"/>
                <a:cs typeface="Times New Roman" panose="02020603050405020304" pitchFamily="18" charset="0"/>
              </a:rPr>
              <a:t>Interpretation</a:t>
            </a:r>
            <a:endParaRPr lang="en-US" spc="-20" dirty="0">
              <a:solidFill>
                <a:srgbClr val="2D3B45"/>
              </a:solidFill>
            </a:endParaRPr>
          </a:p>
        </p:txBody>
      </p:sp>
      <p:sp>
        <p:nvSpPr>
          <p:cNvPr id="6" name="Slide Number Placeholder 4">
            <a:extLst>
              <a:ext uri="{FF2B5EF4-FFF2-40B4-BE49-F238E27FC236}">
                <a16:creationId xmlns:a16="http://schemas.microsoft.com/office/drawing/2014/main" id="{6DAFB3FF-D2B8-4959-FD6B-C26D3FCFC45C}"/>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50</a:t>
            </a:fld>
            <a:endParaRPr lang="en-US" dirty="0">
              <a:solidFill>
                <a:srgbClr val="000000"/>
              </a:solidFill>
            </a:endParaRPr>
          </a:p>
        </p:txBody>
      </p:sp>
      <p:sp>
        <p:nvSpPr>
          <p:cNvPr id="3" name="TextBox 2">
            <a:extLst>
              <a:ext uri="{FF2B5EF4-FFF2-40B4-BE49-F238E27FC236}">
                <a16:creationId xmlns:a16="http://schemas.microsoft.com/office/drawing/2014/main" id="{44642927-E8F0-0E17-0C70-F4814712037B}"/>
              </a:ext>
            </a:extLst>
          </p:cNvPr>
          <p:cNvSpPr txBox="1"/>
          <p:nvPr/>
        </p:nvSpPr>
        <p:spPr>
          <a:xfrm>
            <a:off x="922867" y="4981916"/>
            <a:ext cx="7391400" cy="1323439"/>
          </a:xfrm>
          <a:prstGeom prst="rect">
            <a:avLst/>
          </a:prstGeom>
          <a:noFill/>
        </p:spPr>
        <p:txBody>
          <a:bodyPr wrap="square">
            <a:spAutoFit/>
          </a:bodyPr>
          <a:lstStyle/>
          <a:p>
            <a:pPr marL="402336" marR="0" indent="-310896" algn="just">
              <a:spcAft>
                <a:spcPts val="600"/>
              </a:spcAft>
              <a:buNone/>
            </a:pPr>
            <a:r>
              <a:rPr lang="en-US" sz="2000" b="1" kern="100" dirty="0">
                <a:effectLst/>
                <a:ea typeface="Aptos" panose="020B0004020202020204" pitchFamily="34" charset="0"/>
                <a:cs typeface="Times New Roman" panose="02020603050405020304" pitchFamily="18" charset="0"/>
              </a:rPr>
              <a:t>	Note:</a:t>
            </a:r>
            <a:r>
              <a:rPr lang="en-US" sz="2000" kern="100" dirty="0">
                <a:effectLst/>
                <a:ea typeface="Aptos" panose="020B0004020202020204" pitchFamily="34" charset="0"/>
                <a:cs typeface="Times New Roman" panose="02020603050405020304" pitchFamily="18" charset="0"/>
              </a:rPr>
              <a:t> The ROC curve for Logistic Regression </a:t>
            </a:r>
            <a:r>
              <a:rPr lang="en-US" sz="2000" kern="100" dirty="0">
                <a:ea typeface="Aptos" panose="020B0004020202020204" pitchFamily="34" charset="0"/>
                <a:cs typeface="Times New Roman" panose="02020603050405020304" pitchFamily="18" charset="0"/>
              </a:rPr>
              <a:t>u</a:t>
            </a:r>
            <a:r>
              <a:rPr lang="en-US" sz="2000" kern="100" dirty="0">
                <a:effectLst/>
                <a:ea typeface="Aptos" panose="020B0004020202020204" pitchFamily="34" charset="0"/>
                <a:cs typeface="Times New Roman" panose="02020603050405020304" pitchFamily="18" charset="0"/>
              </a:rPr>
              <a:t>sing the </a:t>
            </a:r>
            <a:r>
              <a:rPr lang="en-US" sz="2000" b="1" kern="100" dirty="0">
                <a:effectLst/>
                <a:ea typeface="Aptos" panose="020B0004020202020204" pitchFamily="34" charset="0"/>
                <a:cs typeface="Times New Roman" panose="02020603050405020304" pitchFamily="18" charset="0"/>
              </a:rPr>
              <a:t>testing partition</a:t>
            </a:r>
            <a:r>
              <a:rPr lang="en-US" sz="2000" kern="100" dirty="0">
                <a:effectLst/>
                <a:ea typeface="Aptos" panose="020B0004020202020204" pitchFamily="34" charset="0"/>
                <a:cs typeface="Times New Roman" panose="02020603050405020304" pitchFamily="18" charset="0"/>
              </a:rPr>
              <a:t> shows strong separability between abusive and non-abusive Hindi comments, with an AUC of </a:t>
            </a:r>
            <a:r>
              <a:rPr lang="en-US" sz="2000" b="1" kern="100" dirty="0">
                <a:effectLst/>
                <a:ea typeface="Aptos" panose="020B0004020202020204" pitchFamily="34" charset="0"/>
                <a:cs typeface="Times New Roman" panose="02020603050405020304" pitchFamily="18" charset="0"/>
              </a:rPr>
              <a:t>0.8785</a:t>
            </a:r>
            <a:r>
              <a:rPr lang="en-US" sz="2000" kern="100" dirty="0">
                <a:effectLst/>
                <a:ea typeface="Aptos" panose="020B0004020202020204" pitchFamily="34" charset="0"/>
                <a:cs typeface="Times New Roman" panose="02020603050405020304" pitchFamily="18" charset="0"/>
              </a:rPr>
              <a:t>, indicating strong model performance.</a:t>
            </a:r>
          </a:p>
        </p:txBody>
      </p:sp>
    </p:spTree>
    <p:extLst>
      <p:ext uri="{BB962C8B-B14F-4D97-AF65-F5344CB8AC3E}">
        <p14:creationId xmlns:p14="http://schemas.microsoft.com/office/powerpoint/2010/main" val="61667691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EA40B620-EE71-D423-CDC5-87F36BFC8391}"/>
              </a:ext>
            </a:extLst>
          </p:cNvPr>
          <p:cNvSpPr txBox="1">
            <a:spLocks/>
          </p:cNvSpPr>
          <p:nvPr/>
        </p:nvSpPr>
        <p:spPr>
          <a:xfrm>
            <a:off x="228600" y="128016"/>
            <a:ext cx="8686800" cy="984885"/>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pPr>
              <a:lnSpc>
                <a:spcPct val="100000"/>
              </a:lnSpc>
              <a:spcBef>
                <a:spcPts val="0"/>
              </a:spcBef>
            </a:pPr>
            <a:r>
              <a:rPr lang="en-US" dirty="0"/>
              <a:t>Models: </a:t>
            </a:r>
            <a:r>
              <a:rPr lang="en-US" kern="100" dirty="0">
                <a:ea typeface="Aptos" panose="020B0004020202020204" pitchFamily="34" charset="0"/>
                <a:cs typeface="Times New Roman" panose="02020603050405020304" pitchFamily="18" charset="0"/>
              </a:rPr>
              <a:t>Interpretation ROC Summary</a:t>
            </a:r>
            <a:endParaRPr lang="en-US" spc="-20" dirty="0">
              <a:solidFill>
                <a:srgbClr val="2D3B45"/>
              </a:solidFill>
            </a:endParaRPr>
          </a:p>
        </p:txBody>
      </p:sp>
      <p:sp>
        <p:nvSpPr>
          <p:cNvPr id="8" name="Slide Number Placeholder 4">
            <a:extLst>
              <a:ext uri="{FF2B5EF4-FFF2-40B4-BE49-F238E27FC236}">
                <a16:creationId xmlns:a16="http://schemas.microsoft.com/office/drawing/2014/main" id="{A44859E6-BA36-E409-C297-791FE25378FF}"/>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51</a:t>
            </a:fld>
            <a:endParaRPr lang="en-US" dirty="0">
              <a:solidFill>
                <a:srgbClr val="000000"/>
              </a:solidFill>
            </a:endParaRPr>
          </a:p>
        </p:txBody>
      </p:sp>
      <p:sp>
        <p:nvSpPr>
          <p:cNvPr id="10" name="Text Placeholder 2">
            <a:extLst>
              <a:ext uri="{FF2B5EF4-FFF2-40B4-BE49-F238E27FC236}">
                <a16:creationId xmlns:a16="http://schemas.microsoft.com/office/drawing/2014/main" id="{4961C999-4449-3540-42DD-160B5B9FC7B3}"/>
              </a:ext>
            </a:extLst>
          </p:cNvPr>
          <p:cNvSpPr txBox="1">
            <a:spLocks/>
          </p:cNvSpPr>
          <p:nvPr/>
        </p:nvSpPr>
        <p:spPr>
          <a:xfrm>
            <a:off x="719667" y="718488"/>
            <a:ext cx="7577666" cy="412452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2336" indent="-310896" algn="just">
              <a:lnSpc>
                <a:spcPct val="100000"/>
              </a:lnSpc>
              <a:spcBef>
                <a:spcPts val="0"/>
              </a:spcBef>
              <a:spcAft>
                <a:spcPts val="600"/>
              </a:spcAft>
            </a:pPr>
            <a:r>
              <a:rPr lang="en-US" sz="2000" kern="100" dirty="0">
                <a:ea typeface="Aptos" panose="020B0004020202020204" pitchFamily="34" charset="0"/>
                <a:cs typeface="Times New Roman" panose="02020603050405020304" pitchFamily="18" charset="0"/>
              </a:rPr>
              <a:t>The ROC Curve (Receiver Operating Characteristic) shows the trade-off between sensitivity (True Positive Rate) and 1 - specificity (False Positive Rate) at different classification thresholds. The blue line represents the actual performance of the Logistic Regression model—it shows how well the model separates abusive comments (positives) from non-abusive comments (negatives). The dotted gray diagonal line represents random guessing. The farther the blue line is above this diagonal, the better the model’s ability to distinguish between the two classes.</a:t>
            </a:r>
          </a:p>
          <a:p>
            <a:pPr marL="402336" indent="-310896" algn="just">
              <a:lnSpc>
                <a:spcPct val="100000"/>
              </a:lnSpc>
              <a:spcBef>
                <a:spcPts val="0"/>
              </a:spcBef>
              <a:spcAft>
                <a:spcPts val="600"/>
              </a:spcAft>
            </a:pPr>
            <a:r>
              <a:rPr lang="en-US" sz="2000" kern="100" dirty="0">
                <a:cs typeface="Times New Roman" panose="02020603050405020304" pitchFamily="18" charset="0"/>
              </a:rPr>
              <a:t>Logistic Regression achieved an AUC (Area Under the Curve) of 0.8785, which indicates strong model performance.</a:t>
            </a:r>
            <a:endParaRPr lang="en-US" sz="2000" dirty="0"/>
          </a:p>
        </p:txBody>
      </p:sp>
    </p:spTree>
    <p:extLst>
      <p:ext uri="{BB962C8B-B14F-4D97-AF65-F5344CB8AC3E}">
        <p14:creationId xmlns:p14="http://schemas.microsoft.com/office/powerpoint/2010/main" val="229409584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9D1747E6-15E7-937D-C93D-564CC746AC1C}"/>
              </a:ext>
            </a:extLst>
          </p:cNvPr>
          <p:cNvSpPr txBox="1">
            <a:spLocks/>
          </p:cNvSpPr>
          <p:nvPr/>
        </p:nvSpPr>
        <p:spPr>
          <a:xfrm>
            <a:off x="228600" y="128016"/>
            <a:ext cx="8686800" cy="419291"/>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pPr>
              <a:lnSpc>
                <a:spcPct val="100000"/>
              </a:lnSpc>
              <a:spcBef>
                <a:spcPts val="0"/>
              </a:spcBef>
            </a:pPr>
            <a:r>
              <a:rPr lang="en-US" kern="100" dirty="0">
                <a:ea typeface="Aptos" panose="020B0004020202020204" pitchFamily="34" charset="0"/>
                <a:cs typeface="Times New Roman" panose="02020603050405020304" pitchFamily="18" charset="0"/>
              </a:rPr>
              <a:t>Conclusions</a:t>
            </a:r>
            <a:br>
              <a:rPr lang="en-US" sz="2000" kern="100" dirty="0">
                <a:latin typeface="Aptos" panose="020B0004020202020204" pitchFamily="34" charset="0"/>
                <a:ea typeface="Aptos" panose="020B0004020202020204" pitchFamily="34" charset="0"/>
                <a:cs typeface="Times New Roman" panose="02020603050405020304" pitchFamily="18" charset="0"/>
              </a:rPr>
            </a:br>
            <a:endParaRPr lang="en-US" sz="3600" spc="-20" dirty="0">
              <a:solidFill>
                <a:srgbClr val="2D3B45"/>
              </a:solidFill>
            </a:endParaRPr>
          </a:p>
        </p:txBody>
      </p:sp>
      <p:sp>
        <p:nvSpPr>
          <p:cNvPr id="6" name="Slide Number Placeholder 4">
            <a:extLst>
              <a:ext uri="{FF2B5EF4-FFF2-40B4-BE49-F238E27FC236}">
                <a16:creationId xmlns:a16="http://schemas.microsoft.com/office/drawing/2014/main" id="{548B89D0-FC41-807C-47CC-7A98161E6E63}"/>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52</a:t>
            </a:fld>
            <a:endParaRPr lang="en-US" dirty="0">
              <a:solidFill>
                <a:srgbClr val="000000"/>
              </a:solidFill>
            </a:endParaRPr>
          </a:p>
        </p:txBody>
      </p:sp>
      <p:sp>
        <p:nvSpPr>
          <p:cNvPr id="2" name="Text Placeholder 2">
            <a:extLst>
              <a:ext uri="{FF2B5EF4-FFF2-40B4-BE49-F238E27FC236}">
                <a16:creationId xmlns:a16="http://schemas.microsoft.com/office/drawing/2014/main" id="{FA8EBAF0-F04D-D247-D574-69589E92DB24}"/>
              </a:ext>
            </a:extLst>
          </p:cNvPr>
          <p:cNvSpPr txBox="1">
            <a:spLocks/>
          </p:cNvSpPr>
          <p:nvPr/>
        </p:nvSpPr>
        <p:spPr>
          <a:xfrm>
            <a:off x="719667" y="605932"/>
            <a:ext cx="7577666" cy="56461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2336" indent="-310896" algn="just">
              <a:lnSpc>
                <a:spcPct val="100000"/>
              </a:lnSpc>
              <a:spcBef>
                <a:spcPts val="0"/>
              </a:spcBef>
              <a:spcAft>
                <a:spcPts val="600"/>
              </a:spcAft>
            </a:pPr>
            <a:r>
              <a:rPr lang="en-US" sz="1800" dirty="0"/>
              <a:t>Logistic Regression proved to be the most dependable model for detecting abusive Hindi comments. It consistently performed better than Complement Naive Bayes in terms of accuracy, sensitivity, F1 score, and MCC. The model showed strong and steady performance throughout all testing stages, reaching </a:t>
            </a:r>
            <a:r>
              <a:rPr lang="en-US" sz="1800" b="1" dirty="0"/>
              <a:t>90.27% accuracy and a 90.57% F1 score on the training data</a:t>
            </a:r>
            <a:r>
              <a:rPr lang="en-US" sz="1800" dirty="0"/>
              <a:t>, </a:t>
            </a:r>
            <a:r>
              <a:rPr lang="en-US" sz="1800" b="1" dirty="0"/>
              <a:t>80.12% accuracy and 82.48% F1 score on the validation data</a:t>
            </a:r>
            <a:r>
              <a:rPr lang="en-US" sz="1800" dirty="0"/>
              <a:t>, and </a:t>
            </a:r>
            <a:r>
              <a:rPr lang="en-US" sz="1800" b="1" dirty="0"/>
              <a:t>84.47% accuracy, 84.40% precision, and 85.44% F1 score on the testing data</a:t>
            </a:r>
            <a:r>
              <a:rPr lang="en-US" sz="1800" dirty="0"/>
              <a:t>. These results demonstrate that the model can effectively handle new, unseen Hindi data while maintaining a good balance between precision and sensitivity.</a:t>
            </a:r>
          </a:p>
          <a:p>
            <a:pPr marL="402336" indent="-310896" algn="just">
              <a:lnSpc>
                <a:spcPct val="100000"/>
              </a:lnSpc>
              <a:spcBef>
                <a:spcPts val="0"/>
              </a:spcBef>
              <a:spcAft>
                <a:spcPts val="600"/>
              </a:spcAft>
            </a:pPr>
            <a:r>
              <a:rPr lang="en-US" sz="1800" dirty="0"/>
              <a:t>Although Complement Naive Bayes also performed well and showed slightly higher precision and specificity, </a:t>
            </a:r>
            <a:r>
              <a:rPr lang="en-US" sz="1800" b="1" dirty="0"/>
              <a:t>Logistic Regression</a:t>
            </a:r>
            <a:r>
              <a:rPr lang="en-US" sz="1800" dirty="0"/>
              <a:t> proved to be more consistent and reliable overall. It performed strongly across different Hindi datasets, meaning it worked well on data in all three partitions. This makes Logistic Regression the better choice for detecting abusive comments in Hindi. The TF-IDF feature space had 22,781 variables but only 13,687 observations, making the data sparse and increasing collinearity and model complexity. Despite this, proper preprocessing—such as text cleaning and TF-IDF—combined with tuning (regularization) allowed even simple machine-learning models to achieve strong performance.</a:t>
            </a:r>
          </a:p>
          <a:p>
            <a:pPr marL="402336" indent="-310896" algn="just">
              <a:lnSpc>
                <a:spcPct val="100000"/>
              </a:lnSpc>
              <a:spcBef>
                <a:spcPts val="0"/>
              </a:spcBef>
              <a:spcAft>
                <a:spcPts val="600"/>
              </a:spcAft>
            </a:pPr>
            <a:endParaRPr lang="en-US" sz="1800" dirty="0"/>
          </a:p>
          <a:p>
            <a:pPr marL="91440" indent="0" algn="just">
              <a:lnSpc>
                <a:spcPct val="100000"/>
              </a:lnSpc>
              <a:spcBef>
                <a:spcPts val="0"/>
              </a:spcBef>
              <a:spcAft>
                <a:spcPts val="600"/>
              </a:spcAft>
              <a:buNone/>
            </a:pPr>
            <a:endParaRPr lang="en-US" sz="1800" dirty="0"/>
          </a:p>
        </p:txBody>
      </p:sp>
    </p:spTree>
    <p:extLst>
      <p:ext uri="{BB962C8B-B14F-4D97-AF65-F5344CB8AC3E}">
        <p14:creationId xmlns:p14="http://schemas.microsoft.com/office/powerpoint/2010/main" val="95287423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2">
            <a:extLst>
              <a:ext uri="{FF2B5EF4-FFF2-40B4-BE49-F238E27FC236}">
                <a16:creationId xmlns:a16="http://schemas.microsoft.com/office/drawing/2014/main" id="{EE855814-B8D3-9D0B-1494-6A47F0ACF5D2}"/>
              </a:ext>
            </a:extLst>
          </p:cNvPr>
          <p:cNvSpPr txBox="1">
            <a:spLocks/>
          </p:cNvSpPr>
          <p:nvPr/>
        </p:nvSpPr>
        <p:spPr>
          <a:xfrm>
            <a:off x="228600" y="128016"/>
            <a:ext cx="8686800" cy="984885"/>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pPr>
              <a:lnSpc>
                <a:spcPct val="100000"/>
              </a:lnSpc>
              <a:spcBef>
                <a:spcPts val="0"/>
              </a:spcBef>
            </a:pPr>
            <a:r>
              <a:rPr lang="en-US" spc="-25" dirty="0"/>
              <a:t>Challenges and </a:t>
            </a:r>
            <a:r>
              <a:rPr lang="en-US" spc="-10" dirty="0"/>
              <a:t>Difficulties Encountered</a:t>
            </a:r>
            <a:endParaRPr lang="en-US" spc="-20" dirty="0">
              <a:solidFill>
                <a:srgbClr val="2D3B45"/>
              </a:solidFill>
            </a:endParaRPr>
          </a:p>
        </p:txBody>
      </p:sp>
      <p:sp>
        <p:nvSpPr>
          <p:cNvPr id="5" name="Slide Number Placeholder 4">
            <a:extLst>
              <a:ext uri="{FF2B5EF4-FFF2-40B4-BE49-F238E27FC236}">
                <a16:creationId xmlns:a16="http://schemas.microsoft.com/office/drawing/2014/main" id="{1C4C9076-2602-B3CB-A0B0-1E332609EE5A}"/>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53</a:t>
            </a:fld>
            <a:endParaRPr lang="en-US" dirty="0">
              <a:solidFill>
                <a:srgbClr val="000000"/>
              </a:solidFill>
            </a:endParaRPr>
          </a:p>
        </p:txBody>
      </p:sp>
      <p:sp>
        <p:nvSpPr>
          <p:cNvPr id="9" name="Text Placeholder 2">
            <a:extLst>
              <a:ext uri="{FF2B5EF4-FFF2-40B4-BE49-F238E27FC236}">
                <a16:creationId xmlns:a16="http://schemas.microsoft.com/office/drawing/2014/main" id="{8B7B35F3-77D0-047F-5B89-F148C73FB21F}"/>
              </a:ext>
            </a:extLst>
          </p:cNvPr>
          <p:cNvSpPr txBox="1">
            <a:spLocks/>
          </p:cNvSpPr>
          <p:nvPr/>
        </p:nvSpPr>
        <p:spPr>
          <a:xfrm>
            <a:off x="719667" y="718488"/>
            <a:ext cx="7577666" cy="56461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2336" indent="-310896" algn="just">
              <a:lnSpc>
                <a:spcPct val="100000"/>
              </a:lnSpc>
              <a:spcBef>
                <a:spcPts val="0"/>
              </a:spcBef>
              <a:spcAft>
                <a:spcPts val="600"/>
              </a:spcAft>
            </a:pPr>
            <a:r>
              <a:rPr lang="en-US" sz="1900" b="1" dirty="0">
                <a:cs typeface="Calibri"/>
              </a:rPr>
              <a:t>Handling</a:t>
            </a:r>
            <a:r>
              <a:rPr lang="en-US" sz="1900" b="1" spc="-45" dirty="0">
                <a:cs typeface="Calibri"/>
              </a:rPr>
              <a:t> </a:t>
            </a:r>
            <a:r>
              <a:rPr lang="en-US" sz="1900" b="1" spc="-10" dirty="0">
                <a:cs typeface="Calibri"/>
              </a:rPr>
              <a:t>Hindi Text Variations</a:t>
            </a:r>
            <a:r>
              <a:rPr lang="en-US" sz="1900" b="1" dirty="0">
                <a:cs typeface="Calibri"/>
              </a:rPr>
              <a:t>:</a:t>
            </a:r>
            <a:r>
              <a:rPr lang="en-US" sz="1900" b="1" spc="90" dirty="0">
                <a:cs typeface="Calibri"/>
              </a:rPr>
              <a:t> </a:t>
            </a:r>
            <a:r>
              <a:rPr lang="en-US" sz="1900" dirty="0"/>
              <a:t>Working with Hindi text was challenging because people use different spellings, slang, and writing styles online. Cleaning and preparing the text properly was very important so the model could understand it correctly (</a:t>
            </a:r>
            <a:r>
              <a:rPr lang="en-US" sz="1900" dirty="0" err="1"/>
              <a:t>Kakwani</a:t>
            </a:r>
            <a:r>
              <a:rPr lang="en-US" sz="1900" dirty="0"/>
              <a:t>, et al., n.d.).</a:t>
            </a:r>
          </a:p>
          <a:p>
            <a:pPr marL="402336" indent="-310896" algn="just">
              <a:lnSpc>
                <a:spcPct val="100000"/>
              </a:lnSpc>
              <a:spcBef>
                <a:spcPts val="0"/>
              </a:spcBef>
              <a:spcAft>
                <a:spcPts val="600"/>
              </a:spcAft>
            </a:pPr>
            <a:r>
              <a:rPr lang="en-US" sz="1900" b="1" spc="-30" dirty="0">
                <a:cs typeface="Calibri"/>
              </a:rPr>
              <a:t>Class </a:t>
            </a:r>
            <a:r>
              <a:rPr lang="en-US" sz="1900" b="1" spc="-30" dirty="0">
                <a:highlight>
                  <a:srgbClr val="FFFFFF"/>
                </a:highlight>
                <a:cs typeface="Calibri"/>
              </a:rPr>
              <a:t>Distribution</a:t>
            </a:r>
            <a:r>
              <a:rPr lang="en-US" sz="1900" b="1" dirty="0">
                <a:highlight>
                  <a:srgbClr val="FFFFFF"/>
                </a:highlight>
                <a:cs typeface="Calibri"/>
              </a:rPr>
              <a:t>:</a:t>
            </a:r>
            <a:r>
              <a:rPr lang="en-US" sz="1900" b="1" spc="30" dirty="0">
                <a:highlight>
                  <a:srgbClr val="FFFFFF"/>
                </a:highlight>
                <a:cs typeface="Calibri"/>
              </a:rPr>
              <a:t> </a:t>
            </a:r>
            <a:r>
              <a:rPr lang="en-US" sz="1900" dirty="0">
                <a:highlight>
                  <a:srgbClr val="FFFFFF"/>
                </a:highlight>
              </a:rPr>
              <a:t>The dataset had a slightly uneven distribution (7,213 abusive vs. 6,474 non-abusive comments), but the imbalance was small and did not create major difficulty. The imbalance came from the dataset itself—not from focusing only on Hindi.</a:t>
            </a:r>
          </a:p>
          <a:p>
            <a:pPr marL="402336" indent="-310896" algn="just">
              <a:lnSpc>
                <a:spcPct val="100000"/>
              </a:lnSpc>
              <a:spcBef>
                <a:spcPts val="0"/>
              </a:spcBef>
              <a:spcAft>
                <a:spcPts val="600"/>
              </a:spcAft>
            </a:pPr>
            <a:r>
              <a:rPr lang="en-US" sz="1900" b="1" dirty="0"/>
              <a:t>Missing Target Labels: </a:t>
            </a:r>
            <a:r>
              <a:rPr lang="en-US" sz="1900" dirty="0"/>
              <a:t>The original dataset did not include abusive/non-abusive labels. All labels had to be created manually, which introduced subjectivity and made the labeling process a major challenge.</a:t>
            </a:r>
          </a:p>
          <a:p>
            <a:pPr marL="402336" indent="-310896" algn="just">
              <a:lnSpc>
                <a:spcPct val="100000"/>
              </a:lnSpc>
              <a:spcBef>
                <a:spcPts val="0"/>
              </a:spcBef>
              <a:spcAft>
                <a:spcPts val="600"/>
              </a:spcAft>
            </a:pPr>
            <a:r>
              <a:rPr lang="en-US" sz="1900" b="1" dirty="0">
                <a:cs typeface="Calibri"/>
              </a:rPr>
              <a:t>Model</a:t>
            </a:r>
            <a:r>
              <a:rPr lang="en-US" sz="1900" b="1" spc="-40" dirty="0">
                <a:cs typeface="Calibri"/>
              </a:rPr>
              <a:t> </a:t>
            </a:r>
            <a:r>
              <a:rPr lang="en-US" sz="1900" b="1" dirty="0">
                <a:cs typeface="Calibri"/>
              </a:rPr>
              <a:t>Overfitting: </a:t>
            </a:r>
            <a:r>
              <a:rPr lang="en-US" sz="1900" dirty="0"/>
              <a:t>Overfitting was reduced through L2 regularization, which shrinks large coefficients, and TF-IDF vocabulary control, which removes extremely rare noise words. These steps helped the model generalize better to unseen data.</a:t>
            </a:r>
          </a:p>
          <a:p>
            <a:pPr marL="91440" indent="0" algn="just">
              <a:lnSpc>
                <a:spcPct val="100000"/>
              </a:lnSpc>
              <a:spcBef>
                <a:spcPts val="0"/>
              </a:spcBef>
              <a:spcAft>
                <a:spcPts val="600"/>
              </a:spcAft>
              <a:buNone/>
            </a:pPr>
            <a:endParaRPr lang="en-US" sz="1900" dirty="0"/>
          </a:p>
          <a:p>
            <a:pPr marL="0" indent="0">
              <a:buNone/>
            </a:pPr>
            <a:r>
              <a:rPr lang="en-US" sz="1900" dirty="0"/>
              <a:t> </a:t>
            </a:r>
          </a:p>
          <a:p>
            <a:pPr marL="402336" indent="-310896" algn="just">
              <a:lnSpc>
                <a:spcPct val="100000"/>
              </a:lnSpc>
              <a:spcBef>
                <a:spcPts val="0"/>
              </a:spcBef>
              <a:spcAft>
                <a:spcPts val="600"/>
              </a:spcAft>
            </a:pPr>
            <a:endParaRPr lang="en-US" sz="1900" dirty="0">
              <a:cs typeface="Calibri"/>
            </a:endParaRPr>
          </a:p>
          <a:p>
            <a:pPr marL="461963" indent="-461963" algn="just">
              <a:lnSpc>
                <a:spcPct val="100000"/>
              </a:lnSpc>
              <a:spcBef>
                <a:spcPts val="0"/>
              </a:spcBef>
              <a:spcAft>
                <a:spcPts val="600"/>
              </a:spcAft>
            </a:pPr>
            <a:endParaRPr lang="en-US" sz="1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3E2B5A83-87E3-D378-89AC-FEFA09685AD3}"/>
              </a:ext>
            </a:extLst>
          </p:cNvPr>
          <p:cNvSpPr txBox="1">
            <a:spLocks/>
          </p:cNvSpPr>
          <p:nvPr/>
        </p:nvSpPr>
        <p:spPr>
          <a:xfrm>
            <a:off x="228600" y="128017"/>
            <a:ext cx="8686800" cy="590472"/>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pPr>
              <a:lnSpc>
                <a:spcPct val="100000"/>
              </a:lnSpc>
              <a:spcBef>
                <a:spcPts val="0"/>
              </a:spcBef>
            </a:pPr>
            <a:r>
              <a:rPr lang="en-US" dirty="0"/>
              <a:t>Limitations </a:t>
            </a:r>
            <a:endParaRPr lang="en-US" spc="-20" dirty="0">
              <a:solidFill>
                <a:srgbClr val="2D3B45"/>
              </a:solidFill>
            </a:endParaRPr>
          </a:p>
        </p:txBody>
      </p:sp>
      <p:sp>
        <p:nvSpPr>
          <p:cNvPr id="6" name="Slide Number Placeholder 4">
            <a:extLst>
              <a:ext uri="{FF2B5EF4-FFF2-40B4-BE49-F238E27FC236}">
                <a16:creationId xmlns:a16="http://schemas.microsoft.com/office/drawing/2014/main" id="{6507BC00-3FE2-4EFC-F408-9EC925AC6EB4}"/>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54</a:t>
            </a:fld>
            <a:endParaRPr lang="en-US" dirty="0">
              <a:solidFill>
                <a:srgbClr val="000000"/>
              </a:solidFill>
            </a:endParaRPr>
          </a:p>
        </p:txBody>
      </p:sp>
      <p:sp>
        <p:nvSpPr>
          <p:cNvPr id="2" name="Text Placeholder 2">
            <a:extLst>
              <a:ext uri="{FF2B5EF4-FFF2-40B4-BE49-F238E27FC236}">
                <a16:creationId xmlns:a16="http://schemas.microsoft.com/office/drawing/2014/main" id="{5F279661-CD76-A145-27CB-847062BB358A}"/>
              </a:ext>
            </a:extLst>
          </p:cNvPr>
          <p:cNvSpPr txBox="1">
            <a:spLocks/>
          </p:cNvSpPr>
          <p:nvPr/>
        </p:nvSpPr>
        <p:spPr>
          <a:xfrm>
            <a:off x="719667" y="718488"/>
            <a:ext cx="7577666" cy="56461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2336" indent="-310896" algn="just">
              <a:lnSpc>
                <a:spcPct val="100000"/>
              </a:lnSpc>
              <a:spcBef>
                <a:spcPts val="0"/>
              </a:spcBef>
              <a:spcAft>
                <a:spcPts val="600"/>
              </a:spcAft>
            </a:pPr>
            <a:r>
              <a:rPr lang="en-US" sz="2000" b="1" kern="100" dirty="0">
                <a:ea typeface="Aptos" panose="020B0004020202020204" pitchFamily="34" charset="0"/>
                <a:cs typeface="Times New Roman" panose="02020603050405020304" pitchFamily="18" charset="0"/>
              </a:rPr>
              <a:t>Language Diversity:</a:t>
            </a:r>
            <a:r>
              <a:rPr lang="en-US" sz="2000" kern="100" dirty="0">
                <a:ea typeface="Aptos" panose="020B0004020202020204" pitchFamily="34" charset="0"/>
                <a:cs typeface="Times New Roman" panose="02020603050405020304" pitchFamily="18" charset="0"/>
              </a:rPr>
              <a:t> </a:t>
            </a:r>
            <a:r>
              <a:rPr lang="en-US" sz="2000" dirty="0"/>
              <a:t>Performance may vary even within Hindi due to differences in dialects, spelling styles, and data limitations.</a:t>
            </a:r>
          </a:p>
          <a:p>
            <a:pPr marL="402336" indent="-310896" algn="just">
              <a:lnSpc>
                <a:spcPct val="100000"/>
              </a:lnSpc>
              <a:spcBef>
                <a:spcPts val="0"/>
              </a:spcBef>
              <a:spcAft>
                <a:spcPts val="600"/>
              </a:spcAft>
            </a:pPr>
            <a:r>
              <a:rPr lang="en-US" sz="2000" b="1" dirty="0"/>
              <a:t>Dialects &amp; Slang:</a:t>
            </a:r>
            <a:r>
              <a:rPr lang="en-US" sz="2000" dirty="0"/>
              <a:t> Regional words and slang can confuse the model, reducing accuracy.</a:t>
            </a:r>
            <a:endParaRPr lang="en-US" sz="2000" b="1" dirty="0"/>
          </a:p>
          <a:p>
            <a:pPr marL="402336" indent="-310896" algn="just">
              <a:lnSpc>
                <a:spcPct val="100000"/>
              </a:lnSpc>
              <a:spcBef>
                <a:spcPts val="0"/>
              </a:spcBef>
              <a:spcAft>
                <a:spcPts val="600"/>
              </a:spcAft>
            </a:pPr>
            <a:r>
              <a:rPr lang="en-US" sz="2000" b="1" kern="100" dirty="0">
                <a:ea typeface="Aptos" panose="020B0004020202020204" pitchFamily="34" charset="0"/>
                <a:cs typeface="Times New Roman" panose="02020603050405020304" pitchFamily="18" charset="0"/>
              </a:rPr>
              <a:t>Context Sensitivity:</a:t>
            </a:r>
            <a:r>
              <a:rPr lang="en-US" sz="2000" kern="100" dirty="0">
                <a:ea typeface="Aptos" panose="020B0004020202020204" pitchFamily="34" charset="0"/>
                <a:cs typeface="Times New Roman" panose="02020603050405020304" pitchFamily="18" charset="0"/>
              </a:rPr>
              <a:t> The model may misinterpret subtle or sarcastic forms of abuse.</a:t>
            </a:r>
          </a:p>
          <a:p>
            <a:pPr marL="402336" indent="-310896" algn="just">
              <a:lnSpc>
                <a:spcPct val="100000"/>
              </a:lnSpc>
              <a:spcBef>
                <a:spcPts val="0"/>
              </a:spcBef>
              <a:spcAft>
                <a:spcPts val="600"/>
              </a:spcAft>
            </a:pPr>
            <a:r>
              <a:rPr lang="en-US" sz="2000" b="1" dirty="0"/>
              <a:t>No Specific Lexicon:</a:t>
            </a:r>
            <a:r>
              <a:rPr lang="en-US" sz="2000" dirty="0"/>
              <a:t> The analyses did not use any domain-specific abusive-language lexicon; the presence of which might have improved detection accuracy.</a:t>
            </a:r>
          </a:p>
          <a:p>
            <a:pPr marL="402336" indent="-310896" algn="just">
              <a:lnSpc>
                <a:spcPct val="100000"/>
              </a:lnSpc>
              <a:spcBef>
                <a:spcPts val="0"/>
              </a:spcBef>
              <a:spcAft>
                <a:spcPts val="600"/>
              </a:spcAft>
            </a:pPr>
            <a:r>
              <a:rPr lang="en-US" sz="2000" b="1" dirty="0"/>
              <a:t>Limited Model Scope:</a:t>
            </a:r>
            <a:r>
              <a:rPr lang="en-US" sz="2000" dirty="0"/>
              <a:t> Only two models—Complement Naive Bayes and Logistic Regression—were evaluated, leaving other potential approaches unexplored.</a:t>
            </a:r>
            <a:endParaRPr lang="en-US" sz="2000" kern="100" dirty="0">
              <a:ea typeface="Aptos" panose="020B0004020202020204" pitchFamily="34" charset="0"/>
              <a:cs typeface="Times New Roman" panose="02020603050405020304" pitchFamily="18" charset="0"/>
            </a:endParaRPr>
          </a:p>
          <a:p>
            <a:pPr marL="402336" indent="-310896" algn="just">
              <a:lnSpc>
                <a:spcPct val="100000"/>
              </a:lnSpc>
              <a:spcBef>
                <a:spcPts val="0"/>
              </a:spcBef>
              <a:spcAft>
                <a:spcPts val="600"/>
              </a:spcAft>
            </a:pPr>
            <a:r>
              <a:rPr lang="en-US" sz="2000" b="1" kern="100" dirty="0">
                <a:ea typeface="Aptos" panose="020B0004020202020204" pitchFamily="34" charset="0"/>
                <a:cs typeface="Times New Roman" panose="02020603050405020304" pitchFamily="18" charset="0"/>
              </a:rPr>
              <a:t>Outdated Vocabulary:</a:t>
            </a:r>
            <a:r>
              <a:rPr lang="en-US" sz="2000" kern="100" dirty="0">
                <a:ea typeface="Aptos" panose="020B0004020202020204" pitchFamily="34" charset="0"/>
                <a:cs typeface="Times New Roman" panose="02020603050405020304" pitchFamily="18" charset="0"/>
              </a:rPr>
              <a:t> Fixed vocabulary may miss new slang or evolving terms.</a:t>
            </a:r>
          </a:p>
          <a:p>
            <a:pPr marL="0" indent="0" algn="just">
              <a:lnSpc>
                <a:spcPct val="100000"/>
              </a:lnSpc>
              <a:spcBef>
                <a:spcPts val="0"/>
              </a:spcBef>
              <a:spcAft>
                <a:spcPts val="600"/>
              </a:spcAft>
              <a:buNone/>
            </a:pPr>
            <a:endParaRPr lang="en-US" sz="2000" dirty="0"/>
          </a:p>
        </p:txBody>
      </p:sp>
    </p:spTree>
    <p:extLst>
      <p:ext uri="{BB962C8B-B14F-4D97-AF65-F5344CB8AC3E}">
        <p14:creationId xmlns:p14="http://schemas.microsoft.com/office/powerpoint/2010/main" val="183234722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94ED3-581D-CDD6-7231-2C190E7470FE}"/>
            </a:ext>
          </a:extLst>
        </p:cNvPr>
        <p:cNvGrpSpPr/>
        <p:nvPr/>
      </p:nvGrpSpPr>
      <p:grpSpPr>
        <a:xfrm>
          <a:off x="0" y="0"/>
          <a:ext cx="0" cy="0"/>
          <a:chOff x="0" y="0"/>
          <a:chExt cx="0" cy="0"/>
        </a:xfrm>
      </p:grpSpPr>
      <p:sp>
        <p:nvSpPr>
          <p:cNvPr id="6" name="Slide Number Placeholder 4">
            <a:extLst>
              <a:ext uri="{FF2B5EF4-FFF2-40B4-BE49-F238E27FC236}">
                <a16:creationId xmlns:a16="http://schemas.microsoft.com/office/drawing/2014/main" id="{62F31674-4DEC-0A07-6EB5-BBD191692431}"/>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55</a:t>
            </a:fld>
            <a:endParaRPr lang="en-US" dirty="0">
              <a:solidFill>
                <a:srgbClr val="000000"/>
              </a:solidFill>
            </a:endParaRPr>
          </a:p>
        </p:txBody>
      </p:sp>
      <p:sp>
        <p:nvSpPr>
          <p:cNvPr id="2" name="Text Placeholder 2">
            <a:extLst>
              <a:ext uri="{FF2B5EF4-FFF2-40B4-BE49-F238E27FC236}">
                <a16:creationId xmlns:a16="http://schemas.microsoft.com/office/drawing/2014/main" id="{BDBC1B6A-DCFD-0C32-08AB-DDB364424085}"/>
              </a:ext>
            </a:extLst>
          </p:cNvPr>
          <p:cNvSpPr txBox="1">
            <a:spLocks/>
          </p:cNvSpPr>
          <p:nvPr/>
        </p:nvSpPr>
        <p:spPr>
          <a:xfrm>
            <a:off x="719667" y="718489"/>
            <a:ext cx="7577666" cy="2710512"/>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2336" indent="-310896" algn="just">
              <a:lnSpc>
                <a:spcPct val="100000"/>
              </a:lnSpc>
              <a:spcBef>
                <a:spcPts val="0"/>
              </a:spcBef>
              <a:spcAft>
                <a:spcPts val="600"/>
              </a:spcAft>
            </a:pPr>
            <a:r>
              <a:rPr lang="en-US" sz="2000" b="1" kern="100" dirty="0">
                <a:ea typeface="Aptos" panose="020B0004020202020204" pitchFamily="34" charset="0"/>
                <a:cs typeface="Times New Roman" panose="02020603050405020304" pitchFamily="18" charset="0"/>
              </a:rPr>
              <a:t>Resource Intensive:</a:t>
            </a:r>
            <a:r>
              <a:rPr lang="en-US" sz="2000" kern="100" dirty="0">
                <a:ea typeface="Aptos" panose="020B0004020202020204" pitchFamily="34" charset="0"/>
                <a:cs typeface="Times New Roman" panose="02020603050405020304" pitchFamily="18" charset="0"/>
              </a:rPr>
              <a:t> </a:t>
            </a:r>
            <a:r>
              <a:rPr lang="en-US" sz="2000" dirty="0"/>
              <a:t>Processing large text datasets in Hindi required significant computational power, which limited experimentation with additional models.</a:t>
            </a:r>
          </a:p>
          <a:p>
            <a:pPr marL="402336" indent="-310896" algn="just">
              <a:lnSpc>
                <a:spcPct val="100000"/>
              </a:lnSpc>
              <a:spcBef>
                <a:spcPts val="0"/>
              </a:spcBef>
              <a:spcAft>
                <a:spcPts val="600"/>
              </a:spcAft>
            </a:pPr>
            <a:r>
              <a:rPr lang="en-US" sz="2000" b="1" kern="100" dirty="0">
                <a:ea typeface="Aptos" panose="020B0004020202020204" pitchFamily="34" charset="0"/>
                <a:cs typeface="Times New Roman" panose="02020603050405020304" pitchFamily="18" charset="0"/>
              </a:rPr>
              <a:t>L</a:t>
            </a:r>
            <a:r>
              <a:rPr lang="en-US" sz="2000" b="1" dirty="0"/>
              <a:t>abeling Subjectivity: </a:t>
            </a:r>
            <a:r>
              <a:rPr lang="en-US" sz="2000" dirty="0"/>
              <a:t>The abusive/non-abusive labels were assigned manually, which may introduce inconsistency or bias without a multi-reviewer verification process.</a:t>
            </a:r>
          </a:p>
          <a:p>
            <a:pPr marL="0" indent="0" algn="just">
              <a:lnSpc>
                <a:spcPct val="100000"/>
              </a:lnSpc>
              <a:spcBef>
                <a:spcPts val="0"/>
              </a:spcBef>
              <a:spcAft>
                <a:spcPts val="600"/>
              </a:spcAft>
              <a:buNone/>
            </a:pPr>
            <a:endParaRPr lang="en-US" sz="2000" dirty="0"/>
          </a:p>
        </p:txBody>
      </p:sp>
    </p:spTree>
    <p:extLst>
      <p:ext uri="{BB962C8B-B14F-4D97-AF65-F5344CB8AC3E}">
        <p14:creationId xmlns:p14="http://schemas.microsoft.com/office/powerpoint/2010/main" val="23063758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60B98-C14A-2450-10EF-3852C375D217}"/>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E24DD97A-8D91-3AF6-15C4-A41B3BC5667C}"/>
              </a:ext>
            </a:extLst>
          </p:cNvPr>
          <p:cNvSpPr>
            <a:spLocks noGrp="1"/>
          </p:cNvSpPr>
          <p:nvPr>
            <p:ph idx="1"/>
          </p:nvPr>
        </p:nvSpPr>
        <p:spPr>
          <a:xfrm>
            <a:off x="719667" y="718488"/>
            <a:ext cx="7577666" cy="5646135"/>
          </a:xfrm>
        </p:spPr>
        <p:txBody>
          <a:bodyPr>
            <a:noAutofit/>
          </a:bodyPr>
          <a:lstStyle/>
          <a:p>
            <a:pPr marL="402336" indent="-310896" algn="just">
              <a:lnSpc>
                <a:spcPct val="100000"/>
              </a:lnSpc>
              <a:spcBef>
                <a:spcPts val="0"/>
              </a:spcBef>
              <a:spcAft>
                <a:spcPts val="600"/>
              </a:spcAft>
            </a:pPr>
            <a:r>
              <a:rPr lang="en-US" sz="2000" b="1" dirty="0"/>
              <a:t>Expand to Multiple Languages:</a:t>
            </a:r>
            <a:r>
              <a:rPr lang="en-US" sz="2000" kern="100" dirty="0">
                <a:effectLst/>
                <a:latin typeface="+mn-lt"/>
                <a:ea typeface="Aptos" panose="020B0004020202020204" pitchFamily="34" charset="0"/>
                <a:cs typeface="Times New Roman" panose="02020603050405020304" pitchFamily="18" charset="0"/>
              </a:rPr>
              <a:t> </a:t>
            </a:r>
            <a:r>
              <a:rPr lang="en-US" sz="2000" dirty="0"/>
              <a:t>In the future, the model can be extended to include additional Indian languages and dialects so it can detect abusive comments across a wider audience.</a:t>
            </a:r>
          </a:p>
          <a:p>
            <a:pPr marL="402336" indent="-310896" algn="just">
              <a:lnSpc>
                <a:spcPct val="100000"/>
              </a:lnSpc>
              <a:spcBef>
                <a:spcPts val="0"/>
              </a:spcBef>
              <a:spcAft>
                <a:spcPts val="600"/>
              </a:spcAft>
            </a:pPr>
            <a:r>
              <a:rPr lang="en-US" sz="2000" b="1" dirty="0"/>
              <a:t>Collect more data:</a:t>
            </a:r>
            <a:r>
              <a:rPr lang="en-US" sz="2000" dirty="0"/>
              <a:t> A bigger and more balanced dataset will help the model learn better and make more accurate predictions.</a:t>
            </a:r>
            <a:endParaRPr lang="en-US" sz="2000" b="1" dirty="0"/>
          </a:p>
          <a:p>
            <a:pPr marL="402336" indent="-310896" algn="just">
              <a:lnSpc>
                <a:spcPct val="100000"/>
              </a:lnSpc>
              <a:spcBef>
                <a:spcPts val="0"/>
              </a:spcBef>
              <a:spcAft>
                <a:spcPts val="600"/>
              </a:spcAft>
            </a:pPr>
            <a:r>
              <a:rPr lang="en-US" sz="2000" b="1" dirty="0"/>
              <a:t>Use Smarter Models</a:t>
            </a:r>
            <a:r>
              <a:rPr lang="en-US" sz="2000" b="1" kern="100" dirty="0">
                <a:effectLst/>
                <a:latin typeface="+mn-lt"/>
                <a:ea typeface="Aptos" panose="020B0004020202020204" pitchFamily="34" charset="0"/>
                <a:cs typeface="Times New Roman" panose="02020603050405020304" pitchFamily="18" charset="0"/>
              </a:rPr>
              <a:t>: </a:t>
            </a:r>
            <a:r>
              <a:rPr lang="en-US" sz="2000" kern="100" dirty="0">
                <a:ea typeface="Aptos" panose="020B0004020202020204" pitchFamily="34" charset="0"/>
                <a:cs typeface="Times New Roman" panose="02020603050405020304" pitchFamily="18" charset="0"/>
              </a:rPr>
              <a:t>A</a:t>
            </a:r>
            <a:r>
              <a:rPr lang="en-US" sz="2000" b="0" kern="100" dirty="0">
                <a:effectLst/>
                <a:latin typeface="+mn-lt"/>
                <a:ea typeface="Aptos" panose="020B0004020202020204" pitchFamily="34" charset="0"/>
                <a:cs typeface="Times New Roman" panose="02020603050405020304" pitchFamily="18" charset="0"/>
              </a:rPr>
              <a:t>dvanced</a:t>
            </a:r>
            <a:r>
              <a:rPr lang="en-US" sz="2000" dirty="0"/>
              <a:t> models like BERT or MuRIL can be used to understand context, tone, and hidden meanings more effectively.</a:t>
            </a:r>
            <a:endParaRPr lang="en-US" sz="2000" b="0" kern="100" dirty="0">
              <a:effectLst/>
              <a:latin typeface="+mn-lt"/>
              <a:ea typeface="Aptos" panose="020B0004020202020204" pitchFamily="34" charset="0"/>
              <a:cs typeface="Times New Roman" panose="02020603050405020304" pitchFamily="18" charset="0"/>
            </a:endParaRPr>
          </a:p>
          <a:p>
            <a:pPr marL="402336" indent="-310896" algn="just">
              <a:lnSpc>
                <a:spcPct val="100000"/>
              </a:lnSpc>
              <a:spcBef>
                <a:spcPts val="0"/>
              </a:spcBef>
              <a:spcAft>
                <a:spcPts val="600"/>
              </a:spcAft>
            </a:pPr>
            <a:r>
              <a:rPr lang="en-US" sz="2000" b="1" dirty="0"/>
              <a:t>Test in Real Life</a:t>
            </a:r>
            <a:r>
              <a:rPr lang="en-US" sz="2000" dirty="0"/>
              <a:t>: The model can be tested on real social media data to see how it performs in real-world situations.</a:t>
            </a:r>
          </a:p>
          <a:p>
            <a:pPr marL="402336" indent="-310896" algn="just">
              <a:lnSpc>
                <a:spcPct val="100000"/>
              </a:lnSpc>
              <a:spcBef>
                <a:spcPts val="0"/>
              </a:spcBef>
              <a:spcAft>
                <a:spcPts val="600"/>
              </a:spcAft>
            </a:pPr>
            <a:r>
              <a:rPr lang="en-US" sz="2000" b="1" dirty="0"/>
              <a:t>Keep Improving:</a:t>
            </a:r>
            <a:r>
              <a:rPr lang="en-US" sz="2000" dirty="0"/>
              <a:t> A feedback system can be added so users can report wrong results; this feedback can then be used to retrain and improve the model over time</a:t>
            </a:r>
            <a:r>
              <a:rPr lang="en-US" sz="2000" b="1" dirty="0"/>
              <a:t>.</a:t>
            </a:r>
          </a:p>
          <a:p>
            <a:pPr marL="402336" indent="-310896" algn="just">
              <a:lnSpc>
                <a:spcPct val="100000"/>
              </a:lnSpc>
              <a:spcBef>
                <a:spcPts val="0"/>
              </a:spcBef>
              <a:spcAft>
                <a:spcPts val="600"/>
              </a:spcAft>
            </a:pPr>
            <a:r>
              <a:rPr lang="en-US" sz="2000" b="1" kern="100" dirty="0">
                <a:ea typeface="Aptos" panose="020B0004020202020204" pitchFamily="34" charset="0"/>
                <a:cs typeface="Times New Roman" panose="02020603050405020304" pitchFamily="18" charset="0"/>
              </a:rPr>
              <a:t>Closing Line</a:t>
            </a:r>
            <a:r>
              <a:rPr lang="en-US" sz="2000" kern="100" dirty="0">
                <a:effectLst/>
                <a:latin typeface="+mn-lt"/>
                <a:ea typeface="Aptos" panose="020B0004020202020204" pitchFamily="34" charset="0"/>
                <a:cs typeface="Times New Roman" panose="02020603050405020304" pitchFamily="18" charset="0"/>
              </a:rPr>
              <a:t>: </a:t>
            </a:r>
            <a:r>
              <a:rPr lang="en-US" sz="2000" dirty="0"/>
              <a:t>The above steps would build on the current project and can help create a stronger, smarter, and more reliable system for detecting abusive comments in Indian languages.</a:t>
            </a:r>
          </a:p>
          <a:p>
            <a:pPr marL="461963" indent="-461963" algn="just">
              <a:lnSpc>
                <a:spcPct val="100000"/>
              </a:lnSpc>
              <a:spcBef>
                <a:spcPts val="0"/>
              </a:spcBef>
              <a:spcAft>
                <a:spcPts val="600"/>
              </a:spcAft>
            </a:pPr>
            <a:endParaRPr lang="en-US" sz="2000" dirty="0">
              <a:latin typeface="+mn-lt"/>
            </a:endParaRPr>
          </a:p>
        </p:txBody>
      </p:sp>
      <p:sp>
        <p:nvSpPr>
          <p:cNvPr id="4" name="object 2">
            <a:extLst>
              <a:ext uri="{FF2B5EF4-FFF2-40B4-BE49-F238E27FC236}">
                <a16:creationId xmlns:a16="http://schemas.microsoft.com/office/drawing/2014/main" id="{E9DE75E8-3EDA-BF9A-1A7E-172538E8265D}"/>
              </a:ext>
            </a:extLst>
          </p:cNvPr>
          <p:cNvSpPr txBox="1">
            <a:spLocks/>
          </p:cNvSpPr>
          <p:nvPr/>
        </p:nvSpPr>
        <p:spPr>
          <a:xfrm>
            <a:off x="228600" y="128017"/>
            <a:ext cx="8686800" cy="590472"/>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pPr>
              <a:lnSpc>
                <a:spcPct val="100000"/>
              </a:lnSpc>
              <a:spcBef>
                <a:spcPts val="0"/>
              </a:spcBef>
            </a:pPr>
            <a:r>
              <a:rPr lang="en-US" dirty="0"/>
              <a:t>Future Work (Next Steps) </a:t>
            </a:r>
            <a:endParaRPr lang="en-US" spc="-20" dirty="0">
              <a:solidFill>
                <a:srgbClr val="2D3B45"/>
              </a:solidFill>
            </a:endParaRPr>
          </a:p>
        </p:txBody>
      </p:sp>
      <p:sp>
        <p:nvSpPr>
          <p:cNvPr id="6" name="Slide Number Placeholder 4">
            <a:extLst>
              <a:ext uri="{FF2B5EF4-FFF2-40B4-BE49-F238E27FC236}">
                <a16:creationId xmlns:a16="http://schemas.microsoft.com/office/drawing/2014/main" id="{64358D02-A957-EEC2-6F83-3D282379A551}"/>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56</a:t>
            </a:fld>
            <a:endParaRPr lang="en-US" dirty="0">
              <a:solidFill>
                <a:srgbClr val="000000"/>
              </a:solidFill>
            </a:endParaRPr>
          </a:p>
        </p:txBody>
      </p:sp>
    </p:spTree>
    <p:extLst>
      <p:ext uri="{BB962C8B-B14F-4D97-AF65-F5344CB8AC3E}">
        <p14:creationId xmlns:p14="http://schemas.microsoft.com/office/powerpoint/2010/main" val="300691833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18EDC-4F23-F971-BDDE-DF396C03DC15}"/>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ABFD2DBD-3725-6C54-A407-602D7F703E6D}"/>
              </a:ext>
            </a:extLst>
          </p:cNvPr>
          <p:cNvSpPr>
            <a:spLocks noGrp="1"/>
          </p:cNvSpPr>
          <p:nvPr>
            <p:ph idx="1"/>
          </p:nvPr>
        </p:nvSpPr>
        <p:spPr>
          <a:xfrm>
            <a:off x="719667" y="351165"/>
            <a:ext cx="7577666" cy="1907481"/>
          </a:xfrm>
        </p:spPr>
        <p:txBody>
          <a:bodyPr>
            <a:noAutofit/>
          </a:bodyPr>
          <a:lstStyle/>
          <a:p>
            <a:pPr marL="91440" indent="0" algn="just">
              <a:lnSpc>
                <a:spcPct val="100000"/>
              </a:lnSpc>
              <a:spcBef>
                <a:spcPts val="0"/>
              </a:spcBef>
              <a:spcAft>
                <a:spcPts val="600"/>
              </a:spcAft>
              <a:buNone/>
            </a:pPr>
            <a:endParaRPr lang="en-US" sz="2000" dirty="0"/>
          </a:p>
          <a:p>
            <a:pPr marL="402336" indent="-310896" algn="just">
              <a:lnSpc>
                <a:spcPct val="100000"/>
              </a:lnSpc>
              <a:spcBef>
                <a:spcPts val="0"/>
              </a:spcBef>
              <a:spcAft>
                <a:spcPts val="600"/>
              </a:spcAft>
            </a:pPr>
            <a:r>
              <a:rPr lang="en-US" sz="2000" b="1" dirty="0"/>
              <a:t>Improving Label Verification: </a:t>
            </a:r>
            <a:r>
              <a:rPr lang="en-US" sz="2000" dirty="0"/>
              <a:t>Introduce a label verification mechanism where each comment is reviewed by multiple independent individuals, using agreement or voting methods to safeguard labeling accuracy.</a:t>
            </a:r>
          </a:p>
          <a:p>
            <a:pPr marL="461963" indent="-461963" algn="just">
              <a:lnSpc>
                <a:spcPct val="100000"/>
              </a:lnSpc>
              <a:spcBef>
                <a:spcPts val="0"/>
              </a:spcBef>
              <a:spcAft>
                <a:spcPts val="600"/>
              </a:spcAft>
            </a:pPr>
            <a:endParaRPr lang="en-US" sz="2000" dirty="0">
              <a:latin typeface="+mn-lt"/>
            </a:endParaRPr>
          </a:p>
        </p:txBody>
      </p:sp>
      <p:sp>
        <p:nvSpPr>
          <p:cNvPr id="6" name="Slide Number Placeholder 4">
            <a:extLst>
              <a:ext uri="{FF2B5EF4-FFF2-40B4-BE49-F238E27FC236}">
                <a16:creationId xmlns:a16="http://schemas.microsoft.com/office/drawing/2014/main" id="{D2E30265-1204-EF7D-F1C7-9A4F1EFB854C}"/>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57</a:t>
            </a:fld>
            <a:endParaRPr lang="en-US" dirty="0">
              <a:solidFill>
                <a:srgbClr val="000000"/>
              </a:solidFill>
            </a:endParaRPr>
          </a:p>
        </p:txBody>
      </p:sp>
    </p:spTree>
    <p:extLst>
      <p:ext uri="{BB962C8B-B14F-4D97-AF65-F5344CB8AC3E}">
        <p14:creationId xmlns:p14="http://schemas.microsoft.com/office/powerpoint/2010/main" val="264671468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2">
            <a:extLst>
              <a:ext uri="{FF2B5EF4-FFF2-40B4-BE49-F238E27FC236}">
                <a16:creationId xmlns:a16="http://schemas.microsoft.com/office/drawing/2014/main" id="{9363D7AB-5296-A656-6D49-35643E7122A7}"/>
              </a:ext>
            </a:extLst>
          </p:cNvPr>
          <p:cNvSpPr txBox="1">
            <a:spLocks/>
          </p:cNvSpPr>
          <p:nvPr/>
        </p:nvSpPr>
        <p:spPr>
          <a:xfrm>
            <a:off x="228600" y="128016"/>
            <a:ext cx="8686800" cy="984885"/>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pPr>
              <a:lnSpc>
                <a:spcPct val="100000"/>
              </a:lnSpc>
              <a:spcBef>
                <a:spcPts val="0"/>
              </a:spcBef>
            </a:pPr>
            <a:r>
              <a:rPr lang="en-US" spc="-20" dirty="0">
                <a:solidFill>
                  <a:srgbClr val="2D3B45"/>
                </a:solidFill>
              </a:rPr>
              <a:t>Research Answers</a:t>
            </a:r>
          </a:p>
        </p:txBody>
      </p:sp>
      <p:sp>
        <p:nvSpPr>
          <p:cNvPr id="6" name="Slide Number Placeholder 4">
            <a:extLst>
              <a:ext uri="{FF2B5EF4-FFF2-40B4-BE49-F238E27FC236}">
                <a16:creationId xmlns:a16="http://schemas.microsoft.com/office/drawing/2014/main" id="{4304769C-FC95-33F5-6B9F-95C62A0FFA06}"/>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58</a:t>
            </a:fld>
            <a:endParaRPr lang="en-US" dirty="0">
              <a:solidFill>
                <a:srgbClr val="000000"/>
              </a:solidFill>
            </a:endParaRPr>
          </a:p>
        </p:txBody>
      </p:sp>
      <p:sp>
        <p:nvSpPr>
          <p:cNvPr id="2" name="object 3">
            <a:extLst>
              <a:ext uri="{FF2B5EF4-FFF2-40B4-BE49-F238E27FC236}">
                <a16:creationId xmlns:a16="http://schemas.microsoft.com/office/drawing/2014/main" id="{2613498E-8818-4DC1-3275-22E166BCB84D}"/>
              </a:ext>
            </a:extLst>
          </p:cNvPr>
          <p:cNvSpPr txBox="1"/>
          <p:nvPr/>
        </p:nvSpPr>
        <p:spPr>
          <a:xfrm>
            <a:off x="804333" y="762815"/>
            <a:ext cx="7442199" cy="5400917"/>
          </a:xfrm>
          <a:prstGeom prst="rect">
            <a:avLst/>
          </a:prstGeom>
        </p:spPr>
        <p:txBody>
          <a:bodyPr vert="horz" wrap="square" lIns="0" tIns="12700" rIns="0" bIns="0" rtlCol="0">
            <a:noAutofit/>
          </a:bodyPr>
          <a:lstStyle/>
          <a:p>
            <a:pPr marL="402336" indent="-310896" algn="just">
              <a:spcAft>
                <a:spcPts val="600"/>
              </a:spcAft>
              <a:buFont typeface="Arial" panose="020B0604020202020204" pitchFamily="34" charset="0"/>
              <a:buChar char="•"/>
            </a:pPr>
            <a:r>
              <a:rPr lang="en-US" sz="2000" b="1" spc="-45" dirty="0">
                <a:solidFill>
                  <a:srgbClr val="2D3B45"/>
                </a:solidFill>
                <a:cs typeface="Calibri"/>
              </a:rPr>
              <a:t>Overarching Q</a:t>
            </a:r>
            <a:r>
              <a:rPr lang="en-US" sz="2000" b="1" dirty="0">
                <a:solidFill>
                  <a:srgbClr val="2D3B45"/>
                </a:solidFill>
                <a:cs typeface="Calibri"/>
              </a:rPr>
              <a:t>uestion: </a:t>
            </a:r>
            <a:r>
              <a:rPr lang="en-US" sz="2000" b="1" dirty="0"/>
              <a:t>Can a machine learning model effectively detect abusive comments in Hindi?</a:t>
            </a:r>
          </a:p>
          <a:p>
            <a:pPr marL="402336" indent="-310896" algn="just">
              <a:spcAft>
                <a:spcPts val="600"/>
              </a:spcAft>
            </a:pPr>
            <a:r>
              <a:rPr lang="en-US" sz="2000" dirty="0"/>
              <a:t>		Yes. A Logistic Regression model with TF-IDF feature extraction was developed to identify abusive comments. The model achieved strong accuracy and balance between precision and sensitivity, demonstrating that even a simple, well-tuned model can effectively detect abusive content in Hindi. However, further work is needed to improve the understanding of context, tone, and sarcasm to handle more complex cases.</a:t>
            </a:r>
          </a:p>
          <a:p>
            <a:pPr marL="402336" indent="-310896" algn="just">
              <a:spcAft>
                <a:spcPts val="600"/>
              </a:spcAft>
              <a:buFont typeface="Arial" panose="020B0604020202020204" pitchFamily="34" charset="0"/>
              <a:buChar char="•"/>
            </a:pPr>
            <a:r>
              <a:rPr lang="en-US" sz="2000" b="1" dirty="0">
                <a:highlight>
                  <a:srgbClr val="FFFFFF"/>
                </a:highlight>
              </a:rPr>
              <a:t>Of the two models studied, which model worked best for detecting abusive Hindi comments?</a:t>
            </a:r>
          </a:p>
          <a:p>
            <a:pPr marL="402336" indent="-310896" algn="just">
              <a:spcAft>
                <a:spcPts val="600"/>
              </a:spcAft>
            </a:pPr>
            <a:r>
              <a:rPr lang="en-US" sz="2000" kern="0" dirty="0">
                <a:highlight>
                  <a:srgbClr val="FFFFFF"/>
                </a:highlight>
                <a:ea typeface="Times New Roman" panose="02020603050405020304" pitchFamily="18" charset="0"/>
                <a:cs typeface="Times New Roman" panose="02020603050405020304" pitchFamily="18" charset="0"/>
              </a:rPr>
              <a:t>		 </a:t>
            </a:r>
            <a:r>
              <a:rPr lang="en-US" sz="2000" dirty="0">
                <a:highlight>
                  <a:srgbClr val="FFFFFF"/>
                </a:highlight>
              </a:rPr>
              <a:t>Logistic Regression outperformed Complement Naive Bayes by achieving higher accuracy and F1 scores. This indicates that Logistic Regression offers more reliable and consistent results for detecting abusive Hindi comments.</a:t>
            </a:r>
          </a:p>
          <a:p>
            <a:pPr marL="91440" algn="just">
              <a:spcAft>
                <a:spcPts val="600"/>
              </a:spcAft>
            </a:pPr>
            <a:endParaRPr lang="en-US" sz="2000" dirty="0">
              <a:highlight>
                <a:srgbClr val="FFFFFF"/>
              </a:highlight>
            </a:endParaRPr>
          </a:p>
          <a:p>
            <a:pPr marL="402336" indent="-310896" algn="just">
              <a:spcAft>
                <a:spcPts val="600"/>
              </a:spcAft>
            </a:pPr>
            <a:endParaRPr lang="en-US" sz="2000" dirty="0"/>
          </a:p>
        </p:txBody>
      </p:sp>
    </p:spTree>
    <p:extLst>
      <p:ext uri="{BB962C8B-B14F-4D97-AF65-F5344CB8AC3E}">
        <p14:creationId xmlns:p14="http://schemas.microsoft.com/office/powerpoint/2010/main" val="406430269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B0EC3A98-6C96-69C8-5987-270BEDDD472A}"/>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59</a:t>
            </a:fld>
            <a:endParaRPr lang="en-US" dirty="0">
              <a:solidFill>
                <a:srgbClr val="000000"/>
              </a:solidFill>
            </a:endParaRPr>
          </a:p>
        </p:txBody>
      </p:sp>
      <p:sp>
        <p:nvSpPr>
          <p:cNvPr id="2" name="object 3">
            <a:extLst>
              <a:ext uri="{FF2B5EF4-FFF2-40B4-BE49-F238E27FC236}">
                <a16:creationId xmlns:a16="http://schemas.microsoft.com/office/drawing/2014/main" id="{455F26EA-3B3B-90B7-8127-B0C35DE3D1FB}"/>
              </a:ext>
            </a:extLst>
          </p:cNvPr>
          <p:cNvSpPr txBox="1"/>
          <p:nvPr/>
        </p:nvSpPr>
        <p:spPr>
          <a:xfrm>
            <a:off x="804333" y="762815"/>
            <a:ext cx="7442199" cy="5400917"/>
          </a:xfrm>
          <a:prstGeom prst="rect">
            <a:avLst/>
          </a:prstGeom>
        </p:spPr>
        <p:txBody>
          <a:bodyPr vert="horz" wrap="square" lIns="0" tIns="12700" rIns="0" bIns="0" rtlCol="0">
            <a:noAutofit/>
          </a:bodyPr>
          <a:lstStyle/>
          <a:p>
            <a:pPr marL="402336" indent="-310896" algn="just">
              <a:spcAft>
                <a:spcPts val="600"/>
              </a:spcAft>
              <a:buFont typeface="Arial" panose="020B0604020202020204" pitchFamily="34" charset="0"/>
              <a:buChar char="•"/>
            </a:pPr>
            <a:r>
              <a:rPr lang="en-US" sz="2000" b="1" spc="-45" dirty="0">
                <a:solidFill>
                  <a:srgbClr val="2D3B45"/>
                </a:solidFill>
                <a:cs typeface="Calibri"/>
              </a:rPr>
              <a:t>W</a:t>
            </a:r>
            <a:r>
              <a:rPr lang="en-US" sz="2000" b="1" kern="0" dirty="0">
                <a:highlight>
                  <a:srgbClr val="FFFFFF"/>
                </a:highlight>
                <a:ea typeface="Times New Roman" panose="02020603050405020304" pitchFamily="18" charset="0"/>
                <a:cs typeface="Times New Roman" panose="02020603050405020304" pitchFamily="18" charset="0"/>
              </a:rPr>
              <a:t>hat</a:t>
            </a:r>
            <a:r>
              <a:rPr lang="en-US" sz="2000" b="1" dirty="0">
                <a:highlight>
                  <a:srgbClr val="FFFFFF"/>
                </a:highlight>
              </a:rPr>
              <a:t> challenges occur when detecting abusive language in Hindi?</a:t>
            </a:r>
          </a:p>
          <a:p>
            <a:pPr marL="402336" indent="-310896" algn="just">
              <a:spcAft>
                <a:spcPts val="600"/>
              </a:spcAft>
            </a:pPr>
            <a:r>
              <a:rPr lang="en-US" sz="2000" dirty="0">
                <a:highlight>
                  <a:srgbClr val="FFFFFF"/>
                </a:highlight>
              </a:rPr>
              <a:t>	 	Hindi includes diverse slang, spelling variations, and informal expressions that differ across regions. These variations increase the difficulty of accurately identifying abusive comments. The model may occasionally misclassify or overlook abusive content due to these linguistic differences.</a:t>
            </a:r>
          </a:p>
          <a:p>
            <a:pPr marL="91440" algn="just">
              <a:spcAft>
                <a:spcPts val="600"/>
              </a:spcAft>
            </a:pPr>
            <a:endParaRPr lang="en-US" sz="2000" dirty="0">
              <a:highlight>
                <a:srgbClr val="FFFFFF"/>
              </a:highlight>
            </a:endParaRPr>
          </a:p>
          <a:p>
            <a:pPr marL="402336" indent="-310896" algn="just">
              <a:spcAft>
                <a:spcPts val="600"/>
              </a:spcAft>
            </a:pPr>
            <a:endParaRPr lang="en-US" sz="2000" dirty="0"/>
          </a:p>
        </p:txBody>
      </p:sp>
    </p:spTree>
    <p:extLst>
      <p:ext uri="{BB962C8B-B14F-4D97-AF65-F5344CB8AC3E}">
        <p14:creationId xmlns:p14="http://schemas.microsoft.com/office/powerpoint/2010/main" val="159951634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7DF79FA3-3161-9355-7A3E-F3006260AB06}"/>
              </a:ext>
            </a:extLst>
          </p:cNvPr>
          <p:cNvSpPr txBox="1">
            <a:spLocks/>
          </p:cNvSpPr>
          <p:nvPr/>
        </p:nvSpPr>
        <p:spPr>
          <a:xfrm>
            <a:off x="228600" y="128016"/>
            <a:ext cx="8686800" cy="984885"/>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pPr>
              <a:lnSpc>
                <a:spcPct val="100000"/>
              </a:lnSpc>
              <a:spcBef>
                <a:spcPts val="0"/>
              </a:spcBef>
            </a:pPr>
            <a:r>
              <a:rPr lang="en-US" dirty="0"/>
              <a:t>References</a:t>
            </a:r>
            <a:endParaRPr lang="en-US" spc="-20" dirty="0">
              <a:solidFill>
                <a:srgbClr val="2D3B45"/>
              </a:solidFill>
            </a:endParaRPr>
          </a:p>
        </p:txBody>
      </p:sp>
      <p:sp>
        <p:nvSpPr>
          <p:cNvPr id="5" name="Slide Number Placeholder 4">
            <a:extLst>
              <a:ext uri="{FF2B5EF4-FFF2-40B4-BE49-F238E27FC236}">
                <a16:creationId xmlns:a16="http://schemas.microsoft.com/office/drawing/2014/main" id="{D6D86705-CF03-4AF4-0CB4-FAA054C1BA30}"/>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60</a:t>
            </a:fld>
            <a:endParaRPr lang="en-US" dirty="0">
              <a:solidFill>
                <a:srgbClr val="000000"/>
              </a:solidFill>
            </a:endParaRPr>
          </a:p>
        </p:txBody>
      </p:sp>
      <p:sp>
        <p:nvSpPr>
          <p:cNvPr id="7" name="Text Placeholder 2">
            <a:extLst>
              <a:ext uri="{FF2B5EF4-FFF2-40B4-BE49-F238E27FC236}">
                <a16:creationId xmlns:a16="http://schemas.microsoft.com/office/drawing/2014/main" id="{887D8057-97C9-63FD-9BBE-29E1A136572C}"/>
              </a:ext>
            </a:extLst>
          </p:cNvPr>
          <p:cNvSpPr txBox="1">
            <a:spLocks/>
          </p:cNvSpPr>
          <p:nvPr/>
        </p:nvSpPr>
        <p:spPr>
          <a:xfrm>
            <a:off x="719667" y="718488"/>
            <a:ext cx="7577666" cy="564613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3225" indent="-285750" algn="just">
              <a:lnSpc>
                <a:spcPct val="100000"/>
              </a:lnSpc>
              <a:spcBef>
                <a:spcPts val="0"/>
              </a:spcBef>
              <a:spcAft>
                <a:spcPts val="600"/>
              </a:spcAft>
            </a:pPr>
            <a:r>
              <a:rPr lang="en-US" sz="1900" b="1" dirty="0"/>
              <a:t>Kaggle. (2023). Multilingual Abusive Comment Classification [Data set].</a:t>
            </a:r>
            <a:r>
              <a:rPr lang="en-US" sz="1900" b="1" dirty="0" err="1"/>
              <a:t>Kaggle.</a:t>
            </a:r>
            <a:r>
              <a:rPr lang="en-US" sz="1900" b="1" u="sng" dirty="0" err="1">
                <a:solidFill>
                  <a:schemeClr val="accent1">
                    <a:lumMod val="75000"/>
                  </a:schemeClr>
                </a:solidFill>
                <a:hlinkClick r:id="rId2">
                  <a:extLst>
                    <a:ext uri="{A12FA001-AC4F-418D-AE19-62706E023703}">
                      <ahyp:hlinkClr xmlns:ahyp="http://schemas.microsoft.com/office/drawing/2018/hyperlinkcolor" val="tx"/>
                    </a:ext>
                  </a:extLst>
                </a:hlinkClick>
              </a:rPr>
              <a:t>https</a:t>
            </a:r>
            <a:r>
              <a:rPr lang="en-US" sz="1900" b="1" u="sng" dirty="0">
                <a:solidFill>
                  <a:schemeClr val="accent1">
                    <a:lumMod val="75000"/>
                  </a:schemeClr>
                </a:solidFill>
                <a:hlinkClick r:id="rId2">
                  <a:extLst>
                    <a:ext uri="{A12FA001-AC4F-418D-AE19-62706E023703}">
                      <ahyp:hlinkClr xmlns:ahyp="http://schemas.microsoft.com/office/drawing/2018/hyperlinkcolor" val="tx"/>
                    </a:ext>
                  </a:extLst>
                </a:hlinkClick>
              </a:rPr>
              <a:t>://www.kaggle.com/competitions/multilingualabusivecomment/data</a:t>
            </a:r>
            <a:endParaRPr lang="en-US" sz="1900" b="1" dirty="0">
              <a:solidFill>
                <a:schemeClr val="accent1">
                  <a:lumMod val="75000"/>
                </a:schemeClr>
              </a:solidFill>
            </a:endParaRPr>
          </a:p>
          <a:p>
            <a:pPr marL="403225" lvl="0" indent="-285750">
              <a:lnSpc>
                <a:spcPct val="100000"/>
              </a:lnSpc>
              <a:spcBef>
                <a:spcPts val="0"/>
              </a:spcBef>
              <a:spcAft>
                <a:spcPts val="600"/>
              </a:spcAft>
            </a:pPr>
            <a:r>
              <a:rPr lang="en-US" sz="1900" b="1" dirty="0" err="1"/>
              <a:t>Badjatiya</a:t>
            </a:r>
            <a:r>
              <a:rPr lang="en-US" sz="1900" b="1" dirty="0"/>
              <a:t>, P., Gupta, S., Gupta, M., &amp; Varma, V. (2017). </a:t>
            </a:r>
            <a:r>
              <a:rPr lang="en-US" sz="1900" b="1" i="1" dirty="0"/>
              <a:t>Deep Learning for Hate Speech Detection in Tweets.</a:t>
            </a:r>
            <a:r>
              <a:rPr lang="en-US" sz="1900" b="1" dirty="0"/>
              <a:t> Proceedings of WWW ’17 Companion. </a:t>
            </a:r>
            <a:r>
              <a:rPr lang="en-US" sz="1900" b="1" u="sng" dirty="0">
                <a:hlinkClick r:id="rId3"/>
              </a:rPr>
              <a:t>https://doi.org/10.1145/3041021.3054223</a:t>
            </a:r>
            <a:endParaRPr lang="en-US" sz="1900" dirty="0"/>
          </a:p>
          <a:p>
            <a:pPr marL="403225" lvl="0" indent="-285750">
              <a:lnSpc>
                <a:spcPct val="100000"/>
              </a:lnSpc>
              <a:spcBef>
                <a:spcPts val="0"/>
              </a:spcBef>
              <a:spcAft>
                <a:spcPts val="600"/>
              </a:spcAft>
            </a:pPr>
            <a:r>
              <a:rPr lang="en-US" sz="1900" b="1" dirty="0" err="1"/>
              <a:t>Kakwani</a:t>
            </a:r>
            <a:r>
              <a:rPr lang="en-US" sz="1900" b="1" dirty="0"/>
              <a:t>, D., </a:t>
            </a:r>
            <a:r>
              <a:rPr lang="en-US" sz="1900" b="1" dirty="0" err="1"/>
              <a:t>Kunchukuttan</a:t>
            </a:r>
            <a:r>
              <a:rPr lang="en-US" sz="1900" b="1" dirty="0"/>
              <a:t>, A., Golla, S., et al. (2020). </a:t>
            </a:r>
            <a:r>
              <a:rPr lang="en-US" sz="1900" b="1" i="1" dirty="0" err="1"/>
              <a:t>IndicNLPSuite</a:t>
            </a:r>
            <a:r>
              <a:rPr lang="en-US" sz="1900" b="1" i="1" dirty="0"/>
              <a:t>: Monolingual Corpora, Evaluation Benchmarks and Pre-trained Multilingual Language Models for Indian Languages.</a:t>
            </a:r>
            <a:r>
              <a:rPr lang="en-US" sz="1900" b="1" dirty="0"/>
              <a:t> ACL. </a:t>
            </a:r>
            <a:r>
              <a:rPr lang="en-US" sz="1900" b="1" u="sng" dirty="0">
                <a:hlinkClick r:id="rId4"/>
              </a:rPr>
              <a:t>https://doi.org/10.18653/v1/2020.findings-emnlp.445</a:t>
            </a:r>
            <a:endParaRPr lang="en-US" sz="1900" dirty="0"/>
          </a:p>
          <a:p>
            <a:pPr marL="403225" lvl="0" indent="-285750">
              <a:lnSpc>
                <a:spcPct val="100000"/>
              </a:lnSpc>
              <a:spcBef>
                <a:spcPts val="0"/>
              </a:spcBef>
              <a:spcAft>
                <a:spcPts val="600"/>
              </a:spcAft>
            </a:pPr>
            <a:r>
              <a:rPr lang="en-US" sz="1900" b="1" dirty="0"/>
              <a:t>Khanuja, S., Bansal, D., Mehtani, S., et al. (2021). </a:t>
            </a:r>
            <a:r>
              <a:rPr lang="en-US" sz="1900" b="1" i="1" dirty="0"/>
              <a:t>MuRIL: Multilingual Representations for Indian Languages.</a:t>
            </a:r>
            <a:r>
              <a:rPr lang="en-US" sz="1900" b="1" dirty="0"/>
              <a:t> </a:t>
            </a:r>
            <a:r>
              <a:rPr lang="en-US" sz="1900" b="1" dirty="0" err="1"/>
              <a:t>arXiv</a:t>
            </a:r>
            <a:r>
              <a:rPr lang="en-US" sz="1900" b="1" dirty="0"/>
              <a:t>. </a:t>
            </a:r>
            <a:r>
              <a:rPr lang="en-US" sz="1900" b="1" u="sng" dirty="0">
                <a:hlinkClick r:id="rId5"/>
              </a:rPr>
              <a:t>https://doi.org/10.48550/arXiv.2103.10730</a:t>
            </a:r>
            <a:endParaRPr lang="en-US" sz="1900" dirty="0"/>
          </a:p>
          <a:p>
            <a:pPr marL="403225" lvl="0" indent="-285750">
              <a:lnSpc>
                <a:spcPct val="100000"/>
              </a:lnSpc>
              <a:spcBef>
                <a:spcPts val="0"/>
              </a:spcBef>
              <a:spcAft>
                <a:spcPts val="600"/>
              </a:spcAft>
            </a:pPr>
            <a:r>
              <a:rPr lang="en-US" sz="1900" b="1" dirty="0"/>
              <a:t>Mujahid, M., </a:t>
            </a:r>
            <a:r>
              <a:rPr lang="en-US" sz="1900" b="1" dirty="0" err="1"/>
              <a:t>Kına</a:t>
            </a:r>
            <a:r>
              <a:rPr lang="en-US" sz="1900" b="1" dirty="0"/>
              <a:t>, E., Rustam, F., et al. (2024). </a:t>
            </a:r>
            <a:r>
              <a:rPr lang="en-US" sz="1900" b="1" i="1" dirty="0"/>
              <a:t>Data Oversampling and Imbalanced Datasets.</a:t>
            </a:r>
            <a:r>
              <a:rPr lang="en-US" sz="1900" b="1" dirty="0"/>
              <a:t> Journal of Big Data, 11(1), 1–32. </a:t>
            </a:r>
            <a:r>
              <a:rPr lang="en-US" sz="1900" b="1" u="sng" dirty="0">
                <a:hlinkClick r:id="rId6"/>
              </a:rPr>
              <a:t>https://doi.org/10.1186/s40537-024-00943-4</a:t>
            </a:r>
            <a:endParaRPr lang="en-US" sz="1900" dirty="0"/>
          </a:p>
          <a:p>
            <a:pPr marL="403225" indent="-285750" algn="just">
              <a:lnSpc>
                <a:spcPct val="100000"/>
              </a:lnSpc>
              <a:spcBef>
                <a:spcPts val="0"/>
              </a:spcBef>
              <a:spcAft>
                <a:spcPts val="600"/>
              </a:spcAft>
            </a:pPr>
            <a:endParaRPr lang="en-US" sz="1900" dirty="0"/>
          </a:p>
        </p:txBody>
      </p:sp>
    </p:spTree>
    <p:extLst>
      <p:ext uri="{BB962C8B-B14F-4D97-AF65-F5344CB8AC3E}">
        <p14:creationId xmlns:p14="http://schemas.microsoft.com/office/powerpoint/2010/main" val="245885812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4">
            <a:extLst>
              <a:ext uri="{FF2B5EF4-FFF2-40B4-BE49-F238E27FC236}">
                <a16:creationId xmlns:a16="http://schemas.microsoft.com/office/drawing/2014/main" id="{C3C67B12-598F-49CA-F686-09CAC8B10B00}"/>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61</a:t>
            </a:fld>
            <a:endParaRPr lang="en-US" dirty="0">
              <a:solidFill>
                <a:srgbClr val="000000"/>
              </a:solidFill>
            </a:endParaRPr>
          </a:p>
        </p:txBody>
      </p:sp>
      <p:sp>
        <p:nvSpPr>
          <p:cNvPr id="6" name="Text Placeholder 2">
            <a:extLst>
              <a:ext uri="{FF2B5EF4-FFF2-40B4-BE49-F238E27FC236}">
                <a16:creationId xmlns:a16="http://schemas.microsoft.com/office/drawing/2014/main" id="{84833856-52EB-755B-A3C1-D4915A462350}"/>
              </a:ext>
            </a:extLst>
          </p:cNvPr>
          <p:cNvSpPr txBox="1">
            <a:spLocks/>
          </p:cNvSpPr>
          <p:nvPr/>
        </p:nvSpPr>
        <p:spPr>
          <a:xfrm>
            <a:off x="719667" y="599218"/>
            <a:ext cx="7577666" cy="538016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3225" indent="-285750">
              <a:spcAft>
                <a:spcPts val="600"/>
              </a:spcAft>
            </a:pPr>
            <a:r>
              <a:rPr lang="en-US" sz="1900" b="1" dirty="0"/>
              <a:t>Paul, C., &amp; Bora, P. (2021). </a:t>
            </a:r>
            <a:r>
              <a:rPr lang="en-US" sz="1900" b="1" i="1" dirty="0"/>
              <a:t>Detecting Hate Speech using Deep Learning Techniques.</a:t>
            </a:r>
            <a:r>
              <a:rPr lang="en-US" sz="1900" b="1" dirty="0"/>
              <a:t> IJACSA, 12(2). </a:t>
            </a:r>
            <a:r>
              <a:rPr lang="en-US" sz="1900" b="1" u="sng" dirty="0">
                <a:hlinkClick r:id="rId2"/>
              </a:rPr>
              <a:t>https://doi.org/10.14569/ijacsa.2021.0120278</a:t>
            </a:r>
            <a:endParaRPr lang="en-US" sz="1900" b="1" dirty="0"/>
          </a:p>
          <a:p>
            <a:pPr marL="403225" lvl="0" indent="-285750">
              <a:lnSpc>
                <a:spcPct val="100000"/>
              </a:lnSpc>
              <a:spcBef>
                <a:spcPts val="0"/>
              </a:spcBef>
              <a:spcAft>
                <a:spcPts val="600"/>
              </a:spcAft>
            </a:pPr>
            <a:r>
              <a:rPr lang="en-US" sz="1900" b="1" dirty="0"/>
              <a:t>Lydia, E., Shankar, K., Nguyen, P., &amp; Abadi, S. (2019). </a:t>
            </a:r>
            <a:r>
              <a:rPr lang="en-US" sz="1900" b="1" i="1" dirty="0"/>
              <a:t>Logistic Regression for Health Profiling.</a:t>
            </a:r>
            <a:r>
              <a:rPr lang="en-US" sz="1900" b="1" dirty="0"/>
              <a:t> IJEAT. </a:t>
            </a:r>
            <a:r>
              <a:rPr lang="en-US" sz="1900" b="1" u="sng" dirty="0">
                <a:hlinkClick r:id="rId3"/>
              </a:rPr>
              <a:t>https://doi.org/10.35940/ijeat.f1294.0886s219</a:t>
            </a:r>
            <a:endParaRPr lang="en-US" sz="1900" dirty="0"/>
          </a:p>
          <a:p>
            <a:pPr marL="403225" lvl="0" indent="-285750">
              <a:lnSpc>
                <a:spcPct val="100000"/>
              </a:lnSpc>
              <a:spcBef>
                <a:spcPts val="0"/>
              </a:spcBef>
              <a:spcAft>
                <a:spcPts val="600"/>
              </a:spcAft>
            </a:pPr>
            <a:r>
              <a:rPr lang="en-US" sz="1900" b="1" dirty="0"/>
              <a:t>IBM. (2021). </a:t>
            </a:r>
            <a:r>
              <a:rPr lang="en-US" sz="1900" b="1" i="1" dirty="0"/>
              <a:t>Naive Bayes.</a:t>
            </a:r>
            <a:r>
              <a:rPr lang="en-US" sz="1900" b="1" dirty="0"/>
              <a:t> IBM. </a:t>
            </a:r>
            <a:r>
              <a:rPr lang="en-US" sz="1900" b="1" u="sng" dirty="0">
                <a:hlinkClick r:id="rId4"/>
              </a:rPr>
              <a:t>https://www.ibm.com/think/topics/naive-bayes</a:t>
            </a:r>
            <a:endParaRPr lang="en-US" sz="1900" b="1" u="sng" dirty="0"/>
          </a:p>
          <a:p>
            <a:pPr marL="403225" indent="-285750">
              <a:lnSpc>
                <a:spcPct val="100000"/>
              </a:lnSpc>
              <a:spcBef>
                <a:spcPts val="0"/>
              </a:spcBef>
              <a:spcAft>
                <a:spcPts val="600"/>
              </a:spcAft>
            </a:pPr>
            <a:r>
              <a:rPr lang="en-US" sz="1900" b="1" dirty="0"/>
              <a:t>Ng, A. Y. (2004). Feature selection, L1 vs. L2 regularization, and rotational invariance. </a:t>
            </a:r>
            <a:r>
              <a:rPr lang="en-US" sz="1900" b="1" i="1" dirty="0"/>
              <a:t>Proceedings of the Twenty-First International Conference on Machine Learning</a:t>
            </a:r>
            <a:r>
              <a:rPr lang="en-US" sz="1900" b="1" dirty="0"/>
              <a:t>, 78–85. </a:t>
            </a:r>
            <a:r>
              <a:rPr lang="en-US" sz="1900" b="1" u="sng" dirty="0">
                <a:hlinkClick r:id="rId5"/>
              </a:rPr>
              <a:t>https://doi.org/10.1145/1015330.1015435</a:t>
            </a:r>
            <a:endParaRPr lang="en-US" sz="1900" b="1" u="sng" dirty="0"/>
          </a:p>
          <a:p>
            <a:pPr marL="403225" indent="-285750">
              <a:lnSpc>
                <a:spcPct val="100000"/>
              </a:lnSpc>
              <a:spcBef>
                <a:spcPts val="0"/>
              </a:spcBef>
              <a:spcAft>
                <a:spcPts val="600"/>
              </a:spcAft>
            </a:pPr>
            <a:r>
              <a:rPr lang="en-US" sz="1900" b="1" dirty="0"/>
              <a:t>Hastie, T., </a:t>
            </a:r>
            <a:r>
              <a:rPr lang="en-US" sz="1900" b="1" dirty="0" err="1"/>
              <a:t>Tibshirani</a:t>
            </a:r>
            <a:r>
              <a:rPr lang="en-US" sz="1900" b="1" dirty="0"/>
              <a:t>, R., &amp; Friedman, J. (2009). </a:t>
            </a:r>
            <a:r>
              <a:rPr lang="en-US" sz="1900" b="1" i="1" dirty="0"/>
              <a:t>The elements of statistical learning: Data mining, inference, and prediction</a:t>
            </a:r>
            <a:r>
              <a:rPr lang="en-US" sz="1900" b="1" dirty="0"/>
              <a:t> (2nd ed.). Springer. </a:t>
            </a:r>
            <a:r>
              <a:rPr lang="en-US" sz="2000" b="1" dirty="0">
                <a:hlinkClick r:id="rId6"/>
              </a:rPr>
              <a:t>https://hastie.su.domains/ElemStatLearn/</a:t>
            </a:r>
            <a:r>
              <a:rPr lang="en-US" sz="2000" b="1" dirty="0"/>
              <a:t> </a:t>
            </a:r>
          </a:p>
          <a:p>
            <a:pPr marL="403225" indent="-285750">
              <a:lnSpc>
                <a:spcPct val="100000"/>
              </a:lnSpc>
              <a:spcBef>
                <a:spcPts val="0"/>
              </a:spcBef>
              <a:spcAft>
                <a:spcPts val="600"/>
              </a:spcAft>
            </a:pPr>
            <a:r>
              <a:rPr lang="en-US" sz="1900" b="1" dirty="0"/>
              <a:t>Manning, C. D., Raghavan, P., &amp; Schütze, H. (2008). </a:t>
            </a:r>
            <a:r>
              <a:rPr lang="en-US" sz="1900" b="1" i="1" dirty="0"/>
              <a:t>Introduction to information retrieval.</a:t>
            </a:r>
            <a:r>
              <a:rPr lang="en-US" sz="1900" b="1" dirty="0"/>
              <a:t> Cambridge University Press. </a:t>
            </a:r>
            <a:r>
              <a:rPr lang="en-US" sz="1900" b="1" dirty="0">
                <a:hlinkClick r:id="rId7"/>
              </a:rPr>
              <a:t>https://nlp.stanford.edu/IR-book/</a:t>
            </a:r>
            <a:endParaRPr lang="en-US" sz="1900" b="1" dirty="0"/>
          </a:p>
          <a:p>
            <a:pPr marL="117475" indent="0">
              <a:lnSpc>
                <a:spcPct val="100000"/>
              </a:lnSpc>
              <a:spcBef>
                <a:spcPts val="0"/>
              </a:spcBef>
              <a:spcAft>
                <a:spcPts val="600"/>
              </a:spcAft>
              <a:buNone/>
            </a:pPr>
            <a:endParaRPr lang="en-US" sz="1900" dirty="0"/>
          </a:p>
          <a:p>
            <a:pPr marL="403225" indent="-285750">
              <a:lnSpc>
                <a:spcPct val="100000"/>
              </a:lnSpc>
              <a:spcBef>
                <a:spcPts val="0"/>
              </a:spcBef>
              <a:spcAft>
                <a:spcPts val="600"/>
              </a:spcAft>
            </a:pPr>
            <a:endParaRPr lang="en-US" sz="1900" dirty="0"/>
          </a:p>
          <a:p>
            <a:pPr marL="403225" indent="-285750">
              <a:lnSpc>
                <a:spcPct val="100000"/>
              </a:lnSpc>
              <a:spcBef>
                <a:spcPts val="0"/>
              </a:spcBef>
              <a:spcAft>
                <a:spcPts val="600"/>
              </a:spcAft>
            </a:pPr>
            <a:endParaRPr lang="en-US" sz="1900" dirty="0"/>
          </a:p>
          <a:p>
            <a:pPr marL="403225" lvl="0" indent="-285750">
              <a:lnSpc>
                <a:spcPct val="100000"/>
              </a:lnSpc>
              <a:spcBef>
                <a:spcPts val="0"/>
              </a:spcBef>
              <a:spcAft>
                <a:spcPts val="600"/>
              </a:spcAft>
            </a:pPr>
            <a:endParaRPr lang="en-US" sz="1900" dirty="0"/>
          </a:p>
          <a:p>
            <a:pPr marL="403225" indent="-285750" algn="just">
              <a:lnSpc>
                <a:spcPct val="100000"/>
              </a:lnSpc>
              <a:spcBef>
                <a:spcPts val="0"/>
              </a:spcBef>
              <a:spcAft>
                <a:spcPts val="600"/>
              </a:spcAft>
            </a:pPr>
            <a:endParaRPr lang="en-US" sz="1900" dirty="0"/>
          </a:p>
        </p:txBody>
      </p:sp>
    </p:spTree>
    <p:extLst>
      <p:ext uri="{BB962C8B-B14F-4D97-AF65-F5344CB8AC3E}">
        <p14:creationId xmlns:p14="http://schemas.microsoft.com/office/powerpoint/2010/main" val="233930462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F0099-1D5C-2AC1-DB9A-A6D5CAEB056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FBC0261-135B-3C18-B35C-EC993FA15BCF}"/>
              </a:ext>
            </a:extLst>
          </p:cNvPr>
          <p:cNvSpPr>
            <a:spLocks noGrp="1"/>
          </p:cNvSpPr>
          <p:nvPr>
            <p:ph idx="1"/>
          </p:nvPr>
        </p:nvSpPr>
        <p:spPr/>
        <p:txBody>
          <a:bodyPr>
            <a:normAutofit/>
          </a:bodyPr>
          <a:lstStyle/>
          <a:p>
            <a:pPr marL="0" indent="0">
              <a:buNone/>
            </a:pPr>
            <a:r>
              <a:rPr lang="en-US" sz="5400" dirty="0"/>
              <a:t>         </a:t>
            </a:r>
          </a:p>
          <a:p>
            <a:pPr marL="0" indent="0">
              <a:buNone/>
            </a:pPr>
            <a:endParaRPr lang="en-US" sz="5400" dirty="0"/>
          </a:p>
          <a:p>
            <a:pPr marL="0" indent="0">
              <a:buNone/>
            </a:pPr>
            <a:r>
              <a:rPr lang="en-US" sz="5400" dirty="0"/>
              <a:t>              THANK YOU </a:t>
            </a:r>
          </a:p>
        </p:txBody>
      </p:sp>
      <p:sp>
        <p:nvSpPr>
          <p:cNvPr id="5" name="Slide Number Placeholder 4">
            <a:extLst>
              <a:ext uri="{FF2B5EF4-FFF2-40B4-BE49-F238E27FC236}">
                <a16:creationId xmlns:a16="http://schemas.microsoft.com/office/drawing/2014/main" id="{2AB477C0-FC59-4894-943C-CF9C1519DF0C}"/>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62</a:t>
            </a:fld>
            <a:endParaRPr lang="en-US" dirty="0">
              <a:solidFill>
                <a:srgbClr val="000000"/>
              </a:solidFill>
            </a:endParaRPr>
          </a:p>
        </p:txBody>
      </p:sp>
    </p:spTree>
    <p:extLst>
      <p:ext uri="{BB962C8B-B14F-4D97-AF65-F5344CB8AC3E}">
        <p14:creationId xmlns:p14="http://schemas.microsoft.com/office/powerpoint/2010/main" val="83973342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0E3A13-4B1D-196E-46B7-D89610AC6A3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E62245-7926-E9E7-8E14-BDFB8492AF4C}"/>
              </a:ext>
            </a:extLst>
          </p:cNvPr>
          <p:cNvSpPr>
            <a:spLocks noGrp="1"/>
          </p:cNvSpPr>
          <p:nvPr>
            <p:ph idx="4294967295"/>
          </p:nvPr>
        </p:nvSpPr>
        <p:spPr>
          <a:xfrm>
            <a:off x="0" y="644525"/>
            <a:ext cx="7392988" cy="5581650"/>
          </a:xfrm>
        </p:spPr>
        <p:txBody>
          <a:bodyPr>
            <a:noAutofit/>
          </a:bodyPr>
          <a:lstStyle/>
          <a:p>
            <a:pPr marL="0" indent="0">
              <a:buNone/>
            </a:pPr>
            <a:r>
              <a:rPr lang="en-US" sz="1800" b="1" dirty="0"/>
              <a:t>Imports  </a:t>
            </a:r>
          </a:p>
          <a:p>
            <a:pPr marL="0" indent="0">
              <a:buNone/>
            </a:pPr>
            <a:r>
              <a:rPr lang="en-US" sz="1800" dirty="0"/>
              <a:t>Installing Indic NLP library</a:t>
            </a:r>
          </a:p>
          <a:p>
            <a:pPr marL="0" indent="0">
              <a:buNone/>
            </a:pPr>
            <a:r>
              <a:rPr lang="en-US" sz="1800" dirty="0"/>
              <a:t>!pip install </a:t>
            </a:r>
            <a:r>
              <a:rPr lang="en-US" sz="1800" dirty="0" err="1"/>
              <a:t>indic</a:t>
            </a:r>
            <a:r>
              <a:rPr lang="en-US" sz="1800" dirty="0"/>
              <a:t>-</a:t>
            </a:r>
            <a:r>
              <a:rPr lang="en-US" sz="1800" dirty="0" err="1"/>
              <a:t>nlp</a:t>
            </a:r>
            <a:r>
              <a:rPr lang="en-US" sz="1800" dirty="0"/>
              <a:t>-library</a:t>
            </a:r>
          </a:p>
          <a:p>
            <a:pPr marL="0" indent="0">
              <a:buNone/>
            </a:pPr>
            <a:r>
              <a:rPr lang="en-US" sz="1800" dirty="0"/>
              <a:t># Importing required libraries</a:t>
            </a:r>
          </a:p>
          <a:p>
            <a:pPr marL="0" indent="0">
              <a:buNone/>
            </a:pPr>
            <a:r>
              <a:rPr lang="en-US" sz="1800" dirty="0"/>
              <a:t>import pandas as pd</a:t>
            </a:r>
          </a:p>
          <a:p>
            <a:pPr marL="0" indent="0">
              <a:buNone/>
            </a:pPr>
            <a:r>
              <a:rPr lang="en-US" sz="1800" dirty="0"/>
              <a:t>import </a:t>
            </a:r>
            <a:r>
              <a:rPr lang="en-US" sz="1800" dirty="0" err="1"/>
              <a:t>numpy</a:t>
            </a:r>
            <a:r>
              <a:rPr lang="en-US" sz="1800" dirty="0"/>
              <a:t> as np</a:t>
            </a:r>
          </a:p>
          <a:p>
            <a:pPr marL="0" indent="0">
              <a:buNone/>
            </a:pPr>
            <a:r>
              <a:rPr lang="en-US" sz="1800" dirty="0"/>
              <a:t>import re</a:t>
            </a:r>
          </a:p>
          <a:p>
            <a:pPr marL="0" indent="0">
              <a:buNone/>
            </a:pPr>
            <a:r>
              <a:rPr lang="en-US" sz="1800" dirty="0"/>
              <a:t>import string</a:t>
            </a:r>
          </a:p>
          <a:p>
            <a:pPr marL="0" indent="0">
              <a:buNone/>
            </a:pPr>
            <a:r>
              <a:rPr lang="en-US" sz="1800" dirty="0"/>
              <a:t>import collections</a:t>
            </a:r>
          </a:p>
          <a:p>
            <a:pPr marL="0" indent="0">
              <a:buNone/>
            </a:pPr>
            <a:r>
              <a:rPr lang="en-US" sz="1800" dirty="0"/>
              <a:t>import </a:t>
            </a:r>
            <a:r>
              <a:rPr lang="en-US" sz="1800" dirty="0" err="1"/>
              <a:t>matplotlib.pyplot</a:t>
            </a:r>
            <a:r>
              <a:rPr lang="en-US" sz="1800" dirty="0"/>
              <a:t> as </a:t>
            </a:r>
            <a:r>
              <a:rPr lang="en-US" sz="1800" dirty="0" err="1"/>
              <a:t>plt</a:t>
            </a:r>
            <a:endParaRPr lang="en-US" sz="1800" dirty="0"/>
          </a:p>
          <a:p>
            <a:pPr marL="0" indent="0">
              <a:buNone/>
            </a:pPr>
            <a:r>
              <a:rPr lang="en-US" sz="1800" dirty="0"/>
              <a:t>from </a:t>
            </a:r>
            <a:r>
              <a:rPr lang="en-US" sz="1800" dirty="0" err="1"/>
              <a:t>pathlib</a:t>
            </a:r>
            <a:r>
              <a:rPr lang="en-US" sz="1800" dirty="0"/>
              <a:t> import Path</a:t>
            </a:r>
          </a:p>
          <a:p>
            <a:pPr marL="0" indent="0">
              <a:buNone/>
            </a:pPr>
            <a:r>
              <a:rPr lang="en-US" sz="1800" dirty="0"/>
              <a:t>from </a:t>
            </a:r>
            <a:r>
              <a:rPr lang="en-US" sz="1800" dirty="0" err="1"/>
              <a:t>sklearn.linear_model</a:t>
            </a:r>
            <a:r>
              <a:rPr lang="en-US" sz="1800" dirty="0"/>
              <a:t> import </a:t>
            </a:r>
            <a:r>
              <a:rPr lang="en-US" sz="1800" dirty="0" err="1"/>
              <a:t>LogisticRegression</a:t>
            </a:r>
            <a:endParaRPr lang="en-US" sz="1800" dirty="0"/>
          </a:p>
          <a:p>
            <a:pPr marL="0" indent="0">
              <a:buNone/>
            </a:pPr>
            <a:r>
              <a:rPr lang="en-US" sz="1800" dirty="0"/>
              <a:t>from </a:t>
            </a:r>
            <a:r>
              <a:rPr lang="en-US" sz="1800" dirty="0" err="1"/>
              <a:t>sklearn.feature_extraction.text</a:t>
            </a:r>
            <a:r>
              <a:rPr lang="en-US" sz="1800" dirty="0"/>
              <a:t> import </a:t>
            </a:r>
            <a:r>
              <a:rPr lang="en-US" sz="1800" dirty="0" err="1"/>
              <a:t>TfidfVectorizer</a:t>
            </a:r>
            <a:endParaRPr lang="en-US" sz="1800" dirty="0"/>
          </a:p>
          <a:p>
            <a:pPr marL="0" indent="0">
              <a:buNone/>
            </a:pPr>
            <a:r>
              <a:rPr lang="en-US" sz="1800" dirty="0"/>
              <a:t>from </a:t>
            </a:r>
            <a:r>
              <a:rPr lang="en-US" sz="1800" dirty="0" err="1"/>
              <a:t>sklearn.model_selection</a:t>
            </a:r>
            <a:r>
              <a:rPr lang="en-US" sz="1800" dirty="0"/>
              <a:t> import </a:t>
            </a:r>
            <a:r>
              <a:rPr lang="en-US" sz="1800" dirty="0" err="1"/>
              <a:t>train_test_split</a:t>
            </a:r>
            <a:endParaRPr lang="en-US" sz="1800" dirty="0"/>
          </a:p>
          <a:p>
            <a:pPr marL="0" indent="0">
              <a:buNone/>
            </a:pPr>
            <a:r>
              <a:rPr lang="en-US" sz="1800" dirty="0"/>
              <a:t>from </a:t>
            </a:r>
            <a:r>
              <a:rPr lang="en-US" sz="1800" dirty="0" err="1"/>
              <a:t>sklearn.metrics</a:t>
            </a:r>
            <a:r>
              <a:rPr lang="en-US" sz="1800" dirty="0"/>
              <a:t> import </a:t>
            </a:r>
            <a:r>
              <a:rPr lang="en-US" sz="1800" dirty="0" err="1"/>
              <a:t>classification_report</a:t>
            </a:r>
            <a:r>
              <a:rPr lang="en-US" sz="1800" dirty="0"/>
              <a:t>, </a:t>
            </a:r>
            <a:r>
              <a:rPr lang="en-US" sz="1800" dirty="0" err="1"/>
              <a:t>accuracy_score</a:t>
            </a:r>
            <a:endParaRPr lang="en-US" sz="1800" dirty="0"/>
          </a:p>
          <a:p>
            <a:pPr marL="0" indent="341313">
              <a:buNone/>
            </a:pPr>
            <a:endParaRPr lang="en-US" sz="1800" dirty="0"/>
          </a:p>
          <a:p>
            <a:pPr marL="0" indent="341313">
              <a:buNone/>
            </a:pPr>
            <a:endParaRPr lang="en-US" sz="1800" dirty="0"/>
          </a:p>
          <a:p>
            <a:pPr marL="0" indent="341313">
              <a:buNone/>
            </a:pPr>
            <a:r>
              <a:rPr lang="en-US" sz="1800" dirty="0"/>
              <a:t>              </a:t>
            </a:r>
          </a:p>
        </p:txBody>
      </p:sp>
      <p:sp>
        <p:nvSpPr>
          <p:cNvPr id="8" name="object 2">
            <a:extLst>
              <a:ext uri="{FF2B5EF4-FFF2-40B4-BE49-F238E27FC236}">
                <a16:creationId xmlns:a16="http://schemas.microsoft.com/office/drawing/2014/main" id="{19309B0D-A181-FEF7-AE1B-E7BF61A33FBE}"/>
              </a:ext>
            </a:extLst>
          </p:cNvPr>
          <p:cNvSpPr txBox="1">
            <a:spLocks/>
          </p:cNvSpPr>
          <p:nvPr/>
        </p:nvSpPr>
        <p:spPr>
          <a:xfrm>
            <a:off x="228600" y="128016"/>
            <a:ext cx="8763320" cy="985641"/>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pPr>
              <a:lnSpc>
                <a:spcPct val="100000"/>
              </a:lnSpc>
              <a:spcBef>
                <a:spcPts val="0"/>
              </a:spcBef>
            </a:pPr>
            <a:r>
              <a:rPr lang="en-US" dirty="0"/>
              <a:t>Appendix of Python Code</a:t>
            </a:r>
            <a:endParaRPr lang="en-US" spc="-20" dirty="0">
              <a:solidFill>
                <a:srgbClr val="2D3B45"/>
              </a:solidFill>
            </a:endParaRPr>
          </a:p>
        </p:txBody>
      </p:sp>
      <p:sp>
        <p:nvSpPr>
          <p:cNvPr id="2" name="Slide Number Placeholder 4">
            <a:extLst>
              <a:ext uri="{FF2B5EF4-FFF2-40B4-BE49-F238E27FC236}">
                <a16:creationId xmlns:a16="http://schemas.microsoft.com/office/drawing/2014/main" id="{156BE6E3-6C76-80F7-561A-18DF6174D2FC}"/>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63</a:t>
            </a:fld>
            <a:endParaRPr lang="en-US" dirty="0">
              <a:solidFill>
                <a:srgbClr val="000000"/>
              </a:solidFill>
            </a:endParaRPr>
          </a:p>
        </p:txBody>
      </p:sp>
    </p:spTree>
    <p:extLst>
      <p:ext uri="{BB962C8B-B14F-4D97-AF65-F5344CB8AC3E}">
        <p14:creationId xmlns:p14="http://schemas.microsoft.com/office/powerpoint/2010/main" val="333607519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BB2314-5732-23C2-A1DB-3196631F8AF1}"/>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021B29AC-ABCB-D2F8-5FAC-94AF63C7590A}"/>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64</a:t>
            </a:fld>
            <a:endParaRPr lang="en-US" dirty="0">
              <a:solidFill>
                <a:srgbClr val="000000"/>
              </a:solidFill>
            </a:endParaRPr>
          </a:p>
        </p:txBody>
      </p:sp>
      <p:sp>
        <p:nvSpPr>
          <p:cNvPr id="4" name="Content Placeholder 2">
            <a:extLst>
              <a:ext uri="{FF2B5EF4-FFF2-40B4-BE49-F238E27FC236}">
                <a16:creationId xmlns:a16="http://schemas.microsoft.com/office/drawing/2014/main" id="{29063899-56A3-36DC-E5BC-5BF2B64B2ECE}"/>
              </a:ext>
            </a:extLst>
          </p:cNvPr>
          <p:cNvSpPr txBox="1">
            <a:spLocks/>
          </p:cNvSpPr>
          <p:nvPr/>
        </p:nvSpPr>
        <p:spPr>
          <a:xfrm>
            <a:off x="844550" y="597781"/>
            <a:ext cx="7408904" cy="490452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dirty="0"/>
              <a:t>from </a:t>
            </a:r>
            <a:r>
              <a:rPr lang="en-US" sz="1800" dirty="0" err="1"/>
              <a:t>indicnlp.tokenize</a:t>
            </a:r>
            <a:r>
              <a:rPr lang="en-US" sz="1800" dirty="0"/>
              <a:t> import </a:t>
            </a:r>
            <a:r>
              <a:rPr lang="en-US" sz="1800" dirty="0" err="1"/>
              <a:t>indic_tokenize</a:t>
            </a:r>
            <a:endParaRPr lang="en-US" sz="1800" dirty="0"/>
          </a:p>
          <a:p>
            <a:pPr marL="0" indent="0">
              <a:buNone/>
            </a:pPr>
            <a:r>
              <a:rPr lang="en-US" sz="1800" dirty="0"/>
              <a:t>from </a:t>
            </a:r>
            <a:r>
              <a:rPr lang="en-US" sz="1800" dirty="0" err="1"/>
              <a:t>sklearn.model_selection</a:t>
            </a:r>
            <a:r>
              <a:rPr lang="en-US" sz="1800" dirty="0"/>
              <a:t> import </a:t>
            </a:r>
            <a:r>
              <a:rPr lang="en-US" sz="1800" dirty="0" err="1"/>
              <a:t>train_test_split</a:t>
            </a:r>
            <a:endParaRPr lang="en-US" sz="1800" dirty="0"/>
          </a:p>
          <a:p>
            <a:pPr marL="0" indent="0">
              <a:buNone/>
            </a:pPr>
            <a:r>
              <a:rPr lang="en-US" sz="1800" dirty="0"/>
              <a:t>from </a:t>
            </a:r>
            <a:r>
              <a:rPr lang="en-US" sz="1800" dirty="0" err="1"/>
              <a:t>sklearn.tree</a:t>
            </a:r>
            <a:r>
              <a:rPr lang="en-US" sz="1800" dirty="0"/>
              <a:t> import </a:t>
            </a:r>
            <a:r>
              <a:rPr lang="en-US" sz="1800" dirty="0" err="1"/>
              <a:t>DecisionTreeClassifier</a:t>
            </a:r>
            <a:endParaRPr lang="en-US" sz="1800" dirty="0"/>
          </a:p>
          <a:p>
            <a:pPr marL="0" indent="0">
              <a:buNone/>
            </a:pPr>
            <a:r>
              <a:rPr lang="en-US" sz="1800" dirty="0"/>
              <a:t>from </a:t>
            </a:r>
            <a:r>
              <a:rPr lang="en-US" sz="1800" dirty="0" err="1"/>
              <a:t>nltk.corpus</a:t>
            </a:r>
            <a:r>
              <a:rPr lang="en-US" sz="1800" dirty="0"/>
              <a:t> import </a:t>
            </a:r>
            <a:r>
              <a:rPr lang="en-US" sz="1800" dirty="0" err="1"/>
              <a:t>stopwords</a:t>
            </a:r>
            <a:endParaRPr lang="en-US" sz="1800" dirty="0"/>
          </a:p>
          <a:p>
            <a:pPr marL="0" indent="0">
              <a:buNone/>
            </a:pPr>
            <a:r>
              <a:rPr lang="en-US" sz="1800" dirty="0"/>
              <a:t>from </a:t>
            </a:r>
            <a:r>
              <a:rPr lang="en-US" sz="1800" dirty="0" err="1"/>
              <a:t>tensorflow.keras.preprocessing.text</a:t>
            </a:r>
            <a:r>
              <a:rPr lang="en-US" sz="1800" dirty="0"/>
              <a:t> import Tokenizer</a:t>
            </a:r>
          </a:p>
          <a:p>
            <a:pPr marL="0" indent="0">
              <a:buNone/>
            </a:pPr>
            <a:r>
              <a:rPr lang="en-US" sz="1800" dirty="0"/>
              <a:t>from </a:t>
            </a:r>
            <a:r>
              <a:rPr lang="en-US" sz="1800" dirty="0" err="1"/>
              <a:t>tensorflow.keras.utils</a:t>
            </a:r>
            <a:r>
              <a:rPr lang="en-US" sz="1800" dirty="0"/>
              <a:t> import </a:t>
            </a:r>
            <a:r>
              <a:rPr lang="en-US" sz="1800" dirty="0" err="1"/>
              <a:t>pad_sequences</a:t>
            </a:r>
            <a:r>
              <a:rPr lang="en-US" sz="1800" dirty="0"/>
              <a:t>, </a:t>
            </a:r>
            <a:r>
              <a:rPr lang="en-US" sz="1800" dirty="0" err="1"/>
              <a:t>to_categorical</a:t>
            </a:r>
            <a:endParaRPr lang="en-US" sz="1800" dirty="0"/>
          </a:p>
          <a:p>
            <a:pPr marL="0" indent="0">
              <a:buNone/>
            </a:pPr>
            <a:r>
              <a:rPr lang="en-US" sz="1800" dirty="0"/>
              <a:t>from </a:t>
            </a:r>
            <a:r>
              <a:rPr lang="en-US" sz="1800" dirty="0" err="1"/>
              <a:t>tensorflow.keras</a:t>
            </a:r>
            <a:r>
              <a:rPr lang="en-US" sz="1800" dirty="0"/>
              <a:t> import models, layers</a:t>
            </a:r>
          </a:p>
          <a:p>
            <a:pPr marL="0" indent="0">
              <a:buNone/>
            </a:pPr>
            <a:r>
              <a:rPr lang="en-US" sz="1800" dirty="0"/>
              <a:t>from </a:t>
            </a:r>
            <a:r>
              <a:rPr lang="en-US" sz="1800" dirty="0" err="1"/>
              <a:t>sklearn.preprocessing</a:t>
            </a:r>
            <a:r>
              <a:rPr lang="en-US" sz="1800" dirty="0"/>
              <a:t> import </a:t>
            </a:r>
            <a:r>
              <a:rPr lang="en-US" sz="1800" dirty="0" err="1"/>
              <a:t>LabelEncoder</a:t>
            </a:r>
            <a:endParaRPr lang="en-US" sz="1800" dirty="0"/>
          </a:p>
          <a:p>
            <a:pPr marL="0" indent="0">
              <a:buNone/>
            </a:pPr>
            <a:r>
              <a:rPr lang="en-US" sz="1800" dirty="0"/>
              <a:t>from </a:t>
            </a:r>
            <a:r>
              <a:rPr lang="en-US" sz="1800" dirty="0" err="1"/>
              <a:t>keras</a:t>
            </a:r>
            <a:r>
              <a:rPr lang="en-US" sz="1800" dirty="0"/>
              <a:t> import models</a:t>
            </a:r>
          </a:p>
          <a:p>
            <a:pPr marL="0" indent="0">
              <a:buNone/>
            </a:pPr>
            <a:r>
              <a:rPr lang="en-US" sz="1800" dirty="0"/>
              <a:t>from </a:t>
            </a:r>
            <a:r>
              <a:rPr lang="en-US" sz="1800" dirty="0" err="1"/>
              <a:t>keras</a:t>
            </a:r>
            <a:r>
              <a:rPr lang="en-US" sz="1800" dirty="0"/>
              <a:t> import layers</a:t>
            </a:r>
          </a:p>
          <a:p>
            <a:pPr marL="0" indent="0">
              <a:buNone/>
            </a:pPr>
            <a:r>
              <a:rPr lang="en-US" sz="1800" dirty="0"/>
              <a:t>from </a:t>
            </a:r>
            <a:r>
              <a:rPr lang="en-US" sz="1800" dirty="0" err="1"/>
              <a:t>colorama</a:t>
            </a:r>
            <a:r>
              <a:rPr lang="en-US" sz="1800" dirty="0"/>
              <a:t> import Fore, Back, Style</a:t>
            </a:r>
          </a:p>
          <a:p>
            <a:pPr marL="0" indent="0" fontAlgn="base">
              <a:buNone/>
            </a:pPr>
            <a:r>
              <a:rPr lang="en-US" sz="1800" dirty="0"/>
              <a:t>NLP library​</a:t>
            </a:r>
          </a:p>
          <a:p>
            <a:pPr marL="0" indent="0" fontAlgn="base">
              <a:buNone/>
            </a:pPr>
            <a:r>
              <a:rPr lang="en-US" sz="1800" dirty="0"/>
              <a:t>!pip install </a:t>
            </a:r>
            <a:r>
              <a:rPr lang="en-US" sz="1800" dirty="0" err="1"/>
              <a:t>indic</a:t>
            </a:r>
            <a:r>
              <a:rPr lang="en-US" sz="1800" dirty="0"/>
              <a:t>-</a:t>
            </a:r>
            <a:r>
              <a:rPr lang="en-US" sz="1800" dirty="0" err="1"/>
              <a:t>nlp</a:t>
            </a:r>
            <a:r>
              <a:rPr lang="en-US" sz="1800" dirty="0"/>
              <a:t>-library Installing Indic NLP library​</a:t>
            </a:r>
          </a:p>
          <a:p>
            <a:pPr fontAlgn="base"/>
            <a:endParaRPr lang="en-US" dirty="0"/>
          </a:p>
          <a:p>
            <a:pPr marL="0" indent="0">
              <a:buNone/>
            </a:pPr>
            <a:endParaRPr lang="en-US" sz="1800" dirty="0"/>
          </a:p>
          <a:p>
            <a:pPr marL="341313" indent="-341313">
              <a:buNone/>
            </a:pPr>
            <a:endParaRPr lang="en-US" sz="1800" dirty="0"/>
          </a:p>
          <a:p>
            <a:pPr marL="341313" indent="-341313">
              <a:buNone/>
            </a:pPr>
            <a:r>
              <a:rPr lang="en-US" sz="1800" dirty="0"/>
              <a:t>              </a:t>
            </a:r>
          </a:p>
        </p:txBody>
      </p:sp>
    </p:spTree>
    <p:extLst>
      <p:ext uri="{BB962C8B-B14F-4D97-AF65-F5344CB8AC3E}">
        <p14:creationId xmlns:p14="http://schemas.microsoft.com/office/powerpoint/2010/main" val="372103333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5389D6-314E-79C0-C55E-FAA1813617E5}"/>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002AE2C7-4F3D-534D-A890-79ED1364F9AD}"/>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65</a:t>
            </a:fld>
            <a:endParaRPr lang="en-US" dirty="0">
              <a:solidFill>
                <a:srgbClr val="000000"/>
              </a:solidFill>
            </a:endParaRPr>
          </a:p>
        </p:txBody>
      </p:sp>
      <p:sp>
        <p:nvSpPr>
          <p:cNvPr id="2" name="Content Placeholder 2">
            <a:extLst>
              <a:ext uri="{FF2B5EF4-FFF2-40B4-BE49-F238E27FC236}">
                <a16:creationId xmlns:a16="http://schemas.microsoft.com/office/drawing/2014/main" id="{F04239F6-F033-184F-7316-FA9E61726A01}"/>
              </a:ext>
            </a:extLst>
          </p:cNvPr>
          <p:cNvSpPr txBox="1">
            <a:spLocks/>
          </p:cNvSpPr>
          <p:nvPr/>
        </p:nvSpPr>
        <p:spPr>
          <a:xfrm>
            <a:off x="857250" y="660064"/>
            <a:ext cx="7335333" cy="390398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39725" indent="-339725">
              <a:buNone/>
            </a:pPr>
            <a:r>
              <a:rPr lang="en-US" sz="1800" b="1" dirty="0"/>
              <a:t>Data Loading</a:t>
            </a:r>
          </a:p>
          <a:p>
            <a:pPr marL="0" indent="0">
              <a:buNone/>
            </a:pPr>
            <a:r>
              <a:rPr lang="en-US" sz="1800" dirty="0"/>
              <a:t>from </a:t>
            </a:r>
            <a:r>
              <a:rPr lang="en-US" sz="1800" dirty="0" err="1"/>
              <a:t>google.colab</a:t>
            </a:r>
            <a:r>
              <a:rPr lang="en-US" sz="1800" dirty="0"/>
              <a:t> import drive</a:t>
            </a:r>
          </a:p>
          <a:p>
            <a:pPr marL="0" indent="0">
              <a:buNone/>
            </a:pPr>
            <a:r>
              <a:rPr lang="en-US" sz="1800" dirty="0" err="1"/>
              <a:t>drive.mount</a:t>
            </a:r>
            <a:r>
              <a:rPr lang="en-US" sz="1800" dirty="0"/>
              <a:t>('/content/drive')</a:t>
            </a:r>
          </a:p>
          <a:p>
            <a:pPr marL="0" indent="0">
              <a:buNone/>
            </a:pPr>
            <a:r>
              <a:rPr lang="en-US" sz="1800" dirty="0" err="1"/>
              <a:t>file_path</a:t>
            </a:r>
            <a:r>
              <a:rPr lang="en-US" sz="1800" dirty="0"/>
              <a:t> = '/content/drive/</a:t>
            </a:r>
            <a:r>
              <a:rPr lang="en-US" sz="1800" dirty="0" err="1"/>
              <a:t>MyDrive</a:t>
            </a:r>
            <a:r>
              <a:rPr lang="en-US" sz="1800" dirty="0"/>
              <a:t>/Colab Notebooks/CAPSTONE_PROJECT/Hindi.xlsx'</a:t>
            </a:r>
          </a:p>
          <a:p>
            <a:pPr marL="0" indent="0">
              <a:buNone/>
            </a:pPr>
            <a:r>
              <a:rPr lang="en-US" sz="1800" dirty="0" err="1"/>
              <a:t>df</a:t>
            </a:r>
            <a:r>
              <a:rPr lang="en-US" sz="1800" dirty="0"/>
              <a:t> = </a:t>
            </a:r>
            <a:r>
              <a:rPr lang="en-US" sz="1800" dirty="0" err="1"/>
              <a:t>pd.read_excel</a:t>
            </a:r>
            <a:r>
              <a:rPr lang="en-US" sz="1800" dirty="0"/>
              <a:t>(</a:t>
            </a:r>
            <a:r>
              <a:rPr lang="en-US" sz="1800" dirty="0" err="1"/>
              <a:t>file_path</a:t>
            </a:r>
            <a:r>
              <a:rPr lang="en-US" sz="1800" dirty="0"/>
              <a:t>)</a:t>
            </a:r>
          </a:p>
          <a:p>
            <a:pPr marL="339725" indent="-339725">
              <a:buNone/>
            </a:pPr>
            <a:endParaRPr lang="en-US" sz="1800" dirty="0"/>
          </a:p>
          <a:p>
            <a:pPr marL="0" indent="0">
              <a:buNone/>
            </a:pPr>
            <a:r>
              <a:rPr lang="en-US" sz="1800" dirty="0"/>
              <a:t># If Using </a:t>
            </a:r>
            <a:r>
              <a:rPr lang="en-US" sz="1800" dirty="0" err="1"/>
              <a:t>Jupyter</a:t>
            </a:r>
            <a:r>
              <a:rPr lang="en-US" sz="1800" dirty="0"/>
              <a:t> Notebook</a:t>
            </a:r>
          </a:p>
          <a:p>
            <a:pPr marL="0" indent="0">
              <a:buNone/>
            </a:pPr>
            <a:r>
              <a:rPr lang="en-US" sz="1800" dirty="0"/>
              <a:t># </a:t>
            </a:r>
            <a:r>
              <a:rPr lang="en-US" sz="1800" dirty="0" err="1"/>
              <a:t>df</a:t>
            </a:r>
            <a:r>
              <a:rPr lang="en-US" sz="1800" dirty="0"/>
              <a:t> = </a:t>
            </a:r>
            <a:r>
              <a:rPr lang="en-US" sz="1800" dirty="0" err="1"/>
              <a:t>pd.read_excel</a:t>
            </a:r>
            <a:r>
              <a:rPr lang="en-US" sz="1800" dirty="0"/>
              <a:t>("hindi.xlsx")</a:t>
            </a:r>
          </a:p>
          <a:p>
            <a:pPr marL="0" indent="0">
              <a:buNone/>
            </a:pPr>
            <a:r>
              <a:rPr lang="en-US" sz="1800" dirty="0" err="1"/>
              <a:t>df.head</a:t>
            </a:r>
            <a:r>
              <a:rPr lang="en-US" sz="1800" dirty="0"/>
              <a:t>()</a:t>
            </a:r>
          </a:p>
          <a:p>
            <a:pPr marL="339725" indent="-339725">
              <a:buNone/>
            </a:pPr>
            <a:endParaRPr lang="en-US" sz="1800" dirty="0"/>
          </a:p>
        </p:txBody>
      </p:sp>
    </p:spTree>
    <p:extLst>
      <p:ext uri="{BB962C8B-B14F-4D97-AF65-F5344CB8AC3E}">
        <p14:creationId xmlns:p14="http://schemas.microsoft.com/office/powerpoint/2010/main" val="14257360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CD007D-54D7-C769-71CD-64B7EE92146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5DE222-7D20-F0E0-53C2-E0C12C8803A2}"/>
              </a:ext>
            </a:extLst>
          </p:cNvPr>
          <p:cNvSpPr>
            <a:spLocks noGrp="1"/>
          </p:cNvSpPr>
          <p:nvPr>
            <p:ph idx="1"/>
          </p:nvPr>
        </p:nvSpPr>
        <p:spPr/>
        <p:txBody>
          <a:bodyPr>
            <a:normAutofit/>
          </a:bodyPr>
          <a:lstStyle/>
          <a:p>
            <a:pPr marL="0" indent="0">
              <a:buNone/>
            </a:pPr>
            <a:r>
              <a:rPr lang="en-US" sz="5400" dirty="0"/>
              <a:t>         </a:t>
            </a:r>
          </a:p>
          <a:p>
            <a:pPr marL="0" indent="0">
              <a:buNone/>
            </a:pPr>
            <a:endParaRPr lang="en-US" sz="5400" dirty="0"/>
          </a:p>
          <a:p>
            <a:pPr marL="0" indent="0">
              <a:buNone/>
            </a:pPr>
            <a:r>
              <a:rPr lang="en-US" sz="5400" dirty="0"/>
              <a:t>              </a:t>
            </a:r>
          </a:p>
        </p:txBody>
      </p:sp>
      <p:sp>
        <p:nvSpPr>
          <p:cNvPr id="9" name="TextBox 8">
            <a:extLst>
              <a:ext uri="{FF2B5EF4-FFF2-40B4-BE49-F238E27FC236}">
                <a16:creationId xmlns:a16="http://schemas.microsoft.com/office/drawing/2014/main" id="{DDD33025-007A-C1F7-E1DD-91218156994E}"/>
              </a:ext>
            </a:extLst>
          </p:cNvPr>
          <p:cNvSpPr txBox="1"/>
          <p:nvPr/>
        </p:nvSpPr>
        <p:spPr>
          <a:xfrm>
            <a:off x="844550" y="608392"/>
            <a:ext cx="7408904" cy="4801314"/>
          </a:xfrm>
          <a:prstGeom prst="rect">
            <a:avLst/>
          </a:prstGeom>
          <a:noFill/>
        </p:spPr>
        <p:txBody>
          <a:bodyPr wrap="square">
            <a:spAutoFit/>
          </a:bodyPr>
          <a:lstStyle/>
          <a:p>
            <a:pPr marL="341313" lvl="0" indent="-341313" eaLnBrk="0" fontAlgn="base" hangingPunct="0">
              <a:spcBef>
                <a:spcPct val="0"/>
              </a:spcBef>
              <a:spcAft>
                <a:spcPct val="0"/>
              </a:spcAft>
            </a:pPr>
            <a:r>
              <a:rPr lang="en-US" altLang="en-US" dirty="0">
                <a:solidFill>
                  <a:srgbClr val="1F1F1F"/>
                </a:solidFill>
              </a:rPr>
              <a:t>Step 1: Initial Split</a:t>
            </a:r>
          </a:p>
          <a:p>
            <a:pPr marL="341313" lvl="0" indent="-341313" eaLnBrk="0" fontAlgn="base" hangingPunct="0">
              <a:spcBef>
                <a:spcPct val="0"/>
              </a:spcBef>
              <a:spcAft>
                <a:spcPct val="0"/>
              </a:spcAft>
              <a:buFontTx/>
              <a:buChar char="•"/>
            </a:pPr>
            <a:r>
              <a:rPr lang="en-US" altLang="en-US" b="1" dirty="0">
                <a:solidFill>
                  <a:srgbClr val="1F1F1F"/>
                </a:solidFill>
              </a:rPr>
              <a:t>60% for training</a:t>
            </a:r>
            <a:r>
              <a:rPr lang="en-US" altLang="en-US" dirty="0">
                <a:solidFill>
                  <a:srgbClr val="1F1F1F"/>
                </a:solidFill>
              </a:rPr>
              <a:t> (used to train the model).</a:t>
            </a:r>
          </a:p>
          <a:p>
            <a:pPr marL="341313" lvl="0" indent="-341313" eaLnBrk="0" fontAlgn="base" hangingPunct="0">
              <a:spcBef>
                <a:spcPct val="0"/>
              </a:spcBef>
              <a:spcAft>
                <a:spcPct val="0"/>
              </a:spcAft>
              <a:buFontTx/>
              <a:buChar char="•"/>
            </a:pPr>
            <a:r>
              <a:rPr lang="en-US" altLang="en-US" b="1" dirty="0">
                <a:solidFill>
                  <a:srgbClr val="1F1F1F"/>
                </a:solidFill>
              </a:rPr>
              <a:t>40% for further splitting</a:t>
            </a:r>
            <a:r>
              <a:rPr lang="en-US" altLang="en-US" dirty="0">
                <a:solidFill>
                  <a:srgbClr val="1F1F1F"/>
                </a:solidFill>
              </a:rPr>
              <a:t> (to be used for validation and final testing).</a:t>
            </a:r>
          </a:p>
          <a:p>
            <a:pPr marL="341313" lvl="0" indent="-341313" eaLnBrk="0" fontAlgn="base" hangingPunct="0">
              <a:spcBef>
                <a:spcPct val="0"/>
              </a:spcBef>
              <a:spcAft>
                <a:spcPct val="0"/>
              </a:spcAft>
            </a:pPr>
            <a:r>
              <a:rPr lang="en-US" altLang="en-US" dirty="0">
                <a:solidFill>
                  <a:srgbClr val="1F1F1F"/>
                </a:solidFill>
              </a:rPr>
              <a:t>At this stage, the distribution is:</a:t>
            </a:r>
          </a:p>
          <a:p>
            <a:pPr marL="341313" lvl="0" indent="-341313" eaLnBrk="0" fontAlgn="base" hangingPunct="0">
              <a:spcBef>
                <a:spcPct val="0"/>
              </a:spcBef>
              <a:spcAft>
                <a:spcPct val="0"/>
              </a:spcAft>
              <a:buFontTx/>
              <a:buChar char="•"/>
            </a:pPr>
            <a:r>
              <a:rPr lang="en-US" altLang="en-US" b="1" dirty="0">
                <a:solidFill>
                  <a:srgbClr val="1F1F1F"/>
                </a:solidFill>
              </a:rPr>
              <a:t>Training Set:</a:t>
            </a:r>
            <a:r>
              <a:rPr lang="en-US" altLang="en-US" dirty="0">
                <a:solidFill>
                  <a:srgbClr val="1F1F1F"/>
                </a:solidFill>
              </a:rPr>
              <a:t> 60 %</a:t>
            </a:r>
          </a:p>
          <a:p>
            <a:pPr marL="341313" lvl="0" indent="-341313" eaLnBrk="0" fontAlgn="base" hangingPunct="0">
              <a:spcBef>
                <a:spcPct val="0"/>
              </a:spcBef>
              <a:spcAft>
                <a:spcPct val="0"/>
              </a:spcAft>
              <a:buFontTx/>
              <a:buChar char="•"/>
            </a:pPr>
            <a:r>
              <a:rPr lang="en-US" altLang="en-US" b="1" dirty="0">
                <a:solidFill>
                  <a:srgbClr val="1F1F1F"/>
                </a:solidFill>
              </a:rPr>
              <a:t>Test + Validation Set:</a:t>
            </a:r>
            <a:r>
              <a:rPr lang="en-US" altLang="en-US" dirty="0">
                <a:solidFill>
                  <a:srgbClr val="1F1F1F"/>
                </a:solidFill>
              </a:rPr>
              <a:t> 40 %</a:t>
            </a:r>
          </a:p>
          <a:p>
            <a:pPr marL="341313" lvl="0" indent="-341313" eaLnBrk="0" fontAlgn="base" hangingPunct="0">
              <a:spcBef>
                <a:spcPct val="0"/>
              </a:spcBef>
              <a:spcAft>
                <a:spcPct val="0"/>
              </a:spcAft>
            </a:pPr>
            <a:endParaRPr lang="en-US" altLang="en-US" dirty="0">
              <a:solidFill>
                <a:srgbClr val="1F1F1F"/>
              </a:solidFill>
            </a:endParaRPr>
          </a:p>
          <a:p>
            <a:pPr marL="341313" lvl="0" indent="-341313" eaLnBrk="0" fontAlgn="base" hangingPunct="0">
              <a:spcBef>
                <a:spcPct val="0"/>
              </a:spcBef>
              <a:spcAft>
                <a:spcPct val="0"/>
              </a:spcAft>
            </a:pPr>
            <a:r>
              <a:rPr lang="en-US" altLang="en-US" dirty="0">
                <a:solidFill>
                  <a:srgbClr val="1F1F1F"/>
                </a:solidFill>
              </a:rPr>
              <a:t>Step 2: Creating Validation and Test Sets</a:t>
            </a:r>
          </a:p>
          <a:p>
            <a:pPr marL="341313" lvl="0" indent="-341313" eaLnBrk="0" fontAlgn="base" hangingPunct="0">
              <a:spcBef>
                <a:spcPct val="0"/>
              </a:spcBef>
              <a:spcAft>
                <a:spcPct val="0"/>
              </a:spcAft>
              <a:buFontTx/>
              <a:buChar char="•"/>
            </a:pPr>
            <a:r>
              <a:rPr lang="en-US" altLang="en-US" b="1" dirty="0">
                <a:solidFill>
                  <a:srgbClr val="1F1F1F"/>
                </a:solidFill>
              </a:rPr>
              <a:t>62.5% for validation</a:t>
            </a:r>
            <a:r>
              <a:rPr lang="en-US" altLang="en-US" dirty="0">
                <a:solidFill>
                  <a:srgbClr val="1F1F1F"/>
                </a:solidFill>
              </a:rPr>
              <a:t> (to fine-tune the model before final testing).</a:t>
            </a:r>
          </a:p>
          <a:p>
            <a:pPr marL="341313" lvl="0" indent="-341313" eaLnBrk="0" fontAlgn="base" hangingPunct="0">
              <a:spcBef>
                <a:spcPct val="0"/>
              </a:spcBef>
              <a:spcAft>
                <a:spcPct val="0"/>
              </a:spcAft>
              <a:buFontTx/>
              <a:buChar char="•"/>
            </a:pPr>
            <a:r>
              <a:rPr lang="en-US" altLang="en-US" b="1" dirty="0">
                <a:solidFill>
                  <a:srgbClr val="1F1F1F"/>
                </a:solidFill>
              </a:rPr>
              <a:t>37.5% for testing</a:t>
            </a:r>
            <a:r>
              <a:rPr lang="en-US" altLang="en-US" dirty="0">
                <a:solidFill>
                  <a:srgbClr val="1F1F1F"/>
                </a:solidFill>
              </a:rPr>
              <a:t> (to evaluate model performance after training).</a:t>
            </a:r>
          </a:p>
          <a:p>
            <a:pPr marL="341313" lvl="0" indent="-341313" eaLnBrk="0" fontAlgn="base" hangingPunct="0">
              <a:spcBef>
                <a:spcPct val="0"/>
              </a:spcBef>
              <a:spcAft>
                <a:spcPct val="0"/>
              </a:spcAft>
            </a:pPr>
            <a:r>
              <a:rPr lang="en-US" altLang="en-US" dirty="0">
                <a:solidFill>
                  <a:srgbClr val="1F1F1F"/>
                </a:solidFill>
              </a:rPr>
              <a:t>Now, the distribution becomes:</a:t>
            </a:r>
          </a:p>
          <a:p>
            <a:pPr marL="341313" lvl="0" indent="-341313" eaLnBrk="0" fontAlgn="base" hangingPunct="0">
              <a:spcBef>
                <a:spcPct val="0"/>
              </a:spcBef>
              <a:spcAft>
                <a:spcPct val="0"/>
              </a:spcAft>
              <a:buFontTx/>
              <a:buChar char="•"/>
            </a:pPr>
            <a:r>
              <a:rPr lang="en-US" altLang="en-US" b="1" dirty="0">
                <a:solidFill>
                  <a:srgbClr val="1F1F1F"/>
                </a:solidFill>
              </a:rPr>
              <a:t>Validation Set:</a:t>
            </a:r>
            <a:r>
              <a:rPr lang="en-US" altLang="en-US" dirty="0">
                <a:solidFill>
                  <a:srgbClr val="1F1F1F"/>
                </a:solidFill>
              </a:rPr>
              <a:t> 25 %</a:t>
            </a:r>
          </a:p>
          <a:p>
            <a:pPr marL="341313" lvl="0" indent="-341313" eaLnBrk="0" fontAlgn="base" hangingPunct="0">
              <a:spcBef>
                <a:spcPct val="0"/>
              </a:spcBef>
              <a:spcAft>
                <a:spcPct val="0"/>
              </a:spcAft>
              <a:buFontTx/>
              <a:buChar char="•"/>
            </a:pPr>
            <a:r>
              <a:rPr lang="en-US" altLang="en-US" b="1" dirty="0">
                <a:solidFill>
                  <a:srgbClr val="1F1F1F"/>
                </a:solidFill>
              </a:rPr>
              <a:t>Test Set:</a:t>
            </a:r>
            <a:r>
              <a:rPr lang="en-US" altLang="en-US" dirty="0">
                <a:solidFill>
                  <a:srgbClr val="1F1F1F"/>
                </a:solidFill>
              </a:rPr>
              <a:t> 15 %</a:t>
            </a:r>
          </a:p>
          <a:p>
            <a:pPr marL="341313" lvl="0" indent="-341313" eaLnBrk="0" fontAlgn="base" hangingPunct="0">
              <a:spcBef>
                <a:spcPct val="0"/>
              </a:spcBef>
              <a:spcAft>
                <a:spcPct val="0"/>
              </a:spcAft>
            </a:pPr>
            <a:endParaRPr lang="en-US" altLang="en-US" dirty="0">
              <a:solidFill>
                <a:srgbClr val="1F1F1F"/>
              </a:solidFill>
            </a:endParaRPr>
          </a:p>
          <a:p>
            <a:pPr marL="341313" lvl="0" indent="-341313" eaLnBrk="0" fontAlgn="base" hangingPunct="0">
              <a:spcBef>
                <a:spcPct val="0"/>
              </a:spcBef>
              <a:spcAft>
                <a:spcPct val="0"/>
              </a:spcAft>
            </a:pPr>
            <a:r>
              <a:rPr lang="en-US" altLang="en-US" dirty="0">
                <a:solidFill>
                  <a:srgbClr val="1F1F1F"/>
                </a:solidFill>
              </a:rPr>
              <a:t>Final Data Allocation</a:t>
            </a:r>
          </a:p>
          <a:p>
            <a:pPr marL="341313" marR="0" lvl="0" indent="-341313"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rgbClr val="1F1F1F"/>
              </a:solidFill>
              <a:effectLst/>
            </a:endParaRPr>
          </a:p>
          <a:p>
            <a:pPr marL="341313" marR="0" lvl="0" indent="-341313"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endParaRPr>
          </a:p>
        </p:txBody>
      </p:sp>
      <p:sp>
        <p:nvSpPr>
          <p:cNvPr id="12" name="Slide Number Placeholder 4">
            <a:extLst>
              <a:ext uri="{FF2B5EF4-FFF2-40B4-BE49-F238E27FC236}">
                <a16:creationId xmlns:a16="http://schemas.microsoft.com/office/drawing/2014/main" id="{E5FC3C50-1689-C6E0-D74D-A38CC099CED2}"/>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66</a:t>
            </a:fld>
            <a:endParaRPr lang="en-US" dirty="0">
              <a:solidFill>
                <a:srgbClr val="000000"/>
              </a:solidFill>
            </a:endParaRPr>
          </a:p>
        </p:txBody>
      </p:sp>
    </p:spTree>
    <p:extLst>
      <p:ext uri="{BB962C8B-B14F-4D97-AF65-F5344CB8AC3E}">
        <p14:creationId xmlns:p14="http://schemas.microsoft.com/office/powerpoint/2010/main" val="69308615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A2728-6ECF-ED93-07DD-8C6AE015A17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98313F-91CC-8899-E509-DBF9AC0F80B1}"/>
              </a:ext>
            </a:extLst>
          </p:cNvPr>
          <p:cNvSpPr>
            <a:spLocks noGrp="1"/>
          </p:cNvSpPr>
          <p:nvPr>
            <p:ph idx="1"/>
          </p:nvPr>
        </p:nvSpPr>
        <p:spPr>
          <a:xfrm>
            <a:off x="628650" y="859712"/>
            <a:ext cx="7886700" cy="5010896"/>
          </a:xfrm>
        </p:spPr>
        <p:txBody>
          <a:bodyPr>
            <a:normAutofit/>
          </a:bodyPr>
          <a:lstStyle/>
          <a:p>
            <a:pPr marL="0" indent="0">
              <a:buNone/>
            </a:pPr>
            <a:r>
              <a:rPr lang="en-US" sz="5400" dirty="0"/>
              <a:t>         </a:t>
            </a:r>
          </a:p>
          <a:p>
            <a:pPr marL="0" indent="0">
              <a:buNone/>
            </a:pPr>
            <a:endParaRPr lang="en-US" sz="5400" dirty="0"/>
          </a:p>
          <a:p>
            <a:pPr marL="0" indent="0">
              <a:buNone/>
            </a:pPr>
            <a:r>
              <a:rPr lang="en-US" sz="5400" dirty="0"/>
              <a:t>              </a:t>
            </a:r>
          </a:p>
        </p:txBody>
      </p:sp>
      <p:graphicFrame>
        <p:nvGraphicFramePr>
          <p:cNvPr id="2" name="Table 1">
            <a:extLst>
              <a:ext uri="{FF2B5EF4-FFF2-40B4-BE49-F238E27FC236}">
                <a16:creationId xmlns:a16="http://schemas.microsoft.com/office/drawing/2014/main" id="{76FFFDE4-4C23-AA28-0090-03D34B828841}"/>
              </a:ext>
            </a:extLst>
          </p:cNvPr>
          <p:cNvGraphicFramePr>
            <a:graphicFrameLocks noGrp="1"/>
          </p:cNvGraphicFramePr>
          <p:nvPr>
            <p:extLst>
              <p:ext uri="{D42A27DB-BD31-4B8C-83A1-F6EECF244321}">
                <p14:modId xmlns:p14="http://schemas.microsoft.com/office/powerpoint/2010/main" val="1076393493"/>
              </p:ext>
            </p:extLst>
          </p:nvPr>
        </p:nvGraphicFramePr>
        <p:xfrm>
          <a:off x="838609" y="1369354"/>
          <a:ext cx="6470892" cy="1584960"/>
        </p:xfrm>
        <a:graphic>
          <a:graphicData uri="http://schemas.openxmlformats.org/drawingml/2006/table">
            <a:tbl>
              <a:tblPr/>
              <a:tblGrid>
                <a:gridCol w="3235446">
                  <a:extLst>
                    <a:ext uri="{9D8B030D-6E8A-4147-A177-3AD203B41FA5}">
                      <a16:colId xmlns:a16="http://schemas.microsoft.com/office/drawing/2014/main" val="172077830"/>
                    </a:ext>
                  </a:extLst>
                </a:gridCol>
                <a:gridCol w="3235446">
                  <a:extLst>
                    <a:ext uri="{9D8B030D-6E8A-4147-A177-3AD203B41FA5}">
                      <a16:colId xmlns:a16="http://schemas.microsoft.com/office/drawing/2014/main" val="483996020"/>
                    </a:ext>
                  </a:extLst>
                </a:gridCol>
              </a:tblGrid>
              <a:tr h="379777">
                <a:tc>
                  <a:txBody>
                    <a:bodyPr/>
                    <a:lstStyle/>
                    <a:p>
                      <a:pPr fontAlgn="ctr">
                        <a:buNone/>
                      </a:pPr>
                      <a:r>
                        <a:rPr lang="en-US" sz="2000" b="1" dirty="0">
                          <a:effectLst/>
                        </a:rPr>
                        <a:t>Set</a:t>
                      </a:r>
                    </a:p>
                  </a:txBody>
                  <a:tcPr anchor="ctr">
                    <a:lnL>
                      <a:noFill/>
                    </a:lnL>
                    <a:lnR>
                      <a:noFill/>
                    </a:lnR>
                    <a:lnT>
                      <a:noFill/>
                    </a:lnT>
                    <a:lnB>
                      <a:noFill/>
                    </a:lnB>
                    <a:noFill/>
                  </a:tcPr>
                </a:tc>
                <a:tc>
                  <a:txBody>
                    <a:bodyPr/>
                    <a:lstStyle/>
                    <a:p>
                      <a:pPr fontAlgn="ctr">
                        <a:buNone/>
                      </a:pPr>
                      <a:r>
                        <a:rPr lang="en-US" sz="2000" b="1">
                          <a:effectLst/>
                        </a:rPr>
                        <a:t>Samples</a:t>
                      </a:r>
                    </a:p>
                  </a:txBody>
                  <a:tcPr anchor="ctr">
                    <a:lnL>
                      <a:noFill/>
                    </a:lnL>
                    <a:lnR>
                      <a:noFill/>
                    </a:lnR>
                    <a:lnT>
                      <a:noFill/>
                    </a:lnT>
                    <a:lnB>
                      <a:noFill/>
                    </a:lnB>
                    <a:noFill/>
                  </a:tcPr>
                </a:tc>
                <a:extLst>
                  <a:ext uri="{0D108BD9-81ED-4DB2-BD59-A6C34878D82A}">
                    <a16:rowId xmlns:a16="http://schemas.microsoft.com/office/drawing/2014/main" val="886378937"/>
                  </a:ext>
                </a:extLst>
              </a:tr>
              <a:tr h="379777">
                <a:tc>
                  <a:txBody>
                    <a:bodyPr/>
                    <a:lstStyle/>
                    <a:p>
                      <a:pPr fontAlgn="ctr">
                        <a:buNone/>
                      </a:pPr>
                      <a:r>
                        <a:rPr lang="en-US" sz="2000" dirty="0">
                          <a:effectLst/>
                        </a:rPr>
                        <a:t>Training</a:t>
                      </a:r>
                    </a:p>
                  </a:txBody>
                  <a:tcPr anchor="ctr">
                    <a:lnL>
                      <a:noFill/>
                    </a:lnL>
                    <a:lnR>
                      <a:noFill/>
                    </a:lnR>
                    <a:lnT>
                      <a:noFill/>
                    </a:lnT>
                    <a:lnB>
                      <a:noFill/>
                    </a:lnB>
                    <a:noFill/>
                  </a:tcPr>
                </a:tc>
                <a:tc>
                  <a:txBody>
                    <a:bodyPr/>
                    <a:lstStyle/>
                    <a:p>
                      <a:pPr fontAlgn="ctr">
                        <a:buNone/>
                      </a:pPr>
                      <a:r>
                        <a:rPr lang="en-US" sz="2000">
                          <a:effectLst/>
                        </a:rPr>
                        <a:t>60 %</a:t>
                      </a:r>
                    </a:p>
                  </a:txBody>
                  <a:tcPr anchor="ctr">
                    <a:lnL>
                      <a:noFill/>
                    </a:lnL>
                    <a:lnR>
                      <a:noFill/>
                    </a:lnR>
                    <a:lnT>
                      <a:noFill/>
                    </a:lnT>
                    <a:lnB>
                      <a:noFill/>
                    </a:lnB>
                    <a:noFill/>
                  </a:tcPr>
                </a:tc>
                <a:extLst>
                  <a:ext uri="{0D108BD9-81ED-4DB2-BD59-A6C34878D82A}">
                    <a16:rowId xmlns:a16="http://schemas.microsoft.com/office/drawing/2014/main" val="2384233207"/>
                  </a:ext>
                </a:extLst>
              </a:tr>
              <a:tr h="379777">
                <a:tc>
                  <a:txBody>
                    <a:bodyPr/>
                    <a:lstStyle/>
                    <a:p>
                      <a:pPr fontAlgn="ctr">
                        <a:buNone/>
                      </a:pPr>
                      <a:r>
                        <a:rPr lang="en-US" sz="2000" dirty="0">
                          <a:effectLst/>
                        </a:rPr>
                        <a:t>Validation</a:t>
                      </a:r>
                    </a:p>
                  </a:txBody>
                  <a:tcPr anchor="ctr">
                    <a:lnL>
                      <a:noFill/>
                    </a:lnL>
                    <a:lnR>
                      <a:noFill/>
                    </a:lnR>
                    <a:lnT>
                      <a:noFill/>
                    </a:lnT>
                    <a:lnB>
                      <a:noFill/>
                    </a:lnB>
                    <a:noFill/>
                  </a:tcPr>
                </a:tc>
                <a:tc>
                  <a:txBody>
                    <a:bodyPr/>
                    <a:lstStyle/>
                    <a:p>
                      <a:pPr fontAlgn="ctr">
                        <a:buNone/>
                      </a:pPr>
                      <a:r>
                        <a:rPr lang="en-US" sz="2000" dirty="0">
                          <a:effectLst/>
                        </a:rPr>
                        <a:t>25 %</a:t>
                      </a:r>
                    </a:p>
                  </a:txBody>
                  <a:tcPr anchor="ctr">
                    <a:lnL>
                      <a:noFill/>
                    </a:lnL>
                    <a:lnR>
                      <a:noFill/>
                    </a:lnR>
                    <a:lnT>
                      <a:noFill/>
                    </a:lnT>
                    <a:lnB>
                      <a:noFill/>
                    </a:lnB>
                    <a:noFill/>
                  </a:tcPr>
                </a:tc>
                <a:extLst>
                  <a:ext uri="{0D108BD9-81ED-4DB2-BD59-A6C34878D82A}">
                    <a16:rowId xmlns:a16="http://schemas.microsoft.com/office/drawing/2014/main" val="4046217791"/>
                  </a:ext>
                </a:extLst>
              </a:tr>
              <a:tr h="379777">
                <a:tc>
                  <a:txBody>
                    <a:bodyPr/>
                    <a:lstStyle/>
                    <a:p>
                      <a:pPr fontAlgn="ctr">
                        <a:buNone/>
                      </a:pPr>
                      <a:r>
                        <a:rPr lang="en-US" sz="2000" dirty="0">
                          <a:effectLst/>
                        </a:rPr>
                        <a:t>Test</a:t>
                      </a:r>
                    </a:p>
                  </a:txBody>
                  <a:tcPr anchor="ctr">
                    <a:lnL>
                      <a:noFill/>
                    </a:lnL>
                    <a:lnR>
                      <a:noFill/>
                    </a:lnR>
                    <a:lnT>
                      <a:noFill/>
                    </a:lnT>
                    <a:lnB>
                      <a:noFill/>
                    </a:lnB>
                    <a:noFill/>
                  </a:tcPr>
                </a:tc>
                <a:tc>
                  <a:txBody>
                    <a:bodyPr/>
                    <a:lstStyle/>
                    <a:p>
                      <a:pPr fontAlgn="ctr">
                        <a:buNone/>
                      </a:pPr>
                      <a:r>
                        <a:rPr lang="en-US" sz="2000" dirty="0">
                          <a:effectLst/>
                        </a:rPr>
                        <a:t>15 %</a:t>
                      </a:r>
                    </a:p>
                  </a:txBody>
                  <a:tcPr anchor="ctr">
                    <a:lnL>
                      <a:noFill/>
                    </a:lnL>
                    <a:lnR>
                      <a:noFill/>
                    </a:lnR>
                    <a:lnT>
                      <a:noFill/>
                    </a:lnT>
                    <a:lnB>
                      <a:noFill/>
                    </a:lnB>
                    <a:noFill/>
                  </a:tcPr>
                </a:tc>
                <a:extLst>
                  <a:ext uri="{0D108BD9-81ED-4DB2-BD59-A6C34878D82A}">
                    <a16:rowId xmlns:a16="http://schemas.microsoft.com/office/drawing/2014/main" val="2185309213"/>
                  </a:ext>
                </a:extLst>
              </a:tr>
            </a:tbl>
          </a:graphicData>
        </a:graphic>
      </p:graphicFrame>
      <p:sp>
        <p:nvSpPr>
          <p:cNvPr id="4" name="Rectangle 1">
            <a:extLst>
              <a:ext uri="{FF2B5EF4-FFF2-40B4-BE49-F238E27FC236}">
                <a16:creationId xmlns:a16="http://schemas.microsoft.com/office/drawing/2014/main" id="{9A097351-ECFB-4A7B-5B37-FBE1F5C576F8}"/>
              </a:ext>
            </a:extLst>
          </p:cNvPr>
          <p:cNvSpPr>
            <a:spLocks noChangeArrowheads="1"/>
          </p:cNvSpPr>
          <p:nvPr/>
        </p:nvSpPr>
        <p:spPr bwMode="auto">
          <a:xfrm>
            <a:off x="838609" y="605408"/>
            <a:ext cx="5705314" cy="10047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31740" rIns="91440" bIns="79350" numCol="1" anchor="ctr" anchorCtr="0" compatLnSpc="1">
            <a:prstTxWarp prst="textNoShape">
              <a:avLst/>
            </a:prstTxWarp>
            <a:spAutoFit/>
          </a:bodyPr>
          <a:lstStyle/>
          <a:p>
            <a:pPr eaLnBrk="0" fontAlgn="base" hangingPunct="0">
              <a:spcBef>
                <a:spcPct val="0"/>
              </a:spcBef>
              <a:spcAft>
                <a:spcPct val="0"/>
              </a:spcAft>
            </a:pPr>
            <a:r>
              <a:rPr lang="en-US" altLang="en-US" sz="2000" dirty="0">
                <a:solidFill>
                  <a:srgbClr val="1F1F1F"/>
                </a:solidFill>
              </a:rPr>
              <a:t>Final Data Allocation</a:t>
            </a:r>
            <a:endParaRPr kumimoji="0" lang="en-US" altLang="en-US" sz="2000" b="0" i="0" u="none" strike="noStrike" cap="none" normalizeH="0" baseline="0" dirty="0">
              <a:ln>
                <a:noFill/>
              </a:ln>
              <a:solidFill>
                <a:srgbClr val="1F1F1F"/>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1F1F1F"/>
                </a:solidFill>
                <a:effectLst/>
              </a:rPr>
              <a:t>Data Splitting : Training, Valuation &amp; Testing Sets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2">
            <a:extLst>
              <a:ext uri="{FF2B5EF4-FFF2-40B4-BE49-F238E27FC236}">
                <a16:creationId xmlns:a16="http://schemas.microsoft.com/office/drawing/2014/main" id="{6A028930-B08F-615D-E2F2-3E6BAA8AE3EE}"/>
              </a:ext>
            </a:extLst>
          </p:cNvPr>
          <p:cNvSpPr>
            <a:spLocks noChangeArrowheads="1"/>
          </p:cNvSpPr>
          <p:nvPr/>
        </p:nvSpPr>
        <p:spPr bwMode="auto">
          <a:xfrm>
            <a:off x="967853" y="1323637"/>
            <a:ext cx="5344447" cy="45719"/>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dirty="0"/>
          </a:p>
        </p:txBody>
      </p:sp>
      <p:sp>
        <p:nvSpPr>
          <p:cNvPr id="14" name="Slide Number Placeholder 4">
            <a:extLst>
              <a:ext uri="{FF2B5EF4-FFF2-40B4-BE49-F238E27FC236}">
                <a16:creationId xmlns:a16="http://schemas.microsoft.com/office/drawing/2014/main" id="{3A547171-4781-78FF-5E5C-4CDBD9077427}"/>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67</a:t>
            </a:fld>
            <a:endParaRPr lang="en-US" dirty="0">
              <a:solidFill>
                <a:srgbClr val="000000"/>
              </a:solidFill>
            </a:endParaRPr>
          </a:p>
        </p:txBody>
      </p:sp>
    </p:spTree>
    <p:extLst>
      <p:ext uri="{BB962C8B-B14F-4D97-AF65-F5344CB8AC3E}">
        <p14:creationId xmlns:p14="http://schemas.microsoft.com/office/powerpoint/2010/main" val="259100821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583DB8-773C-3B63-C0EB-834D831CE31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1B2CB7-7813-95A6-9025-5236199FCC19}"/>
              </a:ext>
            </a:extLst>
          </p:cNvPr>
          <p:cNvSpPr>
            <a:spLocks noGrp="1"/>
          </p:cNvSpPr>
          <p:nvPr>
            <p:ph idx="4294967295"/>
          </p:nvPr>
        </p:nvSpPr>
        <p:spPr>
          <a:xfrm>
            <a:off x="0" y="620713"/>
            <a:ext cx="7439025" cy="4237037"/>
          </a:xfrm>
        </p:spPr>
        <p:txBody>
          <a:bodyPr>
            <a:noAutofit/>
          </a:bodyPr>
          <a:lstStyle/>
          <a:p>
            <a:pPr marL="0" indent="3175" algn="just">
              <a:lnSpc>
                <a:spcPct val="100000"/>
              </a:lnSpc>
              <a:spcBef>
                <a:spcPts val="0"/>
              </a:spcBef>
              <a:spcAft>
                <a:spcPts val="600"/>
              </a:spcAft>
              <a:buNone/>
            </a:pPr>
            <a:r>
              <a:rPr lang="en-US" sz="1800" dirty="0">
                <a:solidFill>
                  <a:srgbClr val="000000"/>
                </a:solidFill>
              </a:rPr>
              <a:t>X = </a:t>
            </a:r>
            <a:r>
              <a:rPr lang="en-US" sz="1800" dirty="0" err="1">
                <a:solidFill>
                  <a:srgbClr val="000000"/>
                </a:solidFill>
              </a:rPr>
              <a:t>df</a:t>
            </a:r>
            <a:r>
              <a:rPr lang="en-US" sz="1800" dirty="0">
                <a:solidFill>
                  <a:srgbClr val="000000"/>
                </a:solidFill>
              </a:rPr>
              <a:t>[</a:t>
            </a:r>
            <a:r>
              <a:rPr lang="en-US" sz="1800" dirty="0">
                <a:solidFill>
                  <a:srgbClr val="A31515"/>
                </a:solidFill>
              </a:rPr>
              <a:t>'</a:t>
            </a:r>
            <a:r>
              <a:rPr lang="en-US" sz="1800" dirty="0" err="1">
                <a:solidFill>
                  <a:srgbClr val="A31515"/>
                </a:solidFill>
              </a:rPr>
              <a:t>commentText</a:t>
            </a:r>
            <a:r>
              <a:rPr lang="en-US" sz="1800" dirty="0">
                <a:solidFill>
                  <a:srgbClr val="A31515"/>
                </a:solidFill>
              </a:rPr>
              <a:t>'</a:t>
            </a:r>
            <a:r>
              <a:rPr lang="en-US" sz="1800" dirty="0">
                <a:solidFill>
                  <a:srgbClr val="000000"/>
                </a:solidFill>
              </a:rPr>
              <a:t>]</a:t>
            </a:r>
          </a:p>
          <a:p>
            <a:pPr marL="0" indent="3175" algn="just">
              <a:lnSpc>
                <a:spcPct val="100000"/>
              </a:lnSpc>
              <a:spcBef>
                <a:spcPts val="0"/>
              </a:spcBef>
              <a:spcAft>
                <a:spcPts val="600"/>
              </a:spcAft>
              <a:buNone/>
            </a:pPr>
            <a:r>
              <a:rPr lang="en-US" sz="1800" dirty="0">
                <a:solidFill>
                  <a:srgbClr val="000000"/>
                </a:solidFill>
              </a:rPr>
              <a:t>y = </a:t>
            </a:r>
            <a:r>
              <a:rPr lang="en-US" sz="1800" dirty="0" err="1">
                <a:solidFill>
                  <a:srgbClr val="000000"/>
                </a:solidFill>
              </a:rPr>
              <a:t>df</a:t>
            </a:r>
            <a:r>
              <a:rPr lang="en-US" sz="1800" dirty="0">
                <a:solidFill>
                  <a:srgbClr val="000000"/>
                </a:solidFill>
              </a:rPr>
              <a:t>[</a:t>
            </a:r>
            <a:r>
              <a:rPr lang="en-US" sz="1800" dirty="0">
                <a:solidFill>
                  <a:srgbClr val="A31515"/>
                </a:solidFill>
              </a:rPr>
              <a:t>'abusive'</a:t>
            </a:r>
            <a:r>
              <a:rPr lang="en-US" sz="1800" dirty="0">
                <a:solidFill>
                  <a:srgbClr val="000000"/>
                </a:solidFill>
              </a:rPr>
              <a:t>]</a:t>
            </a:r>
          </a:p>
          <a:p>
            <a:pPr marL="0" indent="3175" algn="just">
              <a:lnSpc>
                <a:spcPct val="100000"/>
              </a:lnSpc>
              <a:spcBef>
                <a:spcPts val="0"/>
              </a:spcBef>
              <a:spcAft>
                <a:spcPts val="600"/>
              </a:spcAft>
              <a:buNone/>
            </a:pPr>
            <a:r>
              <a:rPr lang="en-US" sz="1800" dirty="0">
                <a:solidFill>
                  <a:srgbClr val="008000"/>
                </a:solidFill>
              </a:rPr>
              <a:t># </a:t>
            </a:r>
            <a:r>
              <a:rPr lang="en-US" sz="1800" dirty="0" err="1">
                <a:solidFill>
                  <a:srgbClr val="008000"/>
                </a:solidFill>
              </a:rPr>
              <a:t>X_train</a:t>
            </a:r>
            <a:r>
              <a:rPr lang="en-US" sz="1800" dirty="0">
                <a:solidFill>
                  <a:srgbClr val="008000"/>
                </a:solidFill>
              </a:rPr>
              <a:t>, </a:t>
            </a:r>
            <a:r>
              <a:rPr lang="en-US" sz="1800" dirty="0" err="1">
                <a:solidFill>
                  <a:srgbClr val="008000"/>
                </a:solidFill>
              </a:rPr>
              <a:t>X_test</a:t>
            </a:r>
            <a:r>
              <a:rPr lang="en-US" sz="1800" dirty="0">
                <a:solidFill>
                  <a:srgbClr val="008000"/>
                </a:solidFill>
              </a:rPr>
              <a:t>, </a:t>
            </a:r>
            <a:r>
              <a:rPr lang="en-US" sz="1800" dirty="0" err="1">
                <a:solidFill>
                  <a:srgbClr val="008000"/>
                </a:solidFill>
              </a:rPr>
              <a:t>y_train</a:t>
            </a:r>
            <a:r>
              <a:rPr lang="en-US" sz="1800" dirty="0">
                <a:solidFill>
                  <a:srgbClr val="008000"/>
                </a:solidFill>
              </a:rPr>
              <a:t>, </a:t>
            </a:r>
            <a:r>
              <a:rPr lang="en-US" sz="1800" dirty="0" err="1">
                <a:solidFill>
                  <a:srgbClr val="008000"/>
                </a:solidFill>
              </a:rPr>
              <a:t>y_test</a:t>
            </a:r>
            <a:r>
              <a:rPr lang="en-US" sz="1800" dirty="0">
                <a:solidFill>
                  <a:srgbClr val="008000"/>
                </a:solidFill>
              </a:rPr>
              <a:t> = </a:t>
            </a:r>
            <a:r>
              <a:rPr lang="en-US" sz="1800" dirty="0" err="1">
                <a:solidFill>
                  <a:srgbClr val="008000"/>
                </a:solidFill>
              </a:rPr>
              <a:t>train_test_split</a:t>
            </a:r>
            <a:r>
              <a:rPr lang="en-US" sz="1800" dirty="0">
                <a:solidFill>
                  <a:srgbClr val="008000"/>
                </a:solidFill>
              </a:rPr>
              <a:t>(X, y, </a:t>
            </a:r>
            <a:r>
              <a:rPr lang="en-US" sz="1800" dirty="0" err="1">
                <a:solidFill>
                  <a:srgbClr val="008000"/>
                </a:solidFill>
              </a:rPr>
              <a:t>test_size</a:t>
            </a:r>
            <a:r>
              <a:rPr lang="en-US" sz="1800" dirty="0">
                <a:solidFill>
                  <a:srgbClr val="008000"/>
                </a:solidFill>
              </a:rPr>
              <a:t> = 0.3, </a:t>
            </a:r>
            <a:r>
              <a:rPr lang="en-US" sz="1800" dirty="0" err="1">
                <a:solidFill>
                  <a:srgbClr val="008000"/>
                </a:solidFill>
              </a:rPr>
              <a:t>random_state</a:t>
            </a:r>
            <a:r>
              <a:rPr lang="en-US" sz="1800" dirty="0">
                <a:solidFill>
                  <a:srgbClr val="008000"/>
                </a:solidFill>
              </a:rPr>
              <a:t> = 20)# split X and y into training and testing sets</a:t>
            </a:r>
            <a:endParaRPr lang="en-US" sz="1800" dirty="0">
              <a:solidFill>
                <a:srgbClr val="000000"/>
              </a:solidFill>
            </a:endParaRPr>
          </a:p>
          <a:p>
            <a:pPr marL="0" indent="3175" algn="just">
              <a:lnSpc>
                <a:spcPct val="100000"/>
              </a:lnSpc>
              <a:spcBef>
                <a:spcPts val="0"/>
              </a:spcBef>
              <a:spcAft>
                <a:spcPts val="600"/>
              </a:spcAft>
              <a:buNone/>
            </a:pPr>
            <a:r>
              <a:rPr lang="en-US" sz="1800" dirty="0" err="1">
                <a:solidFill>
                  <a:srgbClr val="000000"/>
                </a:solidFill>
              </a:rPr>
              <a:t>X_train</a:t>
            </a:r>
            <a:r>
              <a:rPr lang="en-US" sz="1800" dirty="0">
                <a:solidFill>
                  <a:srgbClr val="000000"/>
                </a:solidFill>
              </a:rPr>
              <a:t>, </a:t>
            </a:r>
            <a:r>
              <a:rPr lang="en-US" sz="1800" dirty="0" err="1">
                <a:solidFill>
                  <a:srgbClr val="000000"/>
                </a:solidFill>
              </a:rPr>
              <a:t>X_temp</a:t>
            </a:r>
            <a:r>
              <a:rPr lang="en-US" sz="1800" dirty="0">
                <a:solidFill>
                  <a:srgbClr val="000000"/>
                </a:solidFill>
              </a:rPr>
              <a:t>, </a:t>
            </a:r>
            <a:r>
              <a:rPr lang="en-US" sz="1800" dirty="0" err="1">
                <a:solidFill>
                  <a:srgbClr val="000000"/>
                </a:solidFill>
              </a:rPr>
              <a:t>y_train</a:t>
            </a:r>
            <a:r>
              <a:rPr lang="en-US" sz="1800" dirty="0">
                <a:solidFill>
                  <a:srgbClr val="000000"/>
                </a:solidFill>
              </a:rPr>
              <a:t>, </a:t>
            </a:r>
            <a:r>
              <a:rPr lang="en-US" sz="1800" dirty="0" err="1">
                <a:solidFill>
                  <a:srgbClr val="000000"/>
                </a:solidFill>
              </a:rPr>
              <a:t>y_temp</a:t>
            </a:r>
            <a:r>
              <a:rPr lang="en-US" sz="1800" dirty="0">
                <a:solidFill>
                  <a:srgbClr val="000000"/>
                </a:solidFill>
              </a:rPr>
              <a:t> = </a:t>
            </a:r>
            <a:r>
              <a:rPr lang="en-US" sz="1800" dirty="0" err="1">
                <a:solidFill>
                  <a:srgbClr val="000000"/>
                </a:solidFill>
              </a:rPr>
              <a:t>train_test_split</a:t>
            </a:r>
            <a:r>
              <a:rPr lang="en-US" sz="1800" dirty="0">
                <a:solidFill>
                  <a:srgbClr val="000000"/>
                </a:solidFill>
              </a:rPr>
              <a:t>(X, y, </a:t>
            </a:r>
            <a:r>
              <a:rPr lang="en-US" sz="1800" dirty="0" err="1">
                <a:solidFill>
                  <a:srgbClr val="000000"/>
                </a:solidFill>
              </a:rPr>
              <a:t>test_size</a:t>
            </a:r>
            <a:r>
              <a:rPr lang="en-US" sz="1800" dirty="0">
                <a:solidFill>
                  <a:srgbClr val="000000"/>
                </a:solidFill>
              </a:rPr>
              <a:t>=</a:t>
            </a:r>
            <a:r>
              <a:rPr lang="en-US" sz="1800" dirty="0">
                <a:solidFill>
                  <a:srgbClr val="116644"/>
                </a:solidFill>
              </a:rPr>
              <a:t>0.4</a:t>
            </a:r>
            <a:r>
              <a:rPr lang="en-US" sz="1800" dirty="0">
                <a:solidFill>
                  <a:srgbClr val="000000"/>
                </a:solidFill>
              </a:rPr>
              <a:t>, </a:t>
            </a:r>
            <a:r>
              <a:rPr lang="en-US" sz="1800" dirty="0" err="1">
                <a:solidFill>
                  <a:srgbClr val="000000"/>
                </a:solidFill>
              </a:rPr>
              <a:t>random_state</a:t>
            </a:r>
            <a:r>
              <a:rPr lang="en-US" sz="1800" dirty="0">
                <a:solidFill>
                  <a:srgbClr val="000000"/>
                </a:solidFill>
              </a:rPr>
              <a:t>=</a:t>
            </a:r>
            <a:r>
              <a:rPr lang="en-US" sz="1800" dirty="0">
                <a:solidFill>
                  <a:srgbClr val="116644"/>
                </a:solidFill>
              </a:rPr>
              <a:t>542</a:t>
            </a:r>
            <a:r>
              <a:rPr lang="en-US" sz="1800" dirty="0">
                <a:solidFill>
                  <a:srgbClr val="000000"/>
                </a:solidFill>
              </a:rPr>
              <a:t>, stratify=y)</a:t>
            </a:r>
            <a:r>
              <a:rPr lang="en-US" sz="1800" dirty="0">
                <a:solidFill>
                  <a:srgbClr val="008000"/>
                </a:solidFill>
              </a:rPr>
              <a:t># Initial Split (60% Training, 40% Temp)</a:t>
            </a:r>
            <a:endParaRPr lang="en-US" sz="1800" dirty="0">
              <a:solidFill>
                <a:srgbClr val="000000"/>
              </a:solidFill>
            </a:endParaRPr>
          </a:p>
          <a:p>
            <a:pPr marL="0" indent="3175" algn="just">
              <a:lnSpc>
                <a:spcPct val="100000"/>
              </a:lnSpc>
              <a:spcBef>
                <a:spcPts val="0"/>
              </a:spcBef>
              <a:spcAft>
                <a:spcPts val="600"/>
              </a:spcAft>
              <a:buNone/>
            </a:pPr>
            <a:r>
              <a:rPr lang="en-US" sz="1800" dirty="0">
                <a:solidFill>
                  <a:srgbClr val="008000"/>
                </a:solidFill>
              </a:rPr>
              <a:t># Splitting Temp Set into Validation (25%) and Test (15%)</a:t>
            </a:r>
            <a:endParaRPr lang="en-US" sz="1800" dirty="0">
              <a:solidFill>
                <a:srgbClr val="000000"/>
              </a:solidFill>
            </a:endParaRPr>
          </a:p>
          <a:p>
            <a:pPr marL="0" indent="3175" algn="just">
              <a:lnSpc>
                <a:spcPct val="100000"/>
              </a:lnSpc>
              <a:spcBef>
                <a:spcPts val="0"/>
              </a:spcBef>
              <a:spcAft>
                <a:spcPts val="600"/>
              </a:spcAft>
              <a:buNone/>
            </a:pPr>
            <a:r>
              <a:rPr lang="en-US" sz="1800" dirty="0" err="1">
                <a:solidFill>
                  <a:srgbClr val="000000"/>
                </a:solidFill>
              </a:rPr>
              <a:t>X_val</a:t>
            </a:r>
            <a:r>
              <a:rPr lang="en-US" sz="1800" dirty="0">
                <a:solidFill>
                  <a:srgbClr val="000000"/>
                </a:solidFill>
              </a:rPr>
              <a:t>, </a:t>
            </a:r>
            <a:r>
              <a:rPr lang="en-US" sz="1800" dirty="0" err="1">
                <a:solidFill>
                  <a:srgbClr val="000000"/>
                </a:solidFill>
              </a:rPr>
              <a:t>X_test</a:t>
            </a:r>
            <a:r>
              <a:rPr lang="en-US" sz="1800" dirty="0">
                <a:solidFill>
                  <a:srgbClr val="000000"/>
                </a:solidFill>
              </a:rPr>
              <a:t>, </a:t>
            </a:r>
            <a:r>
              <a:rPr lang="en-US" sz="1800" dirty="0" err="1">
                <a:solidFill>
                  <a:srgbClr val="000000"/>
                </a:solidFill>
              </a:rPr>
              <a:t>y_val</a:t>
            </a:r>
            <a:r>
              <a:rPr lang="en-US" sz="1800" dirty="0">
                <a:solidFill>
                  <a:srgbClr val="000000"/>
                </a:solidFill>
              </a:rPr>
              <a:t>, </a:t>
            </a:r>
            <a:r>
              <a:rPr lang="en-US" sz="1800" dirty="0" err="1">
                <a:solidFill>
                  <a:srgbClr val="000000"/>
                </a:solidFill>
              </a:rPr>
              <a:t>y_test</a:t>
            </a:r>
            <a:r>
              <a:rPr lang="en-US" sz="1800" dirty="0">
                <a:solidFill>
                  <a:srgbClr val="000000"/>
                </a:solidFill>
              </a:rPr>
              <a:t> = </a:t>
            </a:r>
            <a:r>
              <a:rPr lang="en-US" sz="1800" dirty="0" err="1">
                <a:solidFill>
                  <a:srgbClr val="000000"/>
                </a:solidFill>
              </a:rPr>
              <a:t>train_test_split</a:t>
            </a:r>
            <a:r>
              <a:rPr lang="en-US" sz="1800" dirty="0">
                <a:solidFill>
                  <a:srgbClr val="000000"/>
                </a:solidFill>
              </a:rPr>
              <a:t>(</a:t>
            </a:r>
            <a:r>
              <a:rPr lang="en-US" sz="1800" dirty="0" err="1">
                <a:solidFill>
                  <a:srgbClr val="000000"/>
                </a:solidFill>
              </a:rPr>
              <a:t>X_temp</a:t>
            </a:r>
            <a:r>
              <a:rPr lang="en-US" sz="1800" dirty="0">
                <a:solidFill>
                  <a:srgbClr val="000000"/>
                </a:solidFill>
              </a:rPr>
              <a:t>, </a:t>
            </a:r>
            <a:r>
              <a:rPr lang="en-US" sz="1800" dirty="0" err="1">
                <a:solidFill>
                  <a:srgbClr val="000000"/>
                </a:solidFill>
              </a:rPr>
              <a:t>y_temp</a:t>
            </a:r>
            <a:r>
              <a:rPr lang="en-US" sz="1800" dirty="0">
                <a:solidFill>
                  <a:srgbClr val="000000"/>
                </a:solidFill>
              </a:rPr>
              <a:t>, </a:t>
            </a:r>
            <a:r>
              <a:rPr lang="en-US" sz="1800" dirty="0" err="1">
                <a:solidFill>
                  <a:srgbClr val="000000"/>
                </a:solidFill>
              </a:rPr>
              <a:t>test_size</a:t>
            </a:r>
            <a:r>
              <a:rPr lang="en-US" sz="1800" dirty="0">
                <a:solidFill>
                  <a:srgbClr val="000000"/>
                </a:solidFill>
              </a:rPr>
              <a:t>=</a:t>
            </a:r>
            <a:r>
              <a:rPr lang="en-US" sz="1800" dirty="0">
                <a:solidFill>
                  <a:srgbClr val="116644"/>
                </a:solidFill>
              </a:rPr>
              <a:t>0.375</a:t>
            </a:r>
            <a:r>
              <a:rPr lang="en-US" sz="1800" dirty="0">
                <a:solidFill>
                  <a:srgbClr val="000000"/>
                </a:solidFill>
              </a:rPr>
              <a:t>, </a:t>
            </a:r>
            <a:r>
              <a:rPr lang="en-US" sz="1800" dirty="0" err="1">
                <a:solidFill>
                  <a:srgbClr val="000000"/>
                </a:solidFill>
              </a:rPr>
              <a:t>random_state</a:t>
            </a:r>
            <a:r>
              <a:rPr lang="en-US" sz="1800" dirty="0">
                <a:solidFill>
                  <a:srgbClr val="000000"/>
                </a:solidFill>
              </a:rPr>
              <a:t>=</a:t>
            </a:r>
            <a:r>
              <a:rPr lang="en-US" sz="1800" dirty="0">
                <a:solidFill>
                  <a:srgbClr val="116644"/>
                </a:solidFill>
              </a:rPr>
              <a:t>73</a:t>
            </a:r>
            <a:r>
              <a:rPr lang="en-US" sz="1800" dirty="0">
                <a:solidFill>
                  <a:srgbClr val="000000"/>
                </a:solidFill>
              </a:rPr>
              <a:t>, stratify=</a:t>
            </a:r>
            <a:r>
              <a:rPr lang="en-US" sz="1800" dirty="0" err="1">
                <a:solidFill>
                  <a:srgbClr val="000000"/>
                </a:solidFill>
              </a:rPr>
              <a:t>y_temp</a:t>
            </a:r>
            <a:r>
              <a:rPr lang="en-US" sz="1800" dirty="0">
                <a:solidFill>
                  <a:srgbClr val="000000"/>
                </a:solidFill>
              </a:rPr>
              <a:t>)  </a:t>
            </a:r>
            <a:r>
              <a:rPr lang="en-US" sz="1800" dirty="0">
                <a:solidFill>
                  <a:srgbClr val="008000"/>
                </a:solidFill>
              </a:rPr>
              <a:t># 37.5% of 40% = 15%</a:t>
            </a:r>
            <a:endParaRPr lang="en-US" sz="1800" dirty="0">
              <a:solidFill>
                <a:srgbClr val="000000"/>
              </a:solidFill>
            </a:endParaRPr>
          </a:p>
          <a:p>
            <a:pPr marL="0" indent="3175" algn="just">
              <a:lnSpc>
                <a:spcPct val="100000"/>
              </a:lnSpc>
              <a:spcBef>
                <a:spcPts val="0"/>
              </a:spcBef>
              <a:spcAft>
                <a:spcPts val="600"/>
              </a:spcAft>
              <a:buNone/>
            </a:pPr>
            <a:r>
              <a:rPr lang="en-US" sz="1800" dirty="0">
                <a:solidFill>
                  <a:srgbClr val="6A5221"/>
                </a:solidFill>
              </a:rPr>
              <a:t>print</a:t>
            </a:r>
            <a:r>
              <a:rPr lang="en-US" sz="1800" dirty="0">
                <a:solidFill>
                  <a:srgbClr val="000000"/>
                </a:solidFill>
              </a:rPr>
              <a:t>(</a:t>
            </a:r>
            <a:r>
              <a:rPr lang="en-US" sz="1800" dirty="0" err="1">
                <a:solidFill>
                  <a:srgbClr val="0000FF"/>
                </a:solidFill>
              </a:rPr>
              <a:t>f</a:t>
            </a:r>
            <a:r>
              <a:rPr lang="en-US" sz="1800" dirty="0" err="1">
                <a:solidFill>
                  <a:srgbClr val="A31515"/>
                </a:solidFill>
              </a:rPr>
              <a:t>"Training</a:t>
            </a:r>
            <a:r>
              <a:rPr lang="en-US" sz="1800" dirty="0">
                <a:solidFill>
                  <a:srgbClr val="A31515"/>
                </a:solidFill>
              </a:rPr>
              <a:t> Set: </a:t>
            </a:r>
            <a:r>
              <a:rPr lang="en-US" sz="1800" dirty="0">
                <a:solidFill>
                  <a:srgbClr val="000000"/>
                </a:solidFill>
              </a:rPr>
              <a:t>{</a:t>
            </a:r>
            <a:r>
              <a:rPr lang="en-US" sz="1800" dirty="0" err="1">
                <a:solidFill>
                  <a:srgbClr val="000000"/>
                </a:solidFill>
              </a:rPr>
              <a:t>X_train.shape</a:t>
            </a:r>
            <a:r>
              <a:rPr lang="en-US" sz="1800" dirty="0">
                <a:solidFill>
                  <a:srgbClr val="000000"/>
                </a:solidFill>
              </a:rPr>
              <a:t>[</a:t>
            </a:r>
            <a:r>
              <a:rPr lang="en-US" sz="1800" dirty="0">
                <a:solidFill>
                  <a:srgbClr val="116644"/>
                </a:solidFill>
              </a:rPr>
              <a:t>0</a:t>
            </a:r>
            <a:r>
              <a:rPr lang="en-US" sz="1800" dirty="0">
                <a:solidFill>
                  <a:srgbClr val="000000"/>
                </a:solidFill>
              </a:rPr>
              <a:t>]}</a:t>
            </a:r>
            <a:r>
              <a:rPr lang="en-US" sz="1800" dirty="0">
                <a:solidFill>
                  <a:srgbClr val="A31515"/>
                </a:solidFill>
              </a:rPr>
              <a:t> samples"</a:t>
            </a:r>
            <a:r>
              <a:rPr lang="en-US" sz="1800" dirty="0">
                <a:solidFill>
                  <a:srgbClr val="000000"/>
                </a:solidFill>
              </a:rPr>
              <a:t>)</a:t>
            </a:r>
          </a:p>
          <a:p>
            <a:pPr marL="0" indent="3175" algn="just">
              <a:lnSpc>
                <a:spcPct val="100000"/>
              </a:lnSpc>
              <a:spcBef>
                <a:spcPts val="0"/>
              </a:spcBef>
              <a:spcAft>
                <a:spcPts val="600"/>
              </a:spcAft>
              <a:buNone/>
            </a:pPr>
            <a:r>
              <a:rPr lang="en-US" sz="1800" dirty="0">
                <a:solidFill>
                  <a:srgbClr val="6A5221"/>
                </a:solidFill>
              </a:rPr>
              <a:t>print</a:t>
            </a:r>
            <a:r>
              <a:rPr lang="en-US" sz="1800" dirty="0">
                <a:solidFill>
                  <a:srgbClr val="000000"/>
                </a:solidFill>
              </a:rPr>
              <a:t>(</a:t>
            </a:r>
            <a:r>
              <a:rPr lang="en-US" sz="1800" dirty="0" err="1">
                <a:solidFill>
                  <a:srgbClr val="0000FF"/>
                </a:solidFill>
              </a:rPr>
              <a:t>f</a:t>
            </a:r>
            <a:r>
              <a:rPr lang="en-US" sz="1800" dirty="0" err="1">
                <a:solidFill>
                  <a:srgbClr val="A31515"/>
                </a:solidFill>
              </a:rPr>
              <a:t>"Validation</a:t>
            </a:r>
            <a:r>
              <a:rPr lang="en-US" sz="1800" dirty="0">
                <a:solidFill>
                  <a:srgbClr val="A31515"/>
                </a:solidFill>
              </a:rPr>
              <a:t> Set: </a:t>
            </a:r>
            <a:r>
              <a:rPr lang="en-US" sz="1800" dirty="0">
                <a:solidFill>
                  <a:srgbClr val="000000"/>
                </a:solidFill>
              </a:rPr>
              <a:t>{</a:t>
            </a:r>
            <a:r>
              <a:rPr lang="en-US" sz="1800" dirty="0" err="1">
                <a:solidFill>
                  <a:srgbClr val="000000"/>
                </a:solidFill>
              </a:rPr>
              <a:t>X_val.shape</a:t>
            </a:r>
            <a:r>
              <a:rPr lang="en-US" sz="1800" dirty="0">
                <a:solidFill>
                  <a:srgbClr val="000000"/>
                </a:solidFill>
              </a:rPr>
              <a:t>[</a:t>
            </a:r>
            <a:r>
              <a:rPr lang="en-US" sz="1800" dirty="0">
                <a:solidFill>
                  <a:srgbClr val="116644"/>
                </a:solidFill>
              </a:rPr>
              <a:t>0</a:t>
            </a:r>
            <a:r>
              <a:rPr lang="en-US" sz="1800" dirty="0">
                <a:solidFill>
                  <a:srgbClr val="000000"/>
                </a:solidFill>
              </a:rPr>
              <a:t>]}</a:t>
            </a:r>
            <a:r>
              <a:rPr lang="en-US" sz="1800" dirty="0">
                <a:solidFill>
                  <a:srgbClr val="A31515"/>
                </a:solidFill>
              </a:rPr>
              <a:t> samples"</a:t>
            </a:r>
            <a:r>
              <a:rPr lang="en-US" sz="1800" dirty="0">
                <a:solidFill>
                  <a:srgbClr val="000000"/>
                </a:solidFill>
              </a:rPr>
              <a:t>)</a:t>
            </a:r>
          </a:p>
          <a:p>
            <a:pPr marL="0" indent="3175" algn="just">
              <a:lnSpc>
                <a:spcPct val="100000"/>
              </a:lnSpc>
              <a:spcBef>
                <a:spcPts val="0"/>
              </a:spcBef>
              <a:spcAft>
                <a:spcPts val="600"/>
              </a:spcAft>
              <a:buNone/>
            </a:pPr>
            <a:r>
              <a:rPr lang="en-US" sz="1800" dirty="0">
                <a:solidFill>
                  <a:srgbClr val="6A5221"/>
                </a:solidFill>
              </a:rPr>
              <a:t>print</a:t>
            </a:r>
            <a:r>
              <a:rPr lang="en-US" sz="1800" dirty="0">
                <a:solidFill>
                  <a:srgbClr val="000000"/>
                </a:solidFill>
              </a:rPr>
              <a:t>(</a:t>
            </a:r>
            <a:r>
              <a:rPr lang="en-US" sz="1800" dirty="0" err="1">
                <a:solidFill>
                  <a:srgbClr val="0000FF"/>
                </a:solidFill>
              </a:rPr>
              <a:t>f</a:t>
            </a:r>
            <a:r>
              <a:rPr lang="en-US" sz="1800" dirty="0" err="1">
                <a:solidFill>
                  <a:srgbClr val="A31515"/>
                </a:solidFill>
              </a:rPr>
              <a:t>"Test</a:t>
            </a:r>
            <a:r>
              <a:rPr lang="en-US" sz="1800" dirty="0">
                <a:solidFill>
                  <a:srgbClr val="A31515"/>
                </a:solidFill>
              </a:rPr>
              <a:t> Set: </a:t>
            </a:r>
            <a:r>
              <a:rPr lang="en-US" sz="1800" dirty="0">
                <a:solidFill>
                  <a:srgbClr val="000000"/>
                </a:solidFill>
              </a:rPr>
              <a:t>{</a:t>
            </a:r>
            <a:r>
              <a:rPr lang="en-US" sz="1800" dirty="0" err="1">
                <a:solidFill>
                  <a:srgbClr val="000000"/>
                </a:solidFill>
              </a:rPr>
              <a:t>X_test.shape</a:t>
            </a:r>
            <a:r>
              <a:rPr lang="en-US" sz="1800" dirty="0">
                <a:solidFill>
                  <a:srgbClr val="000000"/>
                </a:solidFill>
              </a:rPr>
              <a:t>[</a:t>
            </a:r>
            <a:r>
              <a:rPr lang="en-US" sz="1800" dirty="0">
                <a:solidFill>
                  <a:srgbClr val="116644"/>
                </a:solidFill>
              </a:rPr>
              <a:t>0</a:t>
            </a:r>
            <a:r>
              <a:rPr lang="en-US" sz="1800" dirty="0">
                <a:solidFill>
                  <a:srgbClr val="000000"/>
                </a:solidFill>
              </a:rPr>
              <a:t>]}</a:t>
            </a:r>
            <a:r>
              <a:rPr lang="en-US" sz="1800" dirty="0">
                <a:solidFill>
                  <a:srgbClr val="A31515"/>
                </a:solidFill>
              </a:rPr>
              <a:t> samples"</a:t>
            </a:r>
            <a:r>
              <a:rPr lang="en-US" sz="1800" dirty="0">
                <a:solidFill>
                  <a:srgbClr val="000000"/>
                </a:solidFill>
              </a:rPr>
              <a:t>)</a:t>
            </a:r>
          </a:p>
        </p:txBody>
      </p:sp>
      <p:sp>
        <p:nvSpPr>
          <p:cNvPr id="5" name="Slide Number Placeholder 4">
            <a:extLst>
              <a:ext uri="{FF2B5EF4-FFF2-40B4-BE49-F238E27FC236}">
                <a16:creationId xmlns:a16="http://schemas.microsoft.com/office/drawing/2014/main" id="{64B47AF1-5669-20DC-04BA-D99675DD6219}"/>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68</a:t>
            </a:fld>
            <a:endParaRPr lang="en-US" dirty="0">
              <a:solidFill>
                <a:srgbClr val="000000"/>
              </a:solidFill>
            </a:endParaRPr>
          </a:p>
        </p:txBody>
      </p:sp>
      <p:sp>
        <p:nvSpPr>
          <p:cNvPr id="8" name="object 2">
            <a:extLst>
              <a:ext uri="{FF2B5EF4-FFF2-40B4-BE49-F238E27FC236}">
                <a16:creationId xmlns:a16="http://schemas.microsoft.com/office/drawing/2014/main" id="{71584B8A-DFBA-72F1-EB14-BE687497E0C3}"/>
              </a:ext>
            </a:extLst>
          </p:cNvPr>
          <p:cNvSpPr txBox="1">
            <a:spLocks/>
          </p:cNvSpPr>
          <p:nvPr/>
        </p:nvSpPr>
        <p:spPr>
          <a:xfrm>
            <a:off x="228600" y="128016"/>
            <a:ext cx="8686800" cy="984885"/>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pPr>
              <a:lnSpc>
                <a:spcPct val="100000"/>
              </a:lnSpc>
              <a:spcBef>
                <a:spcPts val="0"/>
              </a:spcBef>
            </a:pPr>
            <a:r>
              <a:rPr lang="en-US" dirty="0"/>
              <a:t>Table Partition</a:t>
            </a:r>
            <a:endParaRPr lang="en-US" spc="-20" dirty="0">
              <a:solidFill>
                <a:srgbClr val="2D3B45"/>
              </a:solidFill>
            </a:endParaRPr>
          </a:p>
        </p:txBody>
      </p:sp>
    </p:spTree>
    <p:extLst>
      <p:ext uri="{BB962C8B-B14F-4D97-AF65-F5344CB8AC3E}">
        <p14:creationId xmlns:p14="http://schemas.microsoft.com/office/powerpoint/2010/main" val="250494861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69C0E-C010-90B4-4BAF-E6E947D554C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A8A5D81-EA85-4CC4-830B-93799F33A579}"/>
              </a:ext>
            </a:extLst>
          </p:cNvPr>
          <p:cNvSpPr>
            <a:spLocks noGrp="1"/>
          </p:cNvSpPr>
          <p:nvPr>
            <p:ph idx="4294967295"/>
          </p:nvPr>
        </p:nvSpPr>
        <p:spPr>
          <a:xfrm>
            <a:off x="0" y="612775"/>
            <a:ext cx="7350125" cy="3203575"/>
          </a:xfrm>
        </p:spPr>
        <p:txBody>
          <a:bodyPr>
            <a:noAutofit/>
          </a:bodyPr>
          <a:lstStyle/>
          <a:p>
            <a:pPr marL="0" indent="1588" algn="just">
              <a:lnSpc>
                <a:spcPct val="100000"/>
              </a:lnSpc>
              <a:spcBef>
                <a:spcPts val="0"/>
              </a:spcBef>
              <a:spcAft>
                <a:spcPts val="600"/>
              </a:spcAft>
              <a:buNone/>
            </a:pPr>
            <a:r>
              <a:rPr lang="en-US" sz="1800" dirty="0">
                <a:solidFill>
                  <a:srgbClr val="008000"/>
                </a:solidFill>
              </a:rPr>
              <a:t># Splitting Data</a:t>
            </a:r>
            <a:endParaRPr lang="en-US" sz="1800" dirty="0">
              <a:solidFill>
                <a:srgbClr val="000000"/>
              </a:solidFill>
            </a:endParaRPr>
          </a:p>
          <a:p>
            <a:pPr marL="0" indent="1588" algn="just">
              <a:lnSpc>
                <a:spcPct val="100000"/>
              </a:lnSpc>
              <a:spcBef>
                <a:spcPts val="0"/>
              </a:spcBef>
              <a:spcAft>
                <a:spcPts val="600"/>
              </a:spcAft>
              <a:buNone/>
            </a:pPr>
            <a:r>
              <a:rPr lang="en-US" sz="1800" dirty="0">
                <a:solidFill>
                  <a:srgbClr val="000000"/>
                </a:solidFill>
              </a:rPr>
              <a:t>X = </a:t>
            </a:r>
            <a:r>
              <a:rPr lang="en-US" sz="1800" dirty="0" err="1">
                <a:solidFill>
                  <a:srgbClr val="000000"/>
                </a:solidFill>
              </a:rPr>
              <a:t>df</a:t>
            </a:r>
            <a:r>
              <a:rPr lang="en-US" sz="1800" dirty="0">
                <a:solidFill>
                  <a:srgbClr val="000000"/>
                </a:solidFill>
              </a:rPr>
              <a:t>[</a:t>
            </a:r>
            <a:r>
              <a:rPr lang="en-US" sz="1800" dirty="0">
                <a:solidFill>
                  <a:srgbClr val="A31515"/>
                </a:solidFill>
              </a:rPr>
              <a:t>'</a:t>
            </a:r>
            <a:r>
              <a:rPr lang="en-US" sz="1800" dirty="0" err="1">
                <a:solidFill>
                  <a:srgbClr val="A31515"/>
                </a:solidFill>
              </a:rPr>
              <a:t>commentText</a:t>
            </a:r>
            <a:r>
              <a:rPr lang="en-US" sz="1800" dirty="0">
                <a:solidFill>
                  <a:srgbClr val="A31515"/>
                </a:solidFill>
              </a:rPr>
              <a:t>'</a:t>
            </a:r>
            <a:r>
              <a:rPr lang="en-US" sz="1800" dirty="0">
                <a:solidFill>
                  <a:srgbClr val="000000"/>
                </a:solidFill>
              </a:rPr>
              <a:t>]</a:t>
            </a:r>
          </a:p>
          <a:p>
            <a:pPr marL="0" indent="1588" algn="just">
              <a:lnSpc>
                <a:spcPct val="100000"/>
              </a:lnSpc>
              <a:spcBef>
                <a:spcPts val="0"/>
              </a:spcBef>
              <a:spcAft>
                <a:spcPts val="600"/>
              </a:spcAft>
              <a:buNone/>
            </a:pPr>
            <a:r>
              <a:rPr lang="en-US" sz="1800" dirty="0">
                <a:solidFill>
                  <a:srgbClr val="000000"/>
                </a:solidFill>
              </a:rPr>
              <a:t>y = </a:t>
            </a:r>
            <a:r>
              <a:rPr lang="en-US" sz="1800" dirty="0" err="1">
                <a:solidFill>
                  <a:srgbClr val="000000"/>
                </a:solidFill>
              </a:rPr>
              <a:t>df</a:t>
            </a:r>
            <a:r>
              <a:rPr lang="en-US" sz="1800" dirty="0">
                <a:solidFill>
                  <a:srgbClr val="000000"/>
                </a:solidFill>
              </a:rPr>
              <a:t>[</a:t>
            </a:r>
            <a:r>
              <a:rPr lang="en-US" sz="1800" dirty="0">
                <a:solidFill>
                  <a:srgbClr val="A31515"/>
                </a:solidFill>
              </a:rPr>
              <a:t>'abusive'</a:t>
            </a:r>
            <a:r>
              <a:rPr lang="en-US" sz="1800" dirty="0">
                <a:solidFill>
                  <a:srgbClr val="000000"/>
                </a:solidFill>
              </a:rPr>
              <a:t>]</a:t>
            </a:r>
          </a:p>
          <a:p>
            <a:pPr marL="0" indent="1588" algn="just">
              <a:lnSpc>
                <a:spcPct val="100000"/>
              </a:lnSpc>
              <a:spcBef>
                <a:spcPts val="0"/>
              </a:spcBef>
              <a:spcAft>
                <a:spcPts val="600"/>
              </a:spcAft>
              <a:buNone/>
            </a:pPr>
            <a:r>
              <a:rPr lang="en-US" sz="1800" dirty="0">
                <a:solidFill>
                  <a:srgbClr val="008000"/>
                </a:solidFill>
              </a:rPr>
              <a:t># Initial Split (60% Training, 40% Temp)</a:t>
            </a:r>
            <a:endParaRPr lang="en-US" sz="1800" dirty="0">
              <a:solidFill>
                <a:srgbClr val="000000"/>
              </a:solidFill>
            </a:endParaRPr>
          </a:p>
          <a:p>
            <a:pPr marL="0" indent="1588" algn="just">
              <a:lnSpc>
                <a:spcPct val="100000"/>
              </a:lnSpc>
              <a:spcBef>
                <a:spcPts val="0"/>
              </a:spcBef>
              <a:spcAft>
                <a:spcPts val="600"/>
              </a:spcAft>
              <a:buNone/>
            </a:pPr>
            <a:r>
              <a:rPr lang="en-US" sz="1800" dirty="0" err="1">
                <a:solidFill>
                  <a:srgbClr val="000000"/>
                </a:solidFill>
              </a:rPr>
              <a:t>X_train</a:t>
            </a:r>
            <a:r>
              <a:rPr lang="en-US" sz="1800" dirty="0">
                <a:solidFill>
                  <a:srgbClr val="000000"/>
                </a:solidFill>
              </a:rPr>
              <a:t>, </a:t>
            </a:r>
            <a:r>
              <a:rPr lang="en-US" sz="1800" dirty="0" err="1">
                <a:solidFill>
                  <a:srgbClr val="000000"/>
                </a:solidFill>
              </a:rPr>
              <a:t>X_temp</a:t>
            </a:r>
            <a:r>
              <a:rPr lang="en-US" sz="1800" dirty="0">
                <a:solidFill>
                  <a:srgbClr val="000000"/>
                </a:solidFill>
              </a:rPr>
              <a:t>, </a:t>
            </a:r>
            <a:r>
              <a:rPr lang="en-US" sz="1800" dirty="0" err="1">
                <a:solidFill>
                  <a:srgbClr val="000000"/>
                </a:solidFill>
              </a:rPr>
              <a:t>y_train</a:t>
            </a:r>
            <a:r>
              <a:rPr lang="en-US" sz="1800" dirty="0">
                <a:solidFill>
                  <a:srgbClr val="000000"/>
                </a:solidFill>
              </a:rPr>
              <a:t>, </a:t>
            </a:r>
            <a:r>
              <a:rPr lang="en-US" sz="1800" dirty="0" err="1">
                <a:solidFill>
                  <a:srgbClr val="000000"/>
                </a:solidFill>
              </a:rPr>
              <a:t>y_temp</a:t>
            </a:r>
            <a:r>
              <a:rPr lang="en-US" sz="1800" dirty="0">
                <a:solidFill>
                  <a:srgbClr val="000000"/>
                </a:solidFill>
              </a:rPr>
              <a:t> = </a:t>
            </a:r>
            <a:r>
              <a:rPr lang="en-US" sz="1800" dirty="0" err="1">
                <a:solidFill>
                  <a:srgbClr val="000000"/>
                </a:solidFill>
              </a:rPr>
              <a:t>train_test_split</a:t>
            </a:r>
            <a:r>
              <a:rPr lang="en-US" sz="1800" dirty="0">
                <a:solidFill>
                  <a:srgbClr val="000000"/>
                </a:solidFill>
              </a:rPr>
              <a:t>(X, y, </a:t>
            </a:r>
            <a:r>
              <a:rPr lang="en-US" sz="1800" dirty="0" err="1">
                <a:solidFill>
                  <a:srgbClr val="000000"/>
                </a:solidFill>
              </a:rPr>
              <a:t>test_size</a:t>
            </a:r>
            <a:r>
              <a:rPr lang="en-US" sz="1800" dirty="0">
                <a:solidFill>
                  <a:srgbClr val="000000"/>
                </a:solidFill>
              </a:rPr>
              <a:t>=</a:t>
            </a:r>
            <a:r>
              <a:rPr lang="en-US" sz="1800" dirty="0">
                <a:solidFill>
                  <a:srgbClr val="116644"/>
                </a:solidFill>
              </a:rPr>
              <a:t>0.4</a:t>
            </a:r>
            <a:r>
              <a:rPr lang="en-US" sz="1800" dirty="0">
                <a:solidFill>
                  <a:srgbClr val="000000"/>
                </a:solidFill>
              </a:rPr>
              <a:t>, </a:t>
            </a:r>
            <a:r>
              <a:rPr lang="en-US" sz="1800" dirty="0" err="1">
                <a:solidFill>
                  <a:srgbClr val="000000"/>
                </a:solidFill>
              </a:rPr>
              <a:t>random_state</a:t>
            </a:r>
            <a:r>
              <a:rPr lang="en-US" sz="1800" dirty="0">
                <a:solidFill>
                  <a:srgbClr val="000000"/>
                </a:solidFill>
              </a:rPr>
              <a:t>=</a:t>
            </a:r>
            <a:r>
              <a:rPr lang="en-US" sz="1800" dirty="0">
                <a:solidFill>
                  <a:srgbClr val="116644"/>
                </a:solidFill>
              </a:rPr>
              <a:t>542</a:t>
            </a:r>
            <a:r>
              <a:rPr lang="en-US" sz="1800" dirty="0">
                <a:solidFill>
                  <a:srgbClr val="000000"/>
                </a:solidFill>
              </a:rPr>
              <a:t>, stratify=y)</a:t>
            </a:r>
          </a:p>
          <a:p>
            <a:pPr marL="0" indent="1588" algn="just">
              <a:lnSpc>
                <a:spcPct val="100000"/>
              </a:lnSpc>
              <a:spcBef>
                <a:spcPts val="0"/>
              </a:spcBef>
              <a:spcAft>
                <a:spcPts val="600"/>
              </a:spcAft>
              <a:buNone/>
            </a:pPr>
            <a:r>
              <a:rPr lang="en-US" sz="1800" dirty="0">
                <a:solidFill>
                  <a:srgbClr val="008000"/>
                </a:solidFill>
              </a:rPr>
              <a:t># Splitting Temp Set into Validation (25%) and Test (15%)</a:t>
            </a:r>
            <a:endParaRPr lang="en-US" sz="1800" dirty="0">
              <a:solidFill>
                <a:srgbClr val="000000"/>
              </a:solidFill>
            </a:endParaRPr>
          </a:p>
          <a:p>
            <a:pPr marL="0" indent="1588" algn="just">
              <a:lnSpc>
                <a:spcPct val="100000"/>
              </a:lnSpc>
              <a:spcBef>
                <a:spcPts val="0"/>
              </a:spcBef>
              <a:spcAft>
                <a:spcPts val="600"/>
              </a:spcAft>
              <a:buNone/>
            </a:pPr>
            <a:r>
              <a:rPr lang="en-US" sz="1800" dirty="0" err="1">
                <a:solidFill>
                  <a:srgbClr val="000000"/>
                </a:solidFill>
              </a:rPr>
              <a:t>X_val</a:t>
            </a:r>
            <a:r>
              <a:rPr lang="en-US" sz="1800" dirty="0">
                <a:solidFill>
                  <a:srgbClr val="000000"/>
                </a:solidFill>
              </a:rPr>
              <a:t>, </a:t>
            </a:r>
            <a:r>
              <a:rPr lang="en-US" sz="1800" dirty="0" err="1">
                <a:solidFill>
                  <a:srgbClr val="000000"/>
                </a:solidFill>
              </a:rPr>
              <a:t>X_test</a:t>
            </a:r>
            <a:r>
              <a:rPr lang="en-US" sz="1800" dirty="0">
                <a:solidFill>
                  <a:srgbClr val="000000"/>
                </a:solidFill>
              </a:rPr>
              <a:t>, </a:t>
            </a:r>
            <a:r>
              <a:rPr lang="en-US" sz="1800" dirty="0" err="1">
                <a:solidFill>
                  <a:srgbClr val="000000"/>
                </a:solidFill>
              </a:rPr>
              <a:t>y_val</a:t>
            </a:r>
            <a:r>
              <a:rPr lang="en-US" sz="1800" dirty="0">
                <a:solidFill>
                  <a:srgbClr val="000000"/>
                </a:solidFill>
              </a:rPr>
              <a:t>, </a:t>
            </a:r>
            <a:r>
              <a:rPr lang="en-US" sz="1800" dirty="0" err="1">
                <a:solidFill>
                  <a:srgbClr val="000000"/>
                </a:solidFill>
              </a:rPr>
              <a:t>y_test</a:t>
            </a:r>
            <a:r>
              <a:rPr lang="en-US" sz="1800" dirty="0">
                <a:solidFill>
                  <a:srgbClr val="000000"/>
                </a:solidFill>
              </a:rPr>
              <a:t> = </a:t>
            </a:r>
            <a:r>
              <a:rPr lang="en-US" sz="1800" dirty="0" err="1">
                <a:solidFill>
                  <a:srgbClr val="000000"/>
                </a:solidFill>
              </a:rPr>
              <a:t>train_test_split</a:t>
            </a:r>
            <a:r>
              <a:rPr lang="en-US" sz="1800" dirty="0">
                <a:solidFill>
                  <a:srgbClr val="000000"/>
                </a:solidFill>
              </a:rPr>
              <a:t>(</a:t>
            </a:r>
            <a:r>
              <a:rPr lang="en-US" sz="1800" dirty="0" err="1">
                <a:solidFill>
                  <a:srgbClr val="000000"/>
                </a:solidFill>
              </a:rPr>
              <a:t>X_temp</a:t>
            </a:r>
            <a:r>
              <a:rPr lang="en-US" sz="1800" dirty="0">
                <a:solidFill>
                  <a:srgbClr val="000000"/>
                </a:solidFill>
              </a:rPr>
              <a:t>, </a:t>
            </a:r>
            <a:r>
              <a:rPr lang="en-US" sz="1800" dirty="0" err="1">
                <a:solidFill>
                  <a:srgbClr val="000000"/>
                </a:solidFill>
              </a:rPr>
              <a:t>y_temp</a:t>
            </a:r>
            <a:r>
              <a:rPr lang="en-US" sz="1800" dirty="0">
                <a:solidFill>
                  <a:srgbClr val="000000"/>
                </a:solidFill>
              </a:rPr>
              <a:t>, </a:t>
            </a:r>
            <a:r>
              <a:rPr lang="en-US" sz="1800" dirty="0" err="1">
                <a:solidFill>
                  <a:srgbClr val="000000"/>
                </a:solidFill>
              </a:rPr>
              <a:t>test_size</a:t>
            </a:r>
            <a:r>
              <a:rPr lang="en-US" sz="1800" dirty="0">
                <a:solidFill>
                  <a:srgbClr val="000000"/>
                </a:solidFill>
              </a:rPr>
              <a:t>=</a:t>
            </a:r>
            <a:r>
              <a:rPr lang="en-US" sz="1800" dirty="0">
                <a:solidFill>
                  <a:srgbClr val="116644"/>
                </a:solidFill>
              </a:rPr>
              <a:t>0.375</a:t>
            </a:r>
            <a:r>
              <a:rPr lang="en-US" sz="1800" dirty="0">
                <a:solidFill>
                  <a:srgbClr val="000000"/>
                </a:solidFill>
              </a:rPr>
              <a:t>, </a:t>
            </a:r>
            <a:r>
              <a:rPr lang="en-US" sz="1800" dirty="0" err="1">
                <a:solidFill>
                  <a:srgbClr val="000000"/>
                </a:solidFill>
              </a:rPr>
              <a:t>random_state</a:t>
            </a:r>
            <a:r>
              <a:rPr lang="en-US" sz="1800" dirty="0">
                <a:solidFill>
                  <a:srgbClr val="000000"/>
                </a:solidFill>
              </a:rPr>
              <a:t>=</a:t>
            </a:r>
            <a:r>
              <a:rPr lang="en-US" sz="1800" dirty="0">
                <a:solidFill>
                  <a:srgbClr val="116644"/>
                </a:solidFill>
              </a:rPr>
              <a:t>73</a:t>
            </a:r>
            <a:r>
              <a:rPr lang="en-US" sz="1800" dirty="0">
                <a:solidFill>
                  <a:srgbClr val="000000"/>
                </a:solidFill>
              </a:rPr>
              <a:t>, stratify=</a:t>
            </a:r>
            <a:r>
              <a:rPr lang="en-US" sz="1800" dirty="0" err="1">
                <a:solidFill>
                  <a:srgbClr val="000000"/>
                </a:solidFill>
              </a:rPr>
              <a:t>y_temp</a:t>
            </a:r>
            <a:r>
              <a:rPr lang="en-US" sz="1800" dirty="0">
                <a:solidFill>
                  <a:srgbClr val="000000"/>
                </a:solidFill>
              </a:rPr>
              <a:t>)  </a:t>
            </a:r>
            <a:r>
              <a:rPr lang="en-US" sz="1800" dirty="0">
                <a:solidFill>
                  <a:srgbClr val="008000"/>
                </a:solidFill>
              </a:rPr>
              <a:t># 37.5% of 40% = 15%</a:t>
            </a:r>
            <a:endParaRPr lang="en-US" sz="1800" dirty="0">
              <a:solidFill>
                <a:srgbClr val="000000"/>
              </a:solidFill>
            </a:endParaRPr>
          </a:p>
        </p:txBody>
      </p:sp>
      <p:sp>
        <p:nvSpPr>
          <p:cNvPr id="5" name="Slide Number Placeholder 4">
            <a:extLst>
              <a:ext uri="{FF2B5EF4-FFF2-40B4-BE49-F238E27FC236}">
                <a16:creationId xmlns:a16="http://schemas.microsoft.com/office/drawing/2014/main" id="{006AB23A-0BA7-7911-D06B-A00490A1E1C7}"/>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69</a:t>
            </a:fld>
            <a:endParaRPr lang="en-US" dirty="0">
              <a:solidFill>
                <a:srgbClr val="000000"/>
              </a:solidFill>
            </a:endParaRPr>
          </a:p>
        </p:txBody>
      </p:sp>
    </p:spTree>
    <p:extLst>
      <p:ext uri="{BB962C8B-B14F-4D97-AF65-F5344CB8AC3E}">
        <p14:creationId xmlns:p14="http://schemas.microsoft.com/office/powerpoint/2010/main" val="386573101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F16BA-077F-2D4B-A078-463931BAE8B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9539C4-6A8C-6150-4978-4B629CC130F7}"/>
              </a:ext>
            </a:extLst>
          </p:cNvPr>
          <p:cNvSpPr>
            <a:spLocks noGrp="1"/>
          </p:cNvSpPr>
          <p:nvPr>
            <p:ph idx="4294967295"/>
          </p:nvPr>
        </p:nvSpPr>
        <p:spPr>
          <a:xfrm>
            <a:off x="0" y="615950"/>
            <a:ext cx="7408863" cy="5489575"/>
          </a:xfrm>
        </p:spPr>
        <p:txBody>
          <a:bodyPr>
            <a:noAutofit/>
          </a:bodyPr>
          <a:lstStyle/>
          <a:p>
            <a:pPr marL="0" indent="0" algn="just">
              <a:lnSpc>
                <a:spcPct val="100000"/>
              </a:lnSpc>
              <a:spcBef>
                <a:spcPts val="0"/>
              </a:spcBef>
              <a:spcAft>
                <a:spcPts val="600"/>
              </a:spcAft>
              <a:buNone/>
            </a:pPr>
            <a:r>
              <a:rPr lang="en-US" sz="1800" dirty="0">
                <a:solidFill>
                  <a:srgbClr val="008000"/>
                </a:solidFill>
              </a:rPr>
              <a:t># Creating Summary Table</a:t>
            </a:r>
            <a:endParaRPr lang="en-US" sz="1800" dirty="0">
              <a:solidFill>
                <a:srgbClr val="000000"/>
              </a:solidFill>
            </a:endParaRPr>
          </a:p>
          <a:p>
            <a:pPr marL="0" indent="0" algn="just">
              <a:lnSpc>
                <a:spcPct val="100000"/>
              </a:lnSpc>
              <a:spcBef>
                <a:spcPts val="0"/>
              </a:spcBef>
              <a:spcAft>
                <a:spcPts val="600"/>
              </a:spcAft>
              <a:buNone/>
            </a:pPr>
            <a:r>
              <a:rPr lang="en-US" sz="1800" dirty="0">
                <a:solidFill>
                  <a:srgbClr val="0000FF"/>
                </a:solidFill>
              </a:rPr>
              <a:t>def</a:t>
            </a:r>
            <a:r>
              <a:rPr lang="en-US" sz="1800" dirty="0">
                <a:solidFill>
                  <a:srgbClr val="000000"/>
                </a:solidFill>
              </a:rPr>
              <a:t> </a:t>
            </a:r>
            <a:r>
              <a:rPr lang="en-US" sz="1800" dirty="0" err="1">
                <a:solidFill>
                  <a:srgbClr val="6A5221"/>
                </a:solidFill>
              </a:rPr>
              <a:t>create_summary_table</a:t>
            </a:r>
            <a:r>
              <a:rPr lang="en-US" sz="1800" dirty="0">
                <a:solidFill>
                  <a:srgbClr val="000000"/>
                </a:solidFill>
              </a:rPr>
              <a:t>():</a:t>
            </a:r>
          </a:p>
          <a:p>
            <a:pPr marL="0" indent="0" algn="just">
              <a:lnSpc>
                <a:spcPct val="100000"/>
              </a:lnSpc>
              <a:spcBef>
                <a:spcPts val="0"/>
              </a:spcBef>
              <a:spcAft>
                <a:spcPts val="600"/>
              </a:spcAft>
              <a:buNone/>
            </a:pPr>
            <a:r>
              <a:rPr lang="en-US" sz="1800" dirty="0">
                <a:solidFill>
                  <a:srgbClr val="000000"/>
                </a:solidFill>
              </a:rPr>
              <a:t>partitions = [</a:t>
            </a:r>
            <a:r>
              <a:rPr lang="en-US" sz="1800" dirty="0">
                <a:solidFill>
                  <a:srgbClr val="A31515"/>
                </a:solidFill>
              </a:rPr>
              <a:t>"Training"</a:t>
            </a:r>
            <a:r>
              <a:rPr lang="en-US" sz="1800" dirty="0">
                <a:solidFill>
                  <a:srgbClr val="000000"/>
                </a:solidFill>
              </a:rPr>
              <a:t>, </a:t>
            </a:r>
            <a:r>
              <a:rPr lang="en-US" sz="1800" dirty="0">
                <a:solidFill>
                  <a:srgbClr val="A31515"/>
                </a:solidFill>
              </a:rPr>
              <a:t>"Validation"</a:t>
            </a:r>
            <a:r>
              <a:rPr lang="en-US" sz="1800" dirty="0">
                <a:solidFill>
                  <a:srgbClr val="000000"/>
                </a:solidFill>
              </a:rPr>
              <a:t>, </a:t>
            </a:r>
            <a:r>
              <a:rPr lang="en-US" sz="1800" dirty="0">
                <a:solidFill>
                  <a:srgbClr val="A31515"/>
                </a:solidFill>
              </a:rPr>
              <a:t>"Testing"</a:t>
            </a:r>
            <a:r>
              <a:rPr lang="en-US" sz="1800" dirty="0">
                <a:solidFill>
                  <a:srgbClr val="000000"/>
                </a:solidFill>
              </a:rPr>
              <a:t>]</a:t>
            </a:r>
          </a:p>
          <a:p>
            <a:pPr marL="0" indent="0" algn="just">
              <a:lnSpc>
                <a:spcPct val="100000"/>
              </a:lnSpc>
              <a:spcBef>
                <a:spcPts val="0"/>
              </a:spcBef>
              <a:spcAft>
                <a:spcPts val="600"/>
              </a:spcAft>
              <a:buNone/>
            </a:pPr>
            <a:r>
              <a:rPr lang="en-US" sz="1800" dirty="0" err="1">
                <a:solidFill>
                  <a:srgbClr val="000000"/>
                </a:solidFill>
              </a:rPr>
              <a:t>abusive_counts</a:t>
            </a:r>
            <a:r>
              <a:rPr lang="en-US" sz="1800" dirty="0">
                <a:solidFill>
                  <a:srgbClr val="000000"/>
                </a:solidFill>
              </a:rPr>
              <a:t> = [</a:t>
            </a:r>
            <a:r>
              <a:rPr lang="en-US" sz="1800" dirty="0" err="1">
                <a:solidFill>
                  <a:srgbClr val="000000"/>
                </a:solidFill>
              </a:rPr>
              <a:t>y_train.</a:t>
            </a:r>
            <a:r>
              <a:rPr lang="en-US" sz="1800" dirty="0" err="1">
                <a:solidFill>
                  <a:srgbClr val="6A5221"/>
                </a:solidFill>
              </a:rPr>
              <a:t>sum</a:t>
            </a:r>
            <a:r>
              <a:rPr lang="en-US" sz="1800" dirty="0">
                <a:solidFill>
                  <a:srgbClr val="000000"/>
                </a:solidFill>
              </a:rPr>
              <a:t>(), </a:t>
            </a:r>
            <a:r>
              <a:rPr lang="en-US" sz="1800" dirty="0" err="1">
                <a:solidFill>
                  <a:srgbClr val="000000"/>
                </a:solidFill>
              </a:rPr>
              <a:t>y_val.</a:t>
            </a:r>
            <a:r>
              <a:rPr lang="en-US" sz="1800" dirty="0" err="1">
                <a:solidFill>
                  <a:srgbClr val="6A5221"/>
                </a:solidFill>
              </a:rPr>
              <a:t>sum</a:t>
            </a:r>
            <a:r>
              <a:rPr lang="en-US" sz="1800" dirty="0">
                <a:solidFill>
                  <a:srgbClr val="000000"/>
                </a:solidFill>
              </a:rPr>
              <a:t>(), </a:t>
            </a:r>
            <a:r>
              <a:rPr lang="en-US" sz="1800" dirty="0" err="1">
                <a:solidFill>
                  <a:srgbClr val="000000"/>
                </a:solidFill>
              </a:rPr>
              <a:t>y_test.</a:t>
            </a:r>
            <a:r>
              <a:rPr lang="en-US" sz="1800" dirty="0" err="1">
                <a:solidFill>
                  <a:srgbClr val="6A5221"/>
                </a:solidFill>
              </a:rPr>
              <a:t>sum</a:t>
            </a:r>
            <a:r>
              <a:rPr lang="en-US" sz="1800" dirty="0">
                <a:solidFill>
                  <a:srgbClr val="000000"/>
                </a:solidFill>
              </a:rPr>
              <a:t>()]</a:t>
            </a:r>
          </a:p>
          <a:p>
            <a:pPr marL="0" indent="0" algn="just">
              <a:lnSpc>
                <a:spcPct val="100000"/>
              </a:lnSpc>
              <a:spcBef>
                <a:spcPts val="0"/>
              </a:spcBef>
              <a:spcAft>
                <a:spcPts val="600"/>
              </a:spcAft>
              <a:buNone/>
            </a:pPr>
            <a:r>
              <a:rPr lang="en-US" sz="1800" dirty="0" err="1">
                <a:solidFill>
                  <a:srgbClr val="000000"/>
                </a:solidFill>
              </a:rPr>
              <a:t>non_abusive_counts</a:t>
            </a:r>
            <a:r>
              <a:rPr lang="en-US" sz="1800" dirty="0">
                <a:solidFill>
                  <a:srgbClr val="000000"/>
                </a:solidFill>
              </a:rPr>
              <a:t> = [</a:t>
            </a:r>
            <a:r>
              <a:rPr lang="en-US" sz="1800" dirty="0" err="1">
                <a:solidFill>
                  <a:srgbClr val="6A5221"/>
                </a:solidFill>
              </a:rPr>
              <a:t>len</a:t>
            </a:r>
            <a:r>
              <a:rPr lang="en-US" sz="1800" dirty="0">
                <a:solidFill>
                  <a:srgbClr val="000000"/>
                </a:solidFill>
              </a:rPr>
              <a:t>(</a:t>
            </a:r>
            <a:r>
              <a:rPr lang="en-US" sz="1800" dirty="0" err="1">
                <a:solidFill>
                  <a:srgbClr val="000000"/>
                </a:solidFill>
              </a:rPr>
              <a:t>y_train</a:t>
            </a:r>
            <a:r>
              <a:rPr lang="en-US" sz="1800" dirty="0">
                <a:solidFill>
                  <a:srgbClr val="000000"/>
                </a:solidFill>
              </a:rPr>
              <a:t>) - </a:t>
            </a:r>
            <a:r>
              <a:rPr lang="en-US" sz="1800" dirty="0" err="1">
                <a:solidFill>
                  <a:srgbClr val="000000"/>
                </a:solidFill>
              </a:rPr>
              <a:t>y_train.</a:t>
            </a:r>
            <a:r>
              <a:rPr lang="en-US" sz="1800" dirty="0" err="1">
                <a:solidFill>
                  <a:srgbClr val="6A5221"/>
                </a:solidFill>
              </a:rPr>
              <a:t>sum</a:t>
            </a:r>
            <a:r>
              <a:rPr lang="en-US" sz="1800" dirty="0">
                <a:solidFill>
                  <a:srgbClr val="000000"/>
                </a:solidFill>
              </a:rPr>
              <a:t>(), </a:t>
            </a:r>
            <a:r>
              <a:rPr lang="en-US" sz="1800" dirty="0" err="1">
                <a:solidFill>
                  <a:srgbClr val="6A5221"/>
                </a:solidFill>
              </a:rPr>
              <a:t>len</a:t>
            </a:r>
            <a:r>
              <a:rPr lang="en-US" sz="1800" dirty="0">
                <a:solidFill>
                  <a:srgbClr val="000000"/>
                </a:solidFill>
              </a:rPr>
              <a:t>(</a:t>
            </a:r>
            <a:r>
              <a:rPr lang="en-US" sz="1800" dirty="0" err="1">
                <a:solidFill>
                  <a:srgbClr val="000000"/>
                </a:solidFill>
              </a:rPr>
              <a:t>y_val</a:t>
            </a:r>
            <a:r>
              <a:rPr lang="en-US" sz="1800" dirty="0">
                <a:solidFill>
                  <a:srgbClr val="000000"/>
                </a:solidFill>
              </a:rPr>
              <a:t>) - </a:t>
            </a:r>
            <a:r>
              <a:rPr lang="en-US" sz="1800" dirty="0" err="1">
                <a:solidFill>
                  <a:srgbClr val="000000"/>
                </a:solidFill>
              </a:rPr>
              <a:t>y_val.</a:t>
            </a:r>
            <a:r>
              <a:rPr lang="en-US" sz="1800" dirty="0" err="1">
                <a:solidFill>
                  <a:srgbClr val="6A5221"/>
                </a:solidFill>
              </a:rPr>
              <a:t>sum</a:t>
            </a:r>
            <a:r>
              <a:rPr lang="en-US" sz="1800" dirty="0">
                <a:solidFill>
                  <a:srgbClr val="000000"/>
                </a:solidFill>
              </a:rPr>
              <a:t>(), </a:t>
            </a:r>
            <a:r>
              <a:rPr lang="en-US" sz="1800" dirty="0" err="1">
                <a:solidFill>
                  <a:srgbClr val="6A5221"/>
                </a:solidFill>
              </a:rPr>
              <a:t>len</a:t>
            </a:r>
            <a:r>
              <a:rPr lang="en-US" sz="1800" dirty="0">
                <a:solidFill>
                  <a:srgbClr val="000000"/>
                </a:solidFill>
              </a:rPr>
              <a:t>(</a:t>
            </a:r>
            <a:r>
              <a:rPr lang="en-US" sz="1800" dirty="0" err="1">
                <a:solidFill>
                  <a:srgbClr val="000000"/>
                </a:solidFill>
              </a:rPr>
              <a:t>y_test</a:t>
            </a:r>
            <a:r>
              <a:rPr lang="en-US" sz="1800" dirty="0">
                <a:solidFill>
                  <a:srgbClr val="000000"/>
                </a:solidFill>
              </a:rPr>
              <a:t>) - </a:t>
            </a:r>
            <a:r>
              <a:rPr lang="en-US" sz="1800" dirty="0" err="1">
                <a:solidFill>
                  <a:srgbClr val="000000"/>
                </a:solidFill>
              </a:rPr>
              <a:t>y_test.</a:t>
            </a:r>
            <a:r>
              <a:rPr lang="en-US" sz="1800" dirty="0" err="1">
                <a:solidFill>
                  <a:srgbClr val="6A5221"/>
                </a:solidFill>
              </a:rPr>
              <a:t>sum</a:t>
            </a:r>
            <a:r>
              <a:rPr lang="en-US" sz="1800" dirty="0">
                <a:solidFill>
                  <a:srgbClr val="000000"/>
                </a:solidFill>
              </a:rPr>
              <a:t>()]</a:t>
            </a:r>
          </a:p>
          <a:p>
            <a:pPr marL="0" indent="0" algn="just">
              <a:lnSpc>
                <a:spcPct val="100000"/>
              </a:lnSpc>
              <a:spcBef>
                <a:spcPts val="0"/>
              </a:spcBef>
              <a:spcAft>
                <a:spcPts val="600"/>
              </a:spcAft>
              <a:buNone/>
            </a:pPr>
            <a:r>
              <a:rPr lang="en-US" sz="1800" dirty="0" err="1">
                <a:solidFill>
                  <a:srgbClr val="000000"/>
                </a:solidFill>
              </a:rPr>
              <a:t>total_counts</a:t>
            </a:r>
            <a:r>
              <a:rPr lang="en-US" sz="1800" dirty="0">
                <a:solidFill>
                  <a:srgbClr val="000000"/>
                </a:solidFill>
              </a:rPr>
              <a:t> = [</a:t>
            </a:r>
            <a:r>
              <a:rPr lang="en-US" sz="1800" dirty="0" err="1">
                <a:solidFill>
                  <a:srgbClr val="6A5221"/>
                </a:solidFill>
              </a:rPr>
              <a:t>len</a:t>
            </a:r>
            <a:r>
              <a:rPr lang="en-US" sz="1800" dirty="0">
                <a:solidFill>
                  <a:srgbClr val="000000"/>
                </a:solidFill>
              </a:rPr>
              <a:t>(</a:t>
            </a:r>
            <a:r>
              <a:rPr lang="en-US" sz="1800" dirty="0" err="1">
                <a:solidFill>
                  <a:srgbClr val="000000"/>
                </a:solidFill>
              </a:rPr>
              <a:t>y_train</a:t>
            </a:r>
            <a:r>
              <a:rPr lang="en-US" sz="1800" dirty="0">
                <a:solidFill>
                  <a:srgbClr val="000000"/>
                </a:solidFill>
              </a:rPr>
              <a:t>), </a:t>
            </a:r>
            <a:r>
              <a:rPr lang="en-US" sz="1800" dirty="0" err="1">
                <a:solidFill>
                  <a:srgbClr val="6A5221"/>
                </a:solidFill>
              </a:rPr>
              <a:t>len</a:t>
            </a:r>
            <a:r>
              <a:rPr lang="en-US" sz="1800" dirty="0">
                <a:solidFill>
                  <a:srgbClr val="000000"/>
                </a:solidFill>
              </a:rPr>
              <a:t>(</a:t>
            </a:r>
            <a:r>
              <a:rPr lang="en-US" sz="1800" dirty="0" err="1">
                <a:solidFill>
                  <a:srgbClr val="000000"/>
                </a:solidFill>
              </a:rPr>
              <a:t>y_val</a:t>
            </a:r>
            <a:r>
              <a:rPr lang="en-US" sz="1800" dirty="0">
                <a:solidFill>
                  <a:srgbClr val="000000"/>
                </a:solidFill>
              </a:rPr>
              <a:t>), </a:t>
            </a:r>
            <a:r>
              <a:rPr lang="en-US" sz="1800" dirty="0" err="1">
                <a:solidFill>
                  <a:srgbClr val="6A5221"/>
                </a:solidFill>
              </a:rPr>
              <a:t>len</a:t>
            </a:r>
            <a:r>
              <a:rPr lang="en-US" sz="1800" dirty="0">
                <a:solidFill>
                  <a:srgbClr val="000000"/>
                </a:solidFill>
              </a:rPr>
              <a:t>(</a:t>
            </a:r>
            <a:r>
              <a:rPr lang="en-US" sz="1800" dirty="0" err="1">
                <a:solidFill>
                  <a:srgbClr val="000000"/>
                </a:solidFill>
              </a:rPr>
              <a:t>y_test</a:t>
            </a:r>
            <a:r>
              <a:rPr lang="en-US" sz="1800" dirty="0">
                <a:solidFill>
                  <a:srgbClr val="000000"/>
                </a:solidFill>
              </a:rPr>
              <a:t>)]</a:t>
            </a:r>
          </a:p>
          <a:p>
            <a:pPr marL="0" indent="0" algn="just">
              <a:lnSpc>
                <a:spcPct val="100000"/>
              </a:lnSpc>
              <a:spcBef>
                <a:spcPts val="0"/>
              </a:spcBef>
              <a:spcAft>
                <a:spcPts val="600"/>
              </a:spcAft>
              <a:buNone/>
            </a:pPr>
            <a:r>
              <a:rPr lang="en-US" sz="1800" dirty="0">
                <a:solidFill>
                  <a:srgbClr val="000000"/>
                </a:solidFill>
              </a:rPr>
              <a:t>percentages = [</a:t>
            </a:r>
            <a:r>
              <a:rPr lang="en-US" sz="1800" dirty="0">
                <a:solidFill>
                  <a:srgbClr val="116644"/>
                </a:solidFill>
              </a:rPr>
              <a:t>60</a:t>
            </a:r>
            <a:r>
              <a:rPr lang="en-US" sz="1800" dirty="0">
                <a:solidFill>
                  <a:srgbClr val="000000"/>
                </a:solidFill>
              </a:rPr>
              <a:t>, </a:t>
            </a:r>
            <a:r>
              <a:rPr lang="en-US" sz="1800" dirty="0">
                <a:solidFill>
                  <a:srgbClr val="116644"/>
                </a:solidFill>
              </a:rPr>
              <a:t>25</a:t>
            </a:r>
            <a:r>
              <a:rPr lang="en-US" sz="1800" dirty="0">
                <a:solidFill>
                  <a:srgbClr val="000000"/>
                </a:solidFill>
              </a:rPr>
              <a:t>, </a:t>
            </a:r>
            <a:r>
              <a:rPr lang="en-US" sz="1800" dirty="0">
                <a:solidFill>
                  <a:srgbClr val="116644"/>
                </a:solidFill>
              </a:rPr>
              <a:t>15</a:t>
            </a:r>
            <a:r>
              <a:rPr lang="en-US" sz="1800" dirty="0">
                <a:solidFill>
                  <a:srgbClr val="000000"/>
                </a:solidFill>
              </a:rPr>
              <a:t>]</a:t>
            </a:r>
          </a:p>
          <a:p>
            <a:pPr marL="0" indent="0" algn="just">
              <a:lnSpc>
                <a:spcPct val="100000"/>
              </a:lnSpc>
              <a:spcBef>
                <a:spcPts val="0"/>
              </a:spcBef>
              <a:spcAft>
                <a:spcPts val="600"/>
              </a:spcAft>
              <a:buNone/>
            </a:pPr>
            <a:r>
              <a:rPr lang="en-US" sz="1800" dirty="0" err="1">
                <a:solidFill>
                  <a:srgbClr val="000000"/>
                </a:solidFill>
              </a:rPr>
              <a:t>df_summary</a:t>
            </a:r>
            <a:r>
              <a:rPr lang="en-US" sz="1800" dirty="0">
                <a:solidFill>
                  <a:srgbClr val="000000"/>
                </a:solidFill>
              </a:rPr>
              <a:t> = </a:t>
            </a:r>
            <a:r>
              <a:rPr lang="en-US" sz="1800" dirty="0" err="1">
                <a:solidFill>
                  <a:srgbClr val="000000"/>
                </a:solidFill>
              </a:rPr>
              <a:t>pd.DataFrame</a:t>
            </a:r>
            <a:r>
              <a:rPr lang="en-US" sz="1800" dirty="0">
                <a:solidFill>
                  <a:srgbClr val="000000"/>
                </a:solidFill>
              </a:rPr>
              <a:t>({</a:t>
            </a:r>
          </a:p>
          <a:p>
            <a:pPr marL="0" indent="0" algn="just">
              <a:lnSpc>
                <a:spcPct val="100000"/>
              </a:lnSpc>
              <a:spcBef>
                <a:spcPts val="0"/>
              </a:spcBef>
              <a:spcAft>
                <a:spcPts val="600"/>
              </a:spcAft>
              <a:buNone/>
            </a:pPr>
            <a:r>
              <a:rPr lang="en-US" sz="1800" dirty="0">
                <a:solidFill>
                  <a:srgbClr val="A31515"/>
                </a:solidFill>
              </a:rPr>
              <a:t>"Partition"</a:t>
            </a:r>
            <a:r>
              <a:rPr lang="en-US" sz="1800" dirty="0">
                <a:solidFill>
                  <a:srgbClr val="000000"/>
                </a:solidFill>
              </a:rPr>
              <a:t>: partitions,</a:t>
            </a:r>
          </a:p>
          <a:p>
            <a:pPr marL="0" indent="0" algn="just">
              <a:lnSpc>
                <a:spcPct val="100000"/>
              </a:lnSpc>
              <a:spcBef>
                <a:spcPts val="0"/>
              </a:spcBef>
              <a:spcAft>
                <a:spcPts val="600"/>
              </a:spcAft>
              <a:buNone/>
            </a:pPr>
            <a:r>
              <a:rPr lang="en-US" sz="1800" dirty="0">
                <a:solidFill>
                  <a:srgbClr val="A31515"/>
                </a:solidFill>
              </a:rPr>
              <a:t>"Abusive"</a:t>
            </a:r>
            <a:r>
              <a:rPr lang="en-US" sz="1800" dirty="0">
                <a:solidFill>
                  <a:srgbClr val="000000"/>
                </a:solidFill>
              </a:rPr>
              <a:t>: [</a:t>
            </a:r>
            <a:r>
              <a:rPr lang="en-US" sz="1800" dirty="0">
                <a:solidFill>
                  <a:srgbClr val="0000FF"/>
                </a:solidFill>
              </a:rPr>
              <a:t>f</a:t>
            </a:r>
            <a:r>
              <a:rPr lang="en-US" sz="1800" dirty="0">
                <a:solidFill>
                  <a:srgbClr val="A31515"/>
                </a:solidFill>
              </a:rPr>
              <a:t>"</a:t>
            </a:r>
            <a:r>
              <a:rPr lang="en-US" sz="1800" dirty="0">
                <a:solidFill>
                  <a:srgbClr val="000000"/>
                </a:solidFill>
              </a:rPr>
              <a:t>{</a:t>
            </a:r>
            <a:r>
              <a:rPr lang="en-US" sz="1800" dirty="0" err="1">
                <a:solidFill>
                  <a:srgbClr val="000000"/>
                </a:solidFill>
              </a:rPr>
              <a:t>abusive_counts</a:t>
            </a:r>
            <a:r>
              <a:rPr lang="en-US" sz="1800" dirty="0">
                <a:solidFill>
                  <a:srgbClr val="000000"/>
                </a:solidFill>
              </a:rPr>
              <a:t>[</a:t>
            </a:r>
            <a:r>
              <a:rPr lang="en-US" sz="1800" dirty="0" err="1">
                <a:solidFill>
                  <a:srgbClr val="000000"/>
                </a:solidFill>
              </a:rPr>
              <a:t>i</a:t>
            </a:r>
            <a:r>
              <a:rPr lang="en-US" sz="1800" dirty="0">
                <a:solidFill>
                  <a:srgbClr val="000000"/>
                </a:solidFill>
              </a:rPr>
              <a:t>]}</a:t>
            </a:r>
            <a:r>
              <a:rPr lang="en-US" sz="1800" dirty="0">
                <a:solidFill>
                  <a:srgbClr val="A31515"/>
                </a:solidFill>
              </a:rPr>
              <a:t> (</a:t>
            </a:r>
            <a:r>
              <a:rPr lang="en-US" sz="1800" dirty="0">
                <a:solidFill>
                  <a:srgbClr val="000000"/>
                </a:solidFill>
              </a:rPr>
              <a:t>{</a:t>
            </a:r>
            <a:r>
              <a:rPr lang="en-US" sz="1800" dirty="0" err="1">
                <a:solidFill>
                  <a:srgbClr val="000000"/>
                </a:solidFill>
              </a:rPr>
              <a:t>abusive_counts</a:t>
            </a:r>
            <a:r>
              <a:rPr lang="en-US" sz="1800" dirty="0">
                <a:solidFill>
                  <a:srgbClr val="000000"/>
                </a:solidFill>
              </a:rPr>
              <a:t>[</a:t>
            </a:r>
            <a:r>
              <a:rPr lang="en-US" sz="1800" dirty="0" err="1">
                <a:solidFill>
                  <a:srgbClr val="000000"/>
                </a:solidFill>
              </a:rPr>
              <a:t>i</a:t>
            </a:r>
            <a:r>
              <a:rPr lang="en-US" sz="1800" dirty="0">
                <a:solidFill>
                  <a:srgbClr val="000000"/>
                </a:solidFill>
              </a:rPr>
              <a:t>] / </a:t>
            </a:r>
            <a:r>
              <a:rPr lang="en-US" sz="1800" dirty="0" err="1">
                <a:solidFill>
                  <a:srgbClr val="000000"/>
                </a:solidFill>
              </a:rPr>
              <a:t>total_counts</a:t>
            </a:r>
            <a:r>
              <a:rPr lang="en-US" sz="1800" dirty="0">
                <a:solidFill>
                  <a:srgbClr val="000000"/>
                </a:solidFill>
              </a:rPr>
              <a:t>[</a:t>
            </a:r>
            <a:r>
              <a:rPr lang="en-US" sz="1800" dirty="0" err="1">
                <a:solidFill>
                  <a:srgbClr val="000000"/>
                </a:solidFill>
              </a:rPr>
              <a:t>i</a:t>
            </a:r>
            <a:r>
              <a:rPr lang="en-US" sz="1800" dirty="0">
                <a:solidFill>
                  <a:srgbClr val="000000"/>
                </a:solidFill>
              </a:rPr>
              <a:t>] * </a:t>
            </a:r>
            <a:r>
              <a:rPr lang="en-US" sz="1800" dirty="0">
                <a:solidFill>
                  <a:srgbClr val="116644"/>
                </a:solidFill>
              </a:rPr>
              <a:t>100:.2f</a:t>
            </a:r>
            <a:r>
              <a:rPr lang="en-US" sz="1800" dirty="0">
                <a:solidFill>
                  <a:srgbClr val="000000"/>
                </a:solidFill>
              </a:rPr>
              <a:t>}</a:t>
            </a:r>
            <a:r>
              <a:rPr lang="en-US" sz="1800" dirty="0">
                <a:solidFill>
                  <a:srgbClr val="A31515"/>
                </a:solidFill>
              </a:rPr>
              <a:t>%)"</a:t>
            </a:r>
            <a:r>
              <a:rPr lang="en-US" sz="1800" dirty="0">
                <a:solidFill>
                  <a:srgbClr val="000000"/>
                </a:solidFill>
              </a:rPr>
              <a:t> </a:t>
            </a:r>
            <a:r>
              <a:rPr lang="en-US" sz="1800" dirty="0">
                <a:solidFill>
                  <a:srgbClr val="9723B4"/>
                </a:solidFill>
              </a:rPr>
              <a:t>for</a:t>
            </a:r>
            <a:r>
              <a:rPr lang="en-US" sz="1800" dirty="0">
                <a:solidFill>
                  <a:srgbClr val="000000"/>
                </a:solidFill>
              </a:rPr>
              <a:t> </a:t>
            </a:r>
            <a:r>
              <a:rPr lang="en-US" sz="1800" dirty="0" err="1">
                <a:solidFill>
                  <a:srgbClr val="000000"/>
                </a:solidFill>
              </a:rPr>
              <a:t>i</a:t>
            </a:r>
            <a:r>
              <a:rPr lang="en-US" sz="1800" dirty="0">
                <a:solidFill>
                  <a:srgbClr val="000000"/>
                </a:solidFill>
              </a:rPr>
              <a:t> </a:t>
            </a:r>
            <a:r>
              <a:rPr lang="en-US" sz="1800" dirty="0">
                <a:solidFill>
                  <a:srgbClr val="0000FF"/>
                </a:solidFill>
              </a:rPr>
              <a:t>in</a:t>
            </a:r>
            <a:r>
              <a:rPr lang="en-US" sz="1800" dirty="0">
                <a:solidFill>
                  <a:srgbClr val="000000"/>
                </a:solidFill>
              </a:rPr>
              <a:t> </a:t>
            </a:r>
            <a:r>
              <a:rPr lang="en-US" sz="1800" dirty="0">
                <a:solidFill>
                  <a:srgbClr val="6A5221"/>
                </a:solidFill>
              </a:rPr>
              <a:t>range</a:t>
            </a:r>
            <a:r>
              <a:rPr lang="en-US" sz="1800" dirty="0">
                <a:solidFill>
                  <a:srgbClr val="000000"/>
                </a:solidFill>
              </a:rPr>
              <a:t>(</a:t>
            </a:r>
            <a:r>
              <a:rPr lang="en-US" sz="1800" dirty="0">
                <a:solidFill>
                  <a:srgbClr val="116644"/>
                </a:solidFill>
              </a:rPr>
              <a:t>3</a:t>
            </a:r>
            <a:r>
              <a:rPr lang="en-US" sz="1800" dirty="0">
                <a:solidFill>
                  <a:srgbClr val="000000"/>
                </a:solidFill>
              </a:rPr>
              <a:t>)],</a:t>
            </a:r>
          </a:p>
          <a:p>
            <a:pPr marL="0" indent="0" algn="just">
              <a:lnSpc>
                <a:spcPct val="100000"/>
              </a:lnSpc>
              <a:spcBef>
                <a:spcPts val="0"/>
              </a:spcBef>
              <a:spcAft>
                <a:spcPts val="600"/>
              </a:spcAft>
              <a:buNone/>
            </a:pPr>
            <a:r>
              <a:rPr lang="en-US" sz="1800" dirty="0">
                <a:solidFill>
                  <a:srgbClr val="A31515"/>
                </a:solidFill>
              </a:rPr>
              <a:t>"Non-Abusive"</a:t>
            </a:r>
            <a:r>
              <a:rPr lang="en-US" sz="1800" dirty="0">
                <a:solidFill>
                  <a:srgbClr val="000000"/>
                </a:solidFill>
              </a:rPr>
              <a:t>: [</a:t>
            </a:r>
            <a:r>
              <a:rPr lang="en-US" sz="1800" dirty="0">
                <a:solidFill>
                  <a:srgbClr val="0000FF"/>
                </a:solidFill>
              </a:rPr>
              <a:t>f</a:t>
            </a:r>
            <a:r>
              <a:rPr lang="en-US" sz="1800" dirty="0">
                <a:solidFill>
                  <a:srgbClr val="A31515"/>
                </a:solidFill>
              </a:rPr>
              <a:t>"</a:t>
            </a:r>
            <a:r>
              <a:rPr lang="en-US" sz="1800" dirty="0">
                <a:solidFill>
                  <a:srgbClr val="000000"/>
                </a:solidFill>
              </a:rPr>
              <a:t>{</a:t>
            </a:r>
            <a:r>
              <a:rPr lang="en-US" sz="1800" dirty="0" err="1">
                <a:solidFill>
                  <a:srgbClr val="000000"/>
                </a:solidFill>
              </a:rPr>
              <a:t>non_abusive_counts</a:t>
            </a:r>
            <a:r>
              <a:rPr lang="en-US" sz="1800" dirty="0">
                <a:solidFill>
                  <a:srgbClr val="000000"/>
                </a:solidFill>
              </a:rPr>
              <a:t>[</a:t>
            </a:r>
            <a:r>
              <a:rPr lang="en-US" sz="1800" dirty="0" err="1">
                <a:solidFill>
                  <a:srgbClr val="000000"/>
                </a:solidFill>
              </a:rPr>
              <a:t>i</a:t>
            </a:r>
            <a:r>
              <a:rPr lang="en-US" sz="1800" dirty="0">
                <a:solidFill>
                  <a:srgbClr val="000000"/>
                </a:solidFill>
              </a:rPr>
              <a:t>]}</a:t>
            </a:r>
            <a:r>
              <a:rPr lang="en-US" sz="1800" dirty="0">
                <a:solidFill>
                  <a:srgbClr val="A31515"/>
                </a:solidFill>
              </a:rPr>
              <a:t> (</a:t>
            </a:r>
            <a:r>
              <a:rPr lang="en-US" sz="1800" dirty="0">
                <a:solidFill>
                  <a:srgbClr val="000000"/>
                </a:solidFill>
              </a:rPr>
              <a:t>{</a:t>
            </a:r>
            <a:r>
              <a:rPr lang="en-US" sz="1800" dirty="0" err="1">
                <a:solidFill>
                  <a:srgbClr val="000000"/>
                </a:solidFill>
              </a:rPr>
              <a:t>non_abusive_counts</a:t>
            </a:r>
            <a:r>
              <a:rPr lang="en-US" sz="1800" dirty="0">
                <a:solidFill>
                  <a:srgbClr val="000000"/>
                </a:solidFill>
              </a:rPr>
              <a:t>[</a:t>
            </a:r>
            <a:r>
              <a:rPr lang="en-US" sz="1800" dirty="0" err="1">
                <a:solidFill>
                  <a:srgbClr val="000000"/>
                </a:solidFill>
              </a:rPr>
              <a:t>i</a:t>
            </a:r>
            <a:r>
              <a:rPr lang="en-US" sz="1800" dirty="0">
                <a:solidFill>
                  <a:srgbClr val="000000"/>
                </a:solidFill>
              </a:rPr>
              <a:t>] / </a:t>
            </a:r>
            <a:r>
              <a:rPr lang="en-US" sz="1800" dirty="0" err="1">
                <a:solidFill>
                  <a:srgbClr val="000000"/>
                </a:solidFill>
              </a:rPr>
              <a:t>total_counts</a:t>
            </a:r>
            <a:r>
              <a:rPr lang="en-US" sz="1800" dirty="0">
                <a:solidFill>
                  <a:srgbClr val="000000"/>
                </a:solidFill>
              </a:rPr>
              <a:t>[</a:t>
            </a:r>
            <a:r>
              <a:rPr lang="en-US" sz="1800" dirty="0" err="1">
                <a:solidFill>
                  <a:srgbClr val="000000"/>
                </a:solidFill>
              </a:rPr>
              <a:t>i</a:t>
            </a:r>
            <a:r>
              <a:rPr lang="en-US" sz="1800" dirty="0">
                <a:solidFill>
                  <a:srgbClr val="000000"/>
                </a:solidFill>
              </a:rPr>
              <a:t>] * </a:t>
            </a:r>
            <a:r>
              <a:rPr lang="en-US" sz="1800" dirty="0">
                <a:solidFill>
                  <a:srgbClr val="116644"/>
                </a:solidFill>
              </a:rPr>
              <a:t>100:.2f</a:t>
            </a:r>
            <a:r>
              <a:rPr lang="en-US" sz="1800" dirty="0">
                <a:solidFill>
                  <a:srgbClr val="000000"/>
                </a:solidFill>
              </a:rPr>
              <a:t>}</a:t>
            </a:r>
            <a:r>
              <a:rPr lang="en-US" sz="1800" dirty="0">
                <a:solidFill>
                  <a:srgbClr val="A31515"/>
                </a:solidFill>
              </a:rPr>
              <a:t>%)"</a:t>
            </a:r>
            <a:r>
              <a:rPr lang="en-US" sz="1800" dirty="0">
                <a:solidFill>
                  <a:srgbClr val="000000"/>
                </a:solidFill>
              </a:rPr>
              <a:t> </a:t>
            </a:r>
            <a:r>
              <a:rPr lang="en-US" sz="1800" dirty="0">
                <a:solidFill>
                  <a:srgbClr val="9723B4"/>
                </a:solidFill>
              </a:rPr>
              <a:t>for</a:t>
            </a:r>
            <a:r>
              <a:rPr lang="en-US" sz="1800" dirty="0">
                <a:solidFill>
                  <a:srgbClr val="000000"/>
                </a:solidFill>
              </a:rPr>
              <a:t> </a:t>
            </a:r>
            <a:r>
              <a:rPr lang="en-US" sz="1800" dirty="0" err="1">
                <a:solidFill>
                  <a:srgbClr val="000000"/>
                </a:solidFill>
              </a:rPr>
              <a:t>i</a:t>
            </a:r>
            <a:r>
              <a:rPr lang="en-US" sz="1800" dirty="0">
                <a:solidFill>
                  <a:srgbClr val="000000"/>
                </a:solidFill>
              </a:rPr>
              <a:t> </a:t>
            </a:r>
            <a:r>
              <a:rPr lang="en-US" sz="1800" dirty="0">
                <a:solidFill>
                  <a:srgbClr val="0000FF"/>
                </a:solidFill>
              </a:rPr>
              <a:t>in</a:t>
            </a:r>
            <a:r>
              <a:rPr lang="en-US" sz="1800" dirty="0">
                <a:solidFill>
                  <a:srgbClr val="000000"/>
                </a:solidFill>
              </a:rPr>
              <a:t> </a:t>
            </a:r>
            <a:r>
              <a:rPr lang="en-US" sz="1800" dirty="0">
                <a:solidFill>
                  <a:srgbClr val="6A5221"/>
                </a:solidFill>
              </a:rPr>
              <a:t>range</a:t>
            </a:r>
            <a:r>
              <a:rPr lang="en-US" sz="1800" dirty="0">
                <a:solidFill>
                  <a:srgbClr val="000000"/>
                </a:solidFill>
              </a:rPr>
              <a:t>(</a:t>
            </a:r>
            <a:r>
              <a:rPr lang="en-US" sz="1800" dirty="0">
                <a:solidFill>
                  <a:srgbClr val="116644"/>
                </a:solidFill>
              </a:rPr>
              <a:t>3</a:t>
            </a:r>
            <a:r>
              <a:rPr lang="en-US" sz="1800" dirty="0">
                <a:solidFill>
                  <a:srgbClr val="000000"/>
                </a:solidFill>
              </a:rPr>
              <a:t>)],</a:t>
            </a:r>
          </a:p>
          <a:p>
            <a:pPr marL="0" indent="0" algn="just">
              <a:lnSpc>
                <a:spcPct val="100000"/>
              </a:lnSpc>
              <a:spcBef>
                <a:spcPts val="0"/>
              </a:spcBef>
              <a:spcAft>
                <a:spcPts val="600"/>
              </a:spcAft>
              <a:buNone/>
            </a:pPr>
            <a:r>
              <a:rPr lang="en-US" sz="1800" dirty="0">
                <a:solidFill>
                  <a:srgbClr val="A31515"/>
                </a:solidFill>
              </a:rPr>
              <a:t>"Total"</a:t>
            </a:r>
            <a:r>
              <a:rPr lang="en-US" sz="1800" dirty="0">
                <a:solidFill>
                  <a:srgbClr val="000000"/>
                </a:solidFill>
              </a:rPr>
              <a:t>: </a:t>
            </a:r>
            <a:r>
              <a:rPr lang="en-US" sz="1800" dirty="0" err="1">
                <a:solidFill>
                  <a:srgbClr val="000000"/>
                </a:solidFill>
              </a:rPr>
              <a:t>total_counts</a:t>
            </a:r>
            <a:r>
              <a:rPr lang="en-US" sz="1800" dirty="0">
                <a:solidFill>
                  <a:srgbClr val="000000"/>
                </a:solidFill>
              </a:rPr>
              <a:t>,</a:t>
            </a:r>
          </a:p>
          <a:p>
            <a:pPr marL="0" indent="0" algn="just">
              <a:lnSpc>
                <a:spcPct val="100000"/>
              </a:lnSpc>
              <a:spcBef>
                <a:spcPts val="0"/>
              </a:spcBef>
              <a:spcAft>
                <a:spcPts val="600"/>
              </a:spcAft>
              <a:buNone/>
            </a:pPr>
            <a:r>
              <a:rPr lang="en-US" sz="1800" dirty="0">
                <a:solidFill>
                  <a:srgbClr val="A31515"/>
                </a:solidFill>
              </a:rPr>
              <a:t>"Percentage"</a:t>
            </a:r>
            <a:r>
              <a:rPr lang="en-US" sz="1800" dirty="0">
                <a:solidFill>
                  <a:srgbClr val="000000"/>
                </a:solidFill>
              </a:rPr>
              <a:t>: percentages</a:t>
            </a:r>
          </a:p>
          <a:p>
            <a:pPr marL="0" indent="0" algn="just">
              <a:lnSpc>
                <a:spcPct val="100000"/>
              </a:lnSpc>
              <a:spcBef>
                <a:spcPts val="0"/>
              </a:spcBef>
              <a:spcAft>
                <a:spcPts val="600"/>
              </a:spcAft>
              <a:buNone/>
            </a:pPr>
            <a:endParaRPr lang="en-US" sz="1800" dirty="0">
              <a:solidFill>
                <a:srgbClr val="000000"/>
              </a:solidFill>
            </a:endParaRPr>
          </a:p>
          <a:p>
            <a:pPr marL="0" indent="0" algn="just">
              <a:lnSpc>
                <a:spcPct val="100000"/>
              </a:lnSpc>
              <a:spcBef>
                <a:spcPts val="0"/>
              </a:spcBef>
              <a:spcAft>
                <a:spcPts val="600"/>
              </a:spcAft>
              <a:buNone/>
            </a:pPr>
            <a:br>
              <a:rPr lang="en-US" sz="1800" dirty="0">
                <a:solidFill>
                  <a:srgbClr val="000000"/>
                </a:solidFill>
              </a:rPr>
            </a:br>
            <a:endParaRPr lang="en-US" sz="1800" dirty="0">
              <a:solidFill>
                <a:srgbClr val="000000"/>
              </a:solidFill>
            </a:endParaRPr>
          </a:p>
        </p:txBody>
      </p:sp>
      <p:sp>
        <p:nvSpPr>
          <p:cNvPr id="5" name="Slide Number Placeholder 4">
            <a:extLst>
              <a:ext uri="{FF2B5EF4-FFF2-40B4-BE49-F238E27FC236}">
                <a16:creationId xmlns:a16="http://schemas.microsoft.com/office/drawing/2014/main" id="{43E2E656-1646-DA1B-04D0-145F9F04ABC1}"/>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70</a:t>
            </a:fld>
            <a:endParaRPr lang="en-US" dirty="0">
              <a:solidFill>
                <a:srgbClr val="000000"/>
              </a:solidFill>
            </a:endParaRPr>
          </a:p>
        </p:txBody>
      </p:sp>
    </p:spTree>
    <p:extLst>
      <p:ext uri="{BB962C8B-B14F-4D97-AF65-F5344CB8AC3E}">
        <p14:creationId xmlns:p14="http://schemas.microsoft.com/office/powerpoint/2010/main" val="59406208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B52561-7959-1DDE-0D96-297FE213595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EF40C0A-EF2D-980D-9241-75C1468E747D}"/>
              </a:ext>
            </a:extLst>
          </p:cNvPr>
          <p:cNvSpPr>
            <a:spLocks noGrp="1"/>
          </p:cNvSpPr>
          <p:nvPr>
            <p:ph idx="4294967295"/>
          </p:nvPr>
        </p:nvSpPr>
        <p:spPr>
          <a:xfrm>
            <a:off x="0" y="608013"/>
            <a:ext cx="7408863" cy="4826000"/>
          </a:xfrm>
        </p:spPr>
        <p:txBody>
          <a:bodyPr>
            <a:noAutofit/>
          </a:bodyPr>
          <a:lstStyle/>
          <a:p>
            <a:pPr marL="0" indent="0">
              <a:lnSpc>
                <a:spcPct val="100000"/>
              </a:lnSpc>
              <a:spcBef>
                <a:spcPts val="0"/>
              </a:spcBef>
              <a:spcAft>
                <a:spcPts val="600"/>
              </a:spcAft>
              <a:buNone/>
            </a:pPr>
            <a:r>
              <a:rPr lang="en-US" sz="1800" dirty="0">
                <a:solidFill>
                  <a:srgbClr val="000000"/>
                </a:solidFill>
              </a:rPr>
              <a:t>})</a:t>
            </a:r>
          </a:p>
          <a:p>
            <a:pPr marL="0" indent="0">
              <a:lnSpc>
                <a:spcPct val="100000"/>
              </a:lnSpc>
              <a:spcBef>
                <a:spcPts val="0"/>
              </a:spcBef>
              <a:spcAft>
                <a:spcPts val="600"/>
              </a:spcAft>
              <a:buNone/>
            </a:pPr>
            <a:r>
              <a:rPr lang="en-US" sz="1800" dirty="0">
                <a:solidFill>
                  <a:srgbClr val="008000"/>
                </a:solidFill>
              </a:rPr>
              <a:t># Adding Total Row</a:t>
            </a:r>
            <a:endParaRPr lang="en-US" sz="1800" dirty="0">
              <a:solidFill>
                <a:srgbClr val="000000"/>
              </a:solidFill>
            </a:endParaRPr>
          </a:p>
          <a:p>
            <a:pPr marL="0" indent="0">
              <a:lnSpc>
                <a:spcPct val="100000"/>
              </a:lnSpc>
              <a:spcBef>
                <a:spcPts val="0"/>
              </a:spcBef>
              <a:spcAft>
                <a:spcPts val="600"/>
              </a:spcAft>
              <a:buNone/>
            </a:pPr>
            <a:r>
              <a:rPr lang="en-US" sz="1800" dirty="0" err="1">
                <a:solidFill>
                  <a:srgbClr val="000000"/>
                </a:solidFill>
              </a:rPr>
              <a:t>total_abusive</a:t>
            </a:r>
            <a:r>
              <a:rPr lang="en-US" sz="1800" dirty="0">
                <a:solidFill>
                  <a:srgbClr val="000000"/>
                </a:solidFill>
              </a:rPr>
              <a:t> = </a:t>
            </a:r>
            <a:r>
              <a:rPr lang="en-US" sz="1800" dirty="0">
                <a:solidFill>
                  <a:srgbClr val="6A5221"/>
                </a:solidFill>
              </a:rPr>
              <a:t>sum</a:t>
            </a:r>
            <a:r>
              <a:rPr lang="en-US" sz="1800" dirty="0">
                <a:solidFill>
                  <a:srgbClr val="000000"/>
                </a:solidFill>
              </a:rPr>
              <a:t>(</a:t>
            </a:r>
            <a:r>
              <a:rPr lang="en-US" sz="1800" dirty="0" err="1">
                <a:solidFill>
                  <a:srgbClr val="000000"/>
                </a:solidFill>
              </a:rPr>
              <a:t>abusive_counts</a:t>
            </a:r>
            <a:r>
              <a:rPr lang="en-US" sz="1800" dirty="0">
                <a:solidFill>
                  <a:srgbClr val="000000"/>
                </a:solidFill>
              </a:rPr>
              <a:t>)</a:t>
            </a:r>
          </a:p>
          <a:p>
            <a:pPr marL="0" indent="0">
              <a:lnSpc>
                <a:spcPct val="100000"/>
              </a:lnSpc>
              <a:spcBef>
                <a:spcPts val="0"/>
              </a:spcBef>
              <a:spcAft>
                <a:spcPts val="600"/>
              </a:spcAft>
              <a:buNone/>
            </a:pPr>
            <a:r>
              <a:rPr lang="en-US" sz="1800" dirty="0" err="1">
                <a:solidFill>
                  <a:srgbClr val="000000"/>
                </a:solidFill>
              </a:rPr>
              <a:t>total_non_abusive</a:t>
            </a:r>
            <a:r>
              <a:rPr lang="en-US" sz="1800" dirty="0">
                <a:solidFill>
                  <a:srgbClr val="000000"/>
                </a:solidFill>
              </a:rPr>
              <a:t> = </a:t>
            </a:r>
            <a:r>
              <a:rPr lang="en-US" sz="1800" dirty="0">
                <a:solidFill>
                  <a:srgbClr val="6A5221"/>
                </a:solidFill>
              </a:rPr>
              <a:t>sum</a:t>
            </a:r>
            <a:r>
              <a:rPr lang="en-US" sz="1800" dirty="0">
                <a:solidFill>
                  <a:srgbClr val="000000"/>
                </a:solidFill>
              </a:rPr>
              <a:t>(</a:t>
            </a:r>
            <a:r>
              <a:rPr lang="en-US" sz="1800" dirty="0" err="1">
                <a:solidFill>
                  <a:srgbClr val="000000"/>
                </a:solidFill>
              </a:rPr>
              <a:t>non_abusive_counts</a:t>
            </a:r>
            <a:r>
              <a:rPr lang="en-US" sz="1800" dirty="0">
                <a:solidFill>
                  <a:srgbClr val="000000"/>
                </a:solidFill>
              </a:rPr>
              <a:t>)</a:t>
            </a:r>
          </a:p>
          <a:p>
            <a:pPr marL="0" indent="0">
              <a:lnSpc>
                <a:spcPct val="100000"/>
              </a:lnSpc>
              <a:spcBef>
                <a:spcPts val="0"/>
              </a:spcBef>
              <a:spcAft>
                <a:spcPts val="600"/>
              </a:spcAft>
              <a:buNone/>
            </a:pPr>
            <a:r>
              <a:rPr lang="en-US" sz="1800" dirty="0" err="1">
                <a:solidFill>
                  <a:srgbClr val="000000"/>
                </a:solidFill>
              </a:rPr>
              <a:t>total_total</a:t>
            </a:r>
            <a:r>
              <a:rPr lang="en-US" sz="1800" dirty="0">
                <a:solidFill>
                  <a:srgbClr val="000000"/>
                </a:solidFill>
              </a:rPr>
              <a:t> = </a:t>
            </a:r>
            <a:r>
              <a:rPr lang="en-US" sz="1800" dirty="0">
                <a:solidFill>
                  <a:srgbClr val="6A5221"/>
                </a:solidFill>
              </a:rPr>
              <a:t>sum</a:t>
            </a:r>
            <a:r>
              <a:rPr lang="en-US" sz="1800" dirty="0">
                <a:solidFill>
                  <a:srgbClr val="000000"/>
                </a:solidFill>
              </a:rPr>
              <a:t>(</a:t>
            </a:r>
            <a:r>
              <a:rPr lang="en-US" sz="1800" dirty="0" err="1">
                <a:solidFill>
                  <a:srgbClr val="000000"/>
                </a:solidFill>
              </a:rPr>
              <a:t>total_counts</a:t>
            </a:r>
            <a:r>
              <a:rPr lang="en-US" sz="1800" dirty="0">
                <a:solidFill>
                  <a:srgbClr val="000000"/>
                </a:solidFill>
              </a:rPr>
              <a:t>)</a:t>
            </a:r>
          </a:p>
          <a:p>
            <a:pPr marL="0" indent="0">
              <a:lnSpc>
                <a:spcPct val="100000"/>
              </a:lnSpc>
              <a:spcBef>
                <a:spcPts val="0"/>
              </a:spcBef>
              <a:spcAft>
                <a:spcPts val="600"/>
              </a:spcAft>
              <a:buNone/>
            </a:pPr>
            <a:r>
              <a:rPr lang="en-US" sz="1800" dirty="0" err="1">
                <a:solidFill>
                  <a:srgbClr val="000000"/>
                </a:solidFill>
              </a:rPr>
              <a:t>df_summary.loc</a:t>
            </a:r>
            <a:r>
              <a:rPr lang="en-US" sz="1800" dirty="0">
                <a:solidFill>
                  <a:srgbClr val="000000"/>
                </a:solidFill>
              </a:rPr>
              <a:t>[</a:t>
            </a:r>
            <a:r>
              <a:rPr lang="en-US" sz="1800" dirty="0">
                <a:solidFill>
                  <a:srgbClr val="116644"/>
                </a:solidFill>
              </a:rPr>
              <a:t>3</a:t>
            </a:r>
            <a:r>
              <a:rPr lang="en-US" sz="1800" dirty="0">
                <a:solidFill>
                  <a:srgbClr val="000000"/>
                </a:solidFill>
              </a:rPr>
              <a:t>] = [</a:t>
            </a:r>
            <a:r>
              <a:rPr lang="en-US" sz="1800" dirty="0">
                <a:solidFill>
                  <a:srgbClr val="A31515"/>
                </a:solidFill>
              </a:rPr>
              <a:t>"Totals"</a:t>
            </a:r>
            <a:r>
              <a:rPr lang="en-US" sz="1800" dirty="0">
                <a:solidFill>
                  <a:srgbClr val="000000"/>
                </a:solidFill>
              </a:rPr>
              <a:t>, </a:t>
            </a:r>
            <a:r>
              <a:rPr lang="en-US" sz="1800" dirty="0">
                <a:solidFill>
                  <a:srgbClr val="0000FF"/>
                </a:solidFill>
              </a:rPr>
              <a:t>f</a:t>
            </a:r>
            <a:r>
              <a:rPr lang="en-US" sz="1800" dirty="0">
                <a:solidFill>
                  <a:srgbClr val="A31515"/>
                </a:solidFill>
              </a:rPr>
              <a:t>"</a:t>
            </a:r>
            <a:r>
              <a:rPr lang="en-US" sz="1800" dirty="0">
                <a:solidFill>
                  <a:srgbClr val="000000"/>
                </a:solidFill>
              </a:rPr>
              <a:t>{</a:t>
            </a:r>
            <a:r>
              <a:rPr lang="en-US" sz="1800" dirty="0" err="1">
                <a:solidFill>
                  <a:srgbClr val="000000"/>
                </a:solidFill>
              </a:rPr>
              <a:t>total_abusive</a:t>
            </a:r>
            <a:r>
              <a:rPr lang="en-US" sz="1800" dirty="0">
                <a:solidFill>
                  <a:srgbClr val="000000"/>
                </a:solidFill>
              </a:rPr>
              <a:t>}</a:t>
            </a:r>
            <a:r>
              <a:rPr lang="en-US" sz="1800" dirty="0">
                <a:solidFill>
                  <a:srgbClr val="A31515"/>
                </a:solidFill>
              </a:rPr>
              <a:t> (</a:t>
            </a:r>
            <a:r>
              <a:rPr lang="en-US" sz="1800" dirty="0">
                <a:solidFill>
                  <a:srgbClr val="000000"/>
                </a:solidFill>
              </a:rPr>
              <a:t>{</a:t>
            </a:r>
            <a:r>
              <a:rPr lang="en-US" sz="1800" dirty="0" err="1">
                <a:solidFill>
                  <a:srgbClr val="000000"/>
                </a:solidFill>
              </a:rPr>
              <a:t>total_abusive</a:t>
            </a:r>
            <a:r>
              <a:rPr lang="en-US" sz="1800" dirty="0">
                <a:solidFill>
                  <a:srgbClr val="000000"/>
                </a:solidFill>
              </a:rPr>
              <a:t> / </a:t>
            </a:r>
            <a:r>
              <a:rPr lang="en-US" sz="1800" dirty="0" err="1">
                <a:solidFill>
                  <a:srgbClr val="000000"/>
                </a:solidFill>
              </a:rPr>
              <a:t>total_total</a:t>
            </a:r>
            <a:r>
              <a:rPr lang="en-US" sz="1800" dirty="0">
                <a:solidFill>
                  <a:srgbClr val="000000"/>
                </a:solidFill>
              </a:rPr>
              <a:t> * </a:t>
            </a:r>
            <a:r>
              <a:rPr lang="en-US" sz="1800" dirty="0">
                <a:solidFill>
                  <a:srgbClr val="116644"/>
                </a:solidFill>
              </a:rPr>
              <a:t>100:.1f</a:t>
            </a:r>
            <a:r>
              <a:rPr lang="en-US" sz="1800" dirty="0">
                <a:solidFill>
                  <a:srgbClr val="000000"/>
                </a:solidFill>
              </a:rPr>
              <a:t>}</a:t>
            </a:r>
            <a:r>
              <a:rPr lang="en-US" sz="1800" dirty="0">
                <a:solidFill>
                  <a:srgbClr val="A31515"/>
                </a:solidFill>
              </a:rPr>
              <a:t>%)"</a:t>
            </a:r>
            <a:r>
              <a:rPr lang="en-US" sz="1800" dirty="0">
                <a:solidFill>
                  <a:srgbClr val="000000"/>
                </a:solidFill>
              </a:rPr>
              <a:t>,</a:t>
            </a:r>
          </a:p>
          <a:p>
            <a:pPr marL="0" indent="0">
              <a:lnSpc>
                <a:spcPct val="100000"/>
              </a:lnSpc>
              <a:spcBef>
                <a:spcPts val="0"/>
              </a:spcBef>
              <a:spcAft>
                <a:spcPts val="600"/>
              </a:spcAft>
              <a:buNone/>
            </a:pPr>
            <a:r>
              <a:rPr lang="en-US" sz="1800" dirty="0">
                <a:solidFill>
                  <a:srgbClr val="0000FF"/>
                </a:solidFill>
              </a:rPr>
              <a:t>f</a:t>
            </a:r>
            <a:r>
              <a:rPr lang="en-US" sz="1800" dirty="0">
                <a:solidFill>
                  <a:srgbClr val="A31515"/>
                </a:solidFill>
              </a:rPr>
              <a:t>"</a:t>
            </a:r>
            <a:r>
              <a:rPr lang="en-US" sz="1800" dirty="0">
                <a:solidFill>
                  <a:srgbClr val="000000"/>
                </a:solidFill>
              </a:rPr>
              <a:t>{</a:t>
            </a:r>
            <a:r>
              <a:rPr lang="en-US" sz="1800" dirty="0" err="1">
                <a:solidFill>
                  <a:srgbClr val="000000"/>
                </a:solidFill>
              </a:rPr>
              <a:t>total_non_abusive</a:t>
            </a:r>
            <a:r>
              <a:rPr lang="en-US" sz="1800" dirty="0">
                <a:solidFill>
                  <a:srgbClr val="000000"/>
                </a:solidFill>
              </a:rPr>
              <a:t>}</a:t>
            </a:r>
            <a:r>
              <a:rPr lang="en-US" sz="1800" dirty="0">
                <a:solidFill>
                  <a:srgbClr val="A31515"/>
                </a:solidFill>
              </a:rPr>
              <a:t> (</a:t>
            </a:r>
            <a:r>
              <a:rPr lang="en-US" sz="1800" dirty="0">
                <a:solidFill>
                  <a:srgbClr val="000000"/>
                </a:solidFill>
              </a:rPr>
              <a:t>{</a:t>
            </a:r>
            <a:r>
              <a:rPr lang="en-US" sz="1800" dirty="0" err="1">
                <a:solidFill>
                  <a:srgbClr val="000000"/>
                </a:solidFill>
              </a:rPr>
              <a:t>total_non_abusive</a:t>
            </a:r>
            <a:r>
              <a:rPr lang="en-US" sz="1800" dirty="0">
                <a:solidFill>
                  <a:srgbClr val="000000"/>
                </a:solidFill>
              </a:rPr>
              <a:t> / </a:t>
            </a:r>
            <a:r>
              <a:rPr lang="en-US" sz="1800" dirty="0" err="1">
                <a:solidFill>
                  <a:srgbClr val="000000"/>
                </a:solidFill>
              </a:rPr>
              <a:t>total_total</a:t>
            </a:r>
            <a:r>
              <a:rPr lang="en-US" sz="1800" dirty="0">
                <a:solidFill>
                  <a:srgbClr val="000000"/>
                </a:solidFill>
              </a:rPr>
              <a:t> * </a:t>
            </a:r>
            <a:r>
              <a:rPr lang="en-US" sz="1800" dirty="0">
                <a:solidFill>
                  <a:srgbClr val="116644"/>
                </a:solidFill>
              </a:rPr>
              <a:t>100:.1f</a:t>
            </a:r>
            <a:r>
              <a:rPr lang="en-US" sz="1800" dirty="0">
                <a:solidFill>
                  <a:srgbClr val="000000"/>
                </a:solidFill>
              </a:rPr>
              <a:t>}</a:t>
            </a:r>
            <a:r>
              <a:rPr lang="en-US" sz="1800" dirty="0">
                <a:solidFill>
                  <a:srgbClr val="A31515"/>
                </a:solidFill>
              </a:rPr>
              <a:t>%)"</a:t>
            </a:r>
            <a:r>
              <a:rPr lang="en-US" sz="1800" dirty="0">
                <a:solidFill>
                  <a:srgbClr val="000000"/>
                </a:solidFill>
              </a:rPr>
              <a:t>, </a:t>
            </a:r>
            <a:r>
              <a:rPr lang="en-US" sz="1800" dirty="0" err="1">
                <a:solidFill>
                  <a:srgbClr val="000000"/>
                </a:solidFill>
              </a:rPr>
              <a:t>total_total</a:t>
            </a:r>
            <a:r>
              <a:rPr lang="en-US" sz="1800" dirty="0">
                <a:solidFill>
                  <a:srgbClr val="000000"/>
                </a:solidFill>
              </a:rPr>
              <a:t>, </a:t>
            </a:r>
            <a:r>
              <a:rPr lang="en-US" sz="1800" dirty="0">
                <a:solidFill>
                  <a:srgbClr val="116644"/>
                </a:solidFill>
              </a:rPr>
              <a:t>100.00</a:t>
            </a:r>
            <a:r>
              <a:rPr lang="en-US" sz="1800" dirty="0">
                <a:solidFill>
                  <a:srgbClr val="000000"/>
                </a:solidFill>
              </a:rPr>
              <a:t>]</a:t>
            </a:r>
          </a:p>
          <a:p>
            <a:pPr marL="0" indent="0">
              <a:lnSpc>
                <a:spcPct val="100000"/>
              </a:lnSpc>
              <a:spcBef>
                <a:spcPts val="0"/>
              </a:spcBef>
              <a:spcAft>
                <a:spcPts val="600"/>
              </a:spcAft>
              <a:buNone/>
            </a:pPr>
            <a:r>
              <a:rPr lang="en-US" sz="1800" dirty="0">
                <a:solidFill>
                  <a:srgbClr val="9723B4"/>
                </a:solidFill>
              </a:rPr>
              <a:t>return</a:t>
            </a:r>
            <a:r>
              <a:rPr lang="en-US" sz="1800" dirty="0">
                <a:solidFill>
                  <a:srgbClr val="000000"/>
                </a:solidFill>
              </a:rPr>
              <a:t> </a:t>
            </a:r>
            <a:r>
              <a:rPr lang="en-US" sz="1800" dirty="0" err="1">
                <a:solidFill>
                  <a:srgbClr val="000000"/>
                </a:solidFill>
              </a:rPr>
              <a:t>df_summary</a:t>
            </a:r>
            <a:endParaRPr lang="en-US" sz="1800" dirty="0">
              <a:solidFill>
                <a:srgbClr val="000000"/>
              </a:solidFill>
            </a:endParaRPr>
          </a:p>
          <a:p>
            <a:pPr marL="0" indent="0">
              <a:lnSpc>
                <a:spcPct val="100000"/>
              </a:lnSpc>
              <a:spcBef>
                <a:spcPts val="0"/>
              </a:spcBef>
              <a:spcAft>
                <a:spcPts val="600"/>
              </a:spcAft>
              <a:buNone/>
            </a:pPr>
            <a:endParaRPr lang="en-US" sz="1800" dirty="0">
              <a:solidFill>
                <a:srgbClr val="000000"/>
              </a:solidFill>
            </a:endParaRPr>
          </a:p>
          <a:p>
            <a:pPr marL="0" indent="0">
              <a:lnSpc>
                <a:spcPct val="100000"/>
              </a:lnSpc>
              <a:spcBef>
                <a:spcPts val="0"/>
              </a:spcBef>
              <a:spcAft>
                <a:spcPts val="600"/>
              </a:spcAft>
              <a:buNone/>
            </a:pPr>
            <a:r>
              <a:rPr lang="en-US" sz="1800" dirty="0">
                <a:solidFill>
                  <a:srgbClr val="008000"/>
                </a:solidFill>
              </a:rPr>
              <a:t># Generate Summary Table</a:t>
            </a:r>
            <a:endParaRPr lang="en-US" sz="1800" dirty="0">
              <a:solidFill>
                <a:srgbClr val="000000"/>
              </a:solidFill>
            </a:endParaRPr>
          </a:p>
          <a:p>
            <a:pPr marL="0" indent="0">
              <a:lnSpc>
                <a:spcPct val="100000"/>
              </a:lnSpc>
              <a:spcBef>
                <a:spcPts val="0"/>
              </a:spcBef>
              <a:spcAft>
                <a:spcPts val="600"/>
              </a:spcAft>
              <a:buNone/>
            </a:pPr>
            <a:r>
              <a:rPr lang="en-US" sz="1800" dirty="0" err="1">
                <a:solidFill>
                  <a:srgbClr val="000000"/>
                </a:solidFill>
              </a:rPr>
              <a:t>df_summary</a:t>
            </a:r>
            <a:r>
              <a:rPr lang="en-US" sz="1800" dirty="0">
                <a:solidFill>
                  <a:srgbClr val="000000"/>
                </a:solidFill>
              </a:rPr>
              <a:t> = </a:t>
            </a:r>
            <a:r>
              <a:rPr lang="en-US" sz="1800" dirty="0" err="1">
                <a:solidFill>
                  <a:srgbClr val="000000"/>
                </a:solidFill>
              </a:rPr>
              <a:t>create_summary_table</a:t>
            </a:r>
            <a:r>
              <a:rPr lang="en-US" sz="1800" dirty="0">
                <a:solidFill>
                  <a:srgbClr val="000000"/>
                </a:solidFill>
              </a:rPr>
              <a:t>()</a:t>
            </a:r>
          </a:p>
          <a:p>
            <a:pPr marL="0" indent="0">
              <a:lnSpc>
                <a:spcPct val="100000"/>
              </a:lnSpc>
              <a:spcBef>
                <a:spcPts val="0"/>
              </a:spcBef>
              <a:spcAft>
                <a:spcPts val="600"/>
              </a:spcAft>
              <a:buNone/>
            </a:pPr>
            <a:endParaRPr lang="en-US" sz="1800" dirty="0">
              <a:solidFill>
                <a:srgbClr val="000000"/>
              </a:solidFill>
            </a:endParaRPr>
          </a:p>
          <a:p>
            <a:pPr marL="0" indent="0">
              <a:lnSpc>
                <a:spcPct val="100000"/>
              </a:lnSpc>
              <a:spcBef>
                <a:spcPts val="0"/>
              </a:spcBef>
              <a:spcAft>
                <a:spcPts val="600"/>
              </a:spcAft>
              <a:buNone/>
            </a:pPr>
            <a:endParaRPr lang="en-US" sz="1800" dirty="0">
              <a:solidFill>
                <a:srgbClr val="000000"/>
              </a:solidFill>
            </a:endParaRPr>
          </a:p>
        </p:txBody>
      </p:sp>
      <p:sp>
        <p:nvSpPr>
          <p:cNvPr id="5" name="Slide Number Placeholder 4">
            <a:extLst>
              <a:ext uri="{FF2B5EF4-FFF2-40B4-BE49-F238E27FC236}">
                <a16:creationId xmlns:a16="http://schemas.microsoft.com/office/drawing/2014/main" id="{886468F5-0DA3-0A98-E0FC-E2B6B23451E3}"/>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71</a:t>
            </a:fld>
            <a:endParaRPr lang="en-US" dirty="0">
              <a:solidFill>
                <a:srgbClr val="000000"/>
              </a:solidFill>
            </a:endParaRPr>
          </a:p>
        </p:txBody>
      </p:sp>
    </p:spTree>
    <p:extLst>
      <p:ext uri="{BB962C8B-B14F-4D97-AF65-F5344CB8AC3E}">
        <p14:creationId xmlns:p14="http://schemas.microsoft.com/office/powerpoint/2010/main" val="292565680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4E1519-01D4-9545-FB24-B02074BCD0B5}"/>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089E675F-A370-E2AC-F9BF-E7D12C7423A3}"/>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72</a:t>
            </a:fld>
            <a:endParaRPr lang="en-US" dirty="0">
              <a:solidFill>
                <a:srgbClr val="000000"/>
              </a:solidFill>
            </a:endParaRPr>
          </a:p>
        </p:txBody>
      </p:sp>
      <p:sp>
        <p:nvSpPr>
          <p:cNvPr id="10" name="Content Placeholder 2">
            <a:extLst>
              <a:ext uri="{FF2B5EF4-FFF2-40B4-BE49-F238E27FC236}">
                <a16:creationId xmlns:a16="http://schemas.microsoft.com/office/drawing/2014/main" id="{66B705E0-F84E-C531-3EB1-6037F87408BB}"/>
              </a:ext>
            </a:extLst>
          </p:cNvPr>
          <p:cNvSpPr txBox="1">
            <a:spLocks/>
          </p:cNvSpPr>
          <p:nvPr/>
        </p:nvSpPr>
        <p:spPr>
          <a:xfrm>
            <a:off x="841249" y="587596"/>
            <a:ext cx="7395972" cy="48260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600"/>
              </a:spcAft>
              <a:buNone/>
            </a:pPr>
            <a:r>
              <a:rPr lang="en-US" sz="1800" dirty="0">
                <a:solidFill>
                  <a:srgbClr val="008000"/>
                </a:solidFill>
              </a:rPr>
              <a:t># Plot Table</a:t>
            </a:r>
            <a:endParaRPr lang="en-US" sz="1800" dirty="0">
              <a:solidFill>
                <a:srgbClr val="000000"/>
              </a:solidFill>
            </a:endParaRPr>
          </a:p>
          <a:p>
            <a:pPr marL="0" indent="0">
              <a:lnSpc>
                <a:spcPct val="100000"/>
              </a:lnSpc>
              <a:spcBef>
                <a:spcPts val="0"/>
              </a:spcBef>
              <a:spcAft>
                <a:spcPts val="600"/>
              </a:spcAft>
              <a:buNone/>
            </a:pPr>
            <a:r>
              <a:rPr lang="en-US" sz="1800" dirty="0">
                <a:solidFill>
                  <a:srgbClr val="000000"/>
                </a:solidFill>
              </a:rPr>
              <a:t>fig, ax = </a:t>
            </a:r>
            <a:r>
              <a:rPr lang="en-US" sz="1800" dirty="0" err="1">
                <a:solidFill>
                  <a:srgbClr val="000000"/>
                </a:solidFill>
              </a:rPr>
              <a:t>plt.subplots</a:t>
            </a:r>
            <a:r>
              <a:rPr lang="en-US" sz="1800" dirty="0">
                <a:solidFill>
                  <a:srgbClr val="000000"/>
                </a:solidFill>
              </a:rPr>
              <a:t>(</a:t>
            </a:r>
            <a:r>
              <a:rPr lang="en-US" sz="1800" dirty="0" err="1">
                <a:solidFill>
                  <a:srgbClr val="000000"/>
                </a:solidFill>
              </a:rPr>
              <a:t>figsize</a:t>
            </a:r>
            <a:r>
              <a:rPr lang="en-US" sz="1800" dirty="0">
                <a:solidFill>
                  <a:srgbClr val="000000"/>
                </a:solidFill>
              </a:rPr>
              <a:t>=(</a:t>
            </a:r>
            <a:r>
              <a:rPr lang="en-US" sz="1800" dirty="0">
                <a:solidFill>
                  <a:srgbClr val="116644"/>
                </a:solidFill>
              </a:rPr>
              <a:t>8</a:t>
            </a:r>
            <a:r>
              <a:rPr lang="en-US" sz="1800" dirty="0">
                <a:solidFill>
                  <a:srgbClr val="000000"/>
                </a:solidFill>
              </a:rPr>
              <a:t>, </a:t>
            </a:r>
            <a:r>
              <a:rPr lang="en-US" sz="1800" dirty="0">
                <a:solidFill>
                  <a:srgbClr val="116644"/>
                </a:solidFill>
              </a:rPr>
              <a:t>2</a:t>
            </a:r>
            <a:r>
              <a:rPr lang="en-US" sz="1800" dirty="0">
                <a:solidFill>
                  <a:srgbClr val="000000"/>
                </a:solidFill>
              </a:rPr>
              <a:t>))</a:t>
            </a:r>
          </a:p>
          <a:p>
            <a:pPr marL="0" indent="0">
              <a:lnSpc>
                <a:spcPct val="100000"/>
              </a:lnSpc>
              <a:spcBef>
                <a:spcPts val="0"/>
              </a:spcBef>
              <a:spcAft>
                <a:spcPts val="600"/>
              </a:spcAft>
              <a:buNone/>
            </a:pPr>
            <a:r>
              <a:rPr lang="en-US" sz="1800" dirty="0" err="1">
                <a:solidFill>
                  <a:srgbClr val="000000"/>
                </a:solidFill>
              </a:rPr>
              <a:t>ax.set_title</a:t>
            </a:r>
            <a:r>
              <a:rPr lang="en-US" sz="1800" dirty="0">
                <a:solidFill>
                  <a:srgbClr val="000000"/>
                </a:solidFill>
              </a:rPr>
              <a:t>(</a:t>
            </a:r>
            <a:r>
              <a:rPr lang="en-US" sz="1800" dirty="0">
                <a:solidFill>
                  <a:srgbClr val="A31515"/>
                </a:solidFill>
              </a:rPr>
              <a:t>"Hindi Message Type by Partition"</a:t>
            </a:r>
            <a:r>
              <a:rPr lang="en-US" sz="1800" dirty="0">
                <a:solidFill>
                  <a:srgbClr val="000000"/>
                </a:solidFill>
              </a:rPr>
              <a:t>)</a:t>
            </a:r>
          </a:p>
          <a:p>
            <a:pPr marL="0" indent="0">
              <a:lnSpc>
                <a:spcPct val="100000"/>
              </a:lnSpc>
              <a:spcBef>
                <a:spcPts val="0"/>
              </a:spcBef>
              <a:spcAft>
                <a:spcPts val="600"/>
              </a:spcAft>
              <a:buNone/>
            </a:pPr>
            <a:r>
              <a:rPr lang="en-US" sz="1800" dirty="0" err="1">
                <a:solidFill>
                  <a:srgbClr val="000000"/>
                </a:solidFill>
              </a:rPr>
              <a:t>ax.axis</a:t>
            </a:r>
            <a:r>
              <a:rPr lang="en-US" sz="1800" dirty="0">
                <a:solidFill>
                  <a:srgbClr val="000000"/>
                </a:solidFill>
              </a:rPr>
              <a:t>(</a:t>
            </a:r>
            <a:r>
              <a:rPr lang="en-US" sz="1800" dirty="0">
                <a:solidFill>
                  <a:srgbClr val="A31515"/>
                </a:solidFill>
              </a:rPr>
              <a:t>"tight"</a:t>
            </a:r>
            <a:r>
              <a:rPr lang="en-US" sz="1800" dirty="0">
                <a:solidFill>
                  <a:srgbClr val="000000"/>
                </a:solidFill>
              </a:rPr>
              <a:t>)</a:t>
            </a:r>
          </a:p>
          <a:p>
            <a:pPr marL="0" indent="0">
              <a:lnSpc>
                <a:spcPct val="100000"/>
              </a:lnSpc>
              <a:spcBef>
                <a:spcPts val="0"/>
              </a:spcBef>
              <a:spcAft>
                <a:spcPts val="600"/>
              </a:spcAft>
              <a:buNone/>
            </a:pPr>
            <a:r>
              <a:rPr lang="en-US" sz="1800" dirty="0" err="1">
                <a:solidFill>
                  <a:srgbClr val="000000"/>
                </a:solidFill>
              </a:rPr>
              <a:t>ax.axis</a:t>
            </a:r>
            <a:r>
              <a:rPr lang="en-US" sz="1800" dirty="0">
                <a:solidFill>
                  <a:srgbClr val="000000"/>
                </a:solidFill>
              </a:rPr>
              <a:t>(</a:t>
            </a:r>
            <a:r>
              <a:rPr lang="en-US" sz="1800" dirty="0">
                <a:solidFill>
                  <a:srgbClr val="A31515"/>
                </a:solidFill>
              </a:rPr>
              <a:t>"off"</a:t>
            </a:r>
            <a:r>
              <a:rPr lang="en-US" sz="1800" dirty="0">
                <a:solidFill>
                  <a:srgbClr val="000000"/>
                </a:solidFill>
              </a:rPr>
              <a:t>)</a:t>
            </a:r>
          </a:p>
          <a:p>
            <a:pPr marL="0" indent="0">
              <a:lnSpc>
                <a:spcPct val="100000"/>
              </a:lnSpc>
              <a:spcBef>
                <a:spcPts val="0"/>
              </a:spcBef>
              <a:spcAft>
                <a:spcPts val="600"/>
              </a:spcAft>
              <a:buNone/>
            </a:pPr>
            <a:endParaRPr lang="en-US" sz="1800" dirty="0">
              <a:solidFill>
                <a:srgbClr val="000000"/>
              </a:solidFill>
            </a:endParaRPr>
          </a:p>
          <a:p>
            <a:pPr marL="0" indent="0">
              <a:lnSpc>
                <a:spcPct val="100000"/>
              </a:lnSpc>
              <a:spcBef>
                <a:spcPts val="0"/>
              </a:spcBef>
              <a:spcAft>
                <a:spcPts val="600"/>
              </a:spcAft>
              <a:buNone/>
            </a:pPr>
            <a:r>
              <a:rPr lang="en-US" sz="1800" dirty="0">
                <a:solidFill>
                  <a:srgbClr val="000000"/>
                </a:solidFill>
              </a:rPr>
              <a:t>table = </a:t>
            </a:r>
            <a:r>
              <a:rPr lang="en-US" sz="1800" dirty="0" err="1">
                <a:solidFill>
                  <a:srgbClr val="000000"/>
                </a:solidFill>
              </a:rPr>
              <a:t>ax.table</a:t>
            </a:r>
            <a:r>
              <a:rPr lang="en-US" sz="1800" dirty="0">
                <a:solidFill>
                  <a:srgbClr val="000000"/>
                </a:solidFill>
              </a:rPr>
              <a:t>(</a:t>
            </a:r>
            <a:r>
              <a:rPr lang="en-US" sz="1800" dirty="0" err="1">
                <a:solidFill>
                  <a:srgbClr val="000000"/>
                </a:solidFill>
              </a:rPr>
              <a:t>cellText</a:t>
            </a:r>
            <a:r>
              <a:rPr lang="en-US" sz="1800" dirty="0">
                <a:solidFill>
                  <a:srgbClr val="000000"/>
                </a:solidFill>
              </a:rPr>
              <a:t>=</a:t>
            </a:r>
            <a:r>
              <a:rPr lang="en-US" sz="1800" dirty="0" err="1">
                <a:solidFill>
                  <a:srgbClr val="000000"/>
                </a:solidFill>
              </a:rPr>
              <a:t>df_summary.values</a:t>
            </a:r>
            <a:r>
              <a:rPr lang="en-US" sz="1800" dirty="0">
                <a:solidFill>
                  <a:srgbClr val="000000"/>
                </a:solidFill>
              </a:rPr>
              <a:t>, </a:t>
            </a:r>
            <a:r>
              <a:rPr lang="en-US" sz="1800" dirty="0" err="1">
                <a:solidFill>
                  <a:srgbClr val="000000"/>
                </a:solidFill>
              </a:rPr>
              <a:t>colLabels</a:t>
            </a:r>
            <a:r>
              <a:rPr lang="en-US" sz="1800" dirty="0">
                <a:solidFill>
                  <a:srgbClr val="000000"/>
                </a:solidFill>
              </a:rPr>
              <a:t>=</a:t>
            </a:r>
            <a:r>
              <a:rPr lang="en-US" sz="1800" dirty="0" err="1">
                <a:solidFill>
                  <a:srgbClr val="000000"/>
                </a:solidFill>
              </a:rPr>
              <a:t>df_summary.columns</a:t>
            </a:r>
            <a:r>
              <a:rPr lang="en-US" sz="1800" dirty="0">
                <a:solidFill>
                  <a:srgbClr val="000000"/>
                </a:solidFill>
              </a:rPr>
              <a:t>, </a:t>
            </a:r>
            <a:r>
              <a:rPr lang="en-US" sz="1800" dirty="0" err="1">
                <a:solidFill>
                  <a:srgbClr val="000000"/>
                </a:solidFill>
              </a:rPr>
              <a:t>cellLoc</a:t>
            </a:r>
            <a:r>
              <a:rPr lang="en-US" sz="1800" dirty="0">
                <a:solidFill>
                  <a:srgbClr val="000000"/>
                </a:solidFill>
              </a:rPr>
              <a:t>=</a:t>
            </a:r>
            <a:r>
              <a:rPr lang="en-US" sz="1800" dirty="0">
                <a:solidFill>
                  <a:srgbClr val="A31515"/>
                </a:solidFill>
              </a:rPr>
              <a:t>'center'</a:t>
            </a:r>
            <a:r>
              <a:rPr lang="en-US" sz="1800" dirty="0">
                <a:solidFill>
                  <a:srgbClr val="000000"/>
                </a:solidFill>
              </a:rPr>
              <a:t>, loc=</a:t>
            </a:r>
            <a:r>
              <a:rPr lang="en-US" sz="1800" dirty="0">
                <a:solidFill>
                  <a:srgbClr val="A31515"/>
                </a:solidFill>
              </a:rPr>
              <a:t>'center'</a:t>
            </a:r>
            <a:r>
              <a:rPr lang="en-US" sz="1800" dirty="0">
                <a:solidFill>
                  <a:srgbClr val="000000"/>
                </a:solidFill>
              </a:rPr>
              <a:t>,</a:t>
            </a:r>
          </a:p>
          <a:p>
            <a:pPr marL="0" indent="0">
              <a:lnSpc>
                <a:spcPct val="100000"/>
              </a:lnSpc>
              <a:spcBef>
                <a:spcPts val="0"/>
              </a:spcBef>
              <a:spcAft>
                <a:spcPts val="600"/>
              </a:spcAft>
              <a:buNone/>
            </a:pPr>
            <a:r>
              <a:rPr lang="en-US" sz="1800" dirty="0" err="1">
                <a:solidFill>
                  <a:srgbClr val="000000"/>
                </a:solidFill>
              </a:rPr>
              <a:t>colColours</a:t>
            </a:r>
            <a:r>
              <a:rPr lang="en-US" sz="1800" dirty="0">
                <a:solidFill>
                  <a:srgbClr val="000000"/>
                </a:solidFill>
              </a:rPr>
              <a:t>=[</a:t>
            </a:r>
            <a:r>
              <a:rPr lang="en-US" sz="1800" dirty="0">
                <a:solidFill>
                  <a:srgbClr val="A31515"/>
                </a:solidFill>
              </a:rPr>
              <a:t>"</a:t>
            </a:r>
            <a:r>
              <a:rPr lang="en-US" sz="1800" dirty="0" err="1">
                <a:solidFill>
                  <a:srgbClr val="A31515"/>
                </a:solidFill>
              </a:rPr>
              <a:t>lightgrey</a:t>
            </a:r>
            <a:r>
              <a:rPr lang="en-US" sz="1800" dirty="0">
                <a:solidFill>
                  <a:srgbClr val="A31515"/>
                </a:solidFill>
              </a:rPr>
              <a:t>"</a:t>
            </a:r>
            <a:r>
              <a:rPr lang="en-US" sz="1800" dirty="0">
                <a:solidFill>
                  <a:srgbClr val="000000"/>
                </a:solidFill>
              </a:rPr>
              <a:t>] * </a:t>
            </a:r>
            <a:r>
              <a:rPr lang="en-US" sz="1800" dirty="0" err="1">
                <a:solidFill>
                  <a:srgbClr val="6A5221"/>
                </a:solidFill>
              </a:rPr>
              <a:t>len</a:t>
            </a:r>
            <a:r>
              <a:rPr lang="en-US" sz="1800" dirty="0">
                <a:solidFill>
                  <a:srgbClr val="000000"/>
                </a:solidFill>
              </a:rPr>
              <a:t>(</a:t>
            </a:r>
            <a:r>
              <a:rPr lang="en-US" sz="1800" dirty="0" err="1">
                <a:solidFill>
                  <a:srgbClr val="000000"/>
                </a:solidFill>
              </a:rPr>
              <a:t>df_summary.columns</a:t>
            </a:r>
            <a:r>
              <a:rPr lang="en-US" sz="1800" dirty="0">
                <a:solidFill>
                  <a:srgbClr val="000000"/>
                </a:solidFill>
              </a:rPr>
              <a:t>))</a:t>
            </a:r>
          </a:p>
          <a:p>
            <a:pPr marL="0" indent="0">
              <a:lnSpc>
                <a:spcPct val="100000"/>
              </a:lnSpc>
              <a:spcBef>
                <a:spcPts val="0"/>
              </a:spcBef>
              <a:spcAft>
                <a:spcPts val="600"/>
              </a:spcAft>
              <a:buNone/>
            </a:pPr>
            <a:endParaRPr lang="en-US" sz="1800" dirty="0">
              <a:solidFill>
                <a:srgbClr val="000000"/>
              </a:solidFill>
            </a:endParaRPr>
          </a:p>
          <a:p>
            <a:pPr marL="0" indent="0">
              <a:lnSpc>
                <a:spcPct val="100000"/>
              </a:lnSpc>
              <a:spcBef>
                <a:spcPts val="0"/>
              </a:spcBef>
              <a:spcAft>
                <a:spcPts val="600"/>
              </a:spcAft>
              <a:buNone/>
            </a:pPr>
            <a:r>
              <a:rPr lang="en-US" sz="1800" dirty="0" err="1">
                <a:solidFill>
                  <a:srgbClr val="000000"/>
                </a:solidFill>
              </a:rPr>
              <a:t>table.auto_set_font_size</a:t>
            </a:r>
            <a:r>
              <a:rPr lang="en-US" sz="1800" dirty="0">
                <a:solidFill>
                  <a:srgbClr val="000000"/>
                </a:solidFill>
              </a:rPr>
              <a:t>(</a:t>
            </a:r>
            <a:r>
              <a:rPr lang="en-US" sz="1800" dirty="0">
                <a:solidFill>
                  <a:srgbClr val="0000FF"/>
                </a:solidFill>
              </a:rPr>
              <a:t>False</a:t>
            </a:r>
            <a:r>
              <a:rPr lang="en-US" sz="1800" dirty="0">
                <a:solidFill>
                  <a:srgbClr val="000000"/>
                </a:solidFill>
              </a:rPr>
              <a:t>)</a:t>
            </a:r>
          </a:p>
          <a:p>
            <a:pPr marL="0" indent="0">
              <a:lnSpc>
                <a:spcPct val="100000"/>
              </a:lnSpc>
              <a:spcBef>
                <a:spcPts val="0"/>
              </a:spcBef>
              <a:spcAft>
                <a:spcPts val="600"/>
              </a:spcAft>
              <a:buNone/>
            </a:pPr>
            <a:r>
              <a:rPr lang="en-US" sz="1800" dirty="0" err="1">
                <a:solidFill>
                  <a:srgbClr val="000000"/>
                </a:solidFill>
              </a:rPr>
              <a:t>table.set_fontsize</a:t>
            </a:r>
            <a:r>
              <a:rPr lang="en-US" sz="1800" dirty="0">
                <a:solidFill>
                  <a:srgbClr val="000000"/>
                </a:solidFill>
              </a:rPr>
              <a:t>(</a:t>
            </a:r>
            <a:r>
              <a:rPr lang="en-US" sz="1800" dirty="0">
                <a:solidFill>
                  <a:srgbClr val="116644"/>
                </a:solidFill>
              </a:rPr>
              <a:t>10</a:t>
            </a:r>
            <a:r>
              <a:rPr lang="en-US" sz="1800" dirty="0">
                <a:solidFill>
                  <a:srgbClr val="000000"/>
                </a:solidFill>
              </a:rPr>
              <a:t>)</a:t>
            </a:r>
          </a:p>
          <a:p>
            <a:pPr marL="0" indent="0">
              <a:lnSpc>
                <a:spcPct val="100000"/>
              </a:lnSpc>
              <a:spcBef>
                <a:spcPts val="0"/>
              </a:spcBef>
              <a:spcAft>
                <a:spcPts val="600"/>
              </a:spcAft>
              <a:buNone/>
            </a:pPr>
            <a:r>
              <a:rPr lang="en-US" sz="1800" dirty="0" err="1">
                <a:solidFill>
                  <a:srgbClr val="000000"/>
                </a:solidFill>
              </a:rPr>
              <a:t>table.auto_set_column_width</a:t>
            </a:r>
            <a:r>
              <a:rPr lang="en-US" sz="1800" dirty="0">
                <a:solidFill>
                  <a:srgbClr val="000000"/>
                </a:solidFill>
              </a:rPr>
              <a:t>([</a:t>
            </a:r>
            <a:r>
              <a:rPr lang="en-US" sz="1800" dirty="0">
                <a:solidFill>
                  <a:srgbClr val="116644"/>
                </a:solidFill>
              </a:rPr>
              <a:t>0</a:t>
            </a:r>
            <a:r>
              <a:rPr lang="en-US" sz="1800" dirty="0">
                <a:solidFill>
                  <a:srgbClr val="000000"/>
                </a:solidFill>
              </a:rPr>
              <a:t>, </a:t>
            </a:r>
            <a:r>
              <a:rPr lang="en-US" sz="1800" dirty="0">
                <a:solidFill>
                  <a:srgbClr val="116644"/>
                </a:solidFill>
              </a:rPr>
              <a:t>1</a:t>
            </a:r>
            <a:r>
              <a:rPr lang="en-US" sz="1800" dirty="0">
                <a:solidFill>
                  <a:srgbClr val="000000"/>
                </a:solidFill>
              </a:rPr>
              <a:t>, </a:t>
            </a:r>
            <a:r>
              <a:rPr lang="en-US" sz="1800" dirty="0">
                <a:solidFill>
                  <a:srgbClr val="116644"/>
                </a:solidFill>
              </a:rPr>
              <a:t>2</a:t>
            </a:r>
            <a:r>
              <a:rPr lang="en-US" sz="1800" dirty="0">
                <a:solidFill>
                  <a:srgbClr val="000000"/>
                </a:solidFill>
              </a:rPr>
              <a:t>, </a:t>
            </a:r>
            <a:r>
              <a:rPr lang="en-US" sz="1800" dirty="0">
                <a:solidFill>
                  <a:srgbClr val="116644"/>
                </a:solidFill>
              </a:rPr>
              <a:t>3</a:t>
            </a:r>
            <a:r>
              <a:rPr lang="en-US" sz="1800" dirty="0">
                <a:solidFill>
                  <a:srgbClr val="000000"/>
                </a:solidFill>
              </a:rPr>
              <a:t>, </a:t>
            </a:r>
            <a:r>
              <a:rPr lang="en-US" sz="1800" dirty="0">
                <a:solidFill>
                  <a:srgbClr val="116644"/>
                </a:solidFill>
              </a:rPr>
              <a:t>4</a:t>
            </a:r>
            <a:r>
              <a:rPr lang="en-US" sz="1800" dirty="0">
                <a:solidFill>
                  <a:srgbClr val="000000"/>
                </a:solidFill>
              </a:rPr>
              <a:t>])</a:t>
            </a:r>
          </a:p>
          <a:p>
            <a:pPr marL="0" indent="0">
              <a:lnSpc>
                <a:spcPct val="100000"/>
              </a:lnSpc>
              <a:spcBef>
                <a:spcPts val="0"/>
              </a:spcBef>
              <a:spcAft>
                <a:spcPts val="600"/>
              </a:spcAft>
              <a:buNone/>
            </a:pPr>
            <a:r>
              <a:rPr lang="en-US" sz="1800" dirty="0" err="1">
                <a:solidFill>
                  <a:srgbClr val="000000"/>
                </a:solidFill>
              </a:rPr>
              <a:t>plt.show</a:t>
            </a:r>
            <a:r>
              <a:rPr lang="en-US" sz="1800" dirty="0">
                <a:solidFill>
                  <a:srgbClr val="000000"/>
                </a:solidFill>
              </a:rPr>
              <a:t>()</a:t>
            </a:r>
          </a:p>
          <a:p>
            <a:pPr marL="0" indent="0">
              <a:lnSpc>
                <a:spcPct val="100000"/>
              </a:lnSpc>
              <a:spcBef>
                <a:spcPts val="0"/>
              </a:spcBef>
              <a:spcAft>
                <a:spcPts val="600"/>
              </a:spcAft>
              <a:buNone/>
            </a:pPr>
            <a:endParaRPr lang="en-US" sz="1800" dirty="0">
              <a:solidFill>
                <a:srgbClr val="000000"/>
              </a:solidFill>
            </a:endParaRPr>
          </a:p>
          <a:p>
            <a:pPr marL="0" indent="0">
              <a:lnSpc>
                <a:spcPct val="100000"/>
              </a:lnSpc>
              <a:spcBef>
                <a:spcPts val="0"/>
              </a:spcBef>
              <a:spcAft>
                <a:spcPts val="600"/>
              </a:spcAft>
              <a:buNone/>
            </a:pPr>
            <a:r>
              <a:rPr lang="en-US" sz="1800" dirty="0">
                <a:solidFill>
                  <a:srgbClr val="000000"/>
                </a:solidFill>
              </a:rPr>
              <a:t> </a:t>
            </a:r>
          </a:p>
        </p:txBody>
      </p:sp>
    </p:spTree>
    <p:extLst>
      <p:ext uri="{BB962C8B-B14F-4D97-AF65-F5344CB8AC3E}">
        <p14:creationId xmlns:p14="http://schemas.microsoft.com/office/powerpoint/2010/main" val="162096127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983D90-8B65-4CE3-A119-E30D7D1F249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9E070BC-469F-1AC3-D4BE-3CD71EFD68D7}"/>
              </a:ext>
            </a:extLst>
          </p:cNvPr>
          <p:cNvSpPr>
            <a:spLocks noGrp="1"/>
          </p:cNvSpPr>
          <p:nvPr>
            <p:ph idx="1"/>
          </p:nvPr>
        </p:nvSpPr>
        <p:spPr/>
        <p:txBody>
          <a:bodyPr>
            <a:normAutofit/>
          </a:bodyPr>
          <a:lstStyle/>
          <a:p>
            <a:pPr marL="0" indent="0">
              <a:buNone/>
            </a:pPr>
            <a:r>
              <a:rPr lang="en-US" sz="5400" dirty="0"/>
              <a:t>         </a:t>
            </a:r>
          </a:p>
          <a:p>
            <a:pPr marL="0" indent="0">
              <a:buNone/>
            </a:pPr>
            <a:endParaRPr lang="en-US" sz="5400" dirty="0"/>
          </a:p>
          <a:p>
            <a:pPr marL="0" indent="0">
              <a:buNone/>
            </a:pPr>
            <a:r>
              <a:rPr lang="en-US" sz="5400" dirty="0"/>
              <a:t>              </a:t>
            </a:r>
          </a:p>
        </p:txBody>
      </p:sp>
      <p:sp>
        <p:nvSpPr>
          <p:cNvPr id="5" name="Slide Number Placeholder 4">
            <a:extLst>
              <a:ext uri="{FF2B5EF4-FFF2-40B4-BE49-F238E27FC236}">
                <a16:creationId xmlns:a16="http://schemas.microsoft.com/office/drawing/2014/main" id="{2B5DCA3E-8A9C-AC15-6805-8DF4058B0CCE}"/>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73</a:t>
            </a:fld>
            <a:endParaRPr lang="en-US" dirty="0">
              <a:solidFill>
                <a:srgbClr val="000000"/>
              </a:solidFill>
            </a:endParaRPr>
          </a:p>
        </p:txBody>
      </p:sp>
      <p:sp>
        <p:nvSpPr>
          <p:cNvPr id="10" name="Content Placeholder 2">
            <a:extLst>
              <a:ext uri="{FF2B5EF4-FFF2-40B4-BE49-F238E27FC236}">
                <a16:creationId xmlns:a16="http://schemas.microsoft.com/office/drawing/2014/main" id="{7EED2B21-1BDF-EE31-754B-429D3EFD18D7}"/>
              </a:ext>
            </a:extLst>
          </p:cNvPr>
          <p:cNvSpPr txBox="1">
            <a:spLocks/>
          </p:cNvSpPr>
          <p:nvPr/>
        </p:nvSpPr>
        <p:spPr>
          <a:xfrm>
            <a:off x="850392" y="592024"/>
            <a:ext cx="7277100" cy="405948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0"/>
              </a:spcBef>
              <a:spcAft>
                <a:spcPts val="600"/>
              </a:spcAft>
              <a:buNone/>
            </a:pPr>
            <a:r>
              <a:rPr lang="en-US" sz="1800" dirty="0">
                <a:solidFill>
                  <a:srgbClr val="0000FF"/>
                </a:solidFill>
              </a:rPr>
              <a:t>def</a:t>
            </a:r>
            <a:r>
              <a:rPr lang="en-US" sz="1800" dirty="0">
                <a:solidFill>
                  <a:srgbClr val="000000"/>
                </a:solidFill>
              </a:rPr>
              <a:t> </a:t>
            </a:r>
            <a:r>
              <a:rPr lang="en-US" sz="1800" dirty="0" err="1">
                <a:solidFill>
                  <a:srgbClr val="6A5221"/>
                </a:solidFill>
              </a:rPr>
              <a:t>confusion_matrix_plot</a:t>
            </a:r>
            <a:r>
              <a:rPr lang="en-US" sz="1800" dirty="0">
                <a:solidFill>
                  <a:srgbClr val="000000"/>
                </a:solidFill>
              </a:rPr>
              <a:t>(</a:t>
            </a:r>
            <a:r>
              <a:rPr lang="en-US" sz="1800" dirty="0">
                <a:solidFill>
                  <a:srgbClr val="001080"/>
                </a:solidFill>
              </a:rPr>
              <a:t>model</a:t>
            </a:r>
            <a:r>
              <a:rPr lang="en-US" sz="1800" dirty="0">
                <a:solidFill>
                  <a:srgbClr val="000000"/>
                </a:solidFill>
              </a:rPr>
              <a:t>, </a:t>
            </a:r>
            <a:r>
              <a:rPr lang="en-US" sz="1800" dirty="0" err="1">
                <a:solidFill>
                  <a:srgbClr val="001080"/>
                </a:solidFill>
              </a:rPr>
              <a:t>X_train</a:t>
            </a:r>
            <a:r>
              <a:rPr lang="en-US" sz="1800" dirty="0">
                <a:solidFill>
                  <a:srgbClr val="000000"/>
                </a:solidFill>
              </a:rPr>
              <a:t>, </a:t>
            </a:r>
            <a:r>
              <a:rPr lang="en-US" sz="1800" dirty="0" err="1">
                <a:solidFill>
                  <a:srgbClr val="001080"/>
                </a:solidFill>
              </a:rPr>
              <a:t>y_train</a:t>
            </a:r>
            <a:r>
              <a:rPr lang="en-US" sz="1800" dirty="0">
                <a:solidFill>
                  <a:srgbClr val="000000"/>
                </a:solidFill>
              </a:rPr>
              <a:t>, </a:t>
            </a:r>
            <a:r>
              <a:rPr lang="en-US" sz="1800" dirty="0" err="1">
                <a:solidFill>
                  <a:srgbClr val="001080"/>
                </a:solidFill>
              </a:rPr>
              <a:t>X_val</a:t>
            </a:r>
            <a:r>
              <a:rPr lang="en-US" sz="1800" dirty="0">
                <a:solidFill>
                  <a:srgbClr val="000000"/>
                </a:solidFill>
              </a:rPr>
              <a:t>, </a:t>
            </a:r>
            <a:r>
              <a:rPr lang="en-US" sz="1800" dirty="0" err="1">
                <a:solidFill>
                  <a:srgbClr val="001080"/>
                </a:solidFill>
              </a:rPr>
              <a:t>y_val</a:t>
            </a:r>
            <a:r>
              <a:rPr lang="en-US" sz="1800" dirty="0">
                <a:solidFill>
                  <a:srgbClr val="000000"/>
                </a:solidFill>
              </a:rPr>
              <a:t>, </a:t>
            </a:r>
            <a:r>
              <a:rPr lang="en-US" sz="1800" dirty="0" err="1">
                <a:solidFill>
                  <a:srgbClr val="001080"/>
                </a:solidFill>
              </a:rPr>
              <a:t>model_name</a:t>
            </a:r>
            <a:r>
              <a:rPr lang="en-US" sz="1800" dirty="0">
                <a:solidFill>
                  <a:srgbClr val="000000"/>
                </a:solidFill>
              </a:rPr>
              <a:t>):</a:t>
            </a:r>
          </a:p>
          <a:p>
            <a:pPr marL="0" indent="0" algn="just">
              <a:lnSpc>
                <a:spcPct val="100000"/>
              </a:lnSpc>
              <a:spcBef>
                <a:spcPts val="0"/>
              </a:spcBef>
              <a:spcAft>
                <a:spcPts val="600"/>
              </a:spcAft>
              <a:buNone/>
            </a:pPr>
            <a:r>
              <a:rPr lang="en-US" sz="1800" dirty="0">
                <a:solidFill>
                  <a:srgbClr val="000000"/>
                </a:solidFill>
              </a:rPr>
              <a:t>fig, axes = </a:t>
            </a:r>
            <a:r>
              <a:rPr lang="en-US" sz="1800" dirty="0" err="1">
                <a:solidFill>
                  <a:srgbClr val="000000"/>
                </a:solidFill>
              </a:rPr>
              <a:t>plt.subplots</a:t>
            </a:r>
            <a:r>
              <a:rPr lang="en-US" sz="1800" dirty="0">
                <a:solidFill>
                  <a:srgbClr val="000000"/>
                </a:solidFill>
              </a:rPr>
              <a:t>(</a:t>
            </a:r>
            <a:r>
              <a:rPr lang="en-US" sz="1800" dirty="0">
                <a:solidFill>
                  <a:srgbClr val="116644"/>
                </a:solidFill>
              </a:rPr>
              <a:t>2</a:t>
            </a:r>
            <a:r>
              <a:rPr lang="en-US" sz="1800" dirty="0">
                <a:solidFill>
                  <a:srgbClr val="000000"/>
                </a:solidFill>
              </a:rPr>
              <a:t>, </a:t>
            </a:r>
            <a:r>
              <a:rPr lang="en-US" sz="1800" dirty="0">
                <a:solidFill>
                  <a:srgbClr val="116644"/>
                </a:solidFill>
              </a:rPr>
              <a:t>1</a:t>
            </a:r>
            <a:r>
              <a:rPr lang="en-US" sz="1800" dirty="0">
                <a:solidFill>
                  <a:srgbClr val="000000"/>
                </a:solidFill>
              </a:rPr>
              <a:t>, </a:t>
            </a:r>
            <a:r>
              <a:rPr lang="en-US" sz="1800" dirty="0" err="1">
                <a:solidFill>
                  <a:srgbClr val="000000"/>
                </a:solidFill>
              </a:rPr>
              <a:t>figsize</a:t>
            </a:r>
            <a:r>
              <a:rPr lang="en-US" sz="1800" dirty="0">
                <a:solidFill>
                  <a:srgbClr val="000000"/>
                </a:solidFill>
              </a:rPr>
              <a:t>=(</a:t>
            </a:r>
            <a:r>
              <a:rPr lang="en-US" sz="1800" dirty="0">
                <a:solidFill>
                  <a:srgbClr val="116644"/>
                </a:solidFill>
              </a:rPr>
              <a:t>6</a:t>
            </a:r>
            <a:r>
              <a:rPr lang="en-US" sz="1800" dirty="0">
                <a:solidFill>
                  <a:srgbClr val="000000"/>
                </a:solidFill>
              </a:rPr>
              <a:t>, </a:t>
            </a:r>
            <a:r>
              <a:rPr lang="en-US" sz="1800" dirty="0">
                <a:solidFill>
                  <a:srgbClr val="116644"/>
                </a:solidFill>
              </a:rPr>
              <a:t>6</a:t>
            </a:r>
            <a:r>
              <a:rPr lang="en-US" sz="1800" dirty="0">
                <a:solidFill>
                  <a:srgbClr val="000000"/>
                </a:solidFill>
              </a:rPr>
              <a:t>))  </a:t>
            </a:r>
            <a:r>
              <a:rPr lang="en-US" sz="1800" dirty="0">
                <a:solidFill>
                  <a:srgbClr val="008000"/>
                </a:solidFill>
              </a:rPr>
              <a:t># Stack vertically for better readability</a:t>
            </a:r>
            <a:endParaRPr lang="en-US" sz="1800" dirty="0">
              <a:solidFill>
                <a:srgbClr val="000000"/>
              </a:solidFill>
            </a:endParaRPr>
          </a:p>
          <a:p>
            <a:pPr marL="0" indent="0" algn="just">
              <a:lnSpc>
                <a:spcPct val="100000"/>
              </a:lnSpc>
              <a:spcBef>
                <a:spcPts val="0"/>
              </a:spcBef>
              <a:spcAft>
                <a:spcPts val="600"/>
              </a:spcAft>
              <a:buNone/>
            </a:pPr>
            <a:r>
              <a:rPr lang="en-US" sz="1800" dirty="0">
                <a:solidFill>
                  <a:srgbClr val="000000"/>
                </a:solidFill>
              </a:rPr>
              <a:t>datasets = [(</a:t>
            </a:r>
            <a:r>
              <a:rPr lang="en-US" sz="1800" dirty="0" err="1">
                <a:solidFill>
                  <a:srgbClr val="000000"/>
                </a:solidFill>
              </a:rPr>
              <a:t>X_train</a:t>
            </a:r>
            <a:r>
              <a:rPr lang="en-US" sz="1800" dirty="0">
                <a:solidFill>
                  <a:srgbClr val="000000"/>
                </a:solidFill>
              </a:rPr>
              <a:t>, </a:t>
            </a:r>
            <a:r>
              <a:rPr lang="en-US" sz="1800" dirty="0" err="1">
                <a:solidFill>
                  <a:srgbClr val="000000"/>
                </a:solidFill>
              </a:rPr>
              <a:t>y_train</a:t>
            </a:r>
            <a:r>
              <a:rPr lang="en-US" sz="1800" dirty="0">
                <a:solidFill>
                  <a:srgbClr val="000000"/>
                </a:solidFill>
              </a:rPr>
              <a:t>, </a:t>
            </a:r>
            <a:r>
              <a:rPr lang="en-US" sz="1800" dirty="0">
                <a:solidFill>
                  <a:srgbClr val="A31515"/>
                </a:solidFill>
              </a:rPr>
              <a:t>"Training"</a:t>
            </a:r>
            <a:r>
              <a:rPr lang="en-US" sz="1800" dirty="0">
                <a:solidFill>
                  <a:srgbClr val="000000"/>
                </a:solidFill>
              </a:rPr>
              <a:t>), (</a:t>
            </a:r>
            <a:r>
              <a:rPr lang="en-US" sz="1800" dirty="0" err="1">
                <a:solidFill>
                  <a:srgbClr val="000000"/>
                </a:solidFill>
              </a:rPr>
              <a:t>X_val</a:t>
            </a:r>
            <a:r>
              <a:rPr lang="en-US" sz="1800" dirty="0">
                <a:solidFill>
                  <a:srgbClr val="000000"/>
                </a:solidFill>
              </a:rPr>
              <a:t>, </a:t>
            </a:r>
            <a:r>
              <a:rPr lang="en-US" sz="1800" dirty="0" err="1">
                <a:solidFill>
                  <a:srgbClr val="000000"/>
                </a:solidFill>
              </a:rPr>
              <a:t>y_val</a:t>
            </a:r>
            <a:r>
              <a:rPr lang="en-US" sz="1800" dirty="0">
                <a:solidFill>
                  <a:srgbClr val="000000"/>
                </a:solidFill>
              </a:rPr>
              <a:t>, </a:t>
            </a:r>
            <a:r>
              <a:rPr lang="en-US" sz="1800" dirty="0">
                <a:solidFill>
                  <a:srgbClr val="A31515"/>
                </a:solidFill>
              </a:rPr>
              <a:t>"Validation"</a:t>
            </a:r>
            <a:r>
              <a:rPr lang="en-US" sz="1800" dirty="0">
                <a:solidFill>
                  <a:srgbClr val="000000"/>
                </a:solidFill>
              </a:rPr>
              <a:t>)]</a:t>
            </a:r>
          </a:p>
          <a:p>
            <a:pPr marL="0" indent="0" algn="just">
              <a:lnSpc>
                <a:spcPct val="100000"/>
              </a:lnSpc>
              <a:spcBef>
                <a:spcPts val="0"/>
              </a:spcBef>
              <a:spcAft>
                <a:spcPts val="600"/>
              </a:spcAft>
              <a:buNone/>
            </a:pPr>
            <a:endParaRPr lang="en-US" sz="1800" dirty="0">
              <a:solidFill>
                <a:srgbClr val="000000"/>
              </a:solidFill>
            </a:endParaRPr>
          </a:p>
          <a:p>
            <a:pPr marL="0" indent="0" algn="just">
              <a:lnSpc>
                <a:spcPct val="100000"/>
              </a:lnSpc>
              <a:spcBef>
                <a:spcPts val="0"/>
              </a:spcBef>
              <a:spcAft>
                <a:spcPts val="600"/>
              </a:spcAft>
              <a:buNone/>
            </a:pPr>
            <a:r>
              <a:rPr lang="en-US" sz="1800" dirty="0">
                <a:solidFill>
                  <a:srgbClr val="9723B4"/>
                </a:solidFill>
              </a:rPr>
              <a:t>for</a:t>
            </a:r>
            <a:r>
              <a:rPr lang="en-US" sz="1800" dirty="0">
                <a:solidFill>
                  <a:srgbClr val="000000"/>
                </a:solidFill>
              </a:rPr>
              <a:t> ax, (X, y, </a:t>
            </a:r>
            <a:r>
              <a:rPr lang="en-US" sz="1800" dirty="0" err="1">
                <a:solidFill>
                  <a:srgbClr val="000000"/>
                </a:solidFill>
              </a:rPr>
              <a:t>dataset_name</a:t>
            </a:r>
            <a:r>
              <a:rPr lang="en-US" sz="1800" dirty="0">
                <a:solidFill>
                  <a:srgbClr val="000000"/>
                </a:solidFill>
              </a:rPr>
              <a:t>) </a:t>
            </a:r>
            <a:r>
              <a:rPr lang="en-US" sz="1800" dirty="0">
                <a:solidFill>
                  <a:srgbClr val="0000FF"/>
                </a:solidFill>
              </a:rPr>
              <a:t>in</a:t>
            </a:r>
            <a:r>
              <a:rPr lang="en-US" sz="1800" dirty="0">
                <a:solidFill>
                  <a:srgbClr val="000000"/>
                </a:solidFill>
              </a:rPr>
              <a:t> </a:t>
            </a:r>
            <a:r>
              <a:rPr lang="en-US" sz="1800" dirty="0">
                <a:solidFill>
                  <a:srgbClr val="6A5221"/>
                </a:solidFill>
              </a:rPr>
              <a:t>zip</a:t>
            </a:r>
            <a:r>
              <a:rPr lang="en-US" sz="1800" dirty="0">
                <a:solidFill>
                  <a:srgbClr val="000000"/>
                </a:solidFill>
              </a:rPr>
              <a:t>(axes, datasets):</a:t>
            </a:r>
          </a:p>
          <a:p>
            <a:pPr marL="0" indent="0" algn="just">
              <a:lnSpc>
                <a:spcPct val="100000"/>
              </a:lnSpc>
              <a:spcBef>
                <a:spcPts val="0"/>
              </a:spcBef>
              <a:spcAft>
                <a:spcPts val="600"/>
              </a:spcAft>
              <a:buNone/>
            </a:pPr>
            <a:r>
              <a:rPr lang="en-US" sz="1800" dirty="0" err="1">
                <a:solidFill>
                  <a:srgbClr val="000000"/>
                </a:solidFill>
              </a:rPr>
              <a:t>y_pred</a:t>
            </a:r>
            <a:r>
              <a:rPr lang="en-US" sz="1800" dirty="0">
                <a:solidFill>
                  <a:srgbClr val="000000"/>
                </a:solidFill>
              </a:rPr>
              <a:t> = </a:t>
            </a:r>
            <a:r>
              <a:rPr lang="en-US" sz="1800" dirty="0" err="1">
                <a:solidFill>
                  <a:srgbClr val="000000"/>
                </a:solidFill>
              </a:rPr>
              <a:t>model.predict</a:t>
            </a:r>
            <a:r>
              <a:rPr lang="en-US" sz="1800" dirty="0">
                <a:solidFill>
                  <a:srgbClr val="000000"/>
                </a:solidFill>
              </a:rPr>
              <a:t>(X)</a:t>
            </a:r>
          </a:p>
          <a:p>
            <a:pPr marL="0" indent="0" algn="just">
              <a:lnSpc>
                <a:spcPct val="100000"/>
              </a:lnSpc>
              <a:spcBef>
                <a:spcPts val="0"/>
              </a:spcBef>
              <a:spcAft>
                <a:spcPts val="600"/>
              </a:spcAft>
              <a:buNone/>
            </a:pPr>
            <a:r>
              <a:rPr lang="en-US" sz="1800" dirty="0">
                <a:solidFill>
                  <a:srgbClr val="000000"/>
                </a:solidFill>
              </a:rPr>
              <a:t>cm = </a:t>
            </a:r>
            <a:r>
              <a:rPr lang="en-US" sz="1800" dirty="0" err="1">
                <a:solidFill>
                  <a:srgbClr val="000000"/>
                </a:solidFill>
              </a:rPr>
              <a:t>confusion_matrix</a:t>
            </a:r>
            <a:r>
              <a:rPr lang="en-US" sz="1800" dirty="0">
                <a:solidFill>
                  <a:srgbClr val="000000"/>
                </a:solidFill>
              </a:rPr>
              <a:t>(y, </a:t>
            </a:r>
            <a:r>
              <a:rPr lang="en-US" sz="1800" dirty="0" err="1">
                <a:solidFill>
                  <a:srgbClr val="000000"/>
                </a:solidFill>
              </a:rPr>
              <a:t>y_pred</a:t>
            </a:r>
            <a:r>
              <a:rPr lang="en-US" sz="1800" dirty="0">
                <a:solidFill>
                  <a:srgbClr val="000000"/>
                </a:solidFill>
              </a:rPr>
              <a:t>)</a:t>
            </a:r>
          </a:p>
          <a:p>
            <a:pPr marL="0" indent="0" algn="just">
              <a:lnSpc>
                <a:spcPct val="100000"/>
              </a:lnSpc>
              <a:spcBef>
                <a:spcPts val="0"/>
              </a:spcBef>
              <a:spcAft>
                <a:spcPts val="600"/>
              </a:spcAft>
              <a:buNone/>
            </a:pPr>
            <a:r>
              <a:rPr lang="en-US" sz="1800" dirty="0">
                <a:solidFill>
                  <a:srgbClr val="9723B4"/>
                </a:solidFill>
              </a:rPr>
              <a:t>if</a:t>
            </a:r>
            <a:r>
              <a:rPr lang="en-US" sz="1800" dirty="0">
                <a:solidFill>
                  <a:srgbClr val="000000"/>
                </a:solidFill>
              </a:rPr>
              <a:t> </a:t>
            </a:r>
            <a:r>
              <a:rPr lang="en-US" sz="1800" dirty="0" err="1">
                <a:solidFill>
                  <a:srgbClr val="000000"/>
                </a:solidFill>
              </a:rPr>
              <a:t>cm.shape</a:t>
            </a:r>
            <a:r>
              <a:rPr lang="en-US" sz="1800" dirty="0">
                <a:solidFill>
                  <a:srgbClr val="000000"/>
                </a:solidFill>
              </a:rPr>
              <a:t> != (</a:t>
            </a:r>
            <a:r>
              <a:rPr lang="en-US" sz="1800" dirty="0">
                <a:solidFill>
                  <a:srgbClr val="116644"/>
                </a:solidFill>
              </a:rPr>
              <a:t>2</a:t>
            </a:r>
            <a:r>
              <a:rPr lang="en-US" sz="1800" dirty="0">
                <a:solidFill>
                  <a:srgbClr val="000000"/>
                </a:solidFill>
              </a:rPr>
              <a:t>, </a:t>
            </a:r>
            <a:r>
              <a:rPr lang="en-US" sz="1800" dirty="0">
                <a:solidFill>
                  <a:srgbClr val="116644"/>
                </a:solidFill>
              </a:rPr>
              <a:t>2</a:t>
            </a:r>
            <a:r>
              <a:rPr lang="en-US" sz="1800" dirty="0">
                <a:solidFill>
                  <a:srgbClr val="000000"/>
                </a:solidFill>
              </a:rPr>
              <a:t>):</a:t>
            </a:r>
          </a:p>
          <a:p>
            <a:pPr marL="0" indent="0" algn="just">
              <a:lnSpc>
                <a:spcPct val="100000"/>
              </a:lnSpc>
              <a:spcBef>
                <a:spcPts val="0"/>
              </a:spcBef>
              <a:spcAft>
                <a:spcPts val="600"/>
              </a:spcAft>
              <a:buNone/>
            </a:pPr>
            <a:r>
              <a:rPr lang="en-US" sz="1800" dirty="0">
                <a:solidFill>
                  <a:srgbClr val="9723B4"/>
                </a:solidFill>
              </a:rPr>
              <a:t>raise</a:t>
            </a:r>
            <a:r>
              <a:rPr lang="en-US" sz="1800" dirty="0">
                <a:solidFill>
                  <a:srgbClr val="000000"/>
                </a:solidFill>
              </a:rPr>
              <a:t> </a:t>
            </a:r>
            <a:r>
              <a:rPr lang="en-US" sz="1800" dirty="0" err="1">
                <a:solidFill>
                  <a:srgbClr val="257693"/>
                </a:solidFill>
              </a:rPr>
              <a:t>ValueError</a:t>
            </a:r>
            <a:r>
              <a:rPr lang="en-US" sz="1800" dirty="0">
                <a:solidFill>
                  <a:srgbClr val="000000"/>
                </a:solidFill>
              </a:rPr>
              <a:t>(</a:t>
            </a:r>
            <a:r>
              <a:rPr lang="en-US" sz="1800" dirty="0">
                <a:solidFill>
                  <a:srgbClr val="A31515"/>
                </a:solidFill>
              </a:rPr>
              <a:t>"This function is designed for binary classification problems."</a:t>
            </a:r>
            <a:r>
              <a:rPr lang="en-US" sz="1800" dirty="0">
                <a:solidFill>
                  <a:srgbClr val="000000"/>
                </a:solidFill>
              </a:rPr>
              <a:t>)       </a:t>
            </a:r>
          </a:p>
        </p:txBody>
      </p:sp>
      <p:sp>
        <p:nvSpPr>
          <p:cNvPr id="2" name="object 2">
            <a:extLst>
              <a:ext uri="{FF2B5EF4-FFF2-40B4-BE49-F238E27FC236}">
                <a16:creationId xmlns:a16="http://schemas.microsoft.com/office/drawing/2014/main" id="{15687C07-7F73-8E9A-4248-5408809B06D6}"/>
              </a:ext>
            </a:extLst>
          </p:cNvPr>
          <p:cNvSpPr txBox="1">
            <a:spLocks/>
          </p:cNvSpPr>
          <p:nvPr/>
        </p:nvSpPr>
        <p:spPr>
          <a:xfrm>
            <a:off x="228600" y="128017"/>
            <a:ext cx="8686800" cy="590472"/>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n-US" dirty="0">
                <a:solidFill>
                  <a:srgbClr val="1F1F1F"/>
                </a:solidFill>
              </a:rPr>
              <a:t>Comparing the Naive Bayes Models</a:t>
            </a:r>
            <a:endParaRPr lang="en-US" dirty="0"/>
          </a:p>
        </p:txBody>
      </p:sp>
    </p:spTree>
    <p:extLst>
      <p:ext uri="{BB962C8B-B14F-4D97-AF65-F5344CB8AC3E}">
        <p14:creationId xmlns:p14="http://schemas.microsoft.com/office/powerpoint/2010/main" val="203120470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6D3A53-C775-3745-5F80-C8F56F48C1A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2631AF-6158-FDBC-18F8-4A1DA6153F28}"/>
              </a:ext>
            </a:extLst>
          </p:cNvPr>
          <p:cNvSpPr>
            <a:spLocks noGrp="1"/>
          </p:cNvSpPr>
          <p:nvPr>
            <p:ph idx="1"/>
          </p:nvPr>
        </p:nvSpPr>
        <p:spPr/>
        <p:txBody>
          <a:bodyPr>
            <a:normAutofit/>
          </a:bodyPr>
          <a:lstStyle/>
          <a:p>
            <a:pPr marL="0" indent="0">
              <a:buNone/>
            </a:pPr>
            <a:r>
              <a:rPr lang="en-US" sz="5400" dirty="0"/>
              <a:t>         </a:t>
            </a:r>
          </a:p>
          <a:p>
            <a:pPr marL="0" indent="0">
              <a:buNone/>
            </a:pPr>
            <a:endParaRPr lang="en-US" sz="5400" dirty="0"/>
          </a:p>
          <a:p>
            <a:pPr marL="0" indent="0">
              <a:buNone/>
            </a:pPr>
            <a:r>
              <a:rPr lang="en-US" sz="5400" dirty="0"/>
              <a:t>              </a:t>
            </a:r>
          </a:p>
        </p:txBody>
      </p:sp>
      <p:sp>
        <p:nvSpPr>
          <p:cNvPr id="5" name="Slide Number Placeholder 4">
            <a:extLst>
              <a:ext uri="{FF2B5EF4-FFF2-40B4-BE49-F238E27FC236}">
                <a16:creationId xmlns:a16="http://schemas.microsoft.com/office/drawing/2014/main" id="{6BCD2C12-954C-0380-1A98-B88F1EE43BA9}"/>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74</a:t>
            </a:fld>
            <a:endParaRPr lang="en-US" dirty="0">
              <a:solidFill>
                <a:srgbClr val="000000"/>
              </a:solidFill>
            </a:endParaRPr>
          </a:p>
        </p:txBody>
      </p:sp>
      <p:sp>
        <p:nvSpPr>
          <p:cNvPr id="7" name="TextBox 6">
            <a:extLst>
              <a:ext uri="{FF2B5EF4-FFF2-40B4-BE49-F238E27FC236}">
                <a16:creationId xmlns:a16="http://schemas.microsoft.com/office/drawing/2014/main" id="{E1297AA1-BC5A-2120-86B0-E1C9CFE6E631}"/>
              </a:ext>
            </a:extLst>
          </p:cNvPr>
          <p:cNvSpPr txBox="1"/>
          <p:nvPr/>
        </p:nvSpPr>
        <p:spPr>
          <a:xfrm>
            <a:off x="835152" y="572439"/>
            <a:ext cx="7394449" cy="4462760"/>
          </a:xfrm>
          <a:prstGeom prst="rect">
            <a:avLst/>
          </a:prstGeom>
          <a:noFill/>
        </p:spPr>
        <p:txBody>
          <a:bodyPr wrap="square">
            <a:spAutoFit/>
          </a:bodyPr>
          <a:lstStyle/>
          <a:p>
            <a:pPr algn="just">
              <a:spcAft>
                <a:spcPts val="600"/>
              </a:spcAft>
              <a:buNone/>
            </a:pPr>
            <a:r>
              <a:rPr lang="en-US" b="0" dirty="0" err="1">
                <a:solidFill>
                  <a:srgbClr val="000000"/>
                </a:solidFill>
                <a:effectLst/>
              </a:rPr>
              <a:t>cm_with_totals</a:t>
            </a:r>
            <a:r>
              <a:rPr lang="en-US" b="0" dirty="0">
                <a:solidFill>
                  <a:srgbClr val="000000"/>
                </a:solidFill>
                <a:effectLst/>
              </a:rPr>
              <a:t> = </a:t>
            </a:r>
            <a:r>
              <a:rPr lang="en-US" b="0" dirty="0" err="1">
                <a:solidFill>
                  <a:srgbClr val="000000"/>
                </a:solidFill>
                <a:effectLst/>
              </a:rPr>
              <a:t>np.zeros</a:t>
            </a:r>
            <a:r>
              <a:rPr lang="en-US" b="0" dirty="0">
                <a:solidFill>
                  <a:srgbClr val="000000"/>
                </a:solidFill>
                <a:effectLst/>
              </a:rPr>
              <a:t>((</a:t>
            </a:r>
            <a:r>
              <a:rPr lang="en-US" b="0" dirty="0">
                <a:solidFill>
                  <a:srgbClr val="116644"/>
                </a:solidFill>
                <a:effectLst/>
              </a:rPr>
              <a:t>3</a:t>
            </a:r>
            <a:r>
              <a:rPr lang="en-US" b="0" dirty="0">
                <a:solidFill>
                  <a:srgbClr val="000000"/>
                </a:solidFill>
                <a:effectLst/>
              </a:rPr>
              <a:t>, </a:t>
            </a:r>
            <a:r>
              <a:rPr lang="en-US" b="0" dirty="0">
                <a:solidFill>
                  <a:srgbClr val="116644"/>
                </a:solidFill>
                <a:effectLst/>
              </a:rPr>
              <a:t>3</a:t>
            </a:r>
            <a:r>
              <a:rPr lang="en-US" b="0" dirty="0">
                <a:solidFill>
                  <a:srgbClr val="000000"/>
                </a:solidFill>
                <a:effectLst/>
              </a:rPr>
              <a:t>), </a:t>
            </a:r>
            <a:r>
              <a:rPr lang="en-US" b="0" dirty="0" err="1">
                <a:solidFill>
                  <a:srgbClr val="000000"/>
                </a:solidFill>
                <a:effectLst/>
              </a:rPr>
              <a:t>dtype</a:t>
            </a:r>
            <a:r>
              <a:rPr lang="en-US" b="0" dirty="0">
                <a:solidFill>
                  <a:srgbClr val="000000"/>
                </a:solidFill>
                <a:effectLst/>
              </a:rPr>
              <a:t>=</a:t>
            </a:r>
            <a:r>
              <a:rPr lang="en-US" b="0" dirty="0">
                <a:solidFill>
                  <a:srgbClr val="257693"/>
                </a:solidFill>
                <a:effectLst/>
              </a:rPr>
              <a:t>int</a:t>
            </a:r>
            <a:r>
              <a:rPr lang="en-US" b="0" dirty="0">
                <a:solidFill>
                  <a:srgbClr val="000000"/>
                </a:solidFill>
                <a:effectLst/>
              </a:rPr>
              <a:t>)</a:t>
            </a:r>
          </a:p>
          <a:p>
            <a:pPr algn="just">
              <a:spcAft>
                <a:spcPts val="600"/>
              </a:spcAft>
              <a:buNone/>
            </a:pPr>
            <a:r>
              <a:rPr lang="en-US" b="0" dirty="0" err="1">
                <a:solidFill>
                  <a:srgbClr val="000000"/>
                </a:solidFill>
                <a:effectLst/>
              </a:rPr>
              <a:t>cm_with_totals</a:t>
            </a:r>
            <a:r>
              <a:rPr lang="en-US" b="0" dirty="0">
                <a:solidFill>
                  <a:srgbClr val="000000"/>
                </a:solidFill>
                <a:effectLst/>
              </a:rPr>
              <a:t>[:</a:t>
            </a:r>
            <a:r>
              <a:rPr lang="en-US" b="0" dirty="0">
                <a:solidFill>
                  <a:srgbClr val="116644"/>
                </a:solidFill>
                <a:effectLst/>
              </a:rPr>
              <a:t>2</a:t>
            </a:r>
            <a:r>
              <a:rPr lang="en-US" b="0" dirty="0">
                <a:solidFill>
                  <a:srgbClr val="000000"/>
                </a:solidFill>
                <a:effectLst/>
              </a:rPr>
              <a:t>, :</a:t>
            </a:r>
            <a:r>
              <a:rPr lang="en-US" b="0" dirty="0">
                <a:solidFill>
                  <a:srgbClr val="116644"/>
                </a:solidFill>
                <a:effectLst/>
              </a:rPr>
              <a:t>2</a:t>
            </a:r>
            <a:r>
              <a:rPr lang="en-US" b="0" dirty="0">
                <a:solidFill>
                  <a:srgbClr val="000000"/>
                </a:solidFill>
                <a:effectLst/>
              </a:rPr>
              <a:t>] = cm</a:t>
            </a:r>
          </a:p>
          <a:p>
            <a:pPr algn="just">
              <a:spcAft>
                <a:spcPts val="600"/>
              </a:spcAft>
              <a:buNone/>
            </a:pPr>
            <a:r>
              <a:rPr lang="en-US" b="0" dirty="0" err="1">
                <a:solidFill>
                  <a:srgbClr val="000000"/>
                </a:solidFill>
                <a:effectLst/>
              </a:rPr>
              <a:t>cm_with_totals</a:t>
            </a:r>
            <a:r>
              <a:rPr lang="en-US" b="0" dirty="0">
                <a:solidFill>
                  <a:srgbClr val="000000"/>
                </a:solidFill>
                <a:effectLst/>
              </a:rPr>
              <a:t>[</a:t>
            </a:r>
            <a:r>
              <a:rPr lang="en-US" b="0" dirty="0">
                <a:solidFill>
                  <a:srgbClr val="116644"/>
                </a:solidFill>
                <a:effectLst/>
              </a:rPr>
              <a:t>2</a:t>
            </a:r>
            <a:r>
              <a:rPr lang="en-US" b="0" dirty="0">
                <a:solidFill>
                  <a:srgbClr val="000000"/>
                </a:solidFill>
                <a:effectLst/>
              </a:rPr>
              <a:t>, :</a:t>
            </a:r>
            <a:r>
              <a:rPr lang="en-US" b="0" dirty="0">
                <a:solidFill>
                  <a:srgbClr val="116644"/>
                </a:solidFill>
                <a:effectLst/>
              </a:rPr>
              <a:t>2</a:t>
            </a:r>
            <a:r>
              <a:rPr lang="en-US" b="0" dirty="0">
                <a:solidFill>
                  <a:srgbClr val="000000"/>
                </a:solidFill>
                <a:effectLst/>
              </a:rPr>
              <a:t>] = </a:t>
            </a:r>
            <a:r>
              <a:rPr lang="en-US" b="0" dirty="0" err="1">
                <a:solidFill>
                  <a:srgbClr val="000000"/>
                </a:solidFill>
                <a:effectLst/>
              </a:rPr>
              <a:t>cm.</a:t>
            </a:r>
            <a:r>
              <a:rPr lang="en-US" b="0" dirty="0" err="1">
                <a:solidFill>
                  <a:srgbClr val="6A5221"/>
                </a:solidFill>
                <a:effectLst/>
              </a:rPr>
              <a:t>sum</a:t>
            </a:r>
            <a:r>
              <a:rPr lang="en-US" b="0" dirty="0">
                <a:solidFill>
                  <a:srgbClr val="000000"/>
                </a:solidFill>
                <a:effectLst/>
              </a:rPr>
              <a:t>(axis=</a:t>
            </a:r>
            <a:r>
              <a:rPr lang="en-US" b="0" dirty="0">
                <a:solidFill>
                  <a:srgbClr val="116644"/>
                </a:solidFill>
                <a:effectLst/>
              </a:rPr>
              <a:t>0</a:t>
            </a:r>
            <a:r>
              <a:rPr lang="en-US" b="0" dirty="0">
                <a:solidFill>
                  <a:srgbClr val="000000"/>
                </a:solidFill>
                <a:effectLst/>
              </a:rPr>
              <a:t>)      </a:t>
            </a:r>
            <a:endParaRPr lang="en-US" dirty="0">
              <a:solidFill>
                <a:srgbClr val="000000"/>
              </a:solidFill>
            </a:endParaRPr>
          </a:p>
          <a:p>
            <a:pPr algn="just">
              <a:spcAft>
                <a:spcPts val="600"/>
              </a:spcAft>
              <a:buNone/>
            </a:pPr>
            <a:r>
              <a:rPr lang="en-US" b="0" dirty="0" err="1">
                <a:solidFill>
                  <a:srgbClr val="000000"/>
                </a:solidFill>
                <a:effectLst/>
              </a:rPr>
              <a:t>cm_with_totals</a:t>
            </a:r>
            <a:r>
              <a:rPr lang="en-US" b="0" dirty="0">
                <a:solidFill>
                  <a:srgbClr val="000000"/>
                </a:solidFill>
                <a:effectLst/>
              </a:rPr>
              <a:t>[:</a:t>
            </a:r>
            <a:r>
              <a:rPr lang="en-US" b="0" dirty="0">
                <a:solidFill>
                  <a:srgbClr val="116644"/>
                </a:solidFill>
                <a:effectLst/>
              </a:rPr>
              <a:t>2</a:t>
            </a:r>
            <a:r>
              <a:rPr lang="en-US" b="0" dirty="0">
                <a:solidFill>
                  <a:srgbClr val="000000"/>
                </a:solidFill>
                <a:effectLst/>
              </a:rPr>
              <a:t>, </a:t>
            </a:r>
            <a:r>
              <a:rPr lang="en-US" b="0" dirty="0">
                <a:solidFill>
                  <a:srgbClr val="116644"/>
                </a:solidFill>
                <a:effectLst/>
              </a:rPr>
              <a:t>2</a:t>
            </a:r>
            <a:r>
              <a:rPr lang="en-US" b="0" dirty="0">
                <a:solidFill>
                  <a:srgbClr val="000000"/>
                </a:solidFill>
                <a:effectLst/>
              </a:rPr>
              <a:t>] = </a:t>
            </a:r>
            <a:r>
              <a:rPr lang="en-US" b="0" dirty="0" err="1">
                <a:solidFill>
                  <a:srgbClr val="000000"/>
                </a:solidFill>
                <a:effectLst/>
              </a:rPr>
              <a:t>cm.</a:t>
            </a:r>
            <a:r>
              <a:rPr lang="en-US" b="0" dirty="0" err="1">
                <a:solidFill>
                  <a:srgbClr val="6A5221"/>
                </a:solidFill>
                <a:effectLst/>
              </a:rPr>
              <a:t>sum</a:t>
            </a:r>
            <a:r>
              <a:rPr lang="en-US" b="0" dirty="0">
                <a:solidFill>
                  <a:srgbClr val="000000"/>
                </a:solidFill>
                <a:effectLst/>
              </a:rPr>
              <a:t>(axis=</a:t>
            </a:r>
            <a:r>
              <a:rPr lang="en-US" b="0" dirty="0">
                <a:solidFill>
                  <a:srgbClr val="116644"/>
                </a:solidFill>
                <a:effectLst/>
              </a:rPr>
              <a:t>1</a:t>
            </a:r>
            <a:r>
              <a:rPr lang="en-US" b="0" dirty="0">
                <a:solidFill>
                  <a:srgbClr val="000000"/>
                </a:solidFill>
                <a:effectLst/>
              </a:rPr>
              <a:t>)</a:t>
            </a:r>
          </a:p>
          <a:p>
            <a:pPr algn="just">
              <a:spcAft>
                <a:spcPts val="600"/>
              </a:spcAft>
              <a:buNone/>
            </a:pPr>
            <a:r>
              <a:rPr lang="en-US" b="0" dirty="0" err="1">
                <a:solidFill>
                  <a:srgbClr val="000000"/>
                </a:solidFill>
                <a:effectLst/>
              </a:rPr>
              <a:t>cm_with_totals</a:t>
            </a:r>
            <a:r>
              <a:rPr lang="en-US" b="0" dirty="0">
                <a:solidFill>
                  <a:srgbClr val="000000"/>
                </a:solidFill>
                <a:effectLst/>
              </a:rPr>
              <a:t>[</a:t>
            </a:r>
            <a:r>
              <a:rPr lang="en-US" b="0" dirty="0">
                <a:solidFill>
                  <a:srgbClr val="116644"/>
                </a:solidFill>
                <a:effectLst/>
              </a:rPr>
              <a:t>2</a:t>
            </a:r>
            <a:r>
              <a:rPr lang="en-US" b="0" dirty="0">
                <a:solidFill>
                  <a:srgbClr val="000000"/>
                </a:solidFill>
                <a:effectLst/>
              </a:rPr>
              <a:t>, </a:t>
            </a:r>
            <a:r>
              <a:rPr lang="en-US" b="0" dirty="0">
                <a:solidFill>
                  <a:srgbClr val="116644"/>
                </a:solidFill>
                <a:effectLst/>
              </a:rPr>
              <a:t>2</a:t>
            </a:r>
            <a:r>
              <a:rPr lang="en-US" b="0" dirty="0">
                <a:solidFill>
                  <a:srgbClr val="000000"/>
                </a:solidFill>
                <a:effectLst/>
              </a:rPr>
              <a:t>] = </a:t>
            </a:r>
            <a:r>
              <a:rPr lang="en-US" b="0" dirty="0" err="1">
                <a:solidFill>
                  <a:srgbClr val="000000"/>
                </a:solidFill>
                <a:effectLst/>
              </a:rPr>
              <a:t>cm.</a:t>
            </a:r>
            <a:r>
              <a:rPr lang="en-US" b="0" dirty="0" err="1">
                <a:solidFill>
                  <a:srgbClr val="6A5221"/>
                </a:solidFill>
                <a:effectLst/>
              </a:rPr>
              <a:t>sum</a:t>
            </a:r>
            <a:r>
              <a:rPr lang="en-US" b="0" dirty="0">
                <a:solidFill>
                  <a:srgbClr val="000000"/>
                </a:solidFill>
                <a:effectLst/>
              </a:rPr>
              <a:t>()</a:t>
            </a:r>
          </a:p>
          <a:p>
            <a:pPr algn="just">
              <a:spcAft>
                <a:spcPts val="600"/>
              </a:spcAft>
              <a:buNone/>
            </a:pPr>
            <a:r>
              <a:rPr lang="en-US" dirty="0" err="1">
                <a:solidFill>
                  <a:srgbClr val="000000"/>
                </a:solidFill>
              </a:rPr>
              <a:t>tn</a:t>
            </a:r>
            <a:r>
              <a:rPr lang="en-US" dirty="0">
                <a:solidFill>
                  <a:srgbClr val="000000"/>
                </a:solidFill>
              </a:rPr>
              <a:t>, </a:t>
            </a:r>
            <a:r>
              <a:rPr lang="en-US" dirty="0" err="1">
                <a:solidFill>
                  <a:srgbClr val="000000"/>
                </a:solidFill>
              </a:rPr>
              <a:t>fp</a:t>
            </a:r>
            <a:r>
              <a:rPr lang="en-US" dirty="0">
                <a:solidFill>
                  <a:srgbClr val="000000"/>
                </a:solidFill>
              </a:rPr>
              <a:t>, </a:t>
            </a:r>
            <a:r>
              <a:rPr lang="en-US" dirty="0" err="1">
                <a:solidFill>
                  <a:srgbClr val="000000"/>
                </a:solidFill>
              </a:rPr>
              <a:t>fn</a:t>
            </a:r>
            <a:r>
              <a:rPr lang="en-US" dirty="0">
                <a:solidFill>
                  <a:srgbClr val="000000"/>
                </a:solidFill>
              </a:rPr>
              <a:t>, </a:t>
            </a:r>
            <a:r>
              <a:rPr lang="en-US" dirty="0" err="1">
                <a:solidFill>
                  <a:srgbClr val="000000"/>
                </a:solidFill>
              </a:rPr>
              <a:t>tp</a:t>
            </a:r>
            <a:r>
              <a:rPr lang="en-US" dirty="0">
                <a:solidFill>
                  <a:srgbClr val="000000"/>
                </a:solidFill>
              </a:rPr>
              <a:t> = </a:t>
            </a:r>
            <a:r>
              <a:rPr lang="en-US" dirty="0" err="1">
                <a:solidFill>
                  <a:srgbClr val="000000"/>
                </a:solidFill>
              </a:rPr>
              <a:t>cm.ravel</a:t>
            </a:r>
            <a:r>
              <a:rPr lang="en-US" dirty="0">
                <a:solidFill>
                  <a:srgbClr val="000000"/>
                </a:solidFill>
              </a:rPr>
              <a:t>()</a:t>
            </a:r>
          </a:p>
          <a:p>
            <a:pPr algn="just">
              <a:spcAft>
                <a:spcPts val="600"/>
              </a:spcAft>
              <a:buNone/>
            </a:pPr>
            <a:r>
              <a:rPr lang="en-US" dirty="0">
                <a:solidFill>
                  <a:srgbClr val="000000"/>
                </a:solidFill>
              </a:rPr>
              <a:t>accuracy = (</a:t>
            </a:r>
            <a:r>
              <a:rPr lang="en-US" dirty="0" err="1">
                <a:solidFill>
                  <a:srgbClr val="000000"/>
                </a:solidFill>
              </a:rPr>
              <a:t>tp</a:t>
            </a:r>
            <a:r>
              <a:rPr lang="en-US" dirty="0">
                <a:solidFill>
                  <a:srgbClr val="000000"/>
                </a:solidFill>
              </a:rPr>
              <a:t> + </a:t>
            </a:r>
            <a:r>
              <a:rPr lang="en-US" dirty="0" err="1">
                <a:solidFill>
                  <a:srgbClr val="000000"/>
                </a:solidFill>
              </a:rPr>
              <a:t>tn</a:t>
            </a:r>
            <a:r>
              <a:rPr lang="en-US" dirty="0">
                <a:solidFill>
                  <a:srgbClr val="000000"/>
                </a:solidFill>
              </a:rPr>
              <a:t>) / </a:t>
            </a:r>
            <a:r>
              <a:rPr lang="en-US" dirty="0" err="1">
                <a:solidFill>
                  <a:srgbClr val="000000"/>
                </a:solidFill>
              </a:rPr>
              <a:t>cm.</a:t>
            </a:r>
            <a:r>
              <a:rPr lang="en-US" dirty="0" err="1">
                <a:solidFill>
                  <a:srgbClr val="6A5221"/>
                </a:solidFill>
              </a:rPr>
              <a:t>sum</a:t>
            </a:r>
            <a:r>
              <a:rPr lang="en-US" dirty="0">
                <a:solidFill>
                  <a:srgbClr val="000000"/>
                </a:solidFill>
              </a:rPr>
              <a:t>()</a:t>
            </a:r>
          </a:p>
          <a:p>
            <a:pPr algn="just">
              <a:spcAft>
                <a:spcPts val="600"/>
              </a:spcAft>
              <a:buNone/>
            </a:pPr>
            <a:r>
              <a:rPr lang="en-US" dirty="0">
                <a:solidFill>
                  <a:srgbClr val="000000"/>
                </a:solidFill>
              </a:rPr>
              <a:t>sensitivity = </a:t>
            </a:r>
            <a:r>
              <a:rPr lang="en-US" dirty="0" err="1">
                <a:solidFill>
                  <a:srgbClr val="000000"/>
                </a:solidFill>
              </a:rPr>
              <a:t>tp</a:t>
            </a:r>
            <a:r>
              <a:rPr lang="en-US" dirty="0">
                <a:solidFill>
                  <a:srgbClr val="000000"/>
                </a:solidFill>
              </a:rPr>
              <a:t> / (</a:t>
            </a:r>
            <a:r>
              <a:rPr lang="en-US" dirty="0" err="1">
                <a:solidFill>
                  <a:srgbClr val="000000"/>
                </a:solidFill>
              </a:rPr>
              <a:t>tp</a:t>
            </a:r>
            <a:r>
              <a:rPr lang="en-US" dirty="0">
                <a:solidFill>
                  <a:srgbClr val="000000"/>
                </a:solidFill>
              </a:rPr>
              <a:t> + </a:t>
            </a:r>
            <a:r>
              <a:rPr lang="en-US" dirty="0" err="1">
                <a:solidFill>
                  <a:srgbClr val="000000"/>
                </a:solidFill>
              </a:rPr>
              <a:t>fn</a:t>
            </a:r>
            <a:r>
              <a:rPr lang="en-US" dirty="0">
                <a:solidFill>
                  <a:srgbClr val="000000"/>
                </a:solidFill>
              </a:rPr>
              <a:t>)</a:t>
            </a:r>
          </a:p>
          <a:p>
            <a:pPr algn="just">
              <a:spcAft>
                <a:spcPts val="600"/>
              </a:spcAft>
              <a:buNone/>
            </a:pPr>
            <a:r>
              <a:rPr lang="en-US" dirty="0">
                <a:solidFill>
                  <a:srgbClr val="000000"/>
                </a:solidFill>
              </a:rPr>
              <a:t>specificity = </a:t>
            </a:r>
            <a:r>
              <a:rPr lang="en-US" dirty="0" err="1">
                <a:solidFill>
                  <a:srgbClr val="000000"/>
                </a:solidFill>
              </a:rPr>
              <a:t>tn</a:t>
            </a:r>
            <a:r>
              <a:rPr lang="en-US" dirty="0">
                <a:solidFill>
                  <a:srgbClr val="000000"/>
                </a:solidFill>
              </a:rPr>
              <a:t> / (</a:t>
            </a:r>
            <a:r>
              <a:rPr lang="en-US" dirty="0" err="1">
                <a:solidFill>
                  <a:srgbClr val="000000"/>
                </a:solidFill>
              </a:rPr>
              <a:t>tn</a:t>
            </a:r>
            <a:r>
              <a:rPr lang="en-US" dirty="0">
                <a:solidFill>
                  <a:srgbClr val="000000"/>
                </a:solidFill>
              </a:rPr>
              <a:t> + </a:t>
            </a:r>
            <a:r>
              <a:rPr lang="en-US" dirty="0" err="1">
                <a:solidFill>
                  <a:srgbClr val="000000"/>
                </a:solidFill>
              </a:rPr>
              <a:t>fp</a:t>
            </a:r>
            <a:r>
              <a:rPr lang="en-US" dirty="0">
                <a:solidFill>
                  <a:srgbClr val="000000"/>
                </a:solidFill>
              </a:rPr>
              <a:t>)</a:t>
            </a:r>
          </a:p>
          <a:p>
            <a:pPr algn="just">
              <a:spcAft>
                <a:spcPts val="600"/>
              </a:spcAft>
              <a:buNone/>
            </a:pPr>
            <a:r>
              <a:rPr lang="en-US" dirty="0">
                <a:solidFill>
                  <a:srgbClr val="000000"/>
                </a:solidFill>
              </a:rPr>
              <a:t>precision = </a:t>
            </a:r>
            <a:r>
              <a:rPr lang="en-US" dirty="0" err="1">
                <a:solidFill>
                  <a:srgbClr val="000000"/>
                </a:solidFill>
              </a:rPr>
              <a:t>tp</a:t>
            </a:r>
            <a:r>
              <a:rPr lang="en-US" dirty="0">
                <a:solidFill>
                  <a:srgbClr val="000000"/>
                </a:solidFill>
              </a:rPr>
              <a:t> / (</a:t>
            </a:r>
            <a:r>
              <a:rPr lang="en-US" dirty="0" err="1">
                <a:solidFill>
                  <a:srgbClr val="000000"/>
                </a:solidFill>
              </a:rPr>
              <a:t>tp</a:t>
            </a:r>
            <a:r>
              <a:rPr lang="en-US" dirty="0">
                <a:solidFill>
                  <a:srgbClr val="000000"/>
                </a:solidFill>
              </a:rPr>
              <a:t> + </a:t>
            </a:r>
            <a:r>
              <a:rPr lang="en-US" dirty="0" err="1">
                <a:solidFill>
                  <a:srgbClr val="000000"/>
                </a:solidFill>
              </a:rPr>
              <a:t>fp</a:t>
            </a:r>
            <a:r>
              <a:rPr lang="en-US" dirty="0">
                <a:solidFill>
                  <a:srgbClr val="000000"/>
                </a:solidFill>
              </a:rPr>
              <a:t>) </a:t>
            </a:r>
            <a:r>
              <a:rPr lang="en-US" dirty="0">
                <a:solidFill>
                  <a:srgbClr val="9723B4"/>
                </a:solidFill>
              </a:rPr>
              <a:t>if</a:t>
            </a:r>
            <a:r>
              <a:rPr lang="en-US" dirty="0">
                <a:solidFill>
                  <a:srgbClr val="000000"/>
                </a:solidFill>
              </a:rPr>
              <a:t> (</a:t>
            </a:r>
            <a:r>
              <a:rPr lang="en-US" dirty="0" err="1">
                <a:solidFill>
                  <a:srgbClr val="000000"/>
                </a:solidFill>
              </a:rPr>
              <a:t>tp</a:t>
            </a:r>
            <a:r>
              <a:rPr lang="en-US" dirty="0">
                <a:solidFill>
                  <a:srgbClr val="000000"/>
                </a:solidFill>
              </a:rPr>
              <a:t> + </a:t>
            </a:r>
            <a:r>
              <a:rPr lang="en-US" dirty="0" err="1">
                <a:solidFill>
                  <a:srgbClr val="000000"/>
                </a:solidFill>
              </a:rPr>
              <a:t>fp</a:t>
            </a:r>
            <a:r>
              <a:rPr lang="en-US" dirty="0">
                <a:solidFill>
                  <a:srgbClr val="000000"/>
                </a:solidFill>
              </a:rPr>
              <a:t>) != </a:t>
            </a:r>
            <a:r>
              <a:rPr lang="en-US" dirty="0">
                <a:solidFill>
                  <a:srgbClr val="116644"/>
                </a:solidFill>
              </a:rPr>
              <a:t>0</a:t>
            </a:r>
            <a:r>
              <a:rPr lang="en-US" dirty="0">
                <a:solidFill>
                  <a:srgbClr val="000000"/>
                </a:solidFill>
              </a:rPr>
              <a:t> </a:t>
            </a:r>
            <a:r>
              <a:rPr lang="en-US" dirty="0">
                <a:solidFill>
                  <a:srgbClr val="9723B4"/>
                </a:solidFill>
              </a:rPr>
              <a:t>else</a:t>
            </a:r>
            <a:r>
              <a:rPr lang="en-US" dirty="0">
                <a:solidFill>
                  <a:srgbClr val="000000"/>
                </a:solidFill>
              </a:rPr>
              <a:t> </a:t>
            </a:r>
            <a:r>
              <a:rPr lang="en-US" dirty="0">
                <a:solidFill>
                  <a:srgbClr val="116644"/>
                </a:solidFill>
              </a:rPr>
              <a:t>0</a:t>
            </a:r>
            <a:endParaRPr lang="en-US" dirty="0">
              <a:solidFill>
                <a:srgbClr val="000000"/>
              </a:solidFill>
            </a:endParaRPr>
          </a:p>
          <a:p>
            <a:pPr algn="just">
              <a:spcAft>
                <a:spcPts val="600"/>
              </a:spcAft>
              <a:buNone/>
            </a:pPr>
            <a:br>
              <a:rPr lang="en-US" b="0" dirty="0">
                <a:solidFill>
                  <a:srgbClr val="000000"/>
                </a:solidFill>
                <a:effectLst/>
              </a:rPr>
            </a:br>
            <a:r>
              <a:rPr lang="en-US" dirty="0">
                <a:solidFill>
                  <a:srgbClr val="000000"/>
                </a:solidFill>
              </a:rPr>
              <a:t>f1 = </a:t>
            </a:r>
            <a:r>
              <a:rPr lang="en-US" dirty="0">
                <a:solidFill>
                  <a:srgbClr val="116644"/>
                </a:solidFill>
              </a:rPr>
              <a:t>2</a:t>
            </a:r>
            <a:r>
              <a:rPr lang="en-US" dirty="0">
                <a:solidFill>
                  <a:srgbClr val="000000"/>
                </a:solidFill>
              </a:rPr>
              <a:t> * (precision * sensitivity) / (precision + sensitivity) </a:t>
            </a:r>
            <a:r>
              <a:rPr lang="en-US" dirty="0">
                <a:solidFill>
                  <a:srgbClr val="9723B4"/>
                </a:solidFill>
              </a:rPr>
              <a:t>if</a:t>
            </a:r>
            <a:r>
              <a:rPr lang="en-US" dirty="0">
                <a:solidFill>
                  <a:srgbClr val="000000"/>
                </a:solidFill>
              </a:rPr>
              <a:t> (precision + sensitivity) != </a:t>
            </a:r>
            <a:r>
              <a:rPr lang="en-US" dirty="0">
                <a:solidFill>
                  <a:srgbClr val="116644"/>
                </a:solidFill>
              </a:rPr>
              <a:t>0</a:t>
            </a:r>
            <a:r>
              <a:rPr lang="en-US" dirty="0">
                <a:solidFill>
                  <a:srgbClr val="000000"/>
                </a:solidFill>
              </a:rPr>
              <a:t> </a:t>
            </a:r>
            <a:r>
              <a:rPr lang="en-US" dirty="0">
                <a:solidFill>
                  <a:srgbClr val="9723B4"/>
                </a:solidFill>
              </a:rPr>
              <a:t>else</a:t>
            </a:r>
            <a:r>
              <a:rPr lang="en-US" dirty="0">
                <a:solidFill>
                  <a:srgbClr val="000000"/>
                </a:solidFill>
              </a:rPr>
              <a:t> </a:t>
            </a:r>
            <a:r>
              <a:rPr lang="en-US" dirty="0">
                <a:solidFill>
                  <a:srgbClr val="116644"/>
                </a:solidFill>
              </a:rPr>
              <a:t>0</a:t>
            </a:r>
            <a:endParaRPr lang="en-US" b="0" dirty="0">
              <a:solidFill>
                <a:srgbClr val="000000"/>
              </a:solidFill>
              <a:effectLst/>
            </a:endParaRPr>
          </a:p>
        </p:txBody>
      </p:sp>
    </p:spTree>
    <p:extLst>
      <p:ext uri="{BB962C8B-B14F-4D97-AF65-F5344CB8AC3E}">
        <p14:creationId xmlns:p14="http://schemas.microsoft.com/office/powerpoint/2010/main" val="79172413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AF339-FF58-7F2B-DEF7-CFF21FD69D3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1C74DDD-38AB-029F-EF61-07B6ACD1BD8E}"/>
              </a:ext>
            </a:extLst>
          </p:cNvPr>
          <p:cNvSpPr>
            <a:spLocks noGrp="1"/>
          </p:cNvSpPr>
          <p:nvPr>
            <p:ph idx="1"/>
          </p:nvPr>
        </p:nvSpPr>
        <p:spPr/>
        <p:txBody>
          <a:bodyPr>
            <a:normAutofit/>
          </a:bodyPr>
          <a:lstStyle/>
          <a:p>
            <a:pPr marL="0" indent="0">
              <a:buNone/>
            </a:pPr>
            <a:r>
              <a:rPr lang="en-US" sz="5400" dirty="0"/>
              <a:t>         </a:t>
            </a:r>
          </a:p>
          <a:p>
            <a:pPr marL="0" indent="0">
              <a:buNone/>
            </a:pPr>
            <a:endParaRPr lang="en-US" sz="5400" dirty="0"/>
          </a:p>
          <a:p>
            <a:pPr marL="0" indent="0">
              <a:buNone/>
            </a:pPr>
            <a:r>
              <a:rPr lang="en-US" sz="5400" dirty="0"/>
              <a:t>              </a:t>
            </a:r>
          </a:p>
        </p:txBody>
      </p:sp>
      <p:sp>
        <p:nvSpPr>
          <p:cNvPr id="5" name="Slide Number Placeholder 4">
            <a:extLst>
              <a:ext uri="{FF2B5EF4-FFF2-40B4-BE49-F238E27FC236}">
                <a16:creationId xmlns:a16="http://schemas.microsoft.com/office/drawing/2014/main" id="{0A8491F2-BF5D-6992-91F4-AF751948AA51}"/>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75</a:t>
            </a:fld>
            <a:endParaRPr lang="en-US" dirty="0">
              <a:solidFill>
                <a:srgbClr val="000000"/>
              </a:solidFill>
            </a:endParaRPr>
          </a:p>
        </p:txBody>
      </p:sp>
      <p:sp>
        <p:nvSpPr>
          <p:cNvPr id="9" name="TextBox 8">
            <a:extLst>
              <a:ext uri="{FF2B5EF4-FFF2-40B4-BE49-F238E27FC236}">
                <a16:creationId xmlns:a16="http://schemas.microsoft.com/office/drawing/2014/main" id="{B1000AD7-BBE3-502A-348E-19CDAC4143D6}"/>
              </a:ext>
            </a:extLst>
          </p:cNvPr>
          <p:cNvSpPr txBox="1"/>
          <p:nvPr/>
        </p:nvSpPr>
        <p:spPr>
          <a:xfrm>
            <a:off x="829056" y="609349"/>
            <a:ext cx="7439533" cy="5656116"/>
          </a:xfrm>
          <a:custGeom>
            <a:avLst/>
            <a:gdLst>
              <a:gd name="connsiteX0" fmla="*/ 0 w 7417535"/>
              <a:gd name="connsiteY0" fmla="*/ 0 h 6586418"/>
              <a:gd name="connsiteX1" fmla="*/ 7417535 w 7417535"/>
              <a:gd name="connsiteY1" fmla="*/ 0 h 6586418"/>
              <a:gd name="connsiteX2" fmla="*/ 7417535 w 7417535"/>
              <a:gd name="connsiteY2" fmla="*/ 6586418 h 6586418"/>
              <a:gd name="connsiteX3" fmla="*/ 0 w 7417535"/>
              <a:gd name="connsiteY3" fmla="*/ 6586418 h 6586418"/>
              <a:gd name="connsiteX4" fmla="*/ 0 w 7417535"/>
              <a:gd name="connsiteY4" fmla="*/ 0 h 6586418"/>
              <a:gd name="connsiteX0" fmla="*/ 12192 w 7429727"/>
              <a:gd name="connsiteY0" fmla="*/ 0 h 6586418"/>
              <a:gd name="connsiteX1" fmla="*/ 7429727 w 7429727"/>
              <a:gd name="connsiteY1" fmla="*/ 0 h 6586418"/>
              <a:gd name="connsiteX2" fmla="*/ 7429727 w 7429727"/>
              <a:gd name="connsiteY2" fmla="*/ 6586418 h 6586418"/>
              <a:gd name="connsiteX3" fmla="*/ 0 w 7429727"/>
              <a:gd name="connsiteY3" fmla="*/ 5525714 h 6586418"/>
              <a:gd name="connsiteX4" fmla="*/ 12192 w 7429727"/>
              <a:gd name="connsiteY4" fmla="*/ 0 h 6586418"/>
              <a:gd name="connsiteX0" fmla="*/ 12192 w 7429727"/>
              <a:gd name="connsiteY0" fmla="*/ 0 h 5604962"/>
              <a:gd name="connsiteX1" fmla="*/ 7429727 w 7429727"/>
              <a:gd name="connsiteY1" fmla="*/ 0 h 5604962"/>
              <a:gd name="connsiteX2" fmla="*/ 7423631 w 7429727"/>
              <a:gd name="connsiteY2" fmla="*/ 5604962 h 5604962"/>
              <a:gd name="connsiteX3" fmla="*/ 0 w 7429727"/>
              <a:gd name="connsiteY3" fmla="*/ 5525714 h 5604962"/>
              <a:gd name="connsiteX4" fmla="*/ 12192 w 7429727"/>
              <a:gd name="connsiteY4" fmla="*/ 0 h 5604962"/>
              <a:gd name="connsiteX0" fmla="*/ 12192 w 7429727"/>
              <a:gd name="connsiteY0" fmla="*/ 0 h 5604962"/>
              <a:gd name="connsiteX1" fmla="*/ 7429727 w 7429727"/>
              <a:gd name="connsiteY1" fmla="*/ 0 h 5604962"/>
              <a:gd name="connsiteX2" fmla="*/ 7423631 w 7429727"/>
              <a:gd name="connsiteY2" fmla="*/ 5604962 h 5604962"/>
              <a:gd name="connsiteX3" fmla="*/ 0 w 7429727"/>
              <a:gd name="connsiteY3" fmla="*/ 4754337 h 5604962"/>
              <a:gd name="connsiteX4" fmla="*/ 12192 w 7429727"/>
              <a:gd name="connsiteY4" fmla="*/ 0 h 5604962"/>
              <a:gd name="connsiteX0" fmla="*/ 12192 w 7439533"/>
              <a:gd name="connsiteY0" fmla="*/ 0 h 4813286"/>
              <a:gd name="connsiteX1" fmla="*/ 7429727 w 7439533"/>
              <a:gd name="connsiteY1" fmla="*/ 0 h 4813286"/>
              <a:gd name="connsiteX2" fmla="*/ 7439533 w 7439533"/>
              <a:gd name="connsiteY2" fmla="*/ 4813286 h 4813286"/>
              <a:gd name="connsiteX3" fmla="*/ 0 w 7439533"/>
              <a:gd name="connsiteY3" fmla="*/ 4754337 h 4813286"/>
              <a:gd name="connsiteX4" fmla="*/ 12192 w 7439533"/>
              <a:gd name="connsiteY4" fmla="*/ 0 h 48132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39533" h="4813286">
                <a:moveTo>
                  <a:pt x="12192" y="0"/>
                </a:moveTo>
                <a:lnTo>
                  <a:pt x="7429727" y="0"/>
                </a:lnTo>
                <a:cubicBezTo>
                  <a:pt x="7432996" y="1604429"/>
                  <a:pt x="7436264" y="3208857"/>
                  <a:pt x="7439533" y="4813286"/>
                </a:cubicBezTo>
                <a:lnTo>
                  <a:pt x="0" y="4754337"/>
                </a:lnTo>
                <a:lnTo>
                  <a:pt x="12192" y="0"/>
                </a:lnTo>
                <a:close/>
              </a:path>
            </a:pathLst>
          </a:custGeom>
          <a:noFill/>
        </p:spPr>
        <p:txBody>
          <a:bodyPr wrap="square">
            <a:spAutoFit/>
          </a:bodyPr>
          <a:lstStyle/>
          <a:p>
            <a:pPr algn="just">
              <a:spcAft>
                <a:spcPts val="600"/>
              </a:spcAft>
              <a:buNone/>
            </a:pPr>
            <a:r>
              <a:rPr lang="en-US" b="0" dirty="0">
                <a:solidFill>
                  <a:srgbClr val="008000"/>
                </a:solidFill>
                <a:effectLst/>
              </a:rPr>
              <a:t># colors</a:t>
            </a:r>
            <a:endParaRPr lang="en-US" b="0" dirty="0">
              <a:solidFill>
                <a:srgbClr val="000000"/>
              </a:solidFill>
              <a:effectLst/>
            </a:endParaRPr>
          </a:p>
          <a:p>
            <a:pPr algn="just">
              <a:spcAft>
                <a:spcPts val="600"/>
              </a:spcAft>
              <a:buNone/>
            </a:pPr>
            <a:r>
              <a:rPr lang="en-US" b="0" dirty="0">
                <a:solidFill>
                  <a:srgbClr val="000000"/>
                </a:solidFill>
                <a:effectLst/>
              </a:rPr>
              <a:t>colors = [</a:t>
            </a:r>
          </a:p>
          <a:p>
            <a:pPr algn="just">
              <a:spcAft>
                <a:spcPts val="600"/>
              </a:spcAft>
              <a:buNone/>
            </a:pPr>
            <a:r>
              <a:rPr lang="en-US" b="0" dirty="0">
                <a:solidFill>
                  <a:srgbClr val="000000"/>
                </a:solidFill>
                <a:effectLst/>
              </a:rPr>
              <a:t>[</a:t>
            </a:r>
            <a:r>
              <a:rPr lang="en-US" b="0" dirty="0">
                <a:solidFill>
                  <a:srgbClr val="A31515"/>
                </a:solidFill>
                <a:effectLst/>
              </a:rPr>
              <a:t>"#E3F2FD"</a:t>
            </a:r>
            <a:r>
              <a:rPr lang="en-US" b="0" dirty="0">
                <a:solidFill>
                  <a:srgbClr val="000000"/>
                </a:solidFill>
                <a:effectLst/>
              </a:rPr>
              <a:t>, </a:t>
            </a:r>
            <a:r>
              <a:rPr lang="en-US" b="0" dirty="0">
                <a:solidFill>
                  <a:srgbClr val="A31515"/>
                </a:solidFill>
                <a:effectLst/>
              </a:rPr>
              <a:t>"#FFCDD2"</a:t>
            </a:r>
            <a:r>
              <a:rPr lang="en-US" b="0" dirty="0">
                <a:solidFill>
                  <a:srgbClr val="000000"/>
                </a:solidFill>
                <a:effectLst/>
              </a:rPr>
              <a:t>, </a:t>
            </a:r>
            <a:r>
              <a:rPr lang="en-US" b="0" dirty="0">
                <a:solidFill>
                  <a:srgbClr val="A31515"/>
                </a:solidFill>
                <a:effectLst/>
              </a:rPr>
              <a:t>"#E0E0E0"</a:t>
            </a:r>
            <a:r>
              <a:rPr lang="en-US" b="0" dirty="0">
                <a:solidFill>
                  <a:srgbClr val="000000"/>
                </a:solidFill>
                <a:effectLst/>
              </a:rPr>
              <a:t>],</a:t>
            </a:r>
          </a:p>
          <a:p>
            <a:pPr algn="just">
              <a:spcAft>
                <a:spcPts val="600"/>
              </a:spcAft>
              <a:buNone/>
            </a:pPr>
            <a:r>
              <a:rPr lang="en-US" b="0" dirty="0">
                <a:solidFill>
                  <a:srgbClr val="000000"/>
                </a:solidFill>
                <a:effectLst/>
              </a:rPr>
              <a:t>[</a:t>
            </a:r>
            <a:r>
              <a:rPr lang="en-US" b="0" dirty="0">
                <a:solidFill>
                  <a:srgbClr val="A31515"/>
                </a:solidFill>
                <a:effectLst/>
              </a:rPr>
              <a:t>"#FFCDD2"</a:t>
            </a:r>
            <a:r>
              <a:rPr lang="en-US" b="0" dirty="0">
                <a:solidFill>
                  <a:srgbClr val="000000"/>
                </a:solidFill>
                <a:effectLst/>
              </a:rPr>
              <a:t>, </a:t>
            </a:r>
            <a:r>
              <a:rPr lang="en-US" b="0" dirty="0">
                <a:solidFill>
                  <a:srgbClr val="A31515"/>
                </a:solidFill>
                <a:effectLst/>
              </a:rPr>
              <a:t>"#E3F2FD"</a:t>
            </a:r>
            <a:r>
              <a:rPr lang="en-US" b="0" dirty="0">
                <a:solidFill>
                  <a:srgbClr val="000000"/>
                </a:solidFill>
                <a:effectLst/>
              </a:rPr>
              <a:t>, </a:t>
            </a:r>
            <a:r>
              <a:rPr lang="en-US" b="0" dirty="0">
                <a:solidFill>
                  <a:srgbClr val="A31515"/>
                </a:solidFill>
                <a:effectLst/>
              </a:rPr>
              <a:t>"#E0E0E0"</a:t>
            </a:r>
            <a:r>
              <a:rPr lang="en-US" b="0" dirty="0">
                <a:solidFill>
                  <a:srgbClr val="000000"/>
                </a:solidFill>
                <a:effectLst/>
              </a:rPr>
              <a:t>],</a:t>
            </a:r>
          </a:p>
          <a:p>
            <a:pPr algn="just">
              <a:spcAft>
                <a:spcPts val="600"/>
              </a:spcAft>
              <a:buNone/>
            </a:pPr>
            <a:r>
              <a:rPr lang="en-US" b="0" dirty="0">
                <a:solidFill>
                  <a:srgbClr val="000000"/>
                </a:solidFill>
                <a:effectLst/>
              </a:rPr>
              <a:t>[</a:t>
            </a:r>
            <a:r>
              <a:rPr lang="en-US" b="0" dirty="0">
                <a:solidFill>
                  <a:srgbClr val="A31515"/>
                </a:solidFill>
                <a:effectLst/>
              </a:rPr>
              <a:t>"#E0E0E0"</a:t>
            </a:r>
            <a:r>
              <a:rPr lang="en-US" b="0" dirty="0">
                <a:solidFill>
                  <a:srgbClr val="000000"/>
                </a:solidFill>
                <a:effectLst/>
              </a:rPr>
              <a:t>, </a:t>
            </a:r>
            <a:r>
              <a:rPr lang="en-US" b="0" dirty="0">
                <a:solidFill>
                  <a:srgbClr val="A31515"/>
                </a:solidFill>
                <a:effectLst/>
              </a:rPr>
              <a:t>"#E0E0E0"</a:t>
            </a:r>
            <a:r>
              <a:rPr lang="en-US" b="0" dirty="0">
                <a:solidFill>
                  <a:srgbClr val="000000"/>
                </a:solidFill>
                <a:effectLst/>
              </a:rPr>
              <a:t>, </a:t>
            </a:r>
            <a:r>
              <a:rPr lang="en-US" b="0" dirty="0">
                <a:solidFill>
                  <a:srgbClr val="A31515"/>
                </a:solidFill>
                <a:effectLst/>
              </a:rPr>
              <a:t>"#EEEEEE"</a:t>
            </a:r>
            <a:r>
              <a:rPr lang="en-US" b="0" dirty="0">
                <a:solidFill>
                  <a:srgbClr val="000000"/>
                </a:solidFill>
                <a:effectLst/>
              </a:rPr>
              <a:t>],</a:t>
            </a:r>
          </a:p>
          <a:p>
            <a:pPr algn="just">
              <a:spcAft>
                <a:spcPts val="600"/>
              </a:spcAft>
              <a:buNone/>
            </a:pPr>
            <a:r>
              <a:rPr lang="en-US" b="0" dirty="0">
                <a:solidFill>
                  <a:srgbClr val="000000"/>
                </a:solidFill>
                <a:effectLst/>
              </a:rPr>
              <a:t>]</a:t>
            </a:r>
          </a:p>
          <a:p>
            <a:pPr algn="just">
              <a:spcAft>
                <a:spcPts val="600"/>
              </a:spcAft>
              <a:buNone/>
            </a:pPr>
            <a:r>
              <a:rPr lang="en-US" b="0" dirty="0">
                <a:solidFill>
                  <a:srgbClr val="9723B4"/>
                </a:solidFill>
                <a:effectLst/>
              </a:rPr>
              <a:t>for</a:t>
            </a:r>
            <a:r>
              <a:rPr lang="en-US" b="0" dirty="0">
                <a:solidFill>
                  <a:srgbClr val="000000"/>
                </a:solidFill>
                <a:effectLst/>
              </a:rPr>
              <a:t> </a:t>
            </a:r>
            <a:r>
              <a:rPr lang="en-US" b="0" dirty="0" err="1">
                <a:solidFill>
                  <a:srgbClr val="000000"/>
                </a:solidFill>
                <a:effectLst/>
              </a:rPr>
              <a:t>i</a:t>
            </a:r>
            <a:r>
              <a:rPr lang="en-US" b="0" dirty="0">
                <a:solidFill>
                  <a:srgbClr val="000000"/>
                </a:solidFill>
                <a:effectLst/>
              </a:rPr>
              <a:t> </a:t>
            </a:r>
            <a:r>
              <a:rPr lang="en-US" b="0" dirty="0">
                <a:solidFill>
                  <a:srgbClr val="0000FF"/>
                </a:solidFill>
                <a:effectLst/>
              </a:rPr>
              <a:t>in</a:t>
            </a:r>
            <a:r>
              <a:rPr lang="en-US" b="0" dirty="0">
                <a:solidFill>
                  <a:srgbClr val="000000"/>
                </a:solidFill>
                <a:effectLst/>
              </a:rPr>
              <a:t> </a:t>
            </a:r>
            <a:r>
              <a:rPr lang="en-US" b="0" dirty="0">
                <a:solidFill>
                  <a:srgbClr val="6A5221"/>
                </a:solidFill>
                <a:effectLst/>
              </a:rPr>
              <a:t>range</a:t>
            </a:r>
            <a:r>
              <a:rPr lang="en-US" b="0" dirty="0">
                <a:solidFill>
                  <a:srgbClr val="000000"/>
                </a:solidFill>
                <a:effectLst/>
              </a:rPr>
              <a:t>(</a:t>
            </a:r>
            <a:r>
              <a:rPr lang="en-US" b="0" dirty="0">
                <a:solidFill>
                  <a:srgbClr val="116644"/>
                </a:solidFill>
                <a:effectLst/>
              </a:rPr>
              <a:t>3</a:t>
            </a:r>
            <a:r>
              <a:rPr lang="en-US" b="0" dirty="0">
                <a:solidFill>
                  <a:srgbClr val="000000"/>
                </a:solidFill>
                <a:effectLst/>
              </a:rPr>
              <a:t>):</a:t>
            </a:r>
          </a:p>
          <a:p>
            <a:pPr algn="just">
              <a:spcAft>
                <a:spcPts val="600"/>
              </a:spcAft>
              <a:buNone/>
            </a:pPr>
            <a:r>
              <a:rPr lang="en-US" b="0" dirty="0">
                <a:solidFill>
                  <a:srgbClr val="9723B4"/>
                </a:solidFill>
                <a:effectLst/>
              </a:rPr>
              <a:t>for</a:t>
            </a:r>
            <a:r>
              <a:rPr lang="en-US" b="0" dirty="0">
                <a:solidFill>
                  <a:srgbClr val="000000"/>
                </a:solidFill>
                <a:effectLst/>
              </a:rPr>
              <a:t> j </a:t>
            </a:r>
            <a:r>
              <a:rPr lang="en-US" b="0" dirty="0">
                <a:solidFill>
                  <a:srgbClr val="0000FF"/>
                </a:solidFill>
                <a:effectLst/>
              </a:rPr>
              <a:t>in</a:t>
            </a:r>
            <a:r>
              <a:rPr lang="en-US" b="0" dirty="0">
                <a:solidFill>
                  <a:srgbClr val="000000"/>
                </a:solidFill>
                <a:effectLst/>
              </a:rPr>
              <a:t> </a:t>
            </a:r>
            <a:r>
              <a:rPr lang="en-US" b="0" dirty="0">
                <a:solidFill>
                  <a:srgbClr val="6A5221"/>
                </a:solidFill>
                <a:effectLst/>
              </a:rPr>
              <a:t>range</a:t>
            </a:r>
            <a:r>
              <a:rPr lang="en-US" b="0" dirty="0">
                <a:solidFill>
                  <a:srgbClr val="000000"/>
                </a:solidFill>
                <a:effectLst/>
              </a:rPr>
              <a:t>(</a:t>
            </a:r>
            <a:r>
              <a:rPr lang="en-US" b="0" dirty="0">
                <a:solidFill>
                  <a:srgbClr val="116644"/>
                </a:solidFill>
                <a:effectLst/>
              </a:rPr>
              <a:t>3</a:t>
            </a:r>
            <a:r>
              <a:rPr lang="en-US" b="0" dirty="0">
                <a:solidFill>
                  <a:srgbClr val="000000"/>
                </a:solidFill>
                <a:effectLst/>
              </a:rPr>
              <a:t>):</a:t>
            </a:r>
          </a:p>
          <a:p>
            <a:pPr algn="just">
              <a:spcAft>
                <a:spcPts val="600"/>
              </a:spcAft>
              <a:buNone/>
            </a:pPr>
            <a:r>
              <a:rPr lang="en-US" b="0" dirty="0" err="1">
                <a:solidFill>
                  <a:srgbClr val="000000"/>
                </a:solidFill>
                <a:effectLst/>
              </a:rPr>
              <a:t>ax.text</a:t>
            </a:r>
            <a:r>
              <a:rPr lang="en-US" b="0" dirty="0">
                <a:solidFill>
                  <a:srgbClr val="000000"/>
                </a:solidFill>
                <a:effectLst/>
              </a:rPr>
              <a:t>(j + </a:t>
            </a:r>
            <a:r>
              <a:rPr lang="en-US" b="0" dirty="0">
                <a:solidFill>
                  <a:srgbClr val="116644"/>
                </a:solidFill>
                <a:effectLst/>
              </a:rPr>
              <a:t>0.5</a:t>
            </a:r>
            <a:r>
              <a:rPr lang="en-US" b="0" dirty="0">
                <a:solidFill>
                  <a:srgbClr val="000000"/>
                </a:solidFill>
                <a:effectLst/>
              </a:rPr>
              <a:t>, </a:t>
            </a:r>
            <a:r>
              <a:rPr lang="en-US" b="0" dirty="0" err="1">
                <a:solidFill>
                  <a:srgbClr val="000000"/>
                </a:solidFill>
                <a:effectLst/>
              </a:rPr>
              <a:t>i</a:t>
            </a:r>
            <a:r>
              <a:rPr lang="en-US" b="0" dirty="0">
                <a:solidFill>
                  <a:srgbClr val="000000"/>
                </a:solidFill>
                <a:effectLst/>
              </a:rPr>
              <a:t> + </a:t>
            </a:r>
            <a:r>
              <a:rPr lang="en-US" b="0" dirty="0">
                <a:solidFill>
                  <a:srgbClr val="116644"/>
                </a:solidFill>
                <a:effectLst/>
              </a:rPr>
              <a:t>0.5</a:t>
            </a:r>
            <a:r>
              <a:rPr lang="en-US" b="0" dirty="0">
                <a:solidFill>
                  <a:srgbClr val="000000"/>
                </a:solidFill>
                <a:effectLst/>
              </a:rPr>
              <a:t>, </a:t>
            </a:r>
            <a:r>
              <a:rPr lang="en-US" b="0" dirty="0" err="1">
                <a:solidFill>
                  <a:srgbClr val="000000"/>
                </a:solidFill>
                <a:effectLst/>
              </a:rPr>
              <a:t>cm_with_totals</a:t>
            </a:r>
            <a:r>
              <a:rPr lang="en-US" b="0" dirty="0">
                <a:solidFill>
                  <a:srgbClr val="000000"/>
                </a:solidFill>
                <a:effectLst/>
              </a:rPr>
              <a:t>[</a:t>
            </a:r>
            <a:r>
              <a:rPr lang="en-US" b="0" dirty="0" err="1">
                <a:solidFill>
                  <a:srgbClr val="000000"/>
                </a:solidFill>
                <a:effectLst/>
              </a:rPr>
              <a:t>i</a:t>
            </a:r>
            <a:r>
              <a:rPr lang="en-US" b="0" dirty="0">
                <a:solidFill>
                  <a:srgbClr val="000000"/>
                </a:solidFill>
                <a:effectLst/>
              </a:rPr>
              <a:t>, j], </a:t>
            </a:r>
            <a:r>
              <a:rPr lang="en-US" b="0" dirty="0" err="1">
                <a:solidFill>
                  <a:srgbClr val="000000"/>
                </a:solidFill>
                <a:effectLst/>
              </a:rPr>
              <a:t>va</a:t>
            </a:r>
            <a:r>
              <a:rPr lang="en-US" b="0" dirty="0">
                <a:solidFill>
                  <a:srgbClr val="000000"/>
                </a:solidFill>
                <a:effectLst/>
              </a:rPr>
              <a:t>=</a:t>
            </a:r>
            <a:r>
              <a:rPr lang="en-US" b="0" dirty="0">
                <a:solidFill>
                  <a:srgbClr val="A31515"/>
                </a:solidFill>
                <a:effectLst/>
              </a:rPr>
              <a:t>"center"</a:t>
            </a:r>
            <a:r>
              <a:rPr lang="en-US" b="0" dirty="0">
                <a:solidFill>
                  <a:srgbClr val="000000"/>
                </a:solidFill>
                <a:effectLst/>
              </a:rPr>
              <a:t>, ha=</a:t>
            </a:r>
            <a:r>
              <a:rPr lang="en-US" b="0" dirty="0">
                <a:solidFill>
                  <a:srgbClr val="A31515"/>
                </a:solidFill>
                <a:effectLst/>
              </a:rPr>
              <a:t>"center"</a:t>
            </a:r>
            <a:r>
              <a:rPr lang="en-US" b="0" dirty="0">
                <a:solidFill>
                  <a:srgbClr val="000000"/>
                </a:solidFill>
                <a:effectLst/>
              </a:rPr>
              <a:t>, </a:t>
            </a:r>
            <a:r>
              <a:rPr lang="en-US" b="0" dirty="0" err="1">
                <a:solidFill>
                  <a:srgbClr val="000000"/>
                </a:solidFill>
                <a:effectLst/>
              </a:rPr>
              <a:t>fontsize</a:t>
            </a:r>
            <a:r>
              <a:rPr lang="en-US" b="0" dirty="0">
                <a:solidFill>
                  <a:srgbClr val="000000"/>
                </a:solidFill>
                <a:effectLst/>
              </a:rPr>
              <a:t>=</a:t>
            </a:r>
            <a:r>
              <a:rPr lang="en-US" b="0" dirty="0">
                <a:solidFill>
                  <a:srgbClr val="116644"/>
                </a:solidFill>
                <a:effectLst/>
              </a:rPr>
              <a:t>9</a:t>
            </a:r>
            <a:r>
              <a:rPr lang="en-US" b="0" dirty="0">
                <a:solidFill>
                  <a:srgbClr val="000000"/>
                </a:solidFill>
                <a:effectLst/>
              </a:rPr>
              <a:t>)</a:t>
            </a:r>
          </a:p>
          <a:p>
            <a:pPr algn="just">
              <a:spcAft>
                <a:spcPts val="600"/>
              </a:spcAft>
              <a:buNone/>
            </a:pPr>
            <a:r>
              <a:rPr lang="en-US" b="0" dirty="0">
                <a:solidFill>
                  <a:srgbClr val="008000"/>
                </a:solidFill>
                <a:effectLst/>
              </a:rPr>
              <a:t># </a:t>
            </a:r>
            <a:r>
              <a:rPr lang="en-US" b="0" dirty="0" err="1">
                <a:solidFill>
                  <a:srgbClr val="008000"/>
                </a:solidFill>
                <a:effectLst/>
              </a:rPr>
              <a:t>ax.add_patch</a:t>
            </a:r>
            <a:r>
              <a:rPr lang="en-US" b="0" dirty="0">
                <a:solidFill>
                  <a:srgbClr val="008000"/>
                </a:solidFill>
                <a:effectLst/>
              </a:rPr>
              <a:t>(</a:t>
            </a:r>
            <a:r>
              <a:rPr lang="en-US" b="0" dirty="0" err="1">
                <a:solidFill>
                  <a:srgbClr val="008000"/>
                </a:solidFill>
                <a:effectLst/>
              </a:rPr>
              <a:t>plt.Rectangle</a:t>
            </a:r>
            <a:r>
              <a:rPr lang="en-US" b="0" dirty="0">
                <a:solidFill>
                  <a:srgbClr val="008000"/>
                </a:solidFill>
                <a:effectLst/>
              </a:rPr>
              <a:t>((j, </a:t>
            </a:r>
            <a:r>
              <a:rPr lang="en-US" b="0" dirty="0" err="1">
                <a:solidFill>
                  <a:srgbClr val="008000"/>
                </a:solidFill>
                <a:effectLst/>
              </a:rPr>
              <a:t>i</a:t>
            </a:r>
            <a:r>
              <a:rPr lang="en-US" b="0" dirty="0">
                <a:solidFill>
                  <a:srgbClr val="008000"/>
                </a:solidFill>
                <a:effectLst/>
              </a:rPr>
              <a:t>), 1, 1, color=colors[</a:t>
            </a:r>
            <a:r>
              <a:rPr lang="en-US" b="0" dirty="0" err="1">
                <a:solidFill>
                  <a:srgbClr val="008000"/>
                </a:solidFill>
                <a:effectLst/>
              </a:rPr>
              <a:t>i</a:t>
            </a:r>
            <a:r>
              <a:rPr lang="en-US" b="0" dirty="0">
                <a:solidFill>
                  <a:srgbClr val="008000"/>
                </a:solidFill>
                <a:effectLst/>
              </a:rPr>
              <a:t>][j], fill=True))</a:t>
            </a:r>
            <a:endParaRPr lang="en-US" b="0" dirty="0">
              <a:solidFill>
                <a:srgbClr val="000000"/>
              </a:solidFill>
              <a:effectLst/>
            </a:endParaRPr>
          </a:p>
          <a:p>
            <a:pPr algn="just">
              <a:spcAft>
                <a:spcPts val="600"/>
              </a:spcAft>
              <a:buNone/>
            </a:pPr>
            <a:r>
              <a:rPr lang="en-US" b="0" dirty="0" err="1">
                <a:solidFill>
                  <a:srgbClr val="000000"/>
                </a:solidFill>
                <a:effectLst/>
              </a:rPr>
              <a:t>ax.add_patch</a:t>
            </a:r>
            <a:r>
              <a:rPr lang="en-US" b="0" dirty="0">
                <a:solidFill>
                  <a:srgbClr val="000000"/>
                </a:solidFill>
                <a:effectLst/>
              </a:rPr>
              <a:t>(</a:t>
            </a:r>
            <a:r>
              <a:rPr lang="en-US" b="0" dirty="0" err="1">
                <a:solidFill>
                  <a:srgbClr val="000000"/>
                </a:solidFill>
                <a:effectLst/>
              </a:rPr>
              <a:t>plt.Rectangle</a:t>
            </a:r>
            <a:r>
              <a:rPr lang="en-US" b="0" dirty="0">
                <a:solidFill>
                  <a:srgbClr val="000000"/>
                </a:solidFill>
                <a:effectLst/>
              </a:rPr>
              <a:t>((j, </a:t>
            </a:r>
            <a:r>
              <a:rPr lang="en-US" b="0" dirty="0" err="1">
                <a:solidFill>
                  <a:srgbClr val="000000"/>
                </a:solidFill>
                <a:effectLst/>
              </a:rPr>
              <a:t>i</a:t>
            </a:r>
            <a:r>
              <a:rPr lang="en-US" b="0" dirty="0">
                <a:solidFill>
                  <a:srgbClr val="000000"/>
                </a:solidFill>
                <a:effectLst/>
              </a:rPr>
              <a:t>), </a:t>
            </a:r>
            <a:r>
              <a:rPr lang="en-US" b="0" dirty="0">
                <a:solidFill>
                  <a:srgbClr val="116644"/>
                </a:solidFill>
                <a:effectLst/>
              </a:rPr>
              <a:t>1</a:t>
            </a:r>
            <a:r>
              <a:rPr lang="en-US" b="0" dirty="0">
                <a:solidFill>
                  <a:srgbClr val="000000"/>
                </a:solidFill>
                <a:effectLst/>
              </a:rPr>
              <a:t>, </a:t>
            </a:r>
            <a:r>
              <a:rPr lang="en-US" b="0" dirty="0">
                <a:solidFill>
                  <a:srgbClr val="116644"/>
                </a:solidFill>
                <a:effectLst/>
              </a:rPr>
              <a:t>1</a:t>
            </a:r>
            <a:r>
              <a:rPr lang="en-US" b="0" dirty="0">
                <a:solidFill>
                  <a:srgbClr val="000000"/>
                </a:solidFill>
                <a:effectLst/>
              </a:rPr>
              <a:t>, color=</a:t>
            </a:r>
            <a:r>
              <a:rPr lang="en-US" b="0" dirty="0">
                <a:solidFill>
                  <a:srgbClr val="A31515"/>
                </a:solidFill>
                <a:effectLst/>
              </a:rPr>
              <a:t>"#FFFFFF"</a:t>
            </a:r>
            <a:r>
              <a:rPr lang="en-US" b="0" dirty="0">
                <a:solidFill>
                  <a:srgbClr val="000000"/>
                </a:solidFill>
                <a:effectLst/>
              </a:rPr>
              <a:t>, fill=</a:t>
            </a:r>
            <a:r>
              <a:rPr lang="en-US" b="0" dirty="0">
                <a:solidFill>
                  <a:srgbClr val="0000FF"/>
                </a:solidFill>
                <a:effectLst/>
              </a:rPr>
              <a:t>True</a:t>
            </a:r>
            <a:r>
              <a:rPr lang="en-US" b="0" dirty="0">
                <a:solidFill>
                  <a:srgbClr val="000000"/>
                </a:solidFill>
                <a:effectLst/>
              </a:rPr>
              <a:t>))</a:t>
            </a:r>
          </a:p>
          <a:p>
            <a:pPr algn="just">
              <a:spcAft>
                <a:spcPts val="600"/>
              </a:spcAft>
              <a:buNone/>
            </a:pPr>
            <a:endParaRPr lang="en-US" b="0" dirty="0">
              <a:solidFill>
                <a:srgbClr val="000000"/>
              </a:solidFill>
              <a:effectLst/>
            </a:endParaRPr>
          </a:p>
          <a:p>
            <a:pPr algn="just">
              <a:spcAft>
                <a:spcPts val="600"/>
              </a:spcAft>
              <a:buNone/>
            </a:pPr>
            <a:r>
              <a:rPr lang="en-US" dirty="0">
                <a:solidFill>
                  <a:srgbClr val="9723B4"/>
                </a:solidFill>
              </a:rPr>
              <a:t>for</a:t>
            </a:r>
            <a:r>
              <a:rPr lang="en-US" dirty="0">
                <a:solidFill>
                  <a:srgbClr val="000000"/>
                </a:solidFill>
              </a:rPr>
              <a:t> </a:t>
            </a:r>
            <a:r>
              <a:rPr lang="en-US" dirty="0" err="1">
                <a:solidFill>
                  <a:srgbClr val="000000"/>
                </a:solidFill>
              </a:rPr>
              <a:t>i</a:t>
            </a:r>
            <a:r>
              <a:rPr lang="en-US" dirty="0">
                <a:solidFill>
                  <a:srgbClr val="000000"/>
                </a:solidFill>
              </a:rPr>
              <a:t> </a:t>
            </a:r>
            <a:r>
              <a:rPr lang="en-US" dirty="0">
                <a:solidFill>
                  <a:srgbClr val="0000FF"/>
                </a:solidFill>
              </a:rPr>
              <a:t>in</a:t>
            </a:r>
            <a:r>
              <a:rPr lang="en-US" dirty="0">
                <a:solidFill>
                  <a:srgbClr val="000000"/>
                </a:solidFill>
              </a:rPr>
              <a:t> </a:t>
            </a:r>
            <a:r>
              <a:rPr lang="en-US" dirty="0">
                <a:solidFill>
                  <a:srgbClr val="6A5221"/>
                </a:solidFill>
              </a:rPr>
              <a:t>range</a:t>
            </a:r>
            <a:r>
              <a:rPr lang="en-US" dirty="0">
                <a:solidFill>
                  <a:srgbClr val="000000"/>
                </a:solidFill>
              </a:rPr>
              <a:t>(</a:t>
            </a:r>
            <a:r>
              <a:rPr lang="en-US" dirty="0">
                <a:solidFill>
                  <a:srgbClr val="116644"/>
                </a:solidFill>
              </a:rPr>
              <a:t>4</a:t>
            </a:r>
            <a:r>
              <a:rPr lang="en-US" dirty="0">
                <a:solidFill>
                  <a:srgbClr val="000000"/>
                </a:solidFill>
              </a:rPr>
              <a:t>):</a:t>
            </a:r>
          </a:p>
          <a:p>
            <a:pPr algn="just">
              <a:spcAft>
                <a:spcPts val="600"/>
              </a:spcAft>
              <a:buNone/>
            </a:pPr>
            <a:r>
              <a:rPr lang="en-US" dirty="0" err="1">
                <a:solidFill>
                  <a:srgbClr val="000000"/>
                </a:solidFill>
              </a:rPr>
              <a:t>ax.plot</a:t>
            </a:r>
            <a:r>
              <a:rPr lang="en-US" dirty="0">
                <a:solidFill>
                  <a:srgbClr val="000000"/>
                </a:solidFill>
              </a:rPr>
              <a:t>([</a:t>
            </a:r>
            <a:r>
              <a:rPr lang="en-US" dirty="0" err="1">
                <a:solidFill>
                  <a:srgbClr val="000000"/>
                </a:solidFill>
              </a:rPr>
              <a:t>i</a:t>
            </a:r>
            <a:r>
              <a:rPr lang="en-US" dirty="0">
                <a:solidFill>
                  <a:srgbClr val="000000"/>
                </a:solidFill>
              </a:rPr>
              <a:t>, </a:t>
            </a:r>
            <a:r>
              <a:rPr lang="en-US" dirty="0" err="1">
                <a:solidFill>
                  <a:srgbClr val="000000"/>
                </a:solidFill>
              </a:rPr>
              <a:t>i</a:t>
            </a:r>
            <a:r>
              <a:rPr lang="en-US" dirty="0">
                <a:solidFill>
                  <a:srgbClr val="000000"/>
                </a:solidFill>
              </a:rPr>
              <a:t>], [</a:t>
            </a:r>
            <a:r>
              <a:rPr lang="en-US" dirty="0">
                <a:solidFill>
                  <a:srgbClr val="116644"/>
                </a:solidFill>
              </a:rPr>
              <a:t>0</a:t>
            </a:r>
            <a:r>
              <a:rPr lang="en-US" dirty="0">
                <a:solidFill>
                  <a:srgbClr val="000000"/>
                </a:solidFill>
              </a:rPr>
              <a:t>, </a:t>
            </a:r>
            <a:r>
              <a:rPr lang="en-US" dirty="0">
                <a:solidFill>
                  <a:srgbClr val="116644"/>
                </a:solidFill>
              </a:rPr>
              <a:t>3</a:t>
            </a:r>
            <a:r>
              <a:rPr lang="en-US" dirty="0">
                <a:solidFill>
                  <a:srgbClr val="000000"/>
                </a:solidFill>
              </a:rPr>
              <a:t>], color=</a:t>
            </a:r>
            <a:r>
              <a:rPr lang="en-US" dirty="0">
                <a:solidFill>
                  <a:srgbClr val="A31515"/>
                </a:solidFill>
              </a:rPr>
              <a:t>"black"</a:t>
            </a:r>
            <a:r>
              <a:rPr lang="en-US" dirty="0">
                <a:solidFill>
                  <a:srgbClr val="000000"/>
                </a:solidFill>
              </a:rPr>
              <a:t>, linewidth=</a:t>
            </a:r>
            <a:r>
              <a:rPr lang="en-US" dirty="0">
                <a:solidFill>
                  <a:srgbClr val="116644"/>
                </a:solidFill>
              </a:rPr>
              <a:t>0.1</a:t>
            </a:r>
            <a:r>
              <a:rPr lang="en-US" dirty="0">
                <a:solidFill>
                  <a:srgbClr val="000000"/>
                </a:solidFill>
              </a:rPr>
              <a:t>)</a:t>
            </a:r>
          </a:p>
          <a:p>
            <a:pPr algn="just">
              <a:spcAft>
                <a:spcPts val="600"/>
              </a:spcAft>
              <a:buNone/>
            </a:pPr>
            <a:r>
              <a:rPr lang="en-US" dirty="0" err="1">
                <a:solidFill>
                  <a:srgbClr val="000000"/>
                </a:solidFill>
              </a:rPr>
              <a:t>ax.plot</a:t>
            </a:r>
            <a:r>
              <a:rPr lang="en-US" dirty="0">
                <a:solidFill>
                  <a:srgbClr val="000000"/>
                </a:solidFill>
              </a:rPr>
              <a:t>([</a:t>
            </a:r>
            <a:r>
              <a:rPr lang="en-US" dirty="0">
                <a:solidFill>
                  <a:srgbClr val="116644"/>
                </a:solidFill>
              </a:rPr>
              <a:t>0</a:t>
            </a:r>
            <a:r>
              <a:rPr lang="en-US" dirty="0">
                <a:solidFill>
                  <a:srgbClr val="000000"/>
                </a:solidFill>
              </a:rPr>
              <a:t>, </a:t>
            </a:r>
            <a:r>
              <a:rPr lang="en-US" dirty="0">
                <a:solidFill>
                  <a:srgbClr val="116644"/>
                </a:solidFill>
              </a:rPr>
              <a:t>3</a:t>
            </a:r>
            <a:r>
              <a:rPr lang="en-US" dirty="0">
                <a:solidFill>
                  <a:srgbClr val="000000"/>
                </a:solidFill>
              </a:rPr>
              <a:t>], [</a:t>
            </a:r>
            <a:r>
              <a:rPr lang="en-US" dirty="0" err="1">
                <a:solidFill>
                  <a:srgbClr val="000000"/>
                </a:solidFill>
              </a:rPr>
              <a:t>i</a:t>
            </a:r>
            <a:r>
              <a:rPr lang="en-US" dirty="0">
                <a:solidFill>
                  <a:srgbClr val="000000"/>
                </a:solidFill>
              </a:rPr>
              <a:t>, </a:t>
            </a:r>
            <a:r>
              <a:rPr lang="en-US" dirty="0" err="1">
                <a:solidFill>
                  <a:srgbClr val="000000"/>
                </a:solidFill>
              </a:rPr>
              <a:t>i</a:t>
            </a:r>
            <a:r>
              <a:rPr lang="en-US" dirty="0">
                <a:solidFill>
                  <a:srgbClr val="000000"/>
                </a:solidFill>
              </a:rPr>
              <a:t>], color=</a:t>
            </a:r>
            <a:r>
              <a:rPr lang="en-US" dirty="0">
                <a:solidFill>
                  <a:srgbClr val="A31515"/>
                </a:solidFill>
              </a:rPr>
              <a:t>"black"</a:t>
            </a:r>
            <a:r>
              <a:rPr lang="en-US" dirty="0">
                <a:solidFill>
                  <a:srgbClr val="000000"/>
                </a:solidFill>
              </a:rPr>
              <a:t>, linewidth=</a:t>
            </a:r>
            <a:r>
              <a:rPr lang="en-US" dirty="0">
                <a:solidFill>
                  <a:srgbClr val="116644"/>
                </a:solidFill>
              </a:rPr>
              <a:t>0.1</a:t>
            </a:r>
            <a:r>
              <a:rPr lang="en-US" dirty="0">
                <a:solidFill>
                  <a:srgbClr val="000000"/>
                </a:solidFill>
              </a:rPr>
              <a:t>)</a:t>
            </a:r>
          </a:p>
          <a:p>
            <a:pPr algn="just">
              <a:spcAft>
                <a:spcPts val="600"/>
              </a:spcAft>
              <a:buNone/>
            </a:pPr>
            <a:br>
              <a:rPr lang="en-US" b="0" dirty="0">
                <a:solidFill>
                  <a:srgbClr val="000000"/>
                </a:solidFill>
                <a:effectLst/>
              </a:rPr>
            </a:br>
            <a:endParaRPr lang="en-US" b="0" dirty="0">
              <a:solidFill>
                <a:srgbClr val="000000"/>
              </a:solidFill>
              <a:effectLst/>
            </a:endParaRPr>
          </a:p>
          <a:p>
            <a:pPr algn="just">
              <a:spcAft>
                <a:spcPts val="600"/>
              </a:spcAft>
              <a:buNone/>
            </a:pPr>
            <a:r>
              <a:rPr lang="en-US" b="0" dirty="0">
                <a:solidFill>
                  <a:srgbClr val="000000"/>
                </a:solidFill>
                <a:effectLst/>
              </a:rPr>
              <a:t>       </a:t>
            </a:r>
          </a:p>
        </p:txBody>
      </p:sp>
    </p:spTree>
    <p:extLst>
      <p:ext uri="{BB962C8B-B14F-4D97-AF65-F5344CB8AC3E}">
        <p14:creationId xmlns:p14="http://schemas.microsoft.com/office/powerpoint/2010/main" val="74892480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E54169-450C-2E58-4A0F-4F943055F22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70CD3FC-2F68-B001-CAD8-4897A3D26F82}"/>
              </a:ext>
            </a:extLst>
          </p:cNvPr>
          <p:cNvSpPr>
            <a:spLocks noGrp="1"/>
          </p:cNvSpPr>
          <p:nvPr>
            <p:ph idx="1"/>
          </p:nvPr>
        </p:nvSpPr>
        <p:spPr>
          <a:xfrm>
            <a:off x="731520" y="1259584"/>
            <a:ext cx="7562154" cy="4825958"/>
          </a:xfrm>
        </p:spPr>
        <p:txBody>
          <a:bodyPr>
            <a:normAutofit/>
          </a:bodyPr>
          <a:lstStyle/>
          <a:p>
            <a:pPr marL="0" indent="0">
              <a:buNone/>
            </a:pPr>
            <a:r>
              <a:rPr lang="en-US" sz="5400" dirty="0"/>
              <a:t>         </a:t>
            </a:r>
          </a:p>
          <a:p>
            <a:pPr marL="0" indent="0">
              <a:buNone/>
            </a:pPr>
            <a:endParaRPr lang="en-US" sz="5400" dirty="0"/>
          </a:p>
          <a:p>
            <a:pPr marL="0" indent="0">
              <a:buNone/>
            </a:pPr>
            <a:r>
              <a:rPr lang="en-US" sz="5400" dirty="0"/>
              <a:t>              </a:t>
            </a:r>
          </a:p>
        </p:txBody>
      </p:sp>
      <p:sp>
        <p:nvSpPr>
          <p:cNvPr id="14" name="TextBox 13">
            <a:extLst>
              <a:ext uri="{FF2B5EF4-FFF2-40B4-BE49-F238E27FC236}">
                <a16:creationId xmlns:a16="http://schemas.microsoft.com/office/drawing/2014/main" id="{0C36B38E-18D3-D052-93A2-5D4CB5DF686D}"/>
              </a:ext>
            </a:extLst>
          </p:cNvPr>
          <p:cNvSpPr txBox="1"/>
          <p:nvPr/>
        </p:nvSpPr>
        <p:spPr>
          <a:xfrm>
            <a:off x="850326" y="547257"/>
            <a:ext cx="7393321" cy="5451951"/>
          </a:xfrm>
          <a:custGeom>
            <a:avLst/>
            <a:gdLst>
              <a:gd name="connsiteX0" fmla="*/ 0 w 7379274"/>
              <a:gd name="connsiteY0" fmla="*/ 0 h 6509474"/>
              <a:gd name="connsiteX1" fmla="*/ 7379274 w 7379274"/>
              <a:gd name="connsiteY1" fmla="*/ 0 h 6509474"/>
              <a:gd name="connsiteX2" fmla="*/ 7379274 w 7379274"/>
              <a:gd name="connsiteY2" fmla="*/ 6509474 h 6509474"/>
              <a:gd name="connsiteX3" fmla="*/ 0 w 7379274"/>
              <a:gd name="connsiteY3" fmla="*/ 6509474 h 6509474"/>
              <a:gd name="connsiteX4" fmla="*/ 0 w 7379274"/>
              <a:gd name="connsiteY4" fmla="*/ 0 h 6509474"/>
              <a:gd name="connsiteX0" fmla="*/ 0 w 7379274"/>
              <a:gd name="connsiteY0" fmla="*/ 0 h 6509474"/>
              <a:gd name="connsiteX1" fmla="*/ 7379274 w 7379274"/>
              <a:gd name="connsiteY1" fmla="*/ 0 h 6509474"/>
              <a:gd name="connsiteX2" fmla="*/ 7379274 w 7379274"/>
              <a:gd name="connsiteY2" fmla="*/ 6509474 h 6509474"/>
              <a:gd name="connsiteX3" fmla="*/ 85344 w 7379274"/>
              <a:gd name="connsiteY3" fmla="*/ 5387810 h 6509474"/>
              <a:gd name="connsiteX4" fmla="*/ 0 w 7379274"/>
              <a:gd name="connsiteY4" fmla="*/ 0 h 6509474"/>
              <a:gd name="connsiteX0" fmla="*/ 0 w 7385370"/>
              <a:gd name="connsiteY0" fmla="*/ 0 h 5430482"/>
              <a:gd name="connsiteX1" fmla="*/ 7379274 w 7385370"/>
              <a:gd name="connsiteY1" fmla="*/ 0 h 5430482"/>
              <a:gd name="connsiteX2" fmla="*/ 7385370 w 7385370"/>
              <a:gd name="connsiteY2" fmla="*/ 5430482 h 5430482"/>
              <a:gd name="connsiteX3" fmla="*/ 85344 w 7385370"/>
              <a:gd name="connsiteY3" fmla="*/ 5387810 h 5430482"/>
              <a:gd name="connsiteX4" fmla="*/ 0 w 7385370"/>
              <a:gd name="connsiteY4" fmla="*/ 0 h 5430482"/>
              <a:gd name="connsiteX0" fmla="*/ 0 w 7385370"/>
              <a:gd name="connsiteY0" fmla="*/ 0 h 5430482"/>
              <a:gd name="connsiteX1" fmla="*/ 7379274 w 7385370"/>
              <a:gd name="connsiteY1" fmla="*/ 0 h 5430482"/>
              <a:gd name="connsiteX2" fmla="*/ 7385370 w 7385370"/>
              <a:gd name="connsiteY2" fmla="*/ 5430482 h 5430482"/>
              <a:gd name="connsiteX3" fmla="*/ 77392 w 7385370"/>
              <a:gd name="connsiteY3" fmla="*/ 4479046 h 5430482"/>
              <a:gd name="connsiteX4" fmla="*/ 0 w 7385370"/>
              <a:gd name="connsiteY4" fmla="*/ 0 h 5430482"/>
              <a:gd name="connsiteX0" fmla="*/ 0 w 7393321"/>
              <a:gd name="connsiteY0" fmla="*/ 0 h 4548251"/>
              <a:gd name="connsiteX1" fmla="*/ 7379274 w 7393321"/>
              <a:gd name="connsiteY1" fmla="*/ 0 h 4548251"/>
              <a:gd name="connsiteX2" fmla="*/ 7393321 w 7393321"/>
              <a:gd name="connsiteY2" fmla="*/ 4548251 h 4548251"/>
              <a:gd name="connsiteX3" fmla="*/ 77392 w 7393321"/>
              <a:gd name="connsiteY3" fmla="*/ 4479046 h 4548251"/>
              <a:gd name="connsiteX4" fmla="*/ 0 w 7393321"/>
              <a:gd name="connsiteY4" fmla="*/ 0 h 45482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3321" h="4548251">
                <a:moveTo>
                  <a:pt x="0" y="0"/>
                </a:moveTo>
                <a:lnTo>
                  <a:pt x="7379274" y="0"/>
                </a:lnTo>
                <a:cubicBezTo>
                  <a:pt x="7383956" y="1516084"/>
                  <a:pt x="7388639" y="3032167"/>
                  <a:pt x="7393321" y="4548251"/>
                </a:cubicBezTo>
                <a:lnTo>
                  <a:pt x="77392" y="4479046"/>
                </a:lnTo>
                <a:lnTo>
                  <a:pt x="0" y="0"/>
                </a:lnTo>
                <a:close/>
              </a:path>
            </a:pathLst>
          </a:custGeom>
          <a:noFill/>
        </p:spPr>
        <p:txBody>
          <a:bodyPr wrap="square">
            <a:spAutoFit/>
          </a:bodyPr>
          <a:lstStyle/>
          <a:p>
            <a:pPr algn="just">
              <a:spcAft>
                <a:spcPts val="600"/>
              </a:spcAft>
              <a:buNone/>
            </a:pPr>
            <a:r>
              <a:rPr lang="en-US" b="0" dirty="0" err="1">
                <a:solidFill>
                  <a:srgbClr val="000000"/>
                </a:solidFill>
                <a:effectLst/>
              </a:rPr>
              <a:t>ax.set_xlabel</a:t>
            </a:r>
            <a:r>
              <a:rPr lang="en-US" b="0" dirty="0">
                <a:solidFill>
                  <a:srgbClr val="000000"/>
                </a:solidFill>
                <a:effectLst/>
              </a:rPr>
              <a:t>(</a:t>
            </a:r>
            <a:r>
              <a:rPr lang="en-US" b="0" dirty="0">
                <a:solidFill>
                  <a:srgbClr val="A31515"/>
                </a:solidFill>
                <a:effectLst/>
              </a:rPr>
              <a:t>"Predicted"</a:t>
            </a:r>
            <a:r>
              <a:rPr lang="en-US" b="0" dirty="0">
                <a:solidFill>
                  <a:srgbClr val="000000"/>
                </a:solidFill>
                <a:effectLst/>
              </a:rPr>
              <a:t>, </a:t>
            </a:r>
            <a:r>
              <a:rPr lang="en-US" b="0" dirty="0" err="1">
                <a:solidFill>
                  <a:srgbClr val="000000"/>
                </a:solidFill>
                <a:effectLst/>
              </a:rPr>
              <a:t>fontsize</a:t>
            </a:r>
            <a:r>
              <a:rPr lang="en-US" b="0" dirty="0">
                <a:solidFill>
                  <a:srgbClr val="000000"/>
                </a:solidFill>
                <a:effectLst/>
              </a:rPr>
              <a:t>=</a:t>
            </a:r>
            <a:r>
              <a:rPr lang="en-US" b="0" dirty="0">
                <a:solidFill>
                  <a:srgbClr val="116644"/>
                </a:solidFill>
                <a:effectLst/>
              </a:rPr>
              <a:t>10</a:t>
            </a:r>
            <a:r>
              <a:rPr lang="en-US" b="0" dirty="0">
                <a:solidFill>
                  <a:srgbClr val="000000"/>
                </a:solidFill>
                <a:effectLst/>
              </a:rPr>
              <a:t>)</a:t>
            </a:r>
          </a:p>
          <a:p>
            <a:pPr algn="just">
              <a:spcAft>
                <a:spcPts val="600"/>
              </a:spcAft>
              <a:buNone/>
            </a:pPr>
            <a:r>
              <a:rPr lang="en-US" b="0" dirty="0" err="1">
                <a:solidFill>
                  <a:srgbClr val="000000"/>
                </a:solidFill>
                <a:effectLst/>
              </a:rPr>
              <a:t>ax.set_ylabel</a:t>
            </a:r>
            <a:r>
              <a:rPr lang="en-US" b="0" dirty="0">
                <a:solidFill>
                  <a:srgbClr val="000000"/>
                </a:solidFill>
                <a:effectLst/>
              </a:rPr>
              <a:t>(</a:t>
            </a:r>
            <a:r>
              <a:rPr lang="en-US" b="0" dirty="0">
                <a:solidFill>
                  <a:srgbClr val="A31515"/>
                </a:solidFill>
                <a:effectLst/>
              </a:rPr>
              <a:t>"Actual"</a:t>
            </a:r>
            <a:r>
              <a:rPr lang="en-US" b="0" dirty="0">
                <a:solidFill>
                  <a:srgbClr val="000000"/>
                </a:solidFill>
                <a:effectLst/>
              </a:rPr>
              <a:t>, </a:t>
            </a:r>
            <a:r>
              <a:rPr lang="en-US" b="0" dirty="0" err="1">
                <a:solidFill>
                  <a:srgbClr val="000000"/>
                </a:solidFill>
                <a:effectLst/>
              </a:rPr>
              <a:t>fontsize</a:t>
            </a:r>
            <a:r>
              <a:rPr lang="en-US" b="0" dirty="0">
                <a:solidFill>
                  <a:srgbClr val="000000"/>
                </a:solidFill>
                <a:effectLst/>
              </a:rPr>
              <a:t>=</a:t>
            </a:r>
            <a:r>
              <a:rPr lang="en-US" b="0" dirty="0">
                <a:solidFill>
                  <a:srgbClr val="116644"/>
                </a:solidFill>
                <a:effectLst/>
              </a:rPr>
              <a:t>10</a:t>
            </a:r>
            <a:r>
              <a:rPr lang="en-US" b="0" dirty="0">
                <a:solidFill>
                  <a:srgbClr val="000000"/>
                </a:solidFill>
                <a:effectLst/>
              </a:rPr>
              <a:t>)</a:t>
            </a:r>
          </a:p>
          <a:p>
            <a:pPr algn="just">
              <a:spcAft>
                <a:spcPts val="600"/>
              </a:spcAft>
              <a:buNone/>
            </a:pPr>
            <a:r>
              <a:rPr lang="en-US" b="0" dirty="0" err="1">
                <a:solidFill>
                  <a:srgbClr val="000000"/>
                </a:solidFill>
                <a:effectLst/>
              </a:rPr>
              <a:t>ax.set_xticks</a:t>
            </a:r>
            <a:r>
              <a:rPr lang="en-US" b="0" dirty="0">
                <a:solidFill>
                  <a:srgbClr val="000000"/>
                </a:solidFill>
                <a:effectLst/>
              </a:rPr>
              <a:t>([</a:t>
            </a:r>
            <a:r>
              <a:rPr lang="en-US" b="0" dirty="0">
                <a:solidFill>
                  <a:srgbClr val="116644"/>
                </a:solidFill>
                <a:effectLst/>
              </a:rPr>
              <a:t>0.5</a:t>
            </a:r>
            <a:r>
              <a:rPr lang="en-US" b="0" dirty="0">
                <a:solidFill>
                  <a:srgbClr val="000000"/>
                </a:solidFill>
                <a:effectLst/>
              </a:rPr>
              <a:t>, </a:t>
            </a:r>
            <a:r>
              <a:rPr lang="en-US" b="0" dirty="0">
                <a:solidFill>
                  <a:srgbClr val="116644"/>
                </a:solidFill>
                <a:effectLst/>
              </a:rPr>
              <a:t>1.5</a:t>
            </a:r>
            <a:r>
              <a:rPr lang="en-US" b="0" dirty="0">
                <a:solidFill>
                  <a:srgbClr val="000000"/>
                </a:solidFill>
                <a:effectLst/>
              </a:rPr>
              <a:t>, </a:t>
            </a:r>
            <a:r>
              <a:rPr lang="en-US" b="0" dirty="0">
                <a:solidFill>
                  <a:srgbClr val="116644"/>
                </a:solidFill>
                <a:effectLst/>
              </a:rPr>
              <a:t>2.5</a:t>
            </a:r>
            <a:r>
              <a:rPr lang="en-US" b="0" dirty="0">
                <a:solidFill>
                  <a:srgbClr val="000000"/>
                </a:solidFill>
                <a:effectLst/>
              </a:rPr>
              <a:t>])</a:t>
            </a:r>
          </a:p>
          <a:p>
            <a:pPr algn="just">
              <a:spcAft>
                <a:spcPts val="600"/>
              </a:spcAft>
              <a:buNone/>
            </a:pPr>
            <a:r>
              <a:rPr lang="en-US" b="0" dirty="0" err="1">
                <a:solidFill>
                  <a:srgbClr val="000000"/>
                </a:solidFill>
                <a:effectLst/>
              </a:rPr>
              <a:t>ax.set_yticks</a:t>
            </a:r>
            <a:r>
              <a:rPr lang="en-US" b="0" dirty="0">
                <a:solidFill>
                  <a:srgbClr val="000000"/>
                </a:solidFill>
                <a:effectLst/>
              </a:rPr>
              <a:t>([</a:t>
            </a:r>
            <a:r>
              <a:rPr lang="en-US" b="0" dirty="0">
                <a:solidFill>
                  <a:srgbClr val="116644"/>
                </a:solidFill>
                <a:effectLst/>
              </a:rPr>
              <a:t>0.5</a:t>
            </a:r>
            <a:r>
              <a:rPr lang="en-US" b="0" dirty="0">
                <a:solidFill>
                  <a:srgbClr val="000000"/>
                </a:solidFill>
                <a:effectLst/>
              </a:rPr>
              <a:t>, </a:t>
            </a:r>
            <a:r>
              <a:rPr lang="en-US" b="0" dirty="0">
                <a:solidFill>
                  <a:srgbClr val="116644"/>
                </a:solidFill>
                <a:effectLst/>
              </a:rPr>
              <a:t>1.5</a:t>
            </a:r>
            <a:r>
              <a:rPr lang="en-US" b="0" dirty="0">
                <a:solidFill>
                  <a:srgbClr val="000000"/>
                </a:solidFill>
                <a:effectLst/>
              </a:rPr>
              <a:t>, </a:t>
            </a:r>
            <a:r>
              <a:rPr lang="en-US" b="0" dirty="0">
                <a:solidFill>
                  <a:srgbClr val="116644"/>
                </a:solidFill>
                <a:effectLst/>
              </a:rPr>
              <a:t>2.5</a:t>
            </a:r>
            <a:r>
              <a:rPr lang="en-US" b="0" dirty="0">
                <a:solidFill>
                  <a:srgbClr val="000000"/>
                </a:solidFill>
                <a:effectLst/>
              </a:rPr>
              <a:t>])</a:t>
            </a:r>
          </a:p>
          <a:p>
            <a:pPr algn="just">
              <a:spcAft>
                <a:spcPts val="600"/>
              </a:spcAft>
              <a:buNone/>
            </a:pPr>
            <a:r>
              <a:rPr lang="en-US" b="0" dirty="0" err="1">
                <a:solidFill>
                  <a:srgbClr val="000000"/>
                </a:solidFill>
                <a:effectLst/>
              </a:rPr>
              <a:t>ax.set_xticklabels</a:t>
            </a:r>
            <a:r>
              <a:rPr lang="en-US" b="0" dirty="0">
                <a:solidFill>
                  <a:srgbClr val="000000"/>
                </a:solidFill>
                <a:effectLst/>
              </a:rPr>
              <a:t>([</a:t>
            </a:r>
            <a:r>
              <a:rPr lang="en-US" b="0" dirty="0">
                <a:solidFill>
                  <a:srgbClr val="A31515"/>
                </a:solidFill>
                <a:effectLst/>
              </a:rPr>
              <a:t>"Not Abusive"</a:t>
            </a:r>
            <a:r>
              <a:rPr lang="en-US" b="0" dirty="0">
                <a:solidFill>
                  <a:srgbClr val="000000"/>
                </a:solidFill>
                <a:effectLst/>
              </a:rPr>
              <a:t>, </a:t>
            </a:r>
            <a:r>
              <a:rPr lang="en-US" b="0" dirty="0">
                <a:solidFill>
                  <a:srgbClr val="A31515"/>
                </a:solidFill>
                <a:effectLst/>
              </a:rPr>
              <a:t>"Abusive"</a:t>
            </a:r>
            <a:r>
              <a:rPr lang="en-US" b="0" dirty="0">
                <a:solidFill>
                  <a:srgbClr val="000000"/>
                </a:solidFill>
                <a:effectLst/>
              </a:rPr>
              <a:t>, </a:t>
            </a:r>
            <a:r>
              <a:rPr lang="en-US" b="0" dirty="0">
                <a:solidFill>
                  <a:srgbClr val="A31515"/>
                </a:solidFill>
                <a:effectLst/>
              </a:rPr>
              <a:t>"Total"</a:t>
            </a:r>
            <a:r>
              <a:rPr lang="en-US" b="0" dirty="0">
                <a:solidFill>
                  <a:srgbClr val="000000"/>
                </a:solidFill>
                <a:effectLst/>
              </a:rPr>
              <a:t>], </a:t>
            </a:r>
            <a:r>
              <a:rPr lang="en-US" b="0" dirty="0" err="1">
                <a:solidFill>
                  <a:srgbClr val="000000"/>
                </a:solidFill>
                <a:effectLst/>
              </a:rPr>
              <a:t>fontsize</a:t>
            </a:r>
            <a:r>
              <a:rPr lang="en-US" b="0" dirty="0">
                <a:solidFill>
                  <a:srgbClr val="000000"/>
                </a:solidFill>
                <a:effectLst/>
              </a:rPr>
              <a:t>=</a:t>
            </a:r>
            <a:r>
              <a:rPr lang="en-US" b="0" dirty="0">
                <a:solidFill>
                  <a:srgbClr val="116644"/>
                </a:solidFill>
                <a:effectLst/>
              </a:rPr>
              <a:t>9</a:t>
            </a:r>
            <a:r>
              <a:rPr lang="en-US" b="0" dirty="0">
                <a:solidFill>
                  <a:srgbClr val="000000"/>
                </a:solidFill>
                <a:effectLst/>
              </a:rPr>
              <a:t>)</a:t>
            </a:r>
          </a:p>
          <a:p>
            <a:pPr algn="just">
              <a:spcAft>
                <a:spcPts val="600"/>
              </a:spcAft>
              <a:buNone/>
            </a:pPr>
            <a:r>
              <a:rPr lang="en-US" b="0" dirty="0" err="1">
                <a:solidFill>
                  <a:srgbClr val="000000"/>
                </a:solidFill>
                <a:effectLst/>
              </a:rPr>
              <a:t>ax.set_yticklabels</a:t>
            </a:r>
            <a:r>
              <a:rPr lang="en-US" b="0" dirty="0">
                <a:solidFill>
                  <a:srgbClr val="000000"/>
                </a:solidFill>
                <a:effectLst/>
              </a:rPr>
              <a:t>([</a:t>
            </a:r>
            <a:r>
              <a:rPr lang="en-US" b="0" dirty="0">
                <a:solidFill>
                  <a:srgbClr val="A31515"/>
                </a:solidFill>
                <a:effectLst/>
              </a:rPr>
              <a:t>"Not Abusive"</a:t>
            </a:r>
            <a:r>
              <a:rPr lang="en-US" b="0" dirty="0">
                <a:solidFill>
                  <a:srgbClr val="000000"/>
                </a:solidFill>
                <a:effectLst/>
              </a:rPr>
              <a:t>, </a:t>
            </a:r>
            <a:r>
              <a:rPr lang="en-US" b="0" dirty="0">
                <a:solidFill>
                  <a:srgbClr val="A31515"/>
                </a:solidFill>
                <a:effectLst/>
              </a:rPr>
              <a:t>"Abusive"</a:t>
            </a:r>
            <a:r>
              <a:rPr lang="en-US" b="0" dirty="0">
                <a:solidFill>
                  <a:srgbClr val="000000"/>
                </a:solidFill>
                <a:effectLst/>
              </a:rPr>
              <a:t>, </a:t>
            </a:r>
            <a:r>
              <a:rPr lang="en-US" b="0" dirty="0">
                <a:solidFill>
                  <a:srgbClr val="A31515"/>
                </a:solidFill>
                <a:effectLst/>
              </a:rPr>
              <a:t>"Total"</a:t>
            </a:r>
            <a:r>
              <a:rPr lang="en-US" b="0" dirty="0">
                <a:solidFill>
                  <a:srgbClr val="000000"/>
                </a:solidFill>
                <a:effectLst/>
              </a:rPr>
              <a:t>], </a:t>
            </a:r>
            <a:r>
              <a:rPr lang="en-US" b="0" dirty="0" err="1">
                <a:solidFill>
                  <a:srgbClr val="000000"/>
                </a:solidFill>
                <a:effectLst/>
              </a:rPr>
              <a:t>fontsize</a:t>
            </a:r>
            <a:r>
              <a:rPr lang="en-US" b="0" dirty="0">
                <a:solidFill>
                  <a:srgbClr val="000000"/>
                </a:solidFill>
                <a:effectLst/>
              </a:rPr>
              <a:t>=</a:t>
            </a:r>
            <a:r>
              <a:rPr lang="en-US" b="0" dirty="0">
                <a:solidFill>
                  <a:srgbClr val="116644"/>
                </a:solidFill>
                <a:effectLst/>
              </a:rPr>
              <a:t>9</a:t>
            </a:r>
            <a:r>
              <a:rPr lang="en-US" b="0" dirty="0">
                <a:solidFill>
                  <a:srgbClr val="000000"/>
                </a:solidFill>
                <a:effectLst/>
              </a:rPr>
              <a:t>)</a:t>
            </a:r>
          </a:p>
          <a:p>
            <a:pPr algn="just">
              <a:spcAft>
                <a:spcPts val="600"/>
              </a:spcAft>
              <a:buNone/>
            </a:pPr>
            <a:r>
              <a:rPr lang="en-US" b="0" dirty="0" err="1">
                <a:solidFill>
                  <a:srgbClr val="000000"/>
                </a:solidFill>
                <a:effectLst/>
              </a:rPr>
              <a:t>ax.set_xlim</a:t>
            </a:r>
            <a:r>
              <a:rPr lang="en-US" b="0" dirty="0">
                <a:solidFill>
                  <a:srgbClr val="000000"/>
                </a:solidFill>
                <a:effectLst/>
              </a:rPr>
              <a:t>(</a:t>
            </a:r>
            <a:r>
              <a:rPr lang="en-US" b="0" dirty="0">
                <a:solidFill>
                  <a:srgbClr val="116644"/>
                </a:solidFill>
                <a:effectLst/>
              </a:rPr>
              <a:t>0</a:t>
            </a:r>
            <a:r>
              <a:rPr lang="en-US" b="0" dirty="0">
                <a:solidFill>
                  <a:srgbClr val="000000"/>
                </a:solidFill>
                <a:effectLst/>
              </a:rPr>
              <a:t>, </a:t>
            </a:r>
            <a:r>
              <a:rPr lang="en-US" b="0" dirty="0">
                <a:solidFill>
                  <a:srgbClr val="116644"/>
                </a:solidFill>
                <a:effectLst/>
              </a:rPr>
              <a:t>3</a:t>
            </a:r>
            <a:r>
              <a:rPr lang="en-US" b="0" dirty="0">
                <a:solidFill>
                  <a:srgbClr val="000000"/>
                </a:solidFill>
                <a:effectLst/>
              </a:rPr>
              <a:t>)</a:t>
            </a:r>
          </a:p>
          <a:p>
            <a:pPr algn="just">
              <a:spcAft>
                <a:spcPts val="600"/>
              </a:spcAft>
              <a:buNone/>
            </a:pPr>
            <a:r>
              <a:rPr lang="en-US" b="0" dirty="0" err="1">
                <a:solidFill>
                  <a:srgbClr val="000000"/>
                </a:solidFill>
                <a:effectLst/>
              </a:rPr>
              <a:t>ax.set_ylim</a:t>
            </a:r>
            <a:r>
              <a:rPr lang="en-US" b="0" dirty="0">
                <a:solidFill>
                  <a:srgbClr val="000000"/>
                </a:solidFill>
                <a:effectLst/>
              </a:rPr>
              <a:t>(</a:t>
            </a:r>
            <a:r>
              <a:rPr lang="en-US" b="0" dirty="0">
                <a:solidFill>
                  <a:srgbClr val="116644"/>
                </a:solidFill>
                <a:effectLst/>
              </a:rPr>
              <a:t>0</a:t>
            </a:r>
            <a:r>
              <a:rPr lang="en-US" b="0" dirty="0">
                <a:solidFill>
                  <a:srgbClr val="000000"/>
                </a:solidFill>
                <a:effectLst/>
              </a:rPr>
              <a:t>, </a:t>
            </a:r>
            <a:r>
              <a:rPr lang="en-US" b="0" dirty="0">
                <a:solidFill>
                  <a:srgbClr val="116644"/>
                </a:solidFill>
                <a:effectLst/>
              </a:rPr>
              <a:t>3</a:t>
            </a:r>
            <a:r>
              <a:rPr lang="en-US" b="0" dirty="0">
                <a:solidFill>
                  <a:srgbClr val="000000"/>
                </a:solidFill>
                <a:effectLst/>
              </a:rPr>
              <a:t>)</a:t>
            </a:r>
          </a:p>
          <a:p>
            <a:pPr algn="just">
              <a:spcAft>
                <a:spcPts val="600"/>
              </a:spcAft>
              <a:buNone/>
            </a:pPr>
            <a:r>
              <a:rPr lang="en-US" b="0" dirty="0" err="1">
                <a:solidFill>
                  <a:srgbClr val="000000"/>
                </a:solidFill>
                <a:effectLst/>
              </a:rPr>
              <a:t>ax.invert_yaxis</a:t>
            </a:r>
            <a:r>
              <a:rPr lang="en-US" b="0" dirty="0">
                <a:solidFill>
                  <a:srgbClr val="000000"/>
                </a:solidFill>
                <a:effectLst/>
              </a:rPr>
              <a:t>()</a:t>
            </a:r>
          </a:p>
          <a:p>
            <a:pPr algn="just">
              <a:spcAft>
                <a:spcPts val="600"/>
              </a:spcAft>
              <a:buNone/>
            </a:pPr>
            <a:r>
              <a:rPr lang="en-US" b="0" dirty="0">
                <a:solidFill>
                  <a:srgbClr val="9723B4"/>
                </a:solidFill>
                <a:effectLst/>
              </a:rPr>
              <a:t>for</a:t>
            </a:r>
            <a:r>
              <a:rPr lang="en-US" b="0" dirty="0">
                <a:solidFill>
                  <a:srgbClr val="000000"/>
                </a:solidFill>
                <a:effectLst/>
              </a:rPr>
              <a:t> spine </a:t>
            </a:r>
            <a:r>
              <a:rPr lang="en-US" b="0" dirty="0">
                <a:solidFill>
                  <a:srgbClr val="0000FF"/>
                </a:solidFill>
                <a:effectLst/>
              </a:rPr>
              <a:t>in</a:t>
            </a:r>
            <a:r>
              <a:rPr lang="en-US" b="0" dirty="0">
                <a:solidFill>
                  <a:srgbClr val="000000"/>
                </a:solidFill>
                <a:effectLst/>
              </a:rPr>
              <a:t> </a:t>
            </a:r>
            <a:r>
              <a:rPr lang="en-US" b="0" dirty="0" err="1">
                <a:solidFill>
                  <a:srgbClr val="000000"/>
                </a:solidFill>
                <a:effectLst/>
              </a:rPr>
              <a:t>ax.spines.values</a:t>
            </a:r>
            <a:r>
              <a:rPr lang="en-US" b="0" dirty="0">
                <a:solidFill>
                  <a:srgbClr val="000000"/>
                </a:solidFill>
                <a:effectLst/>
              </a:rPr>
              <a:t>():</a:t>
            </a:r>
          </a:p>
          <a:p>
            <a:pPr algn="just">
              <a:spcAft>
                <a:spcPts val="600"/>
              </a:spcAft>
              <a:buNone/>
            </a:pPr>
            <a:r>
              <a:rPr lang="en-US" b="0" dirty="0" err="1">
                <a:solidFill>
                  <a:srgbClr val="000000"/>
                </a:solidFill>
                <a:effectLst/>
              </a:rPr>
              <a:t>spine.set_edgecolor</a:t>
            </a:r>
            <a:r>
              <a:rPr lang="en-US" b="0" dirty="0">
                <a:solidFill>
                  <a:srgbClr val="000000"/>
                </a:solidFill>
                <a:effectLst/>
              </a:rPr>
              <a:t>(</a:t>
            </a:r>
            <a:r>
              <a:rPr lang="en-US" b="0" dirty="0">
                <a:solidFill>
                  <a:srgbClr val="A31515"/>
                </a:solidFill>
                <a:effectLst/>
              </a:rPr>
              <a:t>"#</a:t>
            </a:r>
            <a:r>
              <a:rPr lang="en-US" b="0" dirty="0" err="1">
                <a:solidFill>
                  <a:srgbClr val="A31515"/>
                </a:solidFill>
                <a:effectLst/>
              </a:rPr>
              <a:t>dedede</a:t>
            </a:r>
            <a:r>
              <a:rPr lang="en-US" b="0" dirty="0">
                <a:solidFill>
                  <a:srgbClr val="A31515"/>
                </a:solidFill>
                <a:effectLst/>
              </a:rPr>
              <a:t>"</a:t>
            </a:r>
            <a:r>
              <a:rPr lang="en-US" b="0" dirty="0">
                <a:solidFill>
                  <a:srgbClr val="000000"/>
                </a:solidFill>
                <a:effectLst/>
              </a:rPr>
              <a:t>)</a:t>
            </a:r>
          </a:p>
          <a:p>
            <a:pPr algn="just">
              <a:spcAft>
                <a:spcPts val="600"/>
              </a:spcAft>
              <a:buNone/>
            </a:pPr>
            <a:r>
              <a:rPr lang="en-US" dirty="0" err="1">
                <a:solidFill>
                  <a:srgbClr val="000000"/>
                </a:solidFill>
              </a:rPr>
              <a:t>text_x</a:t>
            </a:r>
            <a:r>
              <a:rPr lang="en-US" dirty="0">
                <a:solidFill>
                  <a:srgbClr val="000000"/>
                </a:solidFill>
              </a:rPr>
              <a:t> = </a:t>
            </a:r>
            <a:r>
              <a:rPr lang="en-US" dirty="0">
                <a:solidFill>
                  <a:srgbClr val="116644"/>
                </a:solidFill>
              </a:rPr>
              <a:t>3.5</a:t>
            </a:r>
            <a:endParaRPr lang="en-US" dirty="0">
              <a:solidFill>
                <a:srgbClr val="000000"/>
              </a:solidFill>
            </a:endParaRPr>
          </a:p>
          <a:p>
            <a:pPr algn="just">
              <a:spcAft>
                <a:spcPts val="600"/>
              </a:spcAft>
              <a:buNone/>
            </a:pPr>
            <a:r>
              <a:rPr lang="en-US" dirty="0" err="1">
                <a:solidFill>
                  <a:srgbClr val="000000"/>
                </a:solidFill>
              </a:rPr>
              <a:t>ax.text</a:t>
            </a:r>
            <a:r>
              <a:rPr lang="en-US" dirty="0">
                <a:solidFill>
                  <a:srgbClr val="000000"/>
                </a:solidFill>
              </a:rPr>
              <a:t>(</a:t>
            </a:r>
            <a:r>
              <a:rPr lang="en-US" dirty="0" err="1">
                <a:solidFill>
                  <a:srgbClr val="000000"/>
                </a:solidFill>
              </a:rPr>
              <a:t>text_x</a:t>
            </a:r>
            <a:r>
              <a:rPr lang="en-US" dirty="0">
                <a:solidFill>
                  <a:srgbClr val="000000"/>
                </a:solidFill>
              </a:rPr>
              <a:t>, </a:t>
            </a:r>
            <a:r>
              <a:rPr lang="en-US" dirty="0">
                <a:solidFill>
                  <a:srgbClr val="116644"/>
                </a:solidFill>
              </a:rPr>
              <a:t>0.5</a:t>
            </a:r>
            <a:r>
              <a:rPr lang="en-US" dirty="0">
                <a:solidFill>
                  <a:srgbClr val="000000"/>
                </a:solidFill>
              </a:rPr>
              <a:t>, </a:t>
            </a:r>
            <a:r>
              <a:rPr lang="en-US" dirty="0" err="1">
                <a:solidFill>
                  <a:srgbClr val="0000FF"/>
                </a:solidFill>
              </a:rPr>
              <a:t>f</a:t>
            </a:r>
            <a:r>
              <a:rPr lang="en-US" dirty="0" err="1">
                <a:solidFill>
                  <a:srgbClr val="A31515"/>
                </a:solidFill>
              </a:rPr>
              <a:t>"Accuracy</a:t>
            </a:r>
            <a:r>
              <a:rPr lang="en-US" dirty="0">
                <a:solidFill>
                  <a:srgbClr val="A31515"/>
                </a:solidFill>
              </a:rPr>
              <a:t>: </a:t>
            </a:r>
            <a:r>
              <a:rPr lang="en-US" dirty="0">
                <a:solidFill>
                  <a:srgbClr val="000000"/>
                </a:solidFill>
              </a:rPr>
              <a:t>{accuracy</a:t>
            </a:r>
            <a:r>
              <a:rPr lang="en-US" dirty="0">
                <a:solidFill>
                  <a:srgbClr val="116644"/>
                </a:solidFill>
              </a:rPr>
              <a:t>:.4f</a:t>
            </a:r>
            <a:r>
              <a:rPr lang="en-US" dirty="0">
                <a:solidFill>
                  <a:srgbClr val="000000"/>
                </a:solidFill>
              </a:rPr>
              <a:t>}</a:t>
            </a:r>
            <a:r>
              <a:rPr lang="en-US" dirty="0">
                <a:solidFill>
                  <a:srgbClr val="A31515"/>
                </a:solidFill>
              </a:rPr>
              <a:t> (</a:t>
            </a:r>
            <a:r>
              <a:rPr lang="en-US" dirty="0">
                <a:solidFill>
                  <a:srgbClr val="000000"/>
                </a:solidFill>
              </a:rPr>
              <a:t>{accuracy * </a:t>
            </a:r>
            <a:r>
              <a:rPr lang="en-US" dirty="0">
                <a:solidFill>
                  <a:srgbClr val="116644"/>
                </a:solidFill>
              </a:rPr>
              <a:t>100:.2f</a:t>
            </a:r>
            <a:r>
              <a:rPr lang="en-US" dirty="0">
                <a:solidFill>
                  <a:srgbClr val="000000"/>
                </a:solidFill>
              </a:rPr>
              <a:t>}</a:t>
            </a:r>
            <a:r>
              <a:rPr lang="en-US" dirty="0">
                <a:solidFill>
                  <a:srgbClr val="A31515"/>
                </a:solidFill>
              </a:rPr>
              <a:t>%)"</a:t>
            </a:r>
            <a:r>
              <a:rPr lang="en-US" dirty="0">
                <a:solidFill>
                  <a:srgbClr val="000000"/>
                </a:solidFill>
              </a:rPr>
              <a:t>, </a:t>
            </a:r>
            <a:r>
              <a:rPr lang="en-US" dirty="0" err="1">
                <a:solidFill>
                  <a:srgbClr val="000000"/>
                </a:solidFill>
              </a:rPr>
              <a:t>fontsize</a:t>
            </a:r>
            <a:r>
              <a:rPr lang="en-US" dirty="0">
                <a:solidFill>
                  <a:srgbClr val="000000"/>
                </a:solidFill>
              </a:rPr>
              <a:t>=</a:t>
            </a:r>
            <a:r>
              <a:rPr lang="en-US" dirty="0">
                <a:solidFill>
                  <a:srgbClr val="116644"/>
                </a:solidFill>
              </a:rPr>
              <a:t>9</a:t>
            </a:r>
            <a:r>
              <a:rPr lang="en-US" dirty="0">
                <a:solidFill>
                  <a:srgbClr val="000000"/>
                </a:solidFill>
              </a:rPr>
              <a:t>)</a:t>
            </a:r>
          </a:p>
          <a:p>
            <a:pPr algn="just">
              <a:spcAft>
                <a:spcPts val="600"/>
              </a:spcAft>
              <a:buNone/>
            </a:pPr>
            <a:r>
              <a:rPr lang="en-US" dirty="0" err="1">
                <a:solidFill>
                  <a:srgbClr val="000000"/>
                </a:solidFill>
              </a:rPr>
              <a:t>ax.text</a:t>
            </a:r>
            <a:r>
              <a:rPr lang="en-US" dirty="0">
                <a:solidFill>
                  <a:srgbClr val="000000"/>
                </a:solidFill>
              </a:rPr>
              <a:t>(</a:t>
            </a:r>
            <a:r>
              <a:rPr lang="en-US" dirty="0" err="1">
                <a:solidFill>
                  <a:srgbClr val="000000"/>
                </a:solidFill>
              </a:rPr>
              <a:t>text_x</a:t>
            </a:r>
            <a:r>
              <a:rPr lang="en-US" dirty="0">
                <a:solidFill>
                  <a:srgbClr val="000000"/>
                </a:solidFill>
              </a:rPr>
              <a:t>, </a:t>
            </a:r>
            <a:r>
              <a:rPr lang="en-US" dirty="0">
                <a:solidFill>
                  <a:srgbClr val="116644"/>
                </a:solidFill>
              </a:rPr>
              <a:t>1.1</a:t>
            </a:r>
            <a:r>
              <a:rPr lang="en-US" dirty="0">
                <a:solidFill>
                  <a:srgbClr val="000000"/>
                </a:solidFill>
              </a:rPr>
              <a:t>, </a:t>
            </a:r>
            <a:r>
              <a:rPr lang="en-US" dirty="0" err="1">
                <a:solidFill>
                  <a:srgbClr val="0000FF"/>
                </a:solidFill>
              </a:rPr>
              <a:t>f</a:t>
            </a:r>
            <a:r>
              <a:rPr lang="en-US" dirty="0" err="1">
                <a:solidFill>
                  <a:srgbClr val="A31515"/>
                </a:solidFill>
              </a:rPr>
              <a:t>"Sensitivity</a:t>
            </a:r>
            <a:r>
              <a:rPr lang="en-US" dirty="0">
                <a:solidFill>
                  <a:srgbClr val="A31515"/>
                </a:solidFill>
              </a:rPr>
              <a:t>: </a:t>
            </a:r>
            <a:r>
              <a:rPr lang="en-US" dirty="0">
                <a:solidFill>
                  <a:srgbClr val="000000"/>
                </a:solidFill>
              </a:rPr>
              <a:t>{sensitivity</a:t>
            </a:r>
            <a:r>
              <a:rPr lang="en-US" dirty="0">
                <a:solidFill>
                  <a:srgbClr val="116644"/>
                </a:solidFill>
              </a:rPr>
              <a:t>:.4f</a:t>
            </a:r>
            <a:r>
              <a:rPr lang="en-US" dirty="0">
                <a:solidFill>
                  <a:srgbClr val="000000"/>
                </a:solidFill>
              </a:rPr>
              <a:t>}</a:t>
            </a:r>
            <a:r>
              <a:rPr lang="en-US" dirty="0">
                <a:solidFill>
                  <a:srgbClr val="A31515"/>
                </a:solidFill>
              </a:rPr>
              <a:t> (</a:t>
            </a:r>
            <a:r>
              <a:rPr lang="en-US" dirty="0">
                <a:solidFill>
                  <a:srgbClr val="000000"/>
                </a:solidFill>
              </a:rPr>
              <a:t>{sensitivity *</a:t>
            </a:r>
            <a:br>
              <a:rPr lang="en-US" b="0" dirty="0">
                <a:solidFill>
                  <a:srgbClr val="000000"/>
                </a:solidFill>
                <a:effectLst/>
              </a:rPr>
            </a:br>
            <a:r>
              <a:rPr lang="en-US" dirty="0">
                <a:solidFill>
                  <a:srgbClr val="000000"/>
                </a:solidFill>
              </a:rPr>
              <a:t> </a:t>
            </a:r>
            <a:br>
              <a:rPr lang="en-US" dirty="0">
                <a:solidFill>
                  <a:srgbClr val="000000"/>
                </a:solidFill>
              </a:rPr>
            </a:br>
            <a:endParaRPr lang="en-US" dirty="0">
              <a:solidFill>
                <a:srgbClr val="000000"/>
              </a:solidFill>
            </a:endParaRPr>
          </a:p>
          <a:p>
            <a:pPr algn="just">
              <a:spcAft>
                <a:spcPts val="600"/>
              </a:spcAft>
              <a:buNone/>
            </a:pPr>
            <a:r>
              <a:rPr lang="en-US" dirty="0">
                <a:solidFill>
                  <a:srgbClr val="000000"/>
                </a:solidFill>
              </a:rPr>
              <a:t>       </a:t>
            </a:r>
            <a:endParaRPr lang="en-US" b="0" dirty="0">
              <a:solidFill>
                <a:srgbClr val="000000"/>
              </a:solidFill>
              <a:effectLst/>
            </a:endParaRPr>
          </a:p>
          <a:p>
            <a:pPr algn="just">
              <a:spcAft>
                <a:spcPts val="600"/>
              </a:spcAft>
              <a:buNone/>
            </a:pPr>
            <a:r>
              <a:rPr lang="en-US" b="0" dirty="0">
                <a:solidFill>
                  <a:srgbClr val="000000"/>
                </a:solidFill>
                <a:effectLst/>
              </a:rPr>
              <a:t>     </a:t>
            </a:r>
            <a:endParaRPr lang="en-US" dirty="0"/>
          </a:p>
        </p:txBody>
      </p:sp>
      <p:sp>
        <p:nvSpPr>
          <p:cNvPr id="2" name="Slide Number Placeholder 4">
            <a:extLst>
              <a:ext uri="{FF2B5EF4-FFF2-40B4-BE49-F238E27FC236}">
                <a16:creationId xmlns:a16="http://schemas.microsoft.com/office/drawing/2014/main" id="{8EA5E6F7-3B87-98B8-3250-0E66103FD5D9}"/>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76</a:t>
            </a:fld>
            <a:endParaRPr lang="en-US" dirty="0">
              <a:solidFill>
                <a:srgbClr val="000000"/>
              </a:solidFill>
            </a:endParaRPr>
          </a:p>
        </p:txBody>
      </p:sp>
    </p:spTree>
    <p:extLst>
      <p:ext uri="{BB962C8B-B14F-4D97-AF65-F5344CB8AC3E}">
        <p14:creationId xmlns:p14="http://schemas.microsoft.com/office/powerpoint/2010/main" val="233433226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1C1F8-840B-0360-36F9-6B317376A05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013AF6E-44C3-EFAA-4B69-C47A02CA8697}"/>
              </a:ext>
            </a:extLst>
          </p:cNvPr>
          <p:cNvSpPr>
            <a:spLocks noGrp="1"/>
          </p:cNvSpPr>
          <p:nvPr>
            <p:ph idx="1"/>
          </p:nvPr>
        </p:nvSpPr>
        <p:spPr/>
        <p:txBody>
          <a:bodyPr>
            <a:normAutofit/>
          </a:bodyPr>
          <a:lstStyle/>
          <a:p>
            <a:pPr marL="0" indent="0">
              <a:buNone/>
            </a:pPr>
            <a:r>
              <a:rPr lang="en-US" sz="5400" dirty="0"/>
              <a:t>         </a:t>
            </a:r>
          </a:p>
          <a:p>
            <a:pPr marL="0" indent="0">
              <a:buNone/>
            </a:pPr>
            <a:endParaRPr lang="en-US" sz="5400" dirty="0"/>
          </a:p>
          <a:p>
            <a:pPr marL="0" indent="0">
              <a:buNone/>
            </a:pPr>
            <a:r>
              <a:rPr lang="en-US" sz="5400" dirty="0"/>
              <a:t>              </a:t>
            </a:r>
          </a:p>
        </p:txBody>
      </p:sp>
      <p:sp>
        <p:nvSpPr>
          <p:cNvPr id="5" name="Slide Number Placeholder 4">
            <a:extLst>
              <a:ext uri="{FF2B5EF4-FFF2-40B4-BE49-F238E27FC236}">
                <a16:creationId xmlns:a16="http://schemas.microsoft.com/office/drawing/2014/main" id="{739BBFB8-9F21-8DC9-2F5D-738D0CC329CE}"/>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77</a:t>
            </a:fld>
            <a:endParaRPr lang="en-US" dirty="0">
              <a:solidFill>
                <a:srgbClr val="000000"/>
              </a:solidFill>
            </a:endParaRPr>
          </a:p>
        </p:txBody>
      </p:sp>
      <p:sp>
        <p:nvSpPr>
          <p:cNvPr id="4" name="TextBox 3">
            <a:extLst>
              <a:ext uri="{FF2B5EF4-FFF2-40B4-BE49-F238E27FC236}">
                <a16:creationId xmlns:a16="http://schemas.microsoft.com/office/drawing/2014/main" id="{A7CAB3D7-61C2-62C9-DA3D-6932EB4C70EA}"/>
              </a:ext>
            </a:extLst>
          </p:cNvPr>
          <p:cNvSpPr txBox="1"/>
          <p:nvPr/>
        </p:nvSpPr>
        <p:spPr>
          <a:xfrm>
            <a:off x="833630" y="611598"/>
            <a:ext cx="7530722" cy="4962615"/>
          </a:xfrm>
          <a:custGeom>
            <a:avLst/>
            <a:gdLst>
              <a:gd name="connsiteX0" fmla="*/ 0 w 7530722"/>
              <a:gd name="connsiteY0" fmla="*/ 0 h 5801588"/>
              <a:gd name="connsiteX1" fmla="*/ 7530722 w 7530722"/>
              <a:gd name="connsiteY1" fmla="*/ 0 h 5801588"/>
              <a:gd name="connsiteX2" fmla="*/ 7530722 w 7530722"/>
              <a:gd name="connsiteY2" fmla="*/ 5801588 h 5801588"/>
              <a:gd name="connsiteX3" fmla="*/ 0 w 7530722"/>
              <a:gd name="connsiteY3" fmla="*/ 5801588 h 5801588"/>
              <a:gd name="connsiteX4" fmla="*/ 0 w 7530722"/>
              <a:gd name="connsiteY4" fmla="*/ 0 h 5801588"/>
              <a:gd name="connsiteX0" fmla="*/ 0 w 7530722"/>
              <a:gd name="connsiteY0" fmla="*/ 0 h 5801588"/>
              <a:gd name="connsiteX1" fmla="*/ 7530722 w 7530722"/>
              <a:gd name="connsiteY1" fmla="*/ 0 h 5801588"/>
              <a:gd name="connsiteX2" fmla="*/ 7530722 w 7530722"/>
              <a:gd name="connsiteY2" fmla="*/ 5801588 h 5801588"/>
              <a:gd name="connsiteX3" fmla="*/ 0 w 7530722"/>
              <a:gd name="connsiteY3" fmla="*/ 5344388 h 5801588"/>
              <a:gd name="connsiteX4" fmla="*/ 0 w 7530722"/>
              <a:gd name="connsiteY4" fmla="*/ 0 h 5801588"/>
              <a:gd name="connsiteX0" fmla="*/ 0 w 7530722"/>
              <a:gd name="connsiteY0" fmla="*/ 0 h 5362676"/>
              <a:gd name="connsiteX1" fmla="*/ 7530722 w 7530722"/>
              <a:gd name="connsiteY1" fmla="*/ 0 h 5362676"/>
              <a:gd name="connsiteX2" fmla="*/ 7518530 w 7530722"/>
              <a:gd name="connsiteY2" fmla="*/ 5362676 h 5362676"/>
              <a:gd name="connsiteX3" fmla="*/ 0 w 7530722"/>
              <a:gd name="connsiteY3" fmla="*/ 5344388 h 5362676"/>
              <a:gd name="connsiteX4" fmla="*/ 0 w 7530722"/>
              <a:gd name="connsiteY4" fmla="*/ 0 h 5362676"/>
              <a:gd name="connsiteX0" fmla="*/ 0 w 7530722"/>
              <a:gd name="connsiteY0" fmla="*/ 0 h 5362676"/>
              <a:gd name="connsiteX1" fmla="*/ 7530722 w 7530722"/>
              <a:gd name="connsiteY1" fmla="*/ 0 h 5362676"/>
              <a:gd name="connsiteX2" fmla="*/ 7518530 w 7530722"/>
              <a:gd name="connsiteY2" fmla="*/ 5362676 h 5362676"/>
              <a:gd name="connsiteX3" fmla="*/ 15903 w 7530722"/>
              <a:gd name="connsiteY3" fmla="*/ 4804305 h 5362676"/>
              <a:gd name="connsiteX4" fmla="*/ 0 w 7530722"/>
              <a:gd name="connsiteY4" fmla="*/ 0 h 5362676"/>
              <a:gd name="connsiteX0" fmla="*/ 0 w 7530722"/>
              <a:gd name="connsiteY0" fmla="*/ 0 h 4885211"/>
              <a:gd name="connsiteX1" fmla="*/ 7530722 w 7530722"/>
              <a:gd name="connsiteY1" fmla="*/ 0 h 4885211"/>
              <a:gd name="connsiteX2" fmla="*/ 7510578 w 7530722"/>
              <a:gd name="connsiteY2" fmla="*/ 4885211 h 4885211"/>
              <a:gd name="connsiteX3" fmla="*/ 15903 w 7530722"/>
              <a:gd name="connsiteY3" fmla="*/ 4804305 h 4885211"/>
              <a:gd name="connsiteX4" fmla="*/ 0 w 7530722"/>
              <a:gd name="connsiteY4" fmla="*/ 0 h 48852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30722" h="4885211">
                <a:moveTo>
                  <a:pt x="0" y="0"/>
                </a:moveTo>
                <a:lnTo>
                  <a:pt x="7530722" y="0"/>
                </a:lnTo>
                <a:cubicBezTo>
                  <a:pt x="7524007" y="1628404"/>
                  <a:pt x="7517293" y="3256807"/>
                  <a:pt x="7510578" y="4885211"/>
                </a:cubicBezTo>
                <a:lnTo>
                  <a:pt x="15903" y="4804305"/>
                </a:lnTo>
                <a:lnTo>
                  <a:pt x="0" y="0"/>
                </a:lnTo>
                <a:close/>
              </a:path>
            </a:pathLst>
          </a:custGeom>
          <a:noFill/>
        </p:spPr>
        <p:txBody>
          <a:bodyPr wrap="square">
            <a:spAutoFit/>
          </a:bodyPr>
          <a:lstStyle/>
          <a:p>
            <a:pPr algn="just">
              <a:spcAft>
                <a:spcPts val="600"/>
              </a:spcAft>
              <a:buNone/>
            </a:pPr>
            <a:r>
              <a:rPr lang="en-US" dirty="0">
                <a:solidFill>
                  <a:srgbClr val="116644"/>
                </a:solidFill>
              </a:rPr>
              <a:t>100:.2f</a:t>
            </a:r>
            <a:r>
              <a:rPr lang="en-US" dirty="0">
                <a:solidFill>
                  <a:srgbClr val="000000"/>
                </a:solidFill>
              </a:rPr>
              <a:t>}</a:t>
            </a:r>
            <a:r>
              <a:rPr lang="en-US" dirty="0">
                <a:solidFill>
                  <a:srgbClr val="A31515"/>
                </a:solidFill>
              </a:rPr>
              <a:t>%)"</a:t>
            </a:r>
            <a:r>
              <a:rPr lang="en-US" dirty="0">
                <a:solidFill>
                  <a:srgbClr val="000000"/>
                </a:solidFill>
              </a:rPr>
              <a:t>, </a:t>
            </a:r>
            <a:r>
              <a:rPr lang="en-US" dirty="0" err="1">
                <a:solidFill>
                  <a:srgbClr val="000000"/>
                </a:solidFill>
              </a:rPr>
              <a:t>fontsize</a:t>
            </a:r>
            <a:r>
              <a:rPr lang="en-US" dirty="0">
                <a:solidFill>
                  <a:srgbClr val="000000"/>
                </a:solidFill>
              </a:rPr>
              <a:t>=</a:t>
            </a:r>
            <a:r>
              <a:rPr lang="en-US" dirty="0">
                <a:solidFill>
                  <a:srgbClr val="116644"/>
                </a:solidFill>
              </a:rPr>
              <a:t>9</a:t>
            </a:r>
            <a:r>
              <a:rPr lang="en-US" dirty="0">
                <a:solidFill>
                  <a:srgbClr val="000000"/>
                </a:solidFill>
              </a:rPr>
              <a:t>)</a:t>
            </a:r>
          </a:p>
          <a:p>
            <a:pPr algn="just">
              <a:spcAft>
                <a:spcPts val="600"/>
              </a:spcAft>
              <a:buNone/>
            </a:pPr>
            <a:r>
              <a:rPr lang="en-US" dirty="0" err="1">
                <a:solidFill>
                  <a:srgbClr val="000000"/>
                </a:solidFill>
              </a:rPr>
              <a:t>ax.text</a:t>
            </a:r>
            <a:r>
              <a:rPr lang="en-US" dirty="0">
                <a:solidFill>
                  <a:srgbClr val="000000"/>
                </a:solidFill>
              </a:rPr>
              <a:t>(</a:t>
            </a:r>
            <a:r>
              <a:rPr lang="en-US" dirty="0" err="1">
                <a:solidFill>
                  <a:srgbClr val="000000"/>
                </a:solidFill>
              </a:rPr>
              <a:t>text_x</a:t>
            </a:r>
            <a:r>
              <a:rPr lang="en-US" dirty="0">
                <a:solidFill>
                  <a:srgbClr val="000000"/>
                </a:solidFill>
              </a:rPr>
              <a:t>, </a:t>
            </a:r>
            <a:r>
              <a:rPr lang="en-US" dirty="0">
                <a:solidFill>
                  <a:srgbClr val="116644"/>
                </a:solidFill>
              </a:rPr>
              <a:t>1.7</a:t>
            </a:r>
            <a:r>
              <a:rPr lang="en-US" dirty="0">
                <a:solidFill>
                  <a:srgbClr val="000000"/>
                </a:solidFill>
              </a:rPr>
              <a:t>, </a:t>
            </a:r>
            <a:r>
              <a:rPr lang="en-US" dirty="0" err="1">
                <a:solidFill>
                  <a:srgbClr val="0000FF"/>
                </a:solidFill>
              </a:rPr>
              <a:t>f</a:t>
            </a:r>
            <a:r>
              <a:rPr lang="en-US" dirty="0" err="1">
                <a:solidFill>
                  <a:srgbClr val="A31515"/>
                </a:solidFill>
              </a:rPr>
              <a:t>"Precision</a:t>
            </a:r>
            <a:r>
              <a:rPr lang="en-US" dirty="0">
                <a:solidFill>
                  <a:srgbClr val="A31515"/>
                </a:solidFill>
              </a:rPr>
              <a:t>: </a:t>
            </a:r>
            <a:r>
              <a:rPr lang="en-US" dirty="0">
                <a:solidFill>
                  <a:srgbClr val="000000"/>
                </a:solidFill>
              </a:rPr>
              <a:t>{precision</a:t>
            </a:r>
            <a:r>
              <a:rPr lang="en-US" dirty="0">
                <a:solidFill>
                  <a:srgbClr val="116644"/>
                </a:solidFill>
              </a:rPr>
              <a:t>:.4f</a:t>
            </a:r>
            <a:r>
              <a:rPr lang="en-US" dirty="0">
                <a:solidFill>
                  <a:srgbClr val="000000"/>
                </a:solidFill>
              </a:rPr>
              <a:t>}</a:t>
            </a:r>
            <a:r>
              <a:rPr lang="en-US" dirty="0">
                <a:solidFill>
                  <a:srgbClr val="A31515"/>
                </a:solidFill>
              </a:rPr>
              <a:t> (</a:t>
            </a:r>
            <a:r>
              <a:rPr lang="en-US" dirty="0">
                <a:solidFill>
                  <a:srgbClr val="000000"/>
                </a:solidFill>
              </a:rPr>
              <a:t>{precision * </a:t>
            </a:r>
            <a:r>
              <a:rPr lang="en-US" dirty="0">
                <a:solidFill>
                  <a:srgbClr val="116644"/>
                </a:solidFill>
              </a:rPr>
              <a:t>100:.2f</a:t>
            </a:r>
            <a:r>
              <a:rPr lang="en-US" dirty="0">
                <a:solidFill>
                  <a:srgbClr val="000000"/>
                </a:solidFill>
              </a:rPr>
              <a:t>}</a:t>
            </a:r>
            <a:r>
              <a:rPr lang="en-US" dirty="0">
                <a:solidFill>
                  <a:srgbClr val="A31515"/>
                </a:solidFill>
              </a:rPr>
              <a:t>%)"</a:t>
            </a:r>
            <a:r>
              <a:rPr lang="en-US" dirty="0">
                <a:solidFill>
                  <a:srgbClr val="000000"/>
                </a:solidFill>
              </a:rPr>
              <a:t>, </a:t>
            </a:r>
            <a:r>
              <a:rPr lang="en-US" dirty="0" err="1">
                <a:solidFill>
                  <a:srgbClr val="000000"/>
                </a:solidFill>
              </a:rPr>
              <a:t>fontsize</a:t>
            </a:r>
            <a:r>
              <a:rPr lang="en-US" dirty="0">
                <a:solidFill>
                  <a:srgbClr val="000000"/>
                </a:solidFill>
              </a:rPr>
              <a:t>=</a:t>
            </a:r>
            <a:r>
              <a:rPr lang="en-US" dirty="0">
                <a:solidFill>
                  <a:srgbClr val="116644"/>
                </a:solidFill>
              </a:rPr>
              <a:t>9</a:t>
            </a:r>
            <a:r>
              <a:rPr lang="en-US" dirty="0">
                <a:solidFill>
                  <a:srgbClr val="000000"/>
                </a:solidFill>
              </a:rPr>
              <a:t>)</a:t>
            </a:r>
          </a:p>
          <a:p>
            <a:pPr algn="just">
              <a:spcAft>
                <a:spcPts val="600"/>
              </a:spcAft>
              <a:buNone/>
            </a:pPr>
            <a:r>
              <a:rPr lang="en-US" dirty="0" err="1">
                <a:solidFill>
                  <a:srgbClr val="000000"/>
                </a:solidFill>
              </a:rPr>
              <a:t>ax.text</a:t>
            </a:r>
            <a:r>
              <a:rPr lang="en-US" dirty="0">
                <a:solidFill>
                  <a:srgbClr val="000000"/>
                </a:solidFill>
              </a:rPr>
              <a:t>(</a:t>
            </a:r>
            <a:r>
              <a:rPr lang="en-US" dirty="0" err="1">
                <a:solidFill>
                  <a:srgbClr val="000000"/>
                </a:solidFill>
              </a:rPr>
              <a:t>text_x</a:t>
            </a:r>
            <a:r>
              <a:rPr lang="en-US" dirty="0">
                <a:solidFill>
                  <a:srgbClr val="000000"/>
                </a:solidFill>
              </a:rPr>
              <a:t>, </a:t>
            </a:r>
            <a:r>
              <a:rPr lang="en-US" dirty="0">
                <a:solidFill>
                  <a:srgbClr val="116644"/>
                </a:solidFill>
              </a:rPr>
              <a:t>2.3</a:t>
            </a:r>
            <a:r>
              <a:rPr lang="en-US" dirty="0">
                <a:solidFill>
                  <a:srgbClr val="000000"/>
                </a:solidFill>
              </a:rPr>
              <a:t>, </a:t>
            </a:r>
            <a:r>
              <a:rPr lang="en-US" dirty="0" err="1">
                <a:solidFill>
                  <a:srgbClr val="0000FF"/>
                </a:solidFill>
              </a:rPr>
              <a:t>f</a:t>
            </a:r>
            <a:r>
              <a:rPr lang="en-US" dirty="0" err="1">
                <a:solidFill>
                  <a:srgbClr val="A31515"/>
                </a:solidFill>
              </a:rPr>
              <a:t>"Specificity</a:t>
            </a:r>
            <a:r>
              <a:rPr lang="en-US" dirty="0">
                <a:solidFill>
                  <a:srgbClr val="A31515"/>
                </a:solidFill>
              </a:rPr>
              <a:t>: </a:t>
            </a:r>
            <a:r>
              <a:rPr lang="en-US" dirty="0">
                <a:solidFill>
                  <a:srgbClr val="000000"/>
                </a:solidFill>
              </a:rPr>
              <a:t>{specificity</a:t>
            </a:r>
            <a:r>
              <a:rPr lang="en-US" dirty="0">
                <a:solidFill>
                  <a:srgbClr val="116644"/>
                </a:solidFill>
              </a:rPr>
              <a:t>:.4f</a:t>
            </a:r>
            <a:r>
              <a:rPr lang="en-US" dirty="0">
                <a:solidFill>
                  <a:srgbClr val="000000"/>
                </a:solidFill>
              </a:rPr>
              <a:t>}</a:t>
            </a:r>
            <a:r>
              <a:rPr lang="en-US" dirty="0">
                <a:solidFill>
                  <a:srgbClr val="A31515"/>
                </a:solidFill>
              </a:rPr>
              <a:t> (</a:t>
            </a:r>
            <a:r>
              <a:rPr lang="en-US" dirty="0">
                <a:solidFill>
                  <a:srgbClr val="000000"/>
                </a:solidFill>
              </a:rPr>
              <a:t>{specificity * </a:t>
            </a:r>
            <a:r>
              <a:rPr lang="en-US" dirty="0">
                <a:solidFill>
                  <a:srgbClr val="116644"/>
                </a:solidFill>
              </a:rPr>
              <a:t>100:.2f</a:t>
            </a:r>
            <a:r>
              <a:rPr lang="en-US" dirty="0">
                <a:solidFill>
                  <a:srgbClr val="000000"/>
                </a:solidFill>
              </a:rPr>
              <a:t>}</a:t>
            </a:r>
            <a:r>
              <a:rPr lang="en-US" dirty="0">
                <a:solidFill>
                  <a:srgbClr val="A31515"/>
                </a:solidFill>
              </a:rPr>
              <a:t>%)"</a:t>
            </a:r>
            <a:r>
              <a:rPr lang="en-US" dirty="0">
                <a:solidFill>
                  <a:srgbClr val="000000"/>
                </a:solidFill>
              </a:rPr>
              <a:t>, </a:t>
            </a:r>
            <a:r>
              <a:rPr lang="en-US" dirty="0" err="1">
                <a:solidFill>
                  <a:srgbClr val="000000"/>
                </a:solidFill>
              </a:rPr>
              <a:t>fontsize</a:t>
            </a:r>
            <a:r>
              <a:rPr lang="en-US" dirty="0">
                <a:solidFill>
                  <a:srgbClr val="000000"/>
                </a:solidFill>
              </a:rPr>
              <a:t>=</a:t>
            </a:r>
            <a:r>
              <a:rPr lang="en-US" dirty="0">
                <a:solidFill>
                  <a:srgbClr val="116644"/>
                </a:solidFill>
              </a:rPr>
              <a:t>9</a:t>
            </a:r>
            <a:r>
              <a:rPr lang="en-US" dirty="0">
                <a:solidFill>
                  <a:srgbClr val="000000"/>
                </a:solidFill>
              </a:rPr>
              <a:t>)</a:t>
            </a:r>
          </a:p>
          <a:p>
            <a:pPr algn="just">
              <a:spcAft>
                <a:spcPts val="600"/>
              </a:spcAft>
              <a:buNone/>
            </a:pPr>
            <a:endParaRPr lang="en-US" dirty="0">
              <a:solidFill>
                <a:srgbClr val="000000"/>
              </a:solidFill>
            </a:endParaRPr>
          </a:p>
          <a:p>
            <a:pPr algn="just">
              <a:spcAft>
                <a:spcPts val="600"/>
              </a:spcAft>
              <a:buNone/>
            </a:pPr>
            <a:r>
              <a:rPr lang="en-US" dirty="0" err="1">
                <a:solidFill>
                  <a:srgbClr val="000000"/>
                </a:solidFill>
              </a:rPr>
              <a:t>ax.set_title</a:t>
            </a:r>
            <a:r>
              <a:rPr lang="en-US" dirty="0">
                <a:solidFill>
                  <a:srgbClr val="000000"/>
                </a:solidFill>
              </a:rPr>
              <a:t>(</a:t>
            </a:r>
            <a:r>
              <a:rPr lang="en-US" dirty="0">
                <a:solidFill>
                  <a:srgbClr val="0000FF"/>
                </a:solidFill>
              </a:rPr>
              <a:t>f</a:t>
            </a:r>
            <a:r>
              <a:rPr lang="en-US" dirty="0">
                <a:solidFill>
                  <a:srgbClr val="A31515"/>
                </a:solidFill>
              </a:rPr>
              <a:t>"</a:t>
            </a:r>
            <a:r>
              <a:rPr lang="en-US" dirty="0">
                <a:solidFill>
                  <a:srgbClr val="000000"/>
                </a:solidFill>
              </a:rPr>
              <a:t>{</a:t>
            </a:r>
            <a:r>
              <a:rPr lang="en-US" dirty="0" err="1">
                <a:solidFill>
                  <a:srgbClr val="000000"/>
                </a:solidFill>
              </a:rPr>
              <a:t>dataset_name</a:t>
            </a:r>
            <a:r>
              <a:rPr lang="en-US" dirty="0">
                <a:solidFill>
                  <a:srgbClr val="000000"/>
                </a:solidFill>
              </a:rPr>
              <a:t>}</a:t>
            </a:r>
            <a:r>
              <a:rPr lang="en-US" dirty="0">
                <a:solidFill>
                  <a:srgbClr val="A31515"/>
                </a:solidFill>
              </a:rPr>
              <a:t> Set"</a:t>
            </a:r>
            <a:r>
              <a:rPr lang="en-US" dirty="0">
                <a:solidFill>
                  <a:srgbClr val="000000"/>
                </a:solidFill>
              </a:rPr>
              <a:t>, </a:t>
            </a:r>
            <a:r>
              <a:rPr lang="en-US" dirty="0" err="1">
                <a:solidFill>
                  <a:srgbClr val="000000"/>
                </a:solidFill>
              </a:rPr>
              <a:t>fontsize</a:t>
            </a:r>
            <a:r>
              <a:rPr lang="en-US" dirty="0">
                <a:solidFill>
                  <a:srgbClr val="000000"/>
                </a:solidFill>
              </a:rPr>
              <a:t>=</a:t>
            </a:r>
            <a:r>
              <a:rPr lang="en-US" dirty="0">
                <a:solidFill>
                  <a:srgbClr val="116644"/>
                </a:solidFill>
              </a:rPr>
              <a:t>12</a:t>
            </a:r>
            <a:r>
              <a:rPr lang="en-US" dirty="0">
                <a:solidFill>
                  <a:srgbClr val="000000"/>
                </a:solidFill>
              </a:rPr>
              <a:t>)</a:t>
            </a:r>
          </a:p>
          <a:p>
            <a:pPr algn="just">
              <a:spcAft>
                <a:spcPts val="600"/>
              </a:spcAft>
              <a:buNone/>
            </a:pPr>
            <a:r>
              <a:rPr lang="en-US" dirty="0" err="1">
                <a:solidFill>
                  <a:srgbClr val="000000"/>
                </a:solidFill>
              </a:rPr>
              <a:t>fig.suptitle</a:t>
            </a:r>
            <a:r>
              <a:rPr lang="en-US" dirty="0">
                <a:solidFill>
                  <a:srgbClr val="000000"/>
                </a:solidFill>
              </a:rPr>
              <a:t>(</a:t>
            </a:r>
            <a:r>
              <a:rPr lang="en-US" dirty="0" err="1">
                <a:solidFill>
                  <a:srgbClr val="0000FF"/>
                </a:solidFill>
              </a:rPr>
              <a:t>f</a:t>
            </a:r>
            <a:r>
              <a:rPr lang="en-US" dirty="0" err="1">
                <a:solidFill>
                  <a:srgbClr val="A31515"/>
                </a:solidFill>
              </a:rPr>
              <a:t>"Confusion</a:t>
            </a:r>
            <a:r>
              <a:rPr lang="en-US" dirty="0">
                <a:solidFill>
                  <a:srgbClr val="A31515"/>
                </a:solidFill>
              </a:rPr>
              <a:t> Matrices (</a:t>
            </a:r>
            <a:r>
              <a:rPr lang="en-US" dirty="0">
                <a:solidFill>
                  <a:srgbClr val="000000"/>
                </a:solidFill>
              </a:rPr>
              <a:t>{</a:t>
            </a:r>
            <a:r>
              <a:rPr lang="en-US" dirty="0" err="1">
                <a:solidFill>
                  <a:srgbClr val="000000"/>
                </a:solidFill>
              </a:rPr>
              <a:t>model_name</a:t>
            </a:r>
            <a:r>
              <a:rPr lang="en-US" dirty="0">
                <a:solidFill>
                  <a:srgbClr val="000000"/>
                </a:solidFill>
              </a:rPr>
              <a:t>}</a:t>
            </a:r>
            <a:r>
              <a:rPr lang="en-US" dirty="0">
                <a:solidFill>
                  <a:srgbClr val="A31515"/>
                </a:solidFill>
              </a:rPr>
              <a:t>)"</a:t>
            </a:r>
            <a:r>
              <a:rPr lang="en-US" dirty="0">
                <a:solidFill>
                  <a:srgbClr val="000000"/>
                </a:solidFill>
              </a:rPr>
              <a:t>, </a:t>
            </a:r>
            <a:r>
              <a:rPr lang="en-US" dirty="0" err="1">
                <a:solidFill>
                  <a:srgbClr val="000000"/>
                </a:solidFill>
              </a:rPr>
              <a:t>fontsize</a:t>
            </a:r>
            <a:r>
              <a:rPr lang="en-US" dirty="0">
                <a:solidFill>
                  <a:srgbClr val="000000"/>
                </a:solidFill>
              </a:rPr>
              <a:t>=</a:t>
            </a:r>
            <a:r>
              <a:rPr lang="en-US" dirty="0">
                <a:solidFill>
                  <a:srgbClr val="116644"/>
                </a:solidFill>
              </a:rPr>
              <a:t>14</a:t>
            </a:r>
            <a:r>
              <a:rPr lang="en-US" dirty="0">
                <a:solidFill>
                  <a:srgbClr val="000000"/>
                </a:solidFill>
              </a:rPr>
              <a:t>)</a:t>
            </a:r>
          </a:p>
          <a:p>
            <a:pPr algn="just">
              <a:spcAft>
                <a:spcPts val="600"/>
              </a:spcAft>
              <a:buNone/>
            </a:pPr>
            <a:r>
              <a:rPr lang="en-US" dirty="0" err="1">
                <a:solidFill>
                  <a:srgbClr val="000000"/>
                </a:solidFill>
              </a:rPr>
              <a:t>fig.tight_layout</a:t>
            </a:r>
            <a:r>
              <a:rPr lang="en-US" dirty="0">
                <a:solidFill>
                  <a:srgbClr val="000000"/>
                </a:solidFill>
              </a:rPr>
              <a:t>()</a:t>
            </a:r>
          </a:p>
          <a:p>
            <a:pPr algn="just">
              <a:spcAft>
                <a:spcPts val="600"/>
              </a:spcAft>
              <a:buNone/>
            </a:pPr>
            <a:r>
              <a:rPr lang="en-US" dirty="0" err="1">
                <a:solidFill>
                  <a:srgbClr val="000000"/>
                </a:solidFill>
              </a:rPr>
              <a:t>plt.subplots_adjust</a:t>
            </a:r>
            <a:r>
              <a:rPr lang="en-US" dirty="0">
                <a:solidFill>
                  <a:srgbClr val="000000"/>
                </a:solidFill>
              </a:rPr>
              <a:t>(</a:t>
            </a:r>
            <a:r>
              <a:rPr lang="en-US" dirty="0" err="1">
                <a:solidFill>
                  <a:srgbClr val="000000"/>
                </a:solidFill>
              </a:rPr>
              <a:t>hspace</a:t>
            </a:r>
            <a:r>
              <a:rPr lang="en-US" dirty="0">
                <a:solidFill>
                  <a:srgbClr val="000000"/>
                </a:solidFill>
              </a:rPr>
              <a:t>=</a:t>
            </a:r>
            <a:r>
              <a:rPr lang="en-US" dirty="0">
                <a:solidFill>
                  <a:srgbClr val="116644"/>
                </a:solidFill>
              </a:rPr>
              <a:t>0.5</a:t>
            </a:r>
            <a:r>
              <a:rPr lang="en-US" dirty="0">
                <a:solidFill>
                  <a:srgbClr val="000000"/>
                </a:solidFill>
              </a:rPr>
              <a:t>)  </a:t>
            </a:r>
            <a:r>
              <a:rPr lang="en-US" dirty="0">
                <a:solidFill>
                  <a:srgbClr val="008000"/>
                </a:solidFill>
              </a:rPr>
              <a:t># Increase vertical spacing</a:t>
            </a:r>
            <a:endParaRPr lang="en-US" dirty="0">
              <a:solidFill>
                <a:srgbClr val="000000"/>
              </a:solidFill>
            </a:endParaRPr>
          </a:p>
          <a:p>
            <a:pPr algn="just">
              <a:spcAft>
                <a:spcPts val="600"/>
              </a:spcAft>
              <a:buNone/>
            </a:pPr>
            <a:r>
              <a:rPr lang="en-US" dirty="0" err="1">
                <a:solidFill>
                  <a:srgbClr val="000000"/>
                </a:solidFill>
              </a:rPr>
              <a:t>plt.subplots_adjust</a:t>
            </a:r>
            <a:r>
              <a:rPr lang="en-US" dirty="0">
                <a:solidFill>
                  <a:srgbClr val="000000"/>
                </a:solidFill>
              </a:rPr>
              <a:t>(left=</a:t>
            </a:r>
            <a:r>
              <a:rPr lang="en-US" dirty="0">
                <a:solidFill>
                  <a:srgbClr val="116644"/>
                </a:solidFill>
              </a:rPr>
              <a:t>0.1</a:t>
            </a:r>
            <a:r>
              <a:rPr lang="en-US" dirty="0">
                <a:solidFill>
                  <a:srgbClr val="000000"/>
                </a:solidFill>
              </a:rPr>
              <a:t>, right=</a:t>
            </a:r>
            <a:r>
              <a:rPr lang="en-US" dirty="0">
                <a:solidFill>
                  <a:srgbClr val="116644"/>
                </a:solidFill>
              </a:rPr>
              <a:t>0.9</a:t>
            </a:r>
            <a:r>
              <a:rPr lang="en-US" dirty="0">
                <a:solidFill>
                  <a:srgbClr val="000000"/>
                </a:solidFill>
              </a:rPr>
              <a:t>, top=</a:t>
            </a:r>
            <a:r>
              <a:rPr lang="en-US" dirty="0">
                <a:solidFill>
                  <a:srgbClr val="116644"/>
                </a:solidFill>
              </a:rPr>
              <a:t>0.9</a:t>
            </a:r>
            <a:r>
              <a:rPr lang="en-US" dirty="0">
                <a:solidFill>
                  <a:srgbClr val="000000"/>
                </a:solidFill>
              </a:rPr>
              <a:t>, bottom=</a:t>
            </a:r>
            <a:r>
              <a:rPr lang="en-US" dirty="0">
                <a:solidFill>
                  <a:srgbClr val="116644"/>
                </a:solidFill>
              </a:rPr>
              <a:t>0.1</a:t>
            </a:r>
            <a:r>
              <a:rPr lang="en-US" dirty="0">
                <a:solidFill>
                  <a:srgbClr val="000000"/>
                </a:solidFill>
              </a:rPr>
              <a:t>)</a:t>
            </a:r>
          </a:p>
          <a:p>
            <a:pPr algn="just">
              <a:spcAft>
                <a:spcPts val="600"/>
              </a:spcAft>
              <a:buNone/>
            </a:pPr>
            <a:r>
              <a:rPr lang="en-US" dirty="0">
                <a:solidFill>
                  <a:srgbClr val="008000"/>
                </a:solidFill>
              </a:rPr>
              <a:t># </a:t>
            </a:r>
            <a:r>
              <a:rPr lang="en-US" dirty="0" err="1">
                <a:solidFill>
                  <a:srgbClr val="008000"/>
                </a:solidFill>
              </a:rPr>
              <a:t>fig.patch.set_linewidth</a:t>
            </a:r>
            <a:r>
              <a:rPr lang="en-US" dirty="0">
                <a:solidFill>
                  <a:srgbClr val="008000"/>
                </a:solidFill>
              </a:rPr>
              <a:t>(0.5)</a:t>
            </a:r>
            <a:endParaRPr lang="en-US" dirty="0">
              <a:solidFill>
                <a:srgbClr val="000000"/>
              </a:solidFill>
            </a:endParaRPr>
          </a:p>
          <a:p>
            <a:pPr algn="just">
              <a:spcAft>
                <a:spcPts val="600"/>
              </a:spcAft>
              <a:buNone/>
            </a:pPr>
            <a:r>
              <a:rPr lang="en-US" dirty="0">
                <a:solidFill>
                  <a:srgbClr val="008000"/>
                </a:solidFill>
              </a:rPr>
              <a:t># </a:t>
            </a:r>
            <a:r>
              <a:rPr lang="en-US" dirty="0" err="1">
                <a:solidFill>
                  <a:srgbClr val="008000"/>
                </a:solidFill>
              </a:rPr>
              <a:t>fig.patch.set_edgecolor</a:t>
            </a:r>
            <a:r>
              <a:rPr lang="en-US" dirty="0">
                <a:solidFill>
                  <a:srgbClr val="008000"/>
                </a:solidFill>
              </a:rPr>
              <a:t>("#</a:t>
            </a:r>
            <a:r>
              <a:rPr lang="en-US" dirty="0" err="1">
                <a:solidFill>
                  <a:srgbClr val="008000"/>
                </a:solidFill>
              </a:rPr>
              <a:t>dedede</a:t>
            </a:r>
            <a:r>
              <a:rPr lang="en-US" dirty="0">
                <a:solidFill>
                  <a:srgbClr val="008000"/>
                </a:solidFill>
              </a:rPr>
              <a:t>")</a:t>
            </a:r>
            <a:endParaRPr lang="en-US" dirty="0">
              <a:solidFill>
                <a:srgbClr val="000000"/>
              </a:solidFill>
            </a:endParaRPr>
          </a:p>
          <a:p>
            <a:pPr algn="just">
              <a:spcAft>
                <a:spcPts val="600"/>
              </a:spcAft>
              <a:buNone/>
            </a:pPr>
            <a:r>
              <a:rPr lang="en-US" dirty="0" err="1">
                <a:solidFill>
                  <a:srgbClr val="000000"/>
                </a:solidFill>
              </a:rPr>
              <a:t>plt.show</a:t>
            </a:r>
            <a:r>
              <a:rPr lang="en-US" dirty="0">
                <a:solidFill>
                  <a:srgbClr val="000000"/>
                </a:solidFill>
              </a:rPr>
              <a:t>()</a:t>
            </a:r>
          </a:p>
          <a:p>
            <a:pPr algn="just">
              <a:spcAft>
                <a:spcPts val="600"/>
              </a:spcAft>
              <a:buNone/>
            </a:pPr>
            <a:br>
              <a:rPr lang="en-US" dirty="0">
                <a:solidFill>
                  <a:srgbClr val="000000"/>
                </a:solidFill>
              </a:rPr>
            </a:br>
            <a:endParaRPr lang="en-US" dirty="0"/>
          </a:p>
        </p:txBody>
      </p:sp>
    </p:spTree>
    <p:extLst>
      <p:ext uri="{BB962C8B-B14F-4D97-AF65-F5344CB8AC3E}">
        <p14:creationId xmlns:p14="http://schemas.microsoft.com/office/powerpoint/2010/main" val="426252928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87397-FE7B-DB3B-E59C-50CE444175D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C2FBFD-650B-279A-31E2-A750528CF650}"/>
              </a:ext>
            </a:extLst>
          </p:cNvPr>
          <p:cNvSpPr>
            <a:spLocks noGrp="1"/>
          </p:cNvSpPr>
          <p:nvPr>
            <p:ph idx="1"/>
          </p:nvPr>
        </p:nvSpPr>
        <p:spPr>
          <a:xfrm>
            <a:off x="701802" y="1085421"/>
            <a:ext cx="7886700" cy="4825958"/>
          </a:xfrm>
        </p:spPr>
        <p:txBody>
          <a:bodyPr>
            <a:normAutofit/>
          </a:bodyPr>
          <a:lstStyle/>
          <a:p>
            <a:pPr marL="0" indent="0">
              <a:buNone/>
            </a:pPr>
            <a:r>
              <a:rPr lang="en-US" sz="5400" dirty="0"/>
              <a:t>         </a:t>
            </a:r>
          </a:p>
          <a:p>
            <a:pPr marL="0" indent="0">
              <a:buNone/>
            </a:pPr>
            <a:endParaRPr lang="en-US" sz="5400" dirty="0"/>
          </a:p>
          <a:p>
            <a:pPr marL="0" indent="0">
              <a:buNone/>
            </a:pPr>
            <a:r>
              <a:rPr lang="en-US" sz="5400" dirty="0"/>
              <a:t>              </a:t>
            </a:r>
          </a:p>
        </p:txBody>
      </p:sp>
      <p:sp>
        <p:nvSpPr>
          <p:cNvPr id="8" name="TextBox 7">
            <a:extLst>
              <a:ext uri="{FF2B5EF4-FFF2-40B4-BE49-F238E27FC236}">
                <a16:creationId xmlns:a16="http://schemas.microsoft.com/office/drawing/2014/main" id="{8A4914A5-1A52-D350-36FB-C2DBAA1B4E7A}"/>
              </a:ext>
            </a:extLst>
          </p:cNvPr>
          <p:cNvSpPr txBox="1"/>
          <p:nvPr/>
        </p:nvSpPr>
        <p:spPr>
          <a:xfrm>
            <a:off x="827200" y="614431"/>
            <a:ext cx="7505501" cy="5678478"/>
          </a:xfrm>
          <a:custGeom>
            <a:avLst/>
            <a:gdLst>
              <a:gd name="connsiteX0" fmla="*/ 0 w 7473696"/>
              <a:gd name="connsiteY0" fmla="*/ 0 h 5770811"/>
              <a:gd name="connsiteX1" fmla="*/ 7473696 w 7473696"/>
              <a:gd name="connsiteY1" fmla="*/ 0 h 5770811"/>
              <a:gd name="connsiteX2" fmla="*/ 7473696 w 7473696"/>
              <a:gd name="connsiteY2" fmla="*/ 5770811 h 5770811"/>
              <a:gd name="connsiteX3" fmla="*/ 0 w 7473696"/>
              <a:gd name="connsiteY3" fmla="*/ 5770811 h 5770811"/>
              <a:gd name="connsiteX4" fmla="*/ 0 w 7473696"/>
              <a:gd name="connsiteY4" fmla="*/ 0 h 5770811"/>
              <a:gd name="connsiteX0" fmla="*/ 0 w 7473696"/>
              <a:gd name="connsiteY0" fmla="*/ 0 h 5770811"/>
              <a:gd name="connsiteX1" fmla="*/ 7473696 w 7473696"/>
              <a:gd name="connsiteY1" fmla="*/ 0 h 5770811"/>
              <a:gd name="connsiteX2" fmla="*/ 7473696 w 7473696"/>
              <a:gd name="connsiteY2" fmla="*/ 5770811 h 5770811"/>
              <a:gd name="connsiteX3" fmla="*/ 0 w 7473696"/>
              <a:gd name="connsiteY3" fmla="*/ 5452759 h 5770811"/>
              <a:gd name="connsiteX4" fmla="*/ 0 w 7473696"/>
              <a:gd name="connsiteY4" fmla="*/ 0 h 5770811"/>
              <a:gd name="connsiteX0" fmla="*/ 0 w 7473696"/>
              <a:gd name="connsiteY0" fmla="*/ 0 h 5595882"/>
              <a:gd name="connsiteX1" fmla="*/ 7473696 w 7473696"/>
              <a:gd name="connsiteY1" fmla="*/ 0 h 5595882"/>
              <a:gd name="connsiteX2" fmla="*/ 7449842 w 7473696"/>
              <a:gd name="connsiteY2" fmla="*/ 5595882 h 5595882"/>
              <a:gd name="connsiteX3" fmla="*/ 0 w 7473696"/>
              <a:gd name="connsiteY3" fmla="*/ 5452759 h 5595882"/>
              <a:gd name="connsiteX4" fmla="*/ 0 w 7473696"/>
              <a:gd name="connsiteY4" fmla="*/ 0 h 5595882"/>
              <a:gd name="connsiteX0" fmla="*/ 7951 w 7481647"/>
              <a:gd name="connsiteY0" fmla="*/ 0 h 5595882"/>
              <a:gd name="connsiteX1" fmla="*/ 7481647 w 7481647"/>
              <a:gd name="connsiteY1" fmla="*/ 0 h 5595882"/>
              <a:gd name="connsiteX2" fmla="*/ 7457793 w 7481647"/>
              <a:gd name="connsiteY2" fmla="*/ 5595882 h 5595882"/>
              <a:gd name="connsiteX3" fmla="*/ 0 w 7481647"/>
              <a:gd name="connsiteY3" fmla="*/ 5333490 h 5595882"/>
              <a:gd name="connsiteX4" fmla="*/ 7951 w 7481647"/>
              <a:gd name="connsiteY4" fmla="*/ 0 h 5595882"/>
              <a:gd name="connsiteX0" fmla="*/ 7951 w 7505501"/>
              <a:gd name="connsiteY0" fmla="*/ 0 h 5436856"/>
              <a:gd name="connsiteX1" fmla="*/ 7481647 w 7505501"/>
              <a:gd name="connsiteY1" fmla="*/ 0 h 5436856"/>
              <a:gd name="connsiteX2" fmla="*/ 7505501 w 7505501"/>
              <a:gd name="connsiteY2" fmla="*/ 5436856 h 5436856"/>
              <a:gd name="connsiteX3" fmla="*/ 0 w 7505501"/>
              <a:gd name="connsiteY3" fmla="*/ 5333490 h 5436856"/>
              <a:gd name="connsiteX4" fmla="*/ 7951 w 7505501"/>
              <a:gd name="connsiteY4" fmla="*/ 0 h 54368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05501" h="5436856">
                <a:moveTo>
                  <a:pt x="7951" y="0"/>
                </a:moveTo>
                <a:lnTo>
                  <a:pt x="7481647" y="0"/>
                </a:lnTo>
                <a:lnTo>
                  <a:pt x="7505501" y="5436856"/>
                </a:lnTo>
                <a:lnTo>
                  <a:pt x="0" y="5333490"/>
                </a:lnTo>
                <a:cubicBezTo>
                  <a:pt x="2650" y="3555660"/>
                  <a:pt x="5301" y="1777830"/>
                  <a:pt x="7951" y="0"/>
                </a:cubicBezTo>
                <a:close/>
              </a:path>
            </a:pathLst>
          </a:custGeom>
          <a:noFill/>
        </p:spPr>
        <p:txBody>
          <a:bodyPr wrap="square">
            <a:spAutoFit/>
          </a:bodyPr>
          <a:lstStyle/>
          <a:p>
            <a:pPr algn="just">
              <a:spcAft>
                <a:spcPts val="600"/>
              </a:spcAft>
              <a:buNone/>
            </a:pPr>
            <a:r>
              <a:rPr lang="en-US" dirty="0">
                <a:solidFill>
                  <a:srgbClr val="0000FF"/>
                </a:solidFill>
              </a:rPr>
              <a:t>def</a:t>
            </a:r>
            <a:r>
              <a:rPr lang="en-US" dirty="0">
                <a:solidFill>
                  <a:srgbClr val="000000"/>
                </a:solidFill>
              </a:rPr>
              <a:t> </a:t>
            </a:r>
            <a:r>
              <a:rPr lang="en-US" dirty="0" err="1">
                <a:solidFill>
                  <a:srgbClr val="6A5221"/>
                </a:solidFill>
              </a:rPr>
              <a:t>naive_bayes_types</a:t>
            </a:r>
            <a:r>
              <a:rPr lang="en-US" dirty="0">
                <a:solidFill>
                  <a:srgbClr val="000000"/>
                </a:solidFill>
              </a:rPr>
              <a:t>(</a:t>
            </a:r>
            <a:r>
              <a:rPr lang="en-US" dirty="0">
                <a:solidFill>
                  <a:srgbClr val="001080"/>
                </a:solidFill>
              </a:rPr>
              <a:t>X</a:t>
            </a:r>
            <a:r>
              <a:rPr lang="en-US" dirty="0">
                <a:solidFill>
                  <a:srgbClr val="000000"/>
                </a:solidFill>
              </a:rPr>
              <a:t>, </a:t>
            </a:r>
            <a:r>
              <a:rPr lang="en-US" dirty="0">
                <a:solidFill>
                  <a:srgbClr val="001080"/>
                </a:solidFill>
              </a:rPr>
              <a:t>y</a:t>
            </a:r>
            <a:r>
              <a:rPr lang="en-US" dirty="0">
                <a:solidFill>
                  <a:srgbClr val="000000"/>
                </a:solidFill>
              </a:rPr>
              <a:t>):</a:t>
            </a:r>
          </a:p>
          <a:p>
            <a:pPr algn="just">
              <a:spcAft>
                <a:spcPts val="600"/>
              </a:spcAft>
              <a:buNone/>
            </a:pPr>
            <a:r>
              <a:rPr lang="en-US" dirty="0">
                <a:solidFill>
                  <a:srgbClr val="000000"/>
                </a:solidFill>
              </a:rPr>
              <a:t>models = {</a:t>
            </a:r>
          </a:p>
          <a:p>
            <a:pPr algn="just">
              <a:spcAft>
                <a:spcPts val="600"/>
              </a:spcAft>
              <a:buNone/>
            </a:pPr>
            <a:r>
              <a:rPr lang="en-US" dirty="0">
                <a:solidFill>
                  <a:srgbClr val="A31515"/>
                </a:solidFill>
              </a:rPr>
              <a:t>"</a:t>
            </a:r>
            <a:r>
              <a:rPr lang="en-US" dirty="0" err="1">
                <a:solidFill>
                  <a:srgbClr val="A31515"/>
                </a:solidFill>
              </a:rPr>
              <a:t>MultinomialNB</a:t>
            </a:r>
            <a:r>
              <a:rPr lang="en-US" dirty="0">
                <a:solidFill>
                  <a:srgbClr val="A31515"/>
                </a:solidFill>
              </a:rPr>
              <a:t>"</a:t>
            </a:r>
            <a:r>
              <a:rPr lang="en-US" dirty="0">
                <a:solidFill>
                  <a:srgbClr val="000000"/>
                </a:solidFill>
              </a:rPr>
              <a:t>: </a:t>
            </a:r>
            <a:r>
              <a:rPr lang="en-US" dirty="0" err="1">
                <a:solidFill>
                  <a:srgbClr val="000000"/>
                </a:solidFill>
              </a:rPr>
              <a:t>MultinomialNB</a:t>
            </a:r>
            <a:r>
              <a:rPr lang="en-US" dirty="0">
                <a:solidFill>
                  <a:srgbClr val="000000"/>
                </a:solidFill>
              </a:rPr>
              <a:t>(),</a:t>
            </a:r>
          </a:p>
          <a:p>
            <a:pPr algn="just">
              <a:spcAft>
                <a:spcPts val="600"/>
              </a:spcAft>
              <a:buNone/>
            </a:pPr>
            <a:r>
              <a:rPr lang="en-US" dirty="0">
                <a:solidFill>
                  <a:srgbClr val="A31515"/>
                </a:solidFill>
              </a:rPr>
              <a:t>"</a:t>
            </a:r>
            <a:r>
              <a:rPr lang="en-US" dirty="0" err="1">
                <a:solidFill>
                  <a:srgbClr val="A31515"/>
                </a:solidFill>
              </a:rPr>
              <a:t>BernoulliNB</a:t>
            </a:r>
            <a:r>
              <a:rPr lang="en-US" dirty="0">
                <a:solidFill>
                  <a:srgbClr val="A31515"/>
                </a:solidFill>
              </a:rPr>
              <a:t>"</a:t>
            </a:r>
            <a:r>
              <a:rPr lang="en-US" dirty="0">
                <a:solidFill>
                  <a:srgbClr val="000000"/>
                </a:solidFill>
              </a:rPr>
              <a:t>: </a:t>
            </a:r>
            <a:r>
              <a:rPr lang="en-US" dirty="0" err="1">
                <a:solidFill>
                  <a:srgbClr val="000000"/>
                </a:solidFill>
              </a:rPr>
              <a:t>BernoulliNB</a:t>
            </a:r>
            <a:r>
              <a:rPr lang="en-US" dirty="0">
                <a:solidFill>
                  <a:srgbClr val="000000"/>
                </a:solidFill>
              </a:rPr>
              <a:t>(),</a:t>
            </a:r>
          </a:p>
          <a:p>
            <a:pPr algn="just">
              <a:spcAft>
                <a:spcPts val="600"/>
              </a:spcAft>
              <a:buNone/>
            </a:pPr>
            <a:r>
              <a:rPr lang="en-US" dirty="0">
                <a:solidFill>
                  <a:srgbClr val="A31515"/>
                </a:solidFill>
              </a:rPr>
              <a:t>"</a:t>
            </a:r>
            <a:r>
              <a:rPr lang="en-US" dirty="0" err="1">
                <a:solidFill>
                  <a:srgbClr val="A31515"/>
                </a:solidFill>
              </a:rPr>
              <a:t>ComplementNB</a:t>
            </a:r>
            <a:r>
              <a:rPr lang="en-US" dirty="0">
                <a:solidFill>
                  <a:srgbClr val="A31515"/>
                </a:solidFill>
              </a:rPr>
              <a:t>"</a:t>
            </a:r>
            <a:r>
              <a:rPr lang="en-US" dirty="0">
                <a:solidFill>
                  <a:srgbClr val="000000"/>
                </a:solidFill>
              </a:rPr>
              <a:t>: </a:t>
            </a:r>
            <a:r>
              <a:rPr lang="en-US" dirty="0" err="1">
                <a:solidFill>
                  <a:srgbClr val="000000"/>
                </a:solidFill>
              </a:rPr>
              <a:t>ComplementNB</a:t>
            </a:r>
            <a:r>
              <a:rPr lang="en-US" dirty="0">
                <a:solidFill>
                  <a:srgbClr val="000000"/>
                </a:solidFill>
              </a:rPr>
              <a:t>()</a:t>
            </a:r>
          </a:p>
          <a:p>
            <a:pPr algn="just">
              <a:spcAft>
                <a:spcPts val="600"/>
              </a:spcAft>
              <a:buNone/>
            </a:pPr>
            <a:r>
              <a:rPr lang="en-US" dirty="0">
                <a:solidFill>
                  <a:srgbClr val="000000"/>
                </a:solidFill>
              </a:rPr>
              <a:t>}</a:t>
            </a:r>
          </a:p>
          <a:p>
            <a:pPr algn="just">
              <a:spcAft>
                <a:spcPts val="600"/>
              </a:spcAft>
              <a:buNone/>
            </a:pPr>
            <a:r>
              <a:rPr lang="en-US" dirty="0" err="1">
                <a:solidFill>
                  <a:srgbClr val="000000"/>
                </a:solidFill>
              </a:rPr>
              <a:t>trained_models</a:t>
            </a:r>
            <a:r>
              <a:rPr lang="en-US" dirty="0">
                <a:solidFill>
                  <a:srgbClr val="000000"/>
                </a:solidFill>
              </a:rPr>
              <a:t> = {}  </a:t>
            </a:r>
            <a:r>
              <a:rPr lang="en-US" dirty="0">
                <a:solidFill>
                  <a:srgbClr val="008000"/>
                </a:solidFill>
              </a:rPr>
              <a:t># Dictionary to store trained models</a:t>
            </a:r>
            <a:endParaRPr lang="en-US" dirty="0">
              <a:solidFill>
                <a:srgbClr val="000000"/>
              </a:solidFill>
            </a:endParaRPr>
          </a:p>
          <a:p>
            <a:pPr algn="just">
              <a:spcAft>
                <a:spcPts val="600"/>
              </a:spcAft>
              <a:buNone/>
            </a:pPr>
            <a:r>
              <a:rPr lang="en-US" dirty="0">
                <a:solidFill>
                  <a:srgbClr val="9723B4"/>
                </a:solidFill>
              </a:rPr>
              <a:t>for</a:t>
            </a:r>
            <a:r>
              <a:rPr lang="en-US" dirty="0">
                <a:solidFill>
                  <a:srgbClr val="000000"/>
                </a:solidFill>
              </a:rPr>
              <a:t> name, model </a:t>
            </a:r>
            <a:r>
              <a:rPr lang="en-US" dirty="0">
                <a:solidFill>
                  <a:srgbClr val="0000FF"/>
                </a:solidFill>
              </a:rPr>
              <a:t>in</a:t>
            </a:r>
            <a:r>
              <a:rPr lang="en-US" dirty="0">
                <a:solidFill>
                  <a:srgbClr val="000000"/>
                </a:solidFill>
              </a:rPr>
              <a:t> </a:t>
            </a:r>
            <a:r>
              <a:rPr lang="en-US" dirty="0" err="1">
                <a:solidFill>
                  <a:srgbClr val="000000"/>
                </a:solidFill>
              </a:rPr>
              <a:t>models.items</a:t>
            </a:r>
            <a:r>
              <a:rPr lang="en-US" dirty="0">
                <a:solidFill>
                  <a:srgbClr val="000000"/>
                </a:solidFill>
              </a:rPr>
              <a:t>():</a:t>
            </a:r>
          </a:p>
          <a:p>
            <a:pPr algn="just">
              <a:spcAft>
                <a:spcPts val="600"/>
              </a:spcAft>
              <a:buNone/>
            </a:pPr>
            <a:r>
              <a:rPr lang="en-US" dirty="0">
                <a:solidFill>
                  <a:srgbClr val="008000"/>
                </a:solidFill>
              </a:rPr>
              <a:t># Pipeline for models</a:t>
            </a:r>
            <a:endParaRPr lang="en-US" dirty="0">
              <a:solidFill>
                <a:srgbClr val="000000"/>
              </a:solidFill>
            </a:endParaRPr>
          </a:p>
          <a:p>
            <a:pPr algn="just">
              <a:spcAft>
                <a:spcPts val="600"/>
              </a:spcAft>
              <a:buNone/>
            </a:pPr>
            <a:r>
              <a:rPr lang="en-US" dirty="0" err="1">
                <a:solidFill>
                  <a:srgbClr val="000000"/>
                </a:solidFill>
              </a:rPr>
              <a:t>nb_pipeline</a:t>
            </a:r>
            <a:r>
              <a:rPr lang="en-US" dirty="0">
                <a:solidFill>
                  <a:srgbClr val="000000"/>
                </a:solidFill>
              </a:rPr>
              <a:t> = Pipeline([</a:t>
            </a:r>
          </a:p>
          <a:p>
            <a:pPr algn="just">
              <a:spcAft>
                <a:spcPts val="600"/>
              </a:spcAft>
              <a:buNone/>
            </a:pPr>
            <a:r>
              <a:rPr lang="en-US" dirty="0">
                <a:solidFill>
                  <a:srgbClr val="000000"/>
                </a:solidFill>
              </a:rPr>
              <a:t>(</a:t>
            </a:r>
            <a:r>
              <a:rPr lang="en-US" dirty="0">
                <a:solidFill>
                  <a:srgbClr val="A31515"/>
                </a:solidFill>
              </a:rPr>
              <a:t>'</a:t>
            </a:r>
            <a:r>
              <a:rPr lang="en-US" dirty="0" err="1">
                <a:solidFill>
                  <a:srgbClr val="A31515"/>
                </a:solidFill>
              </a:rPr>
              <a:t>vect</a:t>
            </a:r>
            <a:r>
              <a:rPr lang="en-US" dirty="0">
                <a:solidFill>
                  <a:srgbClr val="A31515"/>
                </a:solidFill>
              </a:rPr>
              <a:t>'</a:t>
            </a:r>
            <a:r>
              <a:rPr lang="en-US" dirty="0">
                <a:solidFill>
                  <a:srgbClr val="000000"/>
                </a:solidFill>
              </a:rPr>
              <a:t>, </a:t>
            </a:r>
            <a:r>
              <a:rPr lang="en-US" dirty="0" err="1">
                <a:solidFill>
                  <a:srgbClr val="000000"/>
                </a:solidFill>
              </a:rPr>
              <a:t>CountVectorizer</a:t>
            </a:r>
            <a:r>
              <a:rPr lang="en-US" dirty="0">
                <a:solidFill>
                  <a:srgbClr val="000000"/>
                </a:solidFill>
              </a:rPr>
              <a:t>()),</a:t>
            </a:r>
          </a:p>
          <a:p>
            <a:pPr algn="just">
              <a:spcAft>
                <a:spcPts val="600"/>
              </a:spcAft>
              <a:buNone/>
            </a:pPr>
            <a:r>
              <a:rPr lang="en-US" dirty="0">
                <a:solidFill>
                  <a:srgbClr val="000000"/>
                </a:solidFill>
              </a:rPr>
              <a:t>(</a:t>
            </a:r>
            <a:r>
              <a:rPr lang="en-US" dirty="0">
                <a:solidFill>
                  <a:srgbClr val="A31515"/>
                </a:solidFill>
              </a:rPr>
              <a:t>'</a:t>
            </a:r>
            <a:r>
              <a:rPr lang="en-US" dirty="0" err="1">
                <a:solidFill>
                  <a:srgbClr val="A31515"/>
                </a:solidFill>
              </a:rPr>
              <a:t>tfidf</a:t>
            </a:r>
            <a:r>
              <a:rPr lang="en-US" dirty="0">
                <a:solidFill>
                  <a:srgbClr val="A31515"/>
                </a:solidFill>
              </a:rPr>
              <a:t>'</a:t>
            </a:r>
            <a:r>
              <a:rPr lang="en-US" dirty="0">
                <a:solidFill>
                  <a:srgbClr val="000000"/>
                </a:solidFill>
              </a:rPr>
              <a:t>, </a:t>
            </a:r>
            <a:r>
              <a:rPr lang="en-US" dirty="0" err="1">
                <a:solidFill>
                  <a:srgbClr val="000000"/>
                </a:solidFill>
              </a:rPr>
              <a:t>TfidfTransformer</a:t>
            </a:r>
            <a:r>
              <a:rPr lang="en-US" dirty="0">
                <a:solidFill>
                  <a:srgbClr val="000000"/>
                </a:solidFill>
              </a:rPr>
              <a:t>()),</a:t>
            </a:r>
          </a:p>
          <a:p>
            <a:pPr algn="just">
              <a:spcAft>
                <a:spcPts val="600"/>
              </a:spcAft>
              <a:buNone/>
            </a:pPr>
            <a:r>
              <a:rPr lang="en-US" dirty="0">
                <a:solidFill>
                  <a:srgbClr val="000000"/>
                </a:solidFill>
              </a:rPr>
              <a:t>(</a:t>
            </a:r>
            <a:r>
              <a:rPr lang="en-US" dirty="0">
                <a:solidFill>
                  <a:srgbClr val="A31515"/>
                </a:solidFill>
              </a:rPr>
              <a:t>'</a:t>
            </a:r>
            <a:r>
              <a:rPr lang="en-US" dirty="0" err="1">
                <a:solidFill>
                  <a:srgbClr val="A31515"/>
                </a:solidFill>
              </a:rPr>
              <a:t>clf</a:t>
            </a:r>
            <a:r>
              <a:rPr lang="en-US" dirty="0">
                <a:solidFill>
                  <a:srgbClr val="A31515"/>
                </a:solidFill>
              </a:rPr>
              <a:t>'</a:t>
            </a:r>
            <a:r>
              <a:rPr lang="en-US" dirty="0">
                <a:solidFill>
                  <a:srgbClr val="000000"/>
                </a:solidFill>
              </a:rPr>
              <a:t>, model) ])</a:t>
            </a:r>
          </a:p>
          <a:p>
            <a:pPr algn="just">
              <a:spcAft>
                <a:spcPts val="600"/>
              </a:spcAft>
            </a:pPr>
            <a:r>
              <a:rPr lang="en-US" dirty="0" err="1">
                <a:solidFill>
                  <a:srgbClr val="000000"/>
                </a:solidFill>
              </a:rPr>
              <a:t>nb_pipeline.fit</a:t>
            </a:r>
            <a:r>
              <a:rPr lang="en-US" dirty="0">
                <a:solidFill>
                  <a:srgbClr val="000000"/>
                </a:solidFill>
              </a:rPr>
              <a:t>(</a:t>
            </a:r>
            <a:r>
              <a:rPr lang="en-US" dirty="0" err="1">
                <a:solidFill>
                  <a:srgbClr val="000000"/>
                </a:solidFill>
              </a:rPr>
              <a:t>X_train</a:t>
            </a:r>
            <a:r>
              <a:rPr lang="en-US" dirty="0">
                <a:solidFill>
                  <a:srgbClr val="000000"/>
                </a:solidFill>
              </a:rPr>
              <a:t>, </a:t>
            </a:r>
            <a:r>
              <a:rPr lang="en-US" dirty="0" err="1">
                <a:solidFill>
                  <a:srgbClr val="000000"/>
                </a:solidFill>
              </a:rPr>
              <a:t>y_train</a:t>
            </a:r>
            <a:r>
              <a:rPr lang="en-US" dirty="0">
                <a:solidFill>
                  <a:srgbClr val="000000"/>
                </a:solidFill>
              </a:rPr>
              <a:t>)  </a:t>
            </a:r>
            <a:r>
              <a:rPr lang="en-US" dirty="0">
                <a:solidFill>
                  <a:srgbClr val="008000"/>
                </a:solidFill>
              </a:rPr>
              <a:t># Train model</a:t>
            </a:r>
            <a:endParaRPr lang="en-US" dirty="0">
              <a:solidFill>
                <a:srgbClr val="000000"/>
              </a:solidFill>
            </a:endParaRPr>
          </a:p>
          <a:p>
            <a:pPr algn="just">
              <a:spcAft>
                <a:spcPts val="600"/>
              </a:spcAft>
              <a:buNone/>
            </a:pPr>
            <a:endParaRPr lang="en-US" dirty="0">
              <a:solidFill>
                <a:srgbClr val="000000"/>
              </a:solidFill>
            </a:endParaRPr>
          </a:p>
          <a:p>
            <a:pPr algn="just">
              <a:spcAft>
                <a:spcPts val="600"/>
              </a:spcAft>
              <a:buNone/>
            </a:pPr>
            <a:endParaRPr lang="en-US" dirty="0"/>
          </a:p>
        </p:txBody>
      </p:sp>
      <p:sp>
        <p:nvSpPr>
          <p:cNvPr id="2" name="Slide Number Placeholder 4">
            <a:extLst>
              <a:ext uri="{FF2B5EF4-FFF2-40B4-BE49-F238E27FC236}">
                <a16:creationId xmlns:a16="http://schemas.microsoft.com/office/drawing/2014/main" id="{75AD84E7-62B1-9400-136F-0FB31022ACD5}"/>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78</a:t>
            </a:fld>
            <a:endParaRPr lang="en-US" dirty="0">
              <a:solidFill>
                <a:srgbClr val="000000"/>
              </a:solidFill>
            </a:endParaRPr>
          </a:p>
        </p:txBody>
      </p:sp>
    </p:spTree>
    <p:extLst>
      <p:ext uri="{BB962C8B-B14F-4D97-AF65-F5344CB8AC3E}">
        <p14:creationId xmlns:p14="http://schemas.microsoft.com/office/powerpoint/2010/main" val="373860442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AC381D-3053-ABF6-612B-FF892F44310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4AC5F6D-BA99-745E-5F5D-4700B74F1B4B}"/>
              </a:ext>
            </a:extLst>
          </p:cNvPr>
          <p:cNvSpPr>
            <a:spLocks noGrp="1"/>
          </p:cNvSpPr>
          <p:nvPr>
            <p:ph idx="1"/>
          </p:nvPr>
        </p:nvSpPr>
        <p:spPr>
          <a:xfrm>
            <a:off x="628650" y="499872"/>
            <a:ext cx="7886700" cy="5405244"/>
          </a:xfrm>
        </p:spPr>
        <p:txBody>
          <a:bodyPr>
            <a:normAutofit/>
          </a:bodyPr>
          <a:lstStyle/>
          <a:p>
            <a:pPr marL="0" indent="0">
              <a:buNone/>
            </a:pPr>
            <a:r>
              <a:rPr lang="en-US" sz="5400" dirty="0"/>
              <a:t>         </a:t>
            </a:r>
          </a:p>
          <a:p>
            <a:pPr marL="0" indent="0">
              <a:buNone/>
            </a:pPr>
            <a:endParaRPr lang="en-US" sz="5400" dirty="0"/>
          </a:p>
          <a:p>
            <a:pPr marL="0" indent="0">
              <a:buNone/>
            </a:pPr>
            <a:r>
              <a:rPr lang="en-US" sz="5400" dirty="0"/>
              <a:t>              </a:t>
            </a:r>
          </a:p>
        </p:txBody>
      </p:sp>
      <p:sp>
        <p:nvSpPr>
          <p:cNvPr id="5" name="Slide Number Placeholder 4">
            <a:extLst>
              <a:ext uri="{FF2B5EF4-FFF2-40B4-BE49-F238E27FC236}">
                <a16:creationId xmlns:a16="http://schemas.microsoft.com/office/drawing/2014/main" id="{1BF371F4-0B93-7866-0558-B6138F86F858}"/>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79</a:t>
            </a:fld>
            <a:endParaRPr lang="en-US" dirty="0">
              <a:solidFill>
                <a:srgbClr val="000000"/>
              </a:solidFill>
            </a:endParaRPr>
          </a:p>
        </p:txBody>
      </p:sp>
      <p:sp>
        <p:nvSpPr>
          <p:cNvPr id="4" name="TextBox 3">
            <a:extLst>
              <a:ext uri="{FF2B5EF4-FFF2-40B4-BE49-F238E27FC236}">
                <a16:creationId xmlns:a16="http://schemas.microsoft.com/office/drawing/2014/main" id="{280470BE-156A-FE9D-78CF-7FF4CA096060}"/>
              </a:ext>
            </a:extLst>
          </p:cNvPr>
          <p:cNvSpPr txBox="1"/>
          <p:nvPr/>
        </p:nvSpPr>
        <p:spPr>
          <a:xfrm>
            <a:off x="841248" y="592063"/>
            <a:ext cx="7417536" cy="3200876"/>
          </a:xfrm>
          <a:prstGeom prst="rect">
            <a:avLst/>
          </a:prstGeom>
          <a:noFill/>
        </p:spPr>
        <p:txBody>
          <a:bodyPr wrap="square">
            <a:spAutoFit/>
          </a:bodyPr>
          <a:lstStyle/>
          <a:p>
            <a:pPr algn="just">
              <a:spcAft>
                <a:spcPts val="600"/>
              </a:spcAft>
              <a:buNone/>
            </a:pPr>
            <a:r>
              <a:rPr lang="en-US" dirty="0" err="1">
                <a:solidFill>
                  <a:srgbClr val="000000"/>
                </a:solidFill>
              </a:rPr>
              <a:t>trained_models</a:t>
            </a:r>
            <a:r>
              <a:rPr lang="en-US" dirty="0">
                <a:solidFill>
                  <a:srgbClr val="000000"/>
                </a:solidFill>
              </a:rPr>
              <a:t>[name] = </a:t>
            </a:r>
            <a:r>
              <a:rPr lang="en-US" dirty="0" err="1">
                <a:solidFill>
                  <a:srgbClr val="000000"/>
                </a:solidFill>
              </a:rPr>
              <a:t>nb_pipeline</a:t>
            </a:r>
            <a:r>
              <a:rPr lang="en-US" dirty="0">
                <a:solidFill>
                  <a:srgbClr val="000000"/>
                </a:solidFill>
              </a:rPr>
              <a:t>  </a:t>
            </a:r>
            <a:r>
              <a:rPr lang="en-US" dirty="0">
                <a:solidFill>
                  <a:srgbClr val="008000"/>
                </a:solidFill>
              </a:rPr>
              <a:t># Store trained mode</a:t>
            </a:r>
            <a:endParaRPr lang="en-US" dirty="0">
              <a:solidFill>
                <a:srgbClr val="000000"/>
              </a:solidFill>
            </a:endParaRPr>
          </a:p>
          <a:p>
            <a:pPr algn="just">
              <a:spcAft>
                <a:spcPts val="600"/>
              </a:spcAft>
              <a:buNone/>
            </a:pPr>
            <a:r>
              <a:rPr lang="en-US" dirty="0">
                <a:solidFill>
                  <a:srgbClr val="9723B4"/>
                </a:solidFill>
              </a:rPr>
              <a:t>return</a:t>
            </a:r>
            <a:r>
              <a:rPr lang="en-US" dirty="0">
                <a:solidFill>
                  <a:srgbClr val="000000"/>
                </a:solidFill>
              </a:rPr>
              <a:t> </a:t>
            </a:r>
            <a:r>
              <a:rPr lang="en-US" dirty="0" err="1">
                <a:solidFill>
                  <a:srgbClr val="000000"/>
                </a:solidFill>
              </a:rPr>
              <a:t>trained_models</a:t>
            </a:r>
            <a:r>
              <a:rPr lang="en-US" dirty="0">
                <a:solidFill>
                  <a:srgbClr val="000000"/>
                </a:solidFill>
              </a:rPr>
              <a:t> </a:t>
            </a:r>
            <a:r>
              <a:rPr lang="en-US" dirty="0">
                <a:solidFill>
                  <a:srgbClr val="008000"/>
                </a:solidFill>
              </a:rPr>
              <a:t># Return trained models</a:t>
            </a:r>
            <a:endParaRPr lang="en-US" dirty="0">
              <a:solidFill>
                <a:srgbClr val="000000"/>
              </a:solidFill>
            </a:endParaRPr>
          </a:p>
          <a:p>
            <a:pPr>
              <a:spcAft>
                <a:spcPts val="600"/>
              </a:spcAft>
              <a:buNone/>
            </a:pPr>
            <a:endParaRPr lang="en-US" dirty="0">
              <a:solidFill>
                <a:srgbClr val="008000"/>
              </a:solidFill>
            </a:endParaRPr>
          </a:p>
          <a:p>
            <a:pPr>
              <a:spcAft>
                <a:spcPts val="600"/>
              </a:spcAft>
              <a:buNone/>
            </a:pPr>
            <a:r>
              <a:rPr lang="en-US" dirty="0">
                <a:solidFill>
                  <a:srgbClr val="008000"/>
                </a:solidFill>
              </a:rPr>
              <a:t># Call function and store trained models</a:t>
            </a:r>
            <a:endParaRPr lang="en-US" dirty="0">
              <a:solidFill>
                <a:srgbClr val="000000"/>
              </a:solidFill>
            </a:endParaRPr>
          </a:p>
          <a:p>
            <a:pPr>
              <a:spcAft>
                <a:spcPts val="600"/>
              </a:spcAft>
              <a:buNone/>
            </a:pPr>
            <a:r>
              <a:rPr lang="en-US" dirty="0">
                <a:solidFill>
                  <a:srgbClr val="000000"/>
                </a:solidFill>
              </a:rPr>
              <a:t>models = </a:t>
            </a:r>
            <a:r>
              <a:rPr lang="en-US" dirty="0" err="1">
                <a:solidFill>
                  <a:srgbClr val="000000"/>
                </a:solidFill>
              </a:rPr>
              <a:t>naive_bayes_types</a:t>
            </a:r>
            <a:r>
              <a:rPr lang="en-US" dirty="0">
                <a:solidFill>
                  <a:srgbClr val="000000"/>
                </a:solidFill>
              </a:rPr>
              <a:t>(X, y)</a:t>
            </a:r>
          </a:p>
          <a:p>
            <a:pPr>
              <a:spcAft>
                <a:spcPts val="600"/>
              </a:spcAft>
              <a:buNone/>
            </a:pPr>
            <a:endParaRPr lang="en-US" dirty="0">
              <a:solidFill>
                <a:srgbClr val="000000"/>
              </a:solidFill>
            </a:endParaRPr>
          </a:p>
          <a:p>
            <a:pPr>
              <a:spcAft>
                <a:spcPts val="600"/>
              </a:spcAft>
              <a:buNone/>
            </a:pPr>
            <a:r>
              <a:rPr lang="en-US" dirty="0">
                <a:solidFill>
                  <a:srgbClr val="008000"/>
                </a:solidFill>
              </a:rPr>
              <a:t># Apply to each model</a:t>
            </a:r>
            <a:endParaRPr lang="en-US" dirty="0">
              <a:solidFill>
                <a:srgbClr val="000000"/>
              </a:solidFill>
            </a:endParaRPr>
          </a:p>
          <a:p>
            <a:pPr>
              <a:spcAft>
                <a:spcPts val="600"/>
              </a:spcAft>
              <a:buNone/>
            </a:pPr>
            <a:r>
              <a:rPr lang="en-US" dirty="0">
                <a:solidFill>
                  <a:srgbClr val="9723B4"/>
                </a:solidFill>
              </a:rPr>
              <a:t>for</a:t>
            </a:r>
            <a:r>
              <a:rPr lang="en-US" dirty="0">
                <a:solidFill>
                  <a:srgbClr val="000000"/>
                </a:solidFill>
              </a:rPr>
              <a:t> </a:t>
            </a:r>
            <a:r>
              <a:rPr lang="en-US" dirty="0" err="1">
                <a:solidFill>
                  <a:srgbClr val="000000"/>
                </a:solidFill>
              </a:rPr>
              <a:t>model_name</a:t>
            </a:r>
            <a:r>
              <a:rPr lang="en-US" dirty="0">
                <a:solidFill>
                  <a:srgbClr val="000000"/>
                </a:solidFill>
              </a:rPr>
              <a:t>, model </a:t>
            </a:r>
            <a:r>
              <a:rPr lang="en-US" dirty="0">
                <a:solidFill>
                  <a:srgbClr val="0000FF"/>
                </a:solidFill>
              </a:rPr>
              <a:t>in</a:t>
            </a:r>
            <a:r>
              <a:rPr lang="en-US" dirty="0">
                <a:solidFill>
                  <a:srgbClr val="000000"/>
                </a:solidFill>
              </a:rPr>
              <a:t> </a:t>
            </a:r>
            <a:r>
              <a:rPr lang="en-US" dirty="0" err="1">
                <a:solidFill>
                  <a:srgbClr val="000000"/>
                </a:solidFill>
              </a:rPr>
              <a:t>models.items</a:t>
            </a:r>
            <a:r>
              <a:rPr lang="en-US" dirty="0">
                <a:solidFill>
                  <a:srgbClr val="000000"/>
                </a:solidFill>
              </a:rPr>
              <a:t>():</a:t>
            </a:r>
          </a:p>
          <a:p>
            <a:pPr>
              <a:spcAft>
                <a:spcPts val="600"/>
              </a:spcAft>
              <a:buNone/>
            </a:pPr>
            <a:r>
              <a:rPr lang="en-US" dirty="0" err="1">
                <a:solidFill>
                  <a:srgbClr val="000000"/>
                </a:solidFill>
              </a:rPr>
              <a:t>confusion_matrix_plot</a:t>
            </a:r>
            <a:r>
              <a:rPr lang="en-US" dirty="0">
                <a:solidFill>
                  <a:srgbClr val="000000"/>
                </a:solidFill>
              </a:rPr>
              <a:t>(model, </a:t>
            </a:r>
            <a:r>
              <a:rPr lang="en-US" dirty="0" err="1">
                <a:solidFill>
                  <a:srgbClr val="000000"/>
                </a:solidFill>
              </a:rPr>
              <a:t>X_train</a:t>
            </a:r>
            <a:r>
              <a:rPr lang="en-US" dirty="0">
                <a:solidFill>
                  <a:srgbClr val="000000"/>
                </a:solidFill>
              </a:rPr>
              <a:t>, </a:t>
            </a:r>
            <a:r>
              <a:rPr lang="en-US" dirty="0" err="1">
                <a:solidFill>
                  <a:srgbClr val="000000"/>
                </a:solidFill>
              </a:rPr>
              <a:t>y_train</a:t>
            </a:r>
            <a:r>
              <a:rPr lang="en-US" dirty="0">
                <a:solidFill>
                  <a:srgbClr val="000000"/>
                </a:solidFill>
              </a:rPr>
              <a:t>, </a:t>
            </a:r>
            <a:r>
              <a:rPr lang="en-US" dirty="0" err="1">
                <a:solidFill>
                  <a:srgbClr val="000000"/>
                </a:solidFill>
              </a:rPr>
              <a:t>X_val</a:t>
            </a:r>
            <a:r>
              <a:rPr lang="en-US" dirty="0">
                <a:solidFill>
                  <a:srgbClr val="000000"/>
                </a:solidFill>
              </a:rPr>
              <a:t>, </a:t>
            </a:r>
            <a:r>
              <a:rPr lang="en-US" dirty="0" err="1">
                <a:solidFill>
                  <a:srgbClr val="000000"/>
                </a:solidFill>
              </a:rPr>
              <a:t>y_val</a:t>
            </a:r>
            <a:r>
              <a:rPr lang="en-US" dirty="0">
                <a:solidFill>
                  <a:srgbClr val="000000"/>
                </a:solidFill>
              </a:rPr>
              <a:t>, </a:t>
            </a:r>
            <a:r>
              <a:rPr lang="en-US" dirty="0" err="1">
                <a:solidFill>
                  <a:srgbClr val="000000"/>
                </a:solidFill>
              </a:rPr>
              <a:t>model_name</a:t>
            </a:r>
            <a:r>
              <a:rPr lang="en-US" dirty="0">
                <a:solidFill>
                  <a:srgbClr val="000000"/>
                </a:solidFill>
              </a:rPr>
              <a:t>)</a:t>
            </a:r>
            <a:endParaRPr lang="en-US" dirty="0"/>
          </a:p>
        </p:txBody>
      </p:sp>
    </p:spTree>
    <p:extLst>
      <p:ext uri="{BB962C8B-B14F-4D97-AF65-F5344CB8AC3E}">
        <p14:creationId xmlns:p14="http://schemas.microsoft.com/office/powerpoint/2010/main" val="19708528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A532E1-D055-20D7-F879-A04384C32B4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564CACC-260D-5C8C-9E4B-216AC8D1F1FB}"/>
              </a:ext>
            </a:extLst>
          </p:cNvPr>
          <p:cNvSpPr>
            <a:spLocks noGrp="1"/>
          </p:cNvSpPr>
          <p:nvPr>
            <p:ph idx="1"/>
          </p:nvPr>
        </p:nvSpPr>
        <p:spPr/>
        <p:txBody>
          <a:bodyPr>
            <a:normAutofit/>
          </a:bodyPr>
          <a:lstStyle/>
          <a:p>
            <a:pPr marL="0" indent="0">
              <a:buNone/>
            </a:pPr>
            <a:r>
              <a:rPr lang="en-US" sz="5400" dirty="0"/>
              <a:t>         </a:t>
            </a:r>
          </a:p>
          <a:p>
            <a:pPr marL="0" indent="0">
              <a:buNone/>
            </a:pPr>
            <a:endParaRPr lang="en-US" sz="5400" dirty="0"/>
          </a:p>
          <a:p>
            <a:pPr marL="0" indent="0">
              <a:buNone/>
            </a:pPr>
            <a:r>
              <a:rPr lang="en-US" sz="5400" dirty="0"/>
              <a:t>              </a:t>
            </a:r>
          </a:p>
        </p:txBody>
      </p:sp>
      <p:sp>
        <p:nvSpPr>
          <p:cNvPr id="5" name="Slide Number Placeholder 4">
            <a:extLst>
              <a:ext uri="{FF2B5EF4-FFF2-40B4-BE49-F238E27FC236}">
                <a16:creationId xmlns:a16="http://schemas.microsoft.com/office/drawing/2014/main" id="{DD91E0B9-945C-F9AA-1918-DA4B7A1D87A3}"/>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80</a:t>
            </a:fld>
            <a:endParaRPr lang="en-US" dirty="0">
              <a:solidFill>
                <a:srgbClr val="000000"/>
              </a:solidFill>
            </a:endParaRPr>
          </a:p>
        </p:txBody>
      </p:sp>
      <p:sp>
        <p:nvSpPr>
          <p:cNvPr id="4" name="TextBox 3">
            <a:extLst>
              <a:ext uri="{FF2B5EF4-FFF2-40B4-BE49-F238E27FC236}">
                <a16:creationId xmlns:a16="http://schemas.microsoft.com/office/drawing/2014/main" id="{71B32303-318F-DC8A-2AA2-1BA07DD0F8B8}"/>
              </a:ext>
            </a:extLst>
          </p:cNvPr>
          <p:cNvSpPr txBox="1"/>
          <p:nvPr/>
        </p:nvSpPr>
        <p:spPr>
          <a:xfrm>
            <a:off x="821181" y="633905"/>
            <a:ext cx="7353461" cy="5347312"/>
          </a:xfrm>
          <a:custGeom>
            <a:avLst/>
            <a:gdLst>
              <a:gd name="connsiteX0" fmla="*/ 0 w 7349220"/>
              <a:gd name="connsiteY0" fmla="*/ 0 h 6309420"/>
              <a:gd name="connsiteX1" fmla="*/ 7349220 w 7349220"/>
              <a:gd name="connsiteY1" fmla="*/ 0 h 6309420"/>
              <a:gd name="connsiteX2" fmla="*/ 7349220 w 7349220"/>
              <a:gd name="connsiteY2" fmla="*/ 6309420 h 6309420"/>
              <a:gd name="connsiteX3" fmla="*/ 0 w 7349220"/>
              <a:gd name="connsiteY3" fmla="*/ 6309420 h 6309420"/>
              <a:gd name="connsiteX4" fmla="*/ 0 w 7349220"/>
              <a:gd name="connsiteY4" fmla="*/ 0 h 6309420"/>
              <a:gd name="connsiteX0" fmla="*/ 0 w 7349220"/>
              <a:gd name="connsiteY0" fmla="*/ 0 h 6309420"/>
              <a:gd name="connsiteX1" fmla="*/ 7349220 w 7349220"/>
              <a:gd name="connsiteY1" fmla="*/ 0 h 6309420"/>
              <a:gd name="connsiteX2" fmla="*/ 7349220 w 7349220"/>
              <a:gd name="connsiteY2" fmla="*/ 6309420 h 6309420"/>
              <a:gd name="connsiteX3" fmla="*/ 0 w 7349220"/>
              <a:gd name="connsiteY3" fmla="*/ 5370636 h 6309420"/>
              <a:gd name="connsiteX4" fmla="*/ 0 w 7349220"/>
              <a:gd name="connsiteY4" fmla="*/ 0 h 6309420"/>
              <a:gd name="connsiteX0" fmla="*/ 0 w 7471140"/>
              <a:gd name="connsiteY0" fmla="*/ 0 h 5596188"/>
              <a:gd name="connsiteX1" fmla="*/ 7349220 w 7471140"/>
              <a:gd name="connsiteY1" fmla="*/ 0 h 5596188"/>
              <a:gd name="connsiteX2" fmla="*/ 7471140 w 7471140"/>
              <a:gd name="connsiteY2" fmla="*/ 5596188 h 5596188"/>
              <a:gd name="connsiteX3" fmla="*/ 0 w 7471140"/>
              <a:gd name="connsiteY3" fmla="*/ 5370636 h 5596188"/>
              <a:gd name="connsiteX4" fmla="*/ 0 w 7471140"/>
              <a:gd name="connsiteY4" fmla="*/ 0 h 5596188"/>
              <a:gd name="connsiteX0" fmla="*/ 0 w 7361412"/>
              <a:gd name="connsiteY0" fmla="*/ 0 h 5425500"/>
              <a:gd name="connsiteX1" fmla="*/ 7349220 w 7361412"/>
              <a:gd name="connsiteY1" fmla="*/ 0 h 5425500"/>
              <a:gd name="connsiteX2" fmla="*/ 7361412 w 7361412"/>
              <a:gd name="connsiteY2" fmla="*/ 5425500 h 5425500"/>
              <a:gd name="connsiteX3" fmla="*/ 0 w 7361412"/>
              <a:gd name="connsiteY3" fmla="*/ 5370636 h 5425500"/>
              <a:gd name="connsiteX4" fmla="*/ 0 w 7361412"/>
              <a:gd name="connsiteY4" fmla="*/ 0 h 5425500"/>
              <a:gd name="connsiteX0" fmla="*/ 0 w 7361412"/>
              <a:gd name="connsiteY0" fmla="*/ 0 h 5425500"/>
              <a:gd name="connsiteX1" fmla="*/ 7349220 w 7361412"/>
              <a:gd name="connsiteY1" fmla="*/ 0 h 5425500"/>
              <a:gd name="connsiteX2" fmla="*/ 7361412 w 7361412"/>
              <a:gd name="connsiteY2" fmla="*/ 5425500 h 5425500"/>
              <a:gd name="connsiteX3" fmla="*/ 0 w 7361412"/>
              <a:gd name="connsiteY3" fmla="*/ 4550153 h 5425500"/>
              <a:gd name="connsiteX4" fmla="*/ 0 w 7361412"/>
              <a:gd name="connsiteY4" fmla="*/ 0 h 5425500"/>
              <a:gd name="connsiteX0" fmla="*/ 0 w 7353461"/>
              <a:gd name="connsiteY0" fmla="*/ 0 h 4598179"/>
              <a:gd name="connsiteX1" fmla="*/ 7349220 w 7353461"/>
              <a:gd name="connsiteY1" fmla="*/ 0 h 4598179"/>
              <a:gd name="connsiteX2" fmla="*/ 7353461 w 7353461"/>
              <a:gd name="connsiteY2" fmla="*/ 4598179 h 4598179"/>
              <a:gd name="connsiteX3" fmla="*/ 0 w 7353461"/>
              <a:gd name="connsiteY3" fmla="*/ 4550153 h 4598179"/>
              <a:gd name="connsiteX4" fmla="*/ 0 w 7353461"/>
              <a:gd name="connsiteY4" fmla="*/ 0 h 45981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53461" h="4598179">
                <a:moveTo>
                  <a:pt x="0" y="0"/>
                </a:moveTo>
                <a:lnTo>
                  <a:pt x="7349220" y="0"/>
                </a:lnTo>
                <a:cubicBezTo>
                  <a:pt x="7350634" y="1532726"/>
                  <a:pt x="7352047" y="3065453"/>
                  <a:pt x="7353461" y="4598179"/>
                </a:cubicBezTo>
                <a:lnTo>
                  <a:pt x="0" y="4550153"/>
                </a:lnTo>
                <a:lnTo>
                  <a:pt x="0" y="0"/>
                </a:lnTo>
                <a:close/>
              </a:path>
            </a:pathLst>
          </a:custGeom>
          <a:noFill/>
        </p:spPr>
        <p:txBody>
          <a:bodyPr wrap="square">
            <a:spAutoFit/>
          </a:bodyPr>
          <a:lstStyle/>
          <a:p>
            <a:pPr algn="just">
              <a:spcAft>
                <a:spcPts val="600"/>
              </a:spcAft>
              <a:buNone/>
            </a:pPr>
            <a:r>
              <a:rPr lang="en-US" b="0" dirty="0">
                <a:solidFill>
                  <a:srgbClr val="0000FF"/>
                </a:solidFill>
                <a:effectLst/>
              </a:rPr>
              <a:t>def</a:t>
            </a:r>
            <a:r>
              <a:rPr lang="en-US" b="0" dirty="0">
                <a:solidFill>
                  <a:srgbClr val="000000"/>
                </a:solidFill>
                <a:effectLst/>
              </a:rPr>
              <a:t> </a:t>
            </a:r>
            <a:r>
              <a:rPr lang="en-US" b="0" dirty="0" err="1">
                <a:solidFill>
                  <a:srgbClr val="6A5221"/>
                </a:solidFill>
                <a:effectLst/>
              </a:rPr>
              <a:t>compute_metrics</a:t>
            </a:r>
            <a:r>
              <a:rPr lang="en-US" b="0" dirty="0">
                <a:solidFill>
                  <a:srgbClr val="000000"/>
                </a:solidFill>
                <a:effectLst/>
              </a:rPr>
              <a:t>(</a:t>
            </a:r>
            <a:r>
              <a:rPr lang="en-US" b="0" dirty="0">
                <a:solidFill>
                  <a:srgbClr val="001080"/>
                </a:solidFill>
                <a:effectLst/>
              </a:rPr>
              <a:t>model</a:t>
            </a:r>
            <a:r>
              <a:rPr lang="en-US" b="0" dirty="0">
                <a:solidFill>
                  <a:srgbClr val="000000"/>
                </a:solidFill>
                <a:effectLst/>
              </a:rPr>
              <a:t>, </a:t>
            </a:r>
            <a:r>
              <a:rPr lang="en-US" b="0" dirty="0" err="1">
                <a:solidFill>
                  <a:srgbClr val="001080"/>
                </a:solidFill>
                <a:effectLst/>
              </a:rPr>
              <a:t>X_train</a:t>
            </a:r>
            <a:r>
              <a:rPr lang="en-US" b="0" dirty="0">
                <a:solidFill>
                  <a:srgbClr val="000000"/>
                </a:solidFill>
                <a:effectLst/>
              </a:rPr>
              <a:t>, </a:t>
            </a:r>
            <a:r>
              <a:rPr lang="en-US" b="0" dirty="0" err="1">
                <a:solidFill>
                  <a:srgbClr val="001080"/>
                </a:solidFill>
                <a:effectLst/>
              </a:rPr>
              <a:t>y_train</a:t>
            </a:r>
            <a:r>
              <a:rPr lang="en-US" b="0" dirty="0">
                <a:solidFill>
                  <a:srgbClr val="000000"/>
                </a:solidFill>
                <a:effectLst/>
              </a:rPr>
              <a:t>, </a:t>
            </a:r>
            <a:r>
              <a:rPr lang="en-US" b="0" dirty="0" err="1">
                <a:solidFill>
                  <a:srgbClr val="001080"/>
                </a:solidFill>
                <a:effectLst/>
              </a:rPr>
              <a:t>X_val</a:t>
            </a:r>
            <a:r>
              <a:rPr lang="en-US" b="0" dirty="0">
                <a:solidFill>
                  <a:srgbClr val="000000"/>
                </a:solidFill>
                <a:effectLst/>
              </a:rPr>
              <a:t>, </a:t>
            </a:r>
            <a:r>
              <a:rPr lang="en-US" b="0" dirty="0" err="1">
                <a:solidFill>
                  <a:srgbClr val="001080"/>
                </a:solidFill>
                <a:effectLst/>
              </a:rPr>
              <a:t>y_val</a:t>
            </a:r>
            <a:r>
              <a:rPr lang="en-US" b="0" dirty="0">
                <a:solidFill>
                  <a:srgbClr val="000000"/>
                </a:solidFill>
                <a:effectLst/>
              </a:rPr>
              <a:t>):</a:t>
            </a:r>
          </a:p>
          <a:p>
            <a:pPr algn="just">
              <a:spcAft>
                <a:spcPts val="600"/>
              </a:spcAft>
              <a:buNone/>
            </a:pPr>
            <a:r>
              <a:rPr lang="en-US" b="0" dirty="0">
                <a:solidFill>
                  <a:srgbClr val="000000"/>
                </a:solidFill>
                <a:effectLst/>
              </a:rPr>
              <a:t>metrics = {}</a:t>
            </a:r>
          </a:p>
          <a:p>
            <a:pPr algn="just">
              <a:spcAft>
                <a:spcPts val="600"/>
              </a:spcAft>
              <a:buNone/>
            </a:pPr>
            <a:r>
              <a:rPr lang="en-US" b="0" dirty="0">
                <a:solidFill>
                  <a:srgbClr val="008000"/>
                </a:solidFill>
                <a:effectLst/>
              </a:rPr>
              <a:t># Define a helper function to compute metrics from predictions</a:t>
            </a:r>
            <a:endParaRPr lang="en-US" b="0" dirty="0">
              <a:solidFill>
                <a:srgbClr val="000000"/>
              </a:solidFill>
              <a:effectLst/>
            </a:endParaRPr>
          </a:p>
          <a:p>
            <a:pPr algn="just">
              <a:spcAft>
                <a:spcPts val="600"/>
              </a:spcAft>
              <a:buNone/>
            </a:pPr>
            <a:r>
              <a:rPr lang="en-US" b="0" dirty="0">
                <a:solidFill>
                  <a:srgbClr val="0000FF"/>
                </a:solidFill>
                <a:effectLst/>
              </a:rPr>
              <a:t>def</a:t>
            </a:r>
            <a:r>
              <a:rPr lang="en-US" b="0" dirty="0">
                <a:solidFill>
                  <a:srgbClr val="000000"/>
                </a:solidFill>
                <a:effectLst/>
              </a:rPr>
              <a:t> </a:t>
            </a:r>
            <a:r>
              <a:rPr lang="en-US" b="0" dirty="0" err="1">
                <a:solidFill>
                  <a:srgbClr val="6A5221"/>
                </a:solidFill>
                <a:effectLst/>
              </a:rPr>
              <a:t>calc_metrics</a:t>
            </a:r>
            <a:r>
              <a:rPr lang="en-US" b="0" dirty="0">
                <a:solidFill>
                  <a:srgbClr val="000000"/>
                </a:solidFill>
                <a:effectLst/>
              </a:rPr>
              <a:t>(</a:t>
            </a:r>
            <a:r>
              <a:rPr lang="en-US" b="0" dirty="0" err="1">
                <a:solidFill>
                  <a:srgbClr val="001080"/>
                </a:solidFill>
                <a:effectLst/>
              </a:rPr>
              <a:t>y_true</a:t>
            </a:r>
            <a:r>
              <a:rPr lang="en-US" b="0" dirty="0">
                <a:solidFill>
                  <a:srgbClr val="000000"/>
                </a:solidFill>
                <a:effectLst/>
              </a:rPr>
              <a:t>, </a:t>
            </a:r>
            <a:r>
              <a:rPr lang="en-US" b="0" dirty="0" err="1">
                <a:solidFill>
                  <a:srgbClr val="001080"/>
                </a:solidFill>
                <a:effectLst/>
              </a:rPr>
              <a:t>y_pred</a:t>
            </a:r>
            <a:r>
              <a:rPr lang="en-US" b="0" dirty="0">
                <a:solidFill>
                  <a:srgbClr val="000000"/>
                </a:solidFill>
                <a:effectLst/>
              </a:rPr>
              <a:t>):</a:t>
            </a:r>
          </a:p>
          <a:p>
            <a:pPr algn="just">
              <a:spcAft>
                <a:spcPts val="600"/>
              </a:spcAft>
              <a:buNone/>
            </a:pPr>
            <a:r>
              <a:rPr lang="en-US" b="0" dirty="0">
                <a:solidFill>
                  <a:srgbClr val="000000"/>
                </a:solidFill>
                <a:effectLst/>
              </a:rPr>
              <a:t>acc = </a:t>
            </a:r>
            <a:r>
              <a:rPr lang="en-US" b="0" dirty="0" err="1">
                <a:solidFill>
                  <a:srgbClr val="000000"/>
                </a:solidFill>
                <a:effectLst/>
              </a:rPr>
              <a:t>accuracy_score</a:t>
            </a:r>
            <a:r>
              <a:rPr lang="en-US" b="0" dirty="0">
                <a:solidFill>
                  <a:srgbClr val="000000"/>
                </a:solidFill>
                <a:effectLst/>
              </a:rPr>
              <a:t>(</a:t>
            </a:r>
            <a:r>
              <a:rPr lang="en-US" b="0" dirty="0" err="1">
                <a:solidFill>
                  <a:srgbClr val="000000"/>
                </a:solidFill>
                <a:effectLst/>
              </a:rPr>
              <a:t>y_true</a:t>
            </a:r>
            <a:r>
              <a:rPr lang="en-US" b="0" dirty="0">
                <a:solidFill>
                  <a:srgbClr val="000000"/>
                </a:solidFill>
                <a:effectLst/>
              </a:rPr>
              <a:t>, </a:t>
            </a:r>
            <a:r>
              <a:rPr lang="en-US" b="0" dirty="0" err="1">
                <a:solidFill>
                  <a:srgbClr val="000000"/>
                </a:solidFill>
                <a:effectLst/>
              </a:rPr>
              <a:t>y_pred</a:t>
            </a:r>
            <a:r>
              <a:rPr lang="en-US" b="0" dirty="0">
                <a:solidFill>
                  <a:srgbClr val="000000"/>
                </a:solidFill>
                <a:effectLst/>
              </a:rPr>
              <a:t>)</a:t>
            </a:r>
          </a:p>
          <a:p>
            <a:pPr algn="just">
              <a:spcAft>
                <a:spcPts val="600"/>
              </a:spcAft>
              <a:buNone/>
            </a:pPr>
            <a:r>
              <a:rPr lang="en-US" b="0" dirty="0">
                <a:solidFill>
                  <a:srgbClr val="000000"/>
                </a:solidFill>
                <a:effectLst/>
              </a:rPr>
              <a:t>cm = </a:t>
            </a:r>
            <a:r>
              <a:rPr lang="en-US" b="0" dirty="0" err="1">
                <a:solidFill>
                  <a:srgbClr val="000000"/>
                </a:solidFill>
                <a:effectLst/>
              </a:rPr>
              <a:t>confusion_matrix</a:t>
            </a:r>
            <a:r>
              <a:rPr lang="en-US" b="0" dirty="0">
                <a:solidFill>
                  <a:srgbClr val="000000"/>
                </a:solidFill>
                <a:effectLst/>
              </a:rPr>
              <a:t>(</a:t>
            </a:r>
            <a:r>
              <a:rPr lang="en-US" b="0" dirty="0" err="1">
                <a:solidFill>
                  <a:srgbClr val="000000"/>
                </a:solidFill>
                <a:effectLst/>
              </a:rPr>
              <a:t>y_true</a:t>
            </a:r>
            <a:r>
              <a:rPr lang="en-US" b="0" dirty="0">
                <a:solidFill>
                  <a:srgbClr val="000000"/>
                </a:solidFill>
                <a:effectLst/>
              </a:rPr>
              <a:t>, </a:t>
            </a:r>
            <a:r>
              <a:rPr lang="en-US" b="0" dirty="0" err="1">
                <a:solidFill>
                  <a:srgbClr val="000000"/>
                </a:solidFill>
                <a:effectLst/>
              </a:rPr>
              <a:t>y_pred</a:t>
            </a:r>
            <a:r>
              <a:rPr lang="en-US" b="0" dirty="0">
                <a:solidFill>
                  <a:srgbClr val="000000"/>
                </a:solidFill>
                <a:effectLst/>
              </a:rPr>
              <a:t>)</a:t>
            </a:r>
          </a:p>
          <a:p>
            <a:pPr algn="just">
              <a:spcAft>
                <a:spcPts val="600"/>
              </a:spcAft>
              <a:buNone/>
            </a:pPr>
            <a:r>
              <a:rPr lang="en-US" b="0" dirty="0">
                <a:solidFill>
                  <a:srgbClr val="008000"/>
                </a:solidFill>
                <a:effectLst/>
              </a:rPr>
              <a:t># Ensure the confusion matrix is in a binary format</a:t>
            </a:r>
            <a:endParaRPr lang="en-US" b="0" dirty="0">
              <a:solidFill>
                <a:srgbClr val="000000"/>
              </a:solidFill>
              <a:effectLst/>
            </a:endParaRPr>
          </a:p>
          <a:p>
            <a:pPr algn="just">
              <a:spcAft>
                <a:spcPts val="600"/>
              </a:spcAft>
              <a:buNone/>
            </a:pPr>
            <a:r>
              <a:rPr lang="en-US" b="0" dirty="0">
                <a:solidFill>
                  <a:srgbClr val="9723B4"/>
                </a:solidFill>
                <a:effectLst/>
              </a:rPr>
              <a:t>if</a:t>
            </a:r>
            <a:r>
              <a:rPr lang="en-US" b="0" dirty="0">
                <a:solidFill>
                  <a:srgbClr val="000000"/>
                </a:solidFill>
                <a:effectLst/>
              </a:rPr>
              <a:t> </a:t>
            </a:r>
            <a:r>
              <a:rPr lang="en-US" b="0" dirty="0" err="1">
                <a:solidFill>
                  <a:srgbClr val="000000"/>
                </a:solidFill>
                <a:effectLst/>
              </a:rPr>
              <a:t>cm.shape</a:t>
            </a:r>
            <a:r>
              <a:rPr lang="en-US" b="0" dirty="0">
                <a:solidFill>
                  <a:srgbClr val="000000"/>
                </a:solidFill>
                <a:effectLst/>
              </a:rPr>
              <a:t> == (</a:t>
            </a:r>
            <a:r>
              <a:rPr lang="en-US" b="0" dirty="0">
                <a:solidFill>
                  <a:srgbClr val="116644"/>
                </a:solidFill>
                <a:effectLst/>
              </a:rPr>
              <a:t>2</a:t>
            </a:r>
            <a:r>
              <a:rPr lang="en-US" b="0" dirty="0">
                <a:solidFill>
                  <a:srgbClr val="000000"/>
                </a:solidFill>
                <a:effectLst/>
              </a:rPr>
              <a:t>, </a:t>
            </a:r>
            <a:r>
              <a:rPr lang="en-US" b="0" dirty="0">
                <a:solidFill>
                  <a:srgbClr val="116644"/>
                </a:solidFill>
                <a:effectLst/>
              </a:rPr>
              <a:t>2</a:t>
            </a:r>
            <a:r>
              <a:rPr lang="en-US" b="0" dirty="0">
                <a:solidFill>
                  <a:srgbClr val="000000"/>
                </a:solidFill>
                <a:effectLst/>
              </a:rPr>
              <a:t>):</a:t>
            </a:r>
          </a:p>
          <a:p>
            <a:pPr algn="just">
              <a:spcAft>
                <a:spcPts val="600"/>
              </a:spcAft>
              <a:buNone/>
            </a:pPr>
            <a:r>
              <a:rPr lang="en-US" b="0" dirty="0" err="1">
                <a:solidFill>
                  <a:srgbClr val="000000"/>
                </a:solidFill>
                <a:effectLst/>
              </a:rPr>
              <a:t>tn</a:t>
            </a:r>
            <a:r>
              <a:rPr lang="en-US" b="0" dirty="0">
                <a:solidFill>
                  <a:srgbClr val="000000"/>
                </a:solidFill>
                <a:effectLst/>
              </a:rPr>
              <a:t>, </a:t>
            </a:r>
            <a:r>
              <a:rPr lang="en-US" b="0" dirty="0" err="1">
                <a:solidFill>
                  <a:srgbClr val="000000"/>
                </a:solidFill>
                <a:effectLst/>
              </a:rPr>
              <a:t>fp</a:t>
            </a:r>
            <a:r>
              <a:rPr lang="en-US" b="0" dirty="0">
                <a:solidFill>
                  <a:srgbClr val="000000"/>
                </a:solidFill>
                <a:effectLst/>
              </a:rPr>
              <a:t>, </a:t>
            </a:r>
            <a:r>
              <a:rPr lang="en-US" b="0" dirty="0" err="1">
                <a:solidFill>
                  <a:srgbClr val="000000"/>
                </a:solidFill>
                <a:effectLst/>
              </a:rPr>
              <a:t>fn</a:t>
            </a:r>
            <a:r>
              <a:rPr lang="en-US" b="0" dirty="0">
                <a:solidFill>
                  <a:srgbClr val="000000"/>
                </a:solidFill>
                <a:effectLst/>
              </a:rPr>
              <a:t>, </a:t>
            </a:r>
            <a:r>
              <a:rPr lang="en-US" b="0" dirty="0" err="1">
                <a:solidFill>
                  <a:srgbClr val="000000"/>
                </a:solidFill>
                <a:effectLst/>
              </a:rPr>
              <a:t>tp</a:t>
            </a:r>
            <a:r>
              <a:rPr lang="en-US" b="0" dirty="0">
                <a:solidFill>
                  <a:srgbClr val="000000"/>
                </a:solidFill>
                <a:effectLst/>
              </a:rPr>
              <a:t> = </a:t>
            </a:r>
            <a:r>
              <a:rPr lang="en-US" b="0" dirty="0" err="1">
                <a:solidFill>
                  <a:srgbClr val="000000"/>
                </a:solidFill>
                <a:effectLst/>
              </a:rPr>
              <a:t>cm.ravel</a:t>
            </a:r>
            <a:r>
              <a:rPr lang="en-US" b="0" dirty="0">
                <a:solidFill>
                  <a:srgbClr val="000000"/>
                </a:solidFill>
                <a:effectLst/>
              </a:rPr>
              <a:t>()</a:t>
            </a:r>
          </a:p>
          <a:p>
            <a:pPr algn="just">
              <a:spcAft>
                <a:spcPts val="600"/>
              </a:spcAft>
              <a:buNone/>
            </a:pPr>
            <a:r>
              <a:rPr lang="en-US" b="0" dirty="0">
                <a:solidFill>
                  <a:srgbClr val="000000"/>
                </a:solidFill>
                <a:effectLst/>
              </a:rPr>
              <a:t>sensitivity = </a:t>
            </a:r>
            <a:r>
              <a:rPr lang="en-US" b="0" dirty="0" err="1">
                <a:solidFill>
                  <a:srgbClr val="000000"/>
                </a:solidFill>
                <a:effectLst/>
              </a:rPr>
              <a:t>tp</a:t>
            </a:r>
            <a:r>
              <a:rPr lang="en-US" b="0" dirty="0">
                <a:solidFill>
                  <a:srgbClr val="000000"/>
                </a:solidFill>
                <a:effectLst/>
              </a:rPr>
              <a:t> / (</a:t>
            </a:r>
            <a:r>
              <a:rPr lang="en-US" b="0" dirty="0" err="1">
                <a:solidFill>
                  <a:srgbClr val="000000"/>
                </a:solidFill>
                <a:effectLst/>
              </a:rPr>
              <a:t>tp</a:t>
            </a:r>
            <a:r>
              <a:rPr lang="en-US" b="0" dirty="0">
                <a:solidFill>
                  <a:srgbClr val="000000"/>
                </a:solidFill>
                <a:effectLst/>
              </a:rPr>
              <a:t> + </a:t>
            </a:r>
            <a:r>
              <a:rPr lang="en-US" b="0" dirty="0" err="1">
                <a:solidFill>
                  <a:srgbClr val="000000"/>
                </a:solidFill>
                <a:effectLst/>
              </a:rPr>
              <a:t>fn</a:t>
            </a:r>
            <a:r>
              <a:rPr lang="en-US" b="0" dirty="0">
                <a:solidFill>
                  <a:srgbClr val="000000"/>
                </a:solidFill>
                <a:effectLst/>
              </a:rPr>
              <a:t>) </a:t>
            </a:r>
            <a:r>
              <a:rPr lang="en-US" b="0" dirty="0">
                <a:solidFill>
                  <a:srgbClr val="9723B4"/>
                </a:solidFill>
                <a:effectLst/>
              </a:rPr>
              <a:t>if</a:t>
            </a:r>
            <a:r>
              <a:rPr lang="en-US" b="0" dirty="0">
                <a:solidFill>
                  <a:srgbClr val="000000"/>
                </a:solidFill>
                <a:effectLst/>
              </a:rPr>
              <a:t> (</a:t>
            </a:r>
            <a:r>
              <a:rPr lang="en-US" b="0" dirty="0" err="1">
                <a:solidFill>
                  <a:srgbClr val="000000"/>
                </a:solidFill>
                <a:effectLst/>
              </a:rPr>
              <a:t>tp</a:t>
            </a:r>
            <a:r>
              <a:rPr lang="en-US" b="0" dirty="0">
                <a:solidFill>
                  <a:srgbClr val="000000"/>
                </a:solidFill>
                <a:effectLst/>
              </a:rPr>
              <a:t> + </a:t>
            </a:r>
            <a:r>
              <a:rPr lang="en-US" b="0" dirty="0" err="1">
                <a:solidFill>
                  <a:srgbClr val="000000"/>
                </a:solidFill>
                <a:effectLst/>
              </a:rPr>
              <a:t>fn</a:t>
            </a:r>
            <a:r>
              <a:rPr lang="en-US" b="0" dirty="0">
                <a:solidFill>
                  <a:srgbClr val="000000"/>
                </a:solidFill>
                <a:effectLst/>
              </a:rPr>
              <a:t>) &gt; </a:t>
            </a:r>
            <a:r>
              <a:rPr lang="en-US" b="0" dirty="0">
                <a:solidFill>
                  <a:srgbClr val="116644"/>
                </a:solidFill>
                <a:effectLst/>
              </a:rPr>
              <a:t>0</a:t>
            </a:r>
            <a:r>
              <a:rPr lang="en-US" b="0" dirty="0">
                <a:solidFill>
                  <a:srgbClr val="000000"/>
                </a:solidFill>
                <a:effectLst/>
              </a:rPr>
              <a:t> </a:t>
            </a:r>
            <a:r>
              <a:rPr lang="en-US" b="0" dirty="0">
                <a:solidFill>
                  <a:srgbClr val="9723B4"/>
                </a:solidFill>
                <a:effectLst/>
              </a:rPr>
              <a:t>else</a:t>
            </a:r>
            <a:r>
              <a:rPr lang="en-US" b="0" dirty="0">
                <a:solidFill>
                  <a:srgbClr val="000000"/>
                </a:solidFill>
                <a:effectLst/>
              </a:rPr>
              <a:t> </a:t>
            </a:r>
            <a:r>
              <a:rPr lang="en-US" b="0" dirty="0">
                <a:solidFill>
                  <a:srgbClr val="116644"/>
                </a:solidFill>
                <a:effectLst/>
              </a:rPr>
              <a:t>0</a:t>
            </a:r>
            <a:r>
              <a:rPr lang="en-US" b="0" dirty="0">
                <a:solidFill>
                  <a:srgbClr val="000000"/>
                </a:solidFill>
                <a:effectLst/>
              </a:rPr>
              <a:t>  </a:t>
            </a:r>
            <a:r>
              <a:rPr lang="en-US" b="0" dirty="0">
                <a:solidFill>
                  <a:srgbClr val="008000"/>
                </a:solidFill>
                <a:effectLst/>
              </a:rPr>
              <a:t># Recall</a:t>
            </a:r>
            <a:endParaRPr lang="en-US" b="0" dirty="0">
              <a:solidFill>
                <a:srgbClr val="000000"/>
              </a:solidFill>
              <a:effectLst/>
            </a:endParaRPr>
          </a:p>
          <a:p>
            <a:pPr algn="just">
              <a:spcAft>
                <a:spcPts val="600"/>
              </a:spcAft>
              <a:buNone/>
            </a:pPr>
            <a:r>
              <a:rPr lang="en-US" b="0" dirty="0">
                <a:solidFill>
                  <a:srgbClr val="000000"/>
                </a:solidFill>
                <a:effectLst/>
              </a:rPr>
              <a:t>specificity = </a:t>
            </a:r>
            <a:r>
              <a:rPr lang="en-US" b="0" dirty="0" err="1">
                <a:solidFill>
                  <a:srgbClr val="000000"/>
                </a:solidFill>
                <a:effectLst/>
              </a:rPr>
              <a:t>tn</a:t>
            </a:r>
            <a:r>
              <a:rPr lang="en-US" b="0" dirty="0">
                <a:solidFill>
                  <a:srgbClr val="000000"/>
                </a:solidFill>
                <a:effectLst/>
              </a:rPr>
              <a:t> / (</a:t>
            </a:r>
            <a:r>
              <a:rPr lang="en-US" b="0" dirty="0" err="1">
                <a:solidFill>
                  <a:srgbClr val="000000"/>
                </a:solidFill>
                <a:effectLst/>
              </a:rPr>
              <a:t>tn</a:t>
            </a:r>
            <a:r>
              <a:rPr lang="en-US" b="0" dirty="0">
                <a:solidFill>
                  <a:srgbClr val="000000"/>
                </a:solidFill>
                <a:effectLst/>
              </a:rPr>
              <a:t> + </a:t>
            </a:r>
            <a:r>
              <a:rPr lang="en-US" b="0" dirty="0" err="1">
                <a:solidFill>
                  <a:srgbClr val="000000"/>
                </a:solidFill>
                <a:effectLst/>
              </a:rPr>
              <a:t>fp</a:t>
            </a:r>
            <a:r>
              <a:rPr lang="en-US" b="0" dirty="0">
                <a:solidFill>
                  <a:srgbClr val="000000"/>
                </a:solidFill>
                <a:effectLst/>
              </a:rPr>
              <a:t>) </a:t>
            </a:r>
            <a:r>
              <a:rPr lang="en-US" b="0" dirty="0">
                <a:solidFill>
                  <a:srgbClr val="9723B4"/>
                </a:solidFill>
                <a:effectLst/>
              </a:rPr>
              <a:t>if</a:t>
            </a:r>
            <a:r>
              <a:rPr lang="en-US" b="0" dirty="0">
                <a:solidFill>
                  <a:srgbClr val="000000"/>
                </a:solidFill>
                <a:effectLst/>
              </a:rPr>
              <a:t> (</a:t>
            </a:r>
            <a:r>
              <a:rPr lang="en-US" b="0" dirty="0" err="1">
                <a:solidFill>
                  <a:srgbClr val="000000"/>
                </a:solidFill>
                <a:effectLst/>
              </a:rPr>
              <a:t>tn</a:t>
            </a:r>
            <a:r>
              <a:rPr lang="en-US" b="0" dirty="0">
                <a:solidFill>
                  <a:srgbClr val="000000"/>
                </a:solidFill>
                <a:effectLst/>
              </a:rPr>
              <a:t> + </a:t>
            </a:r>
            <a:r>
              <a:rPr lang="en-US" b="0" dirty="0" err="1">
                <a:solidFill>
                  <a:srgbClr val="000000"/>
                </a:solidFill>
                <a:effectLst/>
              </a:rPr>
              <a:t>fp</a:t>
            </a:r>
            <a:r>
              <a:rPr lang="en-US" b="0" dirty="0">
                <a:solidFill>
                  <a:srgbClr val="000000"/>
                </a:solidFill>
                <a:effectLst/>
              </a:rPr>
              <a:t>) &gt; </a:t>
            </a:r>
            <a:r>
              <a:rPr lang="en-US" b="0" dirty="0">
                <a:solidFill>
                  <a:srgbClr val="116644"/>
                </a:solidFill>
                <a:effectLst/>
              </a:rPr>
              <a:t>0</a:t>
            </a:r>
            <a:r>
              <a:rPr lang="en-US" b="0" dirty="0">
                <a:solidFill>
                  <a:srgbClr val="000000"/>
                </a:solidFill>
                <a:effectLst/>
              </a:rPr>
              <a:t> </a:t>
            </a:r>
            <a:r>
              <a:rPr lang="en-US" b="0" dirty="0">
                <a:solidFill>
                  <a:srgbClr val="9723B4"/>
                </a:solidFill>
                <a:effectLst/>
              </a:rPr>
              <a:t>else</a:t>
            </a:r>
            <a:r>
              <a:rPr lang="en-US" b="0" dirty="0">
                <a:solidFill>
                  <a:srgbClr val="000000"/>
                </a:solidFill>
                <a:effectLst/>
              </a:rPr>
              <a:t> </a:t>
            </a:r>
            <a:r>
              <a:rPr lang="en-US" b="0" dirty="0">
                <a:solidFill>
                  <a:srgbClr val="116644"/>
                </a:solidFill>
                <a:effectLst/>
              </a:rPr>
              <a:t>0</a:t>
            </a:r>
            <a:endParaRPr lang="en-US" b="0" dirty="0">
              <a:solidFill>
                <a:srgbClr val="000000"/>
              </a:solidFill>
              <a:effectLst/>
            </a:endParaRPr>
          </a:p>
          <a:p>
            <a:pPr algn="just">
              <a:spcAft>
                <a:spcPts val="600"/>
              </a:spcAft>
              <a:buNone/>
            </a:pPr>
            <a:r>
              <a:rPr lang="en-US" b="0" dirty="0">
                <a:solidFill>
                  <a:srgbClr val="000000"/>
                </a:solidFill>
                <a:effectLst/>
              </a:rPr>
              <a:t>precision = </a:t>
            </a:r>
            <a:r>
              <a:rPr lang="en-US" b="0" dirty="0" err="1">
                <a:solidFill>
                  <a:srgbClr val="000000"/>
                </a:solidFill>
                <a:effectLst/>
              </a:rPr>
              <a:t>tp</a:t>
            </a:r>
            <a:r>
              <a:rPr lang="en-US" b="0" dirty="0">
                <a:solidFill>
                  <a:srgbClr val="000000"/>
                </a:solidFill>
                <a:effectLst/>
              </a:rPr>
              <a:t> / (</a:t>
            </a:r>
            <a:r>
              <a:rPr lang="en-US" b="0" dirty="0" err="1">
                <a:solidFill>
                  <a:srgbClr val="000000"/>
                </a:solidFill>
                <a:effectLst/>
              </a:rPr>
              <a:t>tp</a:t>
            </a:r>
            <a:r>
              <a:rPr lang="en-US" b="0" dirty="0">
                <a:solidFill>
                  <a:srgbClr val="000000"/>
                </a:solidFill>
                <a:effectLst/>
              </a:rPr>
              <a:t> + </a:t>
            </a:r>
            <a:r>
              <a:rPr lang="en-US" b="0" dirty="0" err="1">
                <a:solidFill>
                  <a:srgbClr val="000000"/>
                </a:solidFill>
                <a:effectLst/>
              </a:rPr>
              <a:t>fp</a:t>
            </a:r>
            <a:r>
              <a:rPr lang="en-US" b="0" dirty="0">
                <a:solidFill>
                  <a:srgbClr val="000000"/>
                </a:solidFill>
                <a:effectLst/>
              </a:rPr>
              <a:t>) </a:t>
            </a:r>
            <a:r>
              <a:rPr lang="en-US" b="0" dirty="0">
                <a:solidFill>
                  <a:srgbClr val="9723B4"/>
                </a:solidFill>
                <a:effectLst/>
              </a:rPr>
              <a:t>if</a:t>
            </a:r>
            <a:r>
              <a:rPr lang="en-US" b="0" dirty="0">
                <a:solidFill>
                  <a:srgbClr val="000000"/>
                </a:solidFill>
                <a:effectLst/>
              </a:rPr>
              <a:t> (</a:t>
            </a:r>
            <a:r>
              <a:rPr lang="en-US" b="0" dirty="0" err="1">
                <a:solidFill>
                  <a:srgbClr val="000000"/>
                </a:solidFill>
                <a:effectLst/>
              </a:rPr>
              <a:t>tp</a:t>
            </a:r>
            <a:r>
              <a:rPr lang="en-US" b="0" dirty="0">
                <a:solidFill>
                  <a:srgbClr val="000000"/>
                </a:solidFill>
                <a:effectLst/>
              </a:rPr>
              <a:t> + </a:t>
            </a:r>
            <a:r>
              <a:rPr lang="en-US" b="0" dirty="0" err="1">
                <a:solidFill>
                  <a:srgbClr val="000000"/>
                </a:solidFill>
                <a:effectLst/>
              </a:rPr>
              <a:t>fp</a:t>
            </a:r>
            <a:r>
              <a:rPr lang="en-US" b="0" dirty="0">
                <a:solidFill>
                  <a:srgbClr val="000000"/>
                </a:solidFill>
                <a:effectLst/>
              </a:rPr>
              <a:t>) &gt; </a:t>
            </a:r>
            <a:r>
              <a:rPr lang="en-US" b="0" dirty="0">
                <a:solidFill>
                  <a:srgbClr val="116644"/>
                </a:solidFill>
                <a:effectLst/>
              </a:rPr>
              <a:t>0</a:t>
            </a:r>
            <a:r>
              <a:rPr lang="en-US" b="0" dirty="0">
                <a:solidFill>
                  <a:srgbClr val="000000"/>
                </a:solidFill>
                <a:effectLst/>
              </a:rPr>
              <a:t> </a:t>
            </a:r>
            <a:r>
              <a:rPr lang="en-US" b="0" dirty="0">
                <a:solidFill>
                  <a:srgbClr val="9723B4"/>
                </a:solidFill>
                <a:effectLst/>
              </a:rPr>
              <a:t>else</a:t>
            </a:r>
            <a:r>
              <a:rPr lang="en-US" b="0" dirty="0">
                <a:solidFill>
                  <a:srgbClr val="000000"/>
                </a:solidFill>
                <a:effectLst/>
              </a:rPr>
              <a:t> </a:t>
            </a:r>
            <a:r>
              <a:rPr lang="en-US" b="0" dirty="0">
                <a:solidFill>
                  <a:srgbClr val="116644"/>
                </a:solidFill>
                <a:effectLst/>
              </a:rPr>
              <a:t>0</a:t>
            </a:r>
            <a:endParaRPr lang="en-US" b="0" dirty="0">
              <a:solidFill>
                <a:srgbClr val="000000"/>
              </a:solidFill>
              <a:effectLst/>
            </a:endParaRPr>
          </a:p>
          <a:p>
            <a:pPr algn="just">
              <a:spcAft>
                <a:spcPts val="600"/>
              </a:spcAft>
              <a:buNone/>
            </a:pPr>
            <a:r>
              <a:rPr lang="en-US" b="0" dirty="0">
                <a:solidFill>
                  <a:srgbClr val="9723B4"/>
                </a:solidFill>
                <a:effectLst/>
              </a:rPr>
              <a:t>else</a:t>
            </a:r>
            <a:r>
              <a:rPr lang="en-US" b="0" dirty="0">
                <a:solidFill>
                  <a:srgbClr val="000000"/>
                </a:solidFill>
                <a:effectLst/>
              </a:rPr>
              <a:t>:</a:t>
            </a:r>
          </a:p>
          <a:p>
            <a:pPr algn="just">
              <a:spcAft>
                <a:spcPts val="600"/>
              </a:spcAft>
              <a:buNone/>
            </a:pPr>
            <a:r>
              <a:rPr lang="en-US" b="0" dirty="0">
                <a:solidFill>
                  <a:srgbClr val="008000"/>
                </a:solidFill>
                <a:effectLst/>
              </a:rPr>
              <a:t># Fallback values for non-binary classification or edge cases</a:t>
            </a:r>
            <a:endParaRPr lang="en-US" b="0" dirty="0">
              <a:solidFill>
                <a:srgbClr val="000000"/>
              </a:solidFill>
              <a:effectLst/>
            </a:endParaRPr>
          </a:p>
          <a:p>
            <a:pPr algn="just">
              <a:spcAft>
                <a:spcPts val="600"/>
              </a:spcAft>
              <a:buNone/>
            </a:pPr>
            <a:r>
              <a:rPr lang="en-US" b="0" dirty="0">
                <a:solidFill>
                  <a:srgbClr val="000000"/>
                </a:solidFill>
                <a:effectLst/>
              </a:rPr>
              <a:t>sensitivity = specificity = precision = </a:t>
            </a:r>
            <a:r>
              <a:rPr lang="en-US" b="0" dirty="0">
                <a:solidFill>
                  <a:srgbClr val="116644"/>
                </a:solidFill>
                <a:effectLst/>
              </a:rPr>
              <a:t>0</a:t>
            </a:r>
            <a:endParaRPr lang="en-US" b="0" dirty="0">
              <a:solidFill>
                <a:srgbClr val="000000"/>
              </a:solidFill>
              <a:effectLst/>
            </a:endParaRPr>
          </a:p>
          <a:p>
            <a:pPr algn="just">
              <a:spcAft>
                <a:spcPts val="600"/>
              </a:spcAft>
              <a:buNone/>
            </a:pPr>
            <a:r>
              <a:rPr lang="en-US" b="0" dirty="0">
                <a:solidFill>
                  <a:srgbClr val="000000"/>
                </a:solidFill>
                <a:effectLst/>
              </a:rPr>
              <a:t>       </a:t>
            </a:r>
            <a:br>
              <a:rPr lang="en-US" b="0" dirty="0">
                <a:solidFill>
                  <a:srgbClr val="000000"/>
                </a:solidFill>
                <a:effectLst/>
              </a:rPr>
            </a:br>
            <a:endParaRPr lang="en-US" b="0" dirty="0">
              <a:solidFill>
                <a:srgbClr val="000000"/>
              </a:solidFill>
              <a:effectLst/>
            </a:endParaRPr>
          </a:p>
          <a:p>
            <a:pPr algn="just">
              <a:spcAft>
                <a:spcPts val="600"/>
              </a:spcAft>
              <a:buNone/>
            </a:pPr>
            <a:r>
              <a:rPr lang="en-US" b="0" dirty="0">
                <a:solidFill>
                  <a:srgbClr val="000000"/>
                </a:solidFill>
                <a:effectLst/>
              </a:rPr>
              <a:t>   </a:t>
            </a:r>
          </a:p>
        </p:txBody>
      </p:sp>
    </p:spTree>
    <p:extLst>
      <p:ext uri="{BB962C8B-B14F-4D97-AF65-F5344CB8AC3E}">
        <p14:creationId xmlns:p14="http://schemas.microsoft.com/office/powerpoint/2010/main" val="257138005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998ED9-5840-66DB-604C-2DDE4169AFB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D3C7BAD-8B13-F21B-9EB0-21D206E9BF69}"/>
              </a:ext>
            </a:extLst>
          </p:cNvPr>
          <p:cNvSpPr>
            <a:spLocks noGrp="1"/>
          </p:cNvSpPr>
          <p:nvPr>
            <p:ph idx="1"/>
          </p:nvPr>
        </p:nvSpPr>
        <p:spPr/>
        <p:txBody>
          <a:bodyPr>
            <a:normAutofit/>
          </a:bodyPr>
          <a:lstStyle/>
          <a:p>
            <a:pPr marL="0" indent="0">
              <a:buNone/>
            </a:pPr>
            <a:r>
              <a:rPr lang="en-US" sz="5400" dirty="0"/>
              <a:t>         </a:t>
            </a:r>
          </a:p>
          <a:p>
            <a:pPr marL="0" indent="0">
              <a:buNone/>
            </a:pPr>
            <a:endParaRPr lang="en-US" sz="5400" dirty="0"/>
          </a:p>
          <a:p>
            <a:pPr marL="0" indent="0">
              <a:buNone/>
            </a:pPr>
            <a:r>
              <a:rPr lang="en-US" sz="5400" dirty="0"/>
              <a:t>              </a:t>
            </a:r>
          </a:p>
        </p:txBody>
      </p:sp>
      <p:sp>
        <p:nvSpPr>
          <p:cNvPr id="5" name="Slide Number Placeholder 4">
            <a:extLst>
              <a:ext uri="{FF2B5EF4-FFF2-40B4-BE49-F238E27FC236}">
                <a16:creationId xmlns:a16="http://schemas.microsoft.com/office/drawing/2014/main" id="{B714CC29-072D-67B0-EFBE-A2C7D0FFD93E}"/>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81</a:t>
            </a:fld>
            <a:endParaRPr lang="en-US" dirty="0">
              <a:solidFill>
                <a:srgbClr val="000000"/>
              </a:solidFill>
            </a:endParaRPr>
          </a:p>
        </p:txBody>
      </p:sp>
      <p:sp>
        <p:nvSpPr>
          <p:cNvPr id="4" name="TextBox 3">
            <a:extLst>
              <a:ext uri="{FF2B5EF4-FFF2-40B4-BE49-F238E27FC236}">
                <a16:creationId xmlns:a16="http://schemas.microsoft.com/office/drawing/2014/main" id="{72482B28-E2E5-F8D9-9038-457AD1D40DE4}"/>
              </a:ext>
            </a:extLst>
          </p:cNvPr>
          <p:cNvSpPr txBox="1"/>
          <p:nvPr/>
        </p:nvSpPr>
        <p:spPr>
          <a:xfrm>
            <a:off x="835574" y="576364"/>
            <a:ext cx="7401509" cy="5414787"/>
          </a:xfrm>
          <a:custGeom>
            <a:avLst/>
            <a:gdLst>
              <a:gd name="connsiteX0" fmla="*/ 0 w 7329948"/>
              <a:gd name="connsiteY0" fmla="*/ 0 h 5955476"/>
              <a:gd name="connsiteX1" fmla="*/ 7329948 w 7329948"/>
              <a:gd name="connsiteY1" fmla="*/ 0 h 5955476"/>
              <a:gd name="connsiteX2" fmla="*/ 7329948 w 7329948"/>
              <a:gd name="connsiteY2" fmla="*/ 5955476 h 5955476"/>
              <a:gd name="connsiteX3" fmla="*/ 0 w 7329948"/>
              <a:gd name="connsiteY3" fmla="*/ 5955476 h 5955476"/>
              <a:gd name="connsiteX4" fmla="*/ 0 w 7329948"/>
              <a:gd name="connsiteY4" fmla="*/ 0 h 5955476"/>
              <a:gd name="connsiteX0" fmla="*/ 7951 w 7337899"/>
              <a:gd name="connsiteY0" fmla="*/ 0 h 5955476"/>
              <a:gd name="connsiteX1" fmla="*/ 7337899 w 7337899"/>
              <a:gd name="connsiteY1" fmla="*/ 0 h 5955476"/>
              <a:gd name="connsiteX2" fmla="*/ 7337899 w 7337899"/>
              <a:gd name="connsiteY2" fmla="*/ 5955476 h 5955476"/>
              <a:gd name="connsiteX3" fmla="*/ 0 w 7337899"/>
              <a:gd name="connsiteY3" fmla="*/ 5414787 h 5955476"/>
              <a:gd name="connsiteX4" fmla="*/ 7951 w 7337899"/>
              <a:gd name="connsiteY4" fmla="*/ 0 h 5955476"/>
              <a:gd name="connsiteX0" fmla="*/ 7951 w 7401509"/>
              <a:gd name="connsiteY0" fmla="*/ 0 h 5414787"/>
              <a:gd name="connsiteX1" fmla="*/ 7337899 w 7401509"/>
              <a:gd name="connsiteY1" fmla="*/ 0 h 5414787"/>
              <a:gd name="connsiteX2" fmla="*/ 7401509 w 7401509"/>
              <a:gd name="connsiteY2" fmla="*/ 5367079 h 5414787"/>
              <a:gd name="connsiteX3" fmla="*/ 0 w 7401509"/>
              <a:gd name="connsiteY3" fmla="*/ 5414787 h 5414787"/>
              <a:gd name="connsiteX4" fmla="*/ 7951 w 7401509"/>
              <a:gd name="connsiteY4" fmla="*/ 0 h 54147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01509" h="5414787">
                <a:moveTo>
                  <a:pt x="7951" y="0"/>
                </a:moveTo>
                <a:lnTo>
                  <a:pt x="7337899" y="0"/>
                </a:lnTo>
                <a:lnTo>
                  <a:pt x="7401509" y="5367079"/>
                </a:lnTo>
                <a:lnTo>
                  <a:pt x="0" y="5414787"/>
                </a:lnTo>
                <a:cubicBezTo>
                  <a:pt x="2650" y="3609858"/>
                  <a:pt x="5301" y="1804929"/>
                  <a:pt x="7951" y="0"/>
                </a:cubicBezTo>
                <a:close/>
              </a:path>
            </a:pathLst>
          </a:custGeom>
          <a:noFill/>
        </p:spPr>
        <p:txBody>
          <a:bodyPr wrap="square">
            <a:spAutoFit/>
          </a:bodyPr>
          <a:lstStyle/>
          <a:p>
            <a:pPr algn="just">
              <a:spcAft>
                <a:spcPts val="600"/>
              </a:spcAft>
              <a:buNone/>
            </a:pPr>
            <a:r>
              <a:rPr lang="en-US" dirty="0">
                <a:solidFill>
                  <a:srgbClr val="9723B4"/>
                </a:solidFill>
              </a:rPr>
              <a:t>return</a:t>
            </a:r>
            <a:r>
              <a:rPr lang="en-US" dirty="0">
                <a:solidFill>
                  <a:srgbClr val="000000"/>
                </a:solidFill>
              </a:rPr>
              <a:t> {</a:t>
            </a:r>
          </a:p>
          <a:p>
            <a:pPr algn="just">
              <a:spcAft>
                <a:spcPts val="600"/>
              </a:spcAft>
              <a:buNone/>
            </a:pPr>
            <a:r>
              <a:rPr lang="en-US" dirty="0">
                <a:solidFill>
                  <a:srgbClr val="A31515"/>
                </a:solidFill>
              </a:rPr>
              <a:t>"Accuracy"</a:t>
            </a:r>
            <a:r>
              <a:rPr lang="en-US" dirty="0">
                <a:solidFill>
                  <a:srgbClr val="000000"/>
                </a:solidFill>
              </a:rPr>
              <a:t>: acc,</a:t>
            </a:r>
          </a:p>
          <a:p>
            <a:pPr algn="just">
              <a:spcAft>
                <a:spcPts val="600"/>
              </a:spcAft>
              <a:buNone/>
            </a:pPr>
            <a:r>
              <a:rPr lang="en-US" dirty="0">
                <a:solidFill>
                  <a:srgbClr val="A31515"/>
                </a:solidFill>
              </a:rPr>
              <a:t>"Sensitivity"</a:t>
            </a:r>
            <a:r>
              <a:rPr lang="en-US" dirty="0">
                <a:solidFill>
                  <a:srgbClr val="000000"/>
                </a:solidFill>
              </a:rPr>
              <a:t>: sensitivity,</a:t>
            </a:r>
          </a:p>
          <a:p>
            <a:pPr algn="just">
              <a:spcAft>
                <a:spcPts val="600"/>
              </a:spcAft>
              <a:buNone/>
            </a:pPr>
            <a:r>
              <a:rPr lang="en-US" dirty="0">
                <a:solidFill>
                  <a:srgbClr val="A31515"/>
                </a:solidFill>
              </a:rPr>
              <a:t>"Precision"</a:t>
            </a:r>
            <a:r>
              <a:rPr lang="en-US" dirty="0">
                <a:solidFill>
                  <a:srgbClr val="000000"/>
                </a:solidFill>
              </a:rPr>
              <a:t>: precision,</a:t>
            </a:r>
          </a:p>
          <a:p>
            <a:pPr algn="just">
              <a:spcAft>
                <a:spcPts val="600"/>
              </a:spcAft>
              <a:buNone/>
            </a:pPr>
            <a:r>
              <a:rPr lang="en-US" dirty="0">
                <a:solidFill>
                  <a:srgbClr val="A31515"/>
                </a:solidFill>
              </a:rPr>
              <a:t>"Specificity"</a:t>
            </a:r>
            <a:r>
              <a:rPr lang="en-US" dirty="0">
                <a:solidFill>
                  <a:srgbClr val="000000"/>
                </a:solidFill>
              </a:rPr>
              <a:t>: specificity</a:t>
            </a:r>
          </a:p>
          <a:p>
            <a:pPr algn="just">
              <a:spcAft>
                <a:spcPts val="600"/>
              </a:spcAft>
              <a:buNone/>
            </a:pPr>
            <a:r>
              <a:rPr lang="en-US" dirty="0">
                <a:solidFill>
                  <a:srgbClr val="000000"/>
                </a:solidFill>
              </a:rPr>
              <a:t>}</a:t>
            </a:r>
            <a:endParaRPr lang="en-US" b="0" dirty="0">
              <a:solidFill>
                <a:srgbClr val="008000"/>
              </a:solidFill>
              <a:effectLst/>
            </a:endParaRPr>
          </a:p>
          <a:p>
            <a:pPr algn="just">
              <a:spcAft>
                <a:spcPts val="600"/>
              </a:spcAft>
              <a:buNone/>
            </a:pPr>
            <a:r>
              <a:rPr lang="en-US" b="0" dirty="0">
                <a:solidFill>
                  <a:srgbClr val="008000"/>
                </a:solidFill>
                <a:effectLst/>
              </a:rPr>
              <a:t># Compute metrics on training data</a:t>
            </a:r>
            <a:endParaRPr lang="en-US" b="0" dirty="0">
              <a:solidFill>
                <a:srgbClr val="000000"/>
              </a:solidFill>
              <a:effectLst/>
            </a:endParaRPr>
          </a:p>
          <a:p>
            <a:pPr algn="just">
              <a:spcAft>
                <a:spcPts val="600"/>
              </a:spcAft>
              <a:buNone/>
            </a:pPr>
            <a:r>
              <a:rPr lang="en-US" b="0" dirty="0" err="1">
                <a:solidFill>
                  <a:srgbClr val="000000"/>
                </a:solidFill>
                <a:effectLst/>
              </a:rPr>
              <a:t>y_train_pred</a:t>
            </a:r>
            <a:r>
              <a:rPr lang="en-US" b="0" dirty="0">
                <a:solidFill>
                  <a:srgbClr val="000000"/>
                </a:solidFill>
                <a:effectLst/>
              </a:rPr>
              <a:t> = </a:t>
            </a:r>
            <a:r>
              <a:rPr lang="en-US" b="0" dirty="0" err="1">
                <a:solidFill>
                  <a:srgbClr val="000000"/>
                </a:solidFill>
                <a:effectLst/>
              </a:rPr>
              <a:t>model.predict</a:t>
            </a:r>
            <a:r>
              <a:rPr lang="en-US" b="0" dirty="0">
                <a:solidFill>
                  <a:srgbClr val="000000"/>
                </a:solidFill>
                <a:effectLst/>
              </a:rPr>
              <a:t>(</a:t>
            </a:r>
            <a:r>
              <a:rPr lang="en-US" b="0" dirty="0" err="1">
                <a:solidFill>
                  <a:srgbClr val="000000"/>
                </a:solidFill>
                <a:effectLst/>
              </a:rPr>
              <a:t>X_train</a:t>
            </a:r>
            <a:r>
              <a:rPr lang="en-US" b="0" dirty="0">
                <a:solidFill>
                  <a:srgbClr val="000000"/>
                </a:solidFill>
                <a:effectLst/>
              </a:rPr>
              <a:t>)</a:t>
            </a:r>
          </a:p>
          <a:p>
            <a:pPr algn="just">
              <a:spcAft>
                <a:spcPts val="600"/>
              </a:spcAft>
              <a:buNone/>
            </a:pPr>
            <a:r>
              <a:rPr lang="en-US" b="0" dirty="0" err="1">
                <a:solidFill>
                  <a:srgbClr val="000000"/>
                </a:solidFill>
                <a:effectLst/>
              </a:rPr>
              <a:t>train_metrics</a:t>
            </a:r>
            <a:r>
              <a:rPr lang="en-US" b="0" dirty="0">
                <a:solidFill>
                  <a:srgbClr val="000000"/>
                </a:solidFill>
                <a:effectLst/>
              </a:rPr>
              <a:t> = </a:t>
            </a:r>
            <a:r>
              <a:rPr lang="en-US" b="0" dirty="0" err="1">
                <a:solidFill>
                  <a:srgbClr val="000000"/>
                </a:solidFill>
                <a:effectLst/>
              </a:rPr>
              <a:t>calc_metrics</a:t>
            </a:r>
            <a:r>
              <a:rPr lang="en-US" b="0" dirty="0">
                <a:solidFill>
                  <a:srgbClr val="000000"/>
                </a:solidFill>
                <a:effectLst/>
              </a:rPr>
              <a:t>(</a:t>
            </a:r>
            <a:r>
              <a:rPr lang="en-US" b="0" dirty="0" err="1">
                <a:solidFill>
                  <a:srgbClr val="000000"/>
                </a:solidFill>
                <a:effectLst/>
              </a:rPr>
              <a:t>y_train</a:t>
            </a:r>
            <a:r>
              <a:rPr lang="en-US" b="0" dirty="0">
                <a:solidFill>
                  <a:srgbClr val="000000"/>
                </a:solidFill>
                <a:effectLst/>
              </a:rPr>
              <a:t>, </a:t>
            </a:r>
            <a:r>
              <a:rPr lang="en-US" b="0" dirty="0" err="1">
                <a:solidFill>
                  <a:srgbClr val="000000"/>
                </a:solidFill>
                <a:effectLst/>
              </a:rPr>
              <a:t>y_train_pred</a:t>
            </a:r>
            <a:r>
              <a:rPr lang="en-US" b="0" dirty="0">
                <a:solidFill>
                  <a:srgbClr val="000000"/>
                </a:solidFill>
                <a:effectLst/>
              </a:rPr>
              <a:t>)</a:t>
            </a:r>
          </a:p>
          <a:p>
            <a:pPr algn="just">
              <a:spcAft>
                <a:spcPts val="600"/>
              </a:spcAft>
              <a:buNone/>
            </a:pPr>
            <a:r>
              <a:rPr lang="en-US" b="0" dirty="0">
                <a:solidFill>
                  <a:srgbClr val="008000"/>
                </a:solidFill>
                <a:effectLst/>
              </a:rPr>
              <a:t># Compute metrics on validation data</a:t>
            </a:r>
            <a:endParaRPr lang="en-US" b="0" dirty="0">
              <a:solidFill>
                <a:srgbClr val="000000"/>
              </a:solidFill>
              <a:effectLst/>
            </a:endParaRPr>
          </a:p>
          <a:p>
            <a:pPr algn="just">
              <a:spcAft>
                <a:spcPts val="600"/>
              </a:spcAft>
              <a:buNone/>
            </a:pPr>
            <a:r>
              <a:rPr lang="en-US" b="0" dirty="0" err="1">
                <a:solidFill>
                  <a:srgbClr val="000000"/>
                </a:solidFill>
                <a:effectLst/>
              </a:rPr>
              <a:t>y_val_pred</a:t>
            </a:r>
            <a:r>
              <a:rPr lang="en-US" b="0" dirty="0">
                <a:solidFill>
                  <a:srgbClr val="000000"/>
                </a:solidFill>
                <a:effectLst/>
              </a:rPr>
              <a:t> = </a:t>
            </a:r>
            <a:r>
              <a:rPr lang="en-US" b="0" dirty="0" err="1">
                <a:solidFill>
                  <a:srgbClr val="000000"/>
                </a:solidFill>
                <a:effectLst/>
              </a:rPr>
              <a:t>model.predict</a:t>
            </a:r>
            <a:r>
              <a:rPr lang="en-US" b="0" dirty="0">
                <a:solidFill>
                  <a:srgbClr val="000000"/>
                </a:solidFill>
                <a:effectLst/>
              </a:rPr>
              <a:t>(</a:t>
            </a:r>
            <a:r>
              <a:rPr lang="en-US" b="0" dirty="0" err="1">
                <a:solidFill>
                  <a:srgbClr val="000000"/>
                </a:solidFill>
                <a:effectLst/>
              </a:rPr>
              <a:t>X_val</a:t>
            </a:r>
            <a:r>
              <a:rPr lang="en-US" b="0" dirty="0">
                <a:solidFill>
                  <a:srgbClr val="000000"/>
                </a:solidFill>
                <a:effectLst/>
              </a:rPr>
              <a:t>)</a:t>
            </a:r>
          </a:p>
          <a:p>
            <a:pPr algn="just">
              <a:spcAft>
                <a:spcPts val="600"/>
              </a:spcAft>
              <a:buNone/>
            </a:pPr>
            <a:r>
              <a:rPr lang="en-US" b="0" dirty="0" err="1">
                <a:solidFill>
                  <a:srgbClr val="000000"/>
                </a:solidFill>
                <a:effectLst/>
              </a:rPr>
              <a:t>val_metrics</a:t>
            </a:r>
            <a:r>
              <a:rPr lang="en-US" b="0" dirty="0">
                <a:solidFill>
                  <a:srgbClr val="000000"/>
                </a:solidFill>
                <a:effectLst/>
              </a:rPr>
              <a:t> = </a:t>
            </a:r>
            <a:r>
              <a:rPr lang="en-US" b="0" dirty="0" err="1">
                <a:solidFill>
                  <a:srgbClr val="000000"/>
                </a:solidFill>
                <a:effectLst/>
              </a:rPr>
              <a:t>calc_metrics</a:t>
            </a:r>
            <a:r>
              <a:rPr lang="en-US" b="0" dirty="0">
                <a:solidFill>
                  <a:srgbClr val="000000"/>
                </a:solidFill>
                <a:effectLst/>
              </a:rPr>
              <a:t>(</a:t>
            </a:r>
            <a:r>
              <a:rPr lang="en-US" b="0" dirty="0" err="1">
                <a:solidFill>
                  <a:srgbClr val="000000"/>
                </a:solidFill>
                <a:effectLst/>
              </a:rPr>
              <a:t>y_val</a:t>
            </a:r>
            <a:r>
              <a:rPr lang="en-US" b="0" dirty="0">
                <a:solidFill>
                  <a:srgbClr val="000000"/>
                </a:solidFill>
                <a:effectLst/>
              </a:rPr>
              <a:t>, </a:t>
            </a:r>
            <a:r>
              <a:rPr lang="en-US" b="0" dirty="0" err="1">
                <a:solidFill>
                  <a:srgbClr val="000000"/>
                </a:solidFill>
                <a:effectLst/>
              </a:rPr>
              <a:t>y_val_pred</a:t>
            </a:r>
            <a:r>
              <a:rPr lang="en-US" b="0" dirty="0">
                <a:solidFill>
                  <a:srgbClr val="000000"/>
                </a:solidFill>
                <a:effectLst/>
              </a:rPr>
              <a:t>)</a:t>
            </a:r>
          </a:p>
          <a:p>
            <a:pPr algn="just">
              <a:spcAft>
                <a:spcPts val="600"/>
              </a:spcAft>
              <a:buNone/>
            </a:pPr>
            <a:r>
              <a:rPr lang="en-US" b="0" dirty="0">
                <a:solidFill>
                  <a:srgbClr val="000000"/>
                </a:solidFill>
                <a:effectLst/>
              </a:rPr>
              <a:t>metrics[</a:t>
            </a:r>
            <a:r>
              <a:rPr lang="en-US" b="0" dirty="0">
                <a:solidFill>
                  <a:srgbClr val="A31515"/>
                </a:solidFill>
                <a:effectLst/>
              </a:rPr>
              <a:t>"Train"</a:t>
            </a:r>
            <a:r>
              <a:rPr lang="en-US" b="0" dirty="0">
                <a:solidFill>
                  <a:srgbClr val="000000"/>
                </a:solidFill>
                <a:effectLst/>
              </a:rPr>
              <a:t>] = </a:t>
            </a:r>
            <a:r>
              <a:rPr lang="en-US" b="0" dirty="0" err="1">
                <a:solidFill>
                  <a:srgbClr val="000000"/>
                </a:solidFill>
                <a:effectLst/>
              </a:rPr>
              <a:t>train_metrics</a:t>
            </a:r>
            <a:endParaRPr lang="en-US" b="0" dirty="0">
              <a:solidFill>
                <a:srgbClr val="000000"/>
              </a:solidFill>
              <a:effectLst/>
            </a:endParaRPr>
          </a:p>
          <a:p>
            <a:pPr algn="just">
              <a:spcAft>
                <a:spcPts val="600"/>
              </a:spcAft>
              <a:buNone/>
            </a:pPr>
            <a:r>
              <a:rPr lang="en-US" b="0" dirty="0">
                <a:solidFill>
                  <a:srgbClr val="000000"/>
                </a:solidFill>
                <a:effectLst/>
              </a:rPr>
              <a:t>metrics[</a:t>
            </a:r>
            <a:r>
              <a:rPr lang="en-US" b="0" dirty="0">
                <a:solidFill>
                  <a:srgbClr val="A31515"/>
                </a:solidFill>
                <a:effectLst/>
              </a:rPr>
              <a:t>"Validation"</a:t>
            </a:r>
            <a:r>
              <a:rPr lang="en-US" b="0" dirty="0">
                <a:solidFill>
                  <a:srgbClr val="000000"/>
                </a:solidFill>
                <a:effectLst/>
              </a:rPr>
              <a:t>] = </a:t>
            </a:r>
            <a:r>
              <a:rPr lang="en-US" b="0" dirty="0" err="1">
                <a:solidFill>
                  <a:srgbClr val="000000"/>
                </a:solidFill>
                <a:effectLst/>
              </a:rPr>
              <a:t>val_metrics</a:t>
            </a:r>
            <a:endParaRPr lang="en-US" b="0" dirty="0">
              <a:solidFill>
                <a:srgbClr val="000000"/>
              </a:solidFill>
              <a:effectLst/>
            </a:endParaRPr>
          </a:p>
          <a:p>
            <a:pPr algn="just">
              <a:spcAft>
                <a:spcPts val="600"/>
              </a:spcAft>
              <a:buNone/>
            </a:pPr>
            <a:r>
              <a:rPr lang="en-US" b="0" dirty="0">
                <a:solidFill>
                  <a:srgbClr val="9723B4"/>
                </a:solidFill>
                <a:effectLst/>
              </a:rPr>
              <a:t>return</a:t>
            </a:r>
            <a:r>
              <a:rPr lang="en-US" b="0" dirty="0">
                <a:solidFill>
                  <a:srgbClr val="000000"/>
                </a:solidFill>
                <a:effectLst/>
              </a:rPr>
              <a:t> metrics</a:t>
            </a:r>
          </a:p>
          <a:p>
            <a:pPr algn="just">
              <a:spcAft>
                <a:spcPts val="600"/>
              </a:spcAft>
              <a:buNone/>
            </a:pPr>
            <a:br>
              <a:rPr lang="en-US" b="0" dirty="0">
                <a:solidFill>
                  <a:srgbClr val="000000"/>
                </a:solidFill>
                <a:effectLst/>
              </a:rPr>
            </a:br>
            <a:endParaRPr lang="en-US" b="0" dirty="0">
              <a:solidFill>
                <a:srgbClr val="000000"/>
              </a:solidFill>
              <a:effectLst/>
            </a:endParaRPr>
          </a:p>
        </p:txBody>
      </p:sp>
    </p:spTree>
    <p:extLst>
      <p:ext uri="{BB962C8B-B14F-4D97-AF65-F5344CB8AC3E}">
        <p14:creationId xmlns:p14="http://schemas.microsoft.com/office/powerpoint/2010/main" val="411590210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22B17-0A46-2F47-798D-E6972DAC8DB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23BF890-B16F-F389-85BD-5176D2C9FDF8}"/>
              </a:ext>
            </a:extLst>
          </p:cNvPr>
          <p:cNvSpPr>
            <a:spLocks noGrp="1"/>
          </p:cNvSpPr>
          <p:nvPr>
            <p:ph idx="1"/>
          </p:nvPr>
        </p:nvSpPr>
        <p:spPr/>
        <p:txBody>
          <a:bodyPr>
            <a:normAutofit/>
          </a:bodyPr>
          <a:lstStyle/>
          <a:p>
            <a:pPr marL="0" indent="0">
              <a:buNone/>
            </a:pPr>
            <a:r>
              <a:rPr lang="en-US" sz="5400" dirty="0"/>
              <a:t>         </a:t>
            </a:r>
          </a:p>
          <a:p>
            <a:pPr marL="0" indent="0">
              <a:buNone/>
            </a:pPr>
            <a:endParaRPr lang="en-US" sz="5400" dirty="0"/>
          </a:p>
          <a:p>
            <a:pPr marL="0" indent="0">
              <a:buNone/>
            </a:pPr>
            <a:r>
              <a:rPr lang="en-US" sz="5400" dirty="0"/>
              <a:t>              </a:t>
            </a:r>
          </a:p>
        </p:txBody>
      </p:sp>
      <p:sp>
        <p:nvSpPr>
          <p:cNvPr id="5" name="Slide Number Placeholder 4">
            <a:extLst>
              <a:ext uri="{FF2B5EF4-FFF2-40B4-BE49-F238E27FC236}">
                <a16:creationId xmlns:a16="http://schemas.microsoft.com/office/drawing/2014/main" id="{9818F6E1-2DC0-12C6-6A38-552928103998}"/>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82</a:t>
            </a:fld>
            <a:endParaRPr lang="en-US" dirty="0">
              <a:solidFill>
                <a:srgbClr val="000000"/>
              </a:solidFill>
            </a:endParaRPr>
          </a:p>
        </p:txBody>
      </p:sp>
      <p:sp>
        <p:nvSpPr>
          <p:cNvPr id="4" name="TextBox 3">
            <a:extLst>
              <a:ext uri="{FF2B5EF4-FFF2-40B4-BE49-F238E27FC236}">
                <a16:creationId xmlns:a16="http://schemas.microsoft.com/office/drawing/2014/main" id="{BCEB9A42-3FB5-77E3-4EFF-3E9030D95F86}"/>
              </a:ext>
            </a:extLst>
          </p:cNvPr>
          <p:cNvSpPr txBox="1"/>
          <p:nvPr/>
        </p:nvSpPr>
        <p:spPr>
          <a:xfrm>
            <a:off x="841173" y="610182"/>
            <a:ext cx="7354424" cy="3477875"/>
          </a:xfrm>
          <a:prstGeom prst="rect">
            <a:avLst/>
          </a:prstGeom>
          <a:noFill/>
        </p:spPr>
        <p:txBody>
          <a:bodyPr wrap="square">
            <a:spAutoFit/>
          </a:bodyPr>
          <a:lstStyle/>
          <a:p>
            <a:pPr algn="just">
              <a:spcAft>
                <a:spcPts val="600"/>
              </a:spcAft>
              <a:buNone/>
            </a:pPr>
            <a:r>
              <a:rPr lang="en-US" b="0" dirty="0">
                <a:solidFill>
                  <a:srgbClr val="0000FF"/>
                </a:solidFill>
                <a:effectLst/>
              </a:rPr>
              <a:t>def</a:t>
            </a:r>
            <a:r>
              <a:rPr lang="en-US" b="0" dirty="0">
                <a:solidFill>
                  <a:srgbClr val="000000"/>
                </a:solidFill>
                <a:effectLst/>
              </a:rPr>
              <a:t> </a:t>
            </a:r>
            <a:r>
              <a:rPr lang="en-US" b="0" dirty="0" err="1">
                <a:solidFill>
                  <a:srgbClr val="6A5221"/>
                </a:solidFill>
                <a:effectLst/>
              </a:rPr>
              <a:t>generate_nb_metrics_table</a:t>
            </a:r>
            <a:r>
              <a:rPr lang="en-US" b="0" dirty="0">
                <a:solidFill>
                  <a:srgbClr val="000000"/>
                </a:solidFill>
                <a:effectLst/>
              </a:rPr>
              <a:t>(</a:t>
            </a:r>
            <a:r>
              <a:rPr lang="en-US" b="0" dirty="0" err="1">
                <a:solidFill>
                  <a:srgbClr val="001080"/>
                </a:solidFill>
                <a:effectLst/>
              </a:rPr>
              <a:t>X_train</a:t>
            </a:r>
            <a:r>
              <a:rPr lang="en-US" b="0" dirty="0">
                <a:solidFill>
                  <a:srgbClr val="000000"/>
                </a:solidFill>
                <a:effectLst/>
              </a:rPr>
              <a:t>, </a:t>
            </a:r>
            <a:r>
              <a:rPr lang="en-US" b="0" dirty="0" err="1">
                <a:solidFill>
                  <a:srgbClr val="001080"/>
                </a:solidFill>
                <a:effectLst/>
              </a:rPr>
              <a:t>y_train</a:t>
            </a:r>
            <a:r>
              <a:rPr lang="en-US" b="0" dirty="0">
                <a:solidFill>
                  <a:srgbClr val="000000"/>
                </a:solidFill>
                <a:effectLst/>
              </a:rPr>
              <a:t>, </a:t>
            </a:r>
            <a:r>
              <a:rPr lang="en-US" b="0" dirty="0" err="1">
                <a:solidFill>
                  <a:srgbClr val="001080"/>
                </a:solidFill>
                <a:effectLst/>
              </a:rPr>
              <a:t>X_val</a:t>
            </a:r>
            <a:r>
              <a:rPr lang="en-US" b="0" dirty="0">
                <a:solidFill>
                  <a:srgbClr val="000000"/>
                </a:solidFill>
                <a:effectLst/>
              </a:rPr>
              <a:t>, </a:t>
            </a:r>
            <a:r>
              <a:rPr lang="en-US" b="0" dirty="0" err="1">
                <a:solidFill>
                  <a:srgbClr val="001080"/>
                </a:solidFill>
                <a:effectLst/>
              </a:rPr>
              <a:t>y_val</a:t>
            </a:r>
            <a:r>
              <a:rPr lang="en-US" b="0" dirty="0">
                <a:solidFill>
                  <a:srgbClr val="000000"/>
                </a:solidFill>
                <a:effectLst/>
              </a:rPr>
              <a:t>):</a:t>
            </a:r>
          </a:p>
          <a:p>
            <a:pPr algn="just">
              <a:spcAft>
                <a:spcPts val="600"/>
              </a:spcAft>
              <a:buNone/>
            </a:pPr>
            <a:r>
              <a:rPr lang="en-US" b="0" dirty="0">
                <a:solidFill>
                  <a:srgbClr val="008000"/>
                </a:solidFill>
                <a:effectLst/>
              </a:rPr>
              <a:t># Train Naive Bayes models using the custom function</a:t>
            </a:r>
            <a:endParaRPr lang="en-US" b="0" dirty="0">
              <a:solidFill>
                <a:srgbClr val="000000"/>
              </a:solidFill>
              <a:effectLst/>
            </a:endParaRPr>
          </a:p>
          <a:p>
            <a:pPr algn="just">
              <a:spcAft>
                <a:spcPts val="600"/>
              </a:spcAft>
              <a:buNone/>
            </a:pPr>
            <a:r>
              <a:rPr lang="en-US" b="0" dirty="0">
                <a:solidFill>
                  <a:srgbClr val="000000"/>
                </a:solidFill>
                <a:effectLst/>
              </a:rPr>
              <a:t>models = </a:t>
            </a:r>
            <a:r>
              <a:rPr lang="en-US" b="0" dirty="0" err="1">
                <a:solidFill>
                  <a:srgbClr val="000000"/>
                </a:solidFill>
                <a:effectLst/>
              </a:rPr>
              <a:t>naive_bayes_types</a:t>
            </a:r>
            <a:r>
              <a:rPr lang="en-US" b="0" dirty="0">
                <a:solidFill>
                  <a:srgbClr val="000000"/>
                </a:solidFill>
                <a:effectLst/>
              </a:rPr>
              <a:t>(</a:t>
            </a:r>
            <a:r>
              <a:rPr lang="en-US" b="0" dirty="0" err="1">
                <a:solidFill>
                  <a:srgbClr val="000000"/>
                </a:solidFill>
                <a:effectLst/>
              </a:rPr>
              <a:t>X_train</a:t>
            </a:r>
            <a:r>
              <a:rPr lang="en-US" b="0" dirty="0">
                <a:solidFill>
                  <a:srgbClr val="000000"/>
                </a:solidFill>
                <a:effectLst/>
              </a:rPr>
              <a:t>, </a:t>
            </a:r>
            <a:r>
              <a:rPr lang="en-US" b="0" dirty="0" err="1">
                <a:solidFill>
                  <a:srgbClr val="000000"/>
                </a:solidFill>
                <a:effectLst/>
              </a:rPr>
              <a:t>y_train</a:t>
            </a:r>
            <a:r>
              <a:rPr lang="en-US" b="0" dirty="0">
                <a:solidFill>
                  <a:srgbClr val="000000"/>
                </a:solidFill>
                <a:effectLst/>
              </a:rPr>
              <a:t>)</a:t>
            </a:r>
          </a:p>
          <a:p>
            <a:pPr algn="just">
              <a:spcAft>
                <a:spcPts val="600"/>
              </a:spcAft>
              <a:buNone/>
            </a:pPr>
            <a:endParaRPr lang="en-US" b="0" dirty="0">
              <a:solidFill>
                <a:srgbClr val="000000"/>
              </a:solidFill>
              <a:effectLst/>
            </a:endParaRPr>
          </a:p>
          <a:p>
            <a:pPr algn="just">
              <a:spcAft>
                <a:spcPts val="600"/>
              </a:spcAft>
              <a:buNone/>
            </a:pPr>
            <a:r>
              <a:rPr lang="en-US" b="0" dirty="0">
                <a:solidFill>
                  <a:srgbClr val="008000"/>
                </a:solidFill>
                <a:effectLst/>
              </a:rPr>
              <a:t># Compute metrics for each model using a custom </a:t>
            </a:r>
            <a:r>
              <a:rPr lang="en-US" b="0" dirty="0" err="1">
                <a:solidFill>
                  <a:srgbClr val="008000"/>
                </a:solidFill>
                <a:effectLst/>
              </a:rPr>
              <a:t>compute_metrics</a:t>
            </a:r>
            <a:r>
              <a:rPr lang="en-US" b="0" dirty="0">
                <a:solidFill>
                  <a:srgbClr val="008000"/>
                </a:solidFill>
                <a:effectLst/>
              </a:rPr>
              <a:t> function</a:t>
            </a:r>
            <a:endParaRPr lang="en-US" b="0" dirty="0">
              <a:solidFill>
                <a:srgbClr val="000000"/>
              </a:solidFill>
              <a:effectLst/>
            </a:endParaRPr>
          </a:p>
          <a:p>
            <a:pPr algn="just">
              <a:spcAft>
                <a:spcPts val="600"/>
              </a:spcAft>
              <a:buNone/>
            </a:pPr>
            <a:r>
              <a:rPr lang="en-US" b="0" dirty="0" err="1">
                <a:solidFill>
                  <a:srgbClr val="000000"/>
                </a:solidFill>
                <a:effectLst/>
              </a:rPr>
              <a:t>metrics_data</a:t>
            </a:r>
            <a:r>
              <a:rPr lang="en-US" b="0" dirty="0">
                <a:solidFill>
                  <a:srgbClr val="000000"/>
                </a:solidFill>
                <a:effectLst/>
              </a:rPr>
              <a:t> = {}</a:t>
            </a:r>
          </a:p>
          <a:p>
            <a:pPr algn="just">
              <a:spcAft>
                <a:spcPts val="600"/>
              </a:spcAft>
              <a:buNone/>
            </a:pPr>
            <a:r>
              <a:rPr lang="en-US" b="0" dirty="0">
                <a:solidFill>
                  <a:srgbClr val="9723B4"/>
                </a:solidFill>
                <a:effectLst/>
              </a:rPr>
              <a:t>for</a:t>
            </a:r>
            <a:r>
              <a:rPr lang="en-US" b="0" dirty="0">
                <a:solidFill>
                  <a:srgbClr val="000000"/>
                </a:solidFill>
                <a:effectLst/>
              </a:rPr>
              <a:t> </a:t>
            </a:r>
            <a:r>
              <a:rPr lang="en-US" b="0" dirty="0" err="1">
                <a:solidFill>
                  <a:srgbClr val="000000"/>
                </a:solidFill>
                <a:effectLst/>
              </a:rPr>
              <a:t>model_name</a:t>
            </a:r>
            <a:r>
              <a:rPr lang="en-US" b="0" dirty="0">
                <a:solidFill>
                  <a:srgbClr val="000000"/>
                </a:solidFill>
                <a:effectLst/>
              </a:rPr>
              <a:t>, model </a:t>
            </a:r>
            <a:r>
              <a:rPr lang="en-US" b="0" dirty="0">
                <a:solidFill>
                  <a:srgbClr val="0000FF"/>
                </a:solidFill>
                <a:effectLst/>
              </a:rPr>
              <a:t>in</a:t>
            </a:r>
            <a:r>
              <a:rPr lang="en-US" b="0" dirty="0">
                <a:solidFill>
                  <a:srgbClr val="000000"/>
                </a:solidFill>
                <a:effectLst/>
              </a:rPr>
              <a:t> </a:t>
            </a:r>
            <a:r>
              <a:rPr lang="en-US" b="0" dirty="0" err="1">
                <a:solidFill>
                  <a:srgbClr val="000000"/>
                </a:solidFill>
                <a:effectLst/>
              </a:rPr>
              <a:t>models.items</a:t>
            </a:r>
            <a:r>
              <a:rPr lang="en-US" b="0" dirty="0">
                <a:solidFill>
                  <a:srgbClr val="000000"/>
                </a:solidFill>
                <a:effectLst/>
              </a:rPr>
              <a:t>():</a:t>
            </a:r>
          </a:p>
          <a:p>
            <a:pPr algn="just">
              <a:spcAft>
                <a:spcPts val="600"/>
              </a:spcAft>
              <a:buNone/>
            </a:pPr>
            <a:r>
              <a:rPr lang="en-US" b="0" dirty="0">
                <a:solidFill>
                  <a:srgbClr val="008000"/>
                </a:solidFill>
                <a:effectLst/>
              </a:rPr>
              <a:t># </a:t>
            </a:r>
            <a:r>
              <a:rPr lang="en-US" b="0" dirty="0" err="1">
                <a:solidFill>
                  <a:srgbClr val="008000"/>
                </a:solidFill>
                <a:effectLst/>
              </a:rPr>
              <a:t>compute_metrics</a:t>
            </a:r>
            <a:r>
              <a:rPr lang="en-US" b="0" dirty="0">
                <a:solidFill>
                  <a:srgbClr val="008000"/>
                </a:solidFill>
                <a:effectLst/>
              </a:rPr>
              <a:t> should return a </a:t>
            </a:r>
            <a:r>
              <a:rPr lang="en-US" b="0" dirty="0" err="1">
                <a:solidFill>
                  <a:srgbClr val="008000"/>
                </a:solidFill>
                <a:effectLst/>
              </a:rPr>
              <a:t>dict</a:t>
            </a:r>
            <a:r>
              <a:rPr lang="en-US" b="0" dirty="0">
                <a:solidFill>
                  <a:srgbClr val="008000"/>
                </a:solidFill>
                <a:effectLst/>
              </a:rPr>
              <a:t> with keys "Train" and "Validation"</a:t>
            </a:r>
            <a:endParaRPr lang="en-US" b="0" dirty="0">
              <a:solidFill>
                <a:srgbClr val="000000"/>
              </a:solidFill>
              <a:effectLst/>
            </a:endParaRPr>
          </a:p>
          <a:p>
            <a:pPr algn="just">
              <a:spcAft>
                <a:spcPts val="600"/>
              </a:spcAft>
              <a:buNone/>
            </a:pPr>
            <a:r>
              <a:rPr lang="en-US" b="0" dirty="0" err="1">
                <a:solidFill>
                  <a:srgbClr val="000000"/>
                </a:solidFill>
                <a:effectLst/>
              </a:rPr>
              <a:t>metrics_data</a:t>
            </a:r>
            <a:r>
              <a:rPr lang="en-US" b="0" dirty="0">
                <a:solidFill>
                  <a:srgbClr val="000000"/>
                </a:solidFill>
                <a:effectLst/>
              </a:rPr>
              <a:t>[</a:t>
            </a:r>
            <a:r>
              <a:rPr lang="en-US" b="0" dirty="0" err="1">
                <a:solidFill>
                  <a:srgbClr val="000000"/>
                </a:solidFill>
                <a:effectLst/>
              </a:rPr>
              <a:t>model_name</a:t>
            </a:r>
            <a:r>
              <a:rPr lang="en-US" b="0" dirty="0">
                <a:solidFill>
                  <a:srgbClr val="000000"/>
                </a:solidFill>
                <a:effectLst/>
              </a:rPr>
              <a:t>] = </a:t>
            </a:r>
            <a:r>
              <a:rPr lang="en-US" b="0" dirty="0" err="1">
                <a:solidFill>
                  <a:srgbClr val="000000"/>
                </a:solidFill>
                <a:effectLst/>
              </a:rPr>
              <a:t>compute_metrics</a:t>
            </a:r>
            <a:r>
              <a:rPr lang="en-US" b="0" dirty="0">
                <a:solidFill>
                  <a:srgbClr val="000000"/>
                </a:solidFill>
                <a:effectLst/>
              </a:rPr>
              <a:t>(model, </a:t>
            </a:r>
            <a:r>
              <a:rPr lang="en-US" b="0" dirty="0" err="1">
                <a:solidFill>
                  <a:srgbClr val="000000"/>
                </a:solidFill>
                <a:effectLst/>
              </a:rPr>
              <a:t>X_train</a:t>
            </a:r>
            <a:r>
              <a:rPr lang="en-US" b="0" dirty="0">
                <a:solidFill>
                  <a:srgbClr val="000000"/>
                </a:solidFill>
                <a:effectLst/>
              </a:rPr>
              <a:t>, </a:t>
            </a:r>
            <a:r>
              <a:rPr lang="en-US" b="0" dirty="0" err="1">
                <a:solidFill>
                  <a:srgbClr val="000000"/>
                </a:solidFill>
                <a:effectLst/>
              </a:rPr>
              <a:t>y_train</a:t>
            </a:r>
            <a:r>
              <a:rPr lang="en-US" b="0" dirty="0">
                <a:solidFill>
                  <a:srgbClr val="000000"/>
                </a:solidFill>
                <a:effectLst/>
              </a:rPr>
              <a:t>, </a:t>
            </a:r>
            <a:r>
              <a:rPr lang="en-US" b="0" dirty="0" err="1">
                <a:solidFill>
                  <a:srgbClr val="000000"/>
                </a:solidFill>
                <a:effectLst/>
              </a:rPr>
              <a:t>X_val</a:t>
            </a:r>
            <a:r>
              <a:rPr lang="en-US" b="0" dirty="0">
                <a:solidFill>
                  <a:srgbClr val="000000"/>
                </a:solidFill>
                <a:effectLst/>
              </a:rPr>
              <a:t>, </a:t>
            </a:r>
            <a:r>
              <a:rPr lang="en-US" b="0" dirty="0" err="1">
                <a:solidFill>
                  <a:srgbClr val="000000"/>
                </a:solidFill>
                <a:effectLst/>
              </a:rPr>
              <a:t>y_val</a:t>
            </a:r>
            <a:r>
              <a:rPr lang="en-US" b="0" dirty="0">
                <a:solidFill>
                  <a:srgbClr val="000000"/>
                </a:solidFill>
                <a:effectLst/>
              </a:rPr>
              <a:t>)</a:t>
            </a:r>
          </a:p>
        </p:txBody>
      </p:sp>
    </p:spTree>
    <p:extLst>
      <p:ext uri="{BB962C8B-B14F-4D97-AF65-F5344CB8AC3E}">
        <p14:creationId xmlns:p14="http://schemas.microsoft.com/office/powerpoint/2010/main" val="73851731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DA533A-B7C9-D8D9-BA5E-B656922E341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656BD6-7CB8-78B9-7661-2B30C6F9ECED}"/>
              </a:ext>
            </a:extLst>
          </p:cNvPr>
          <p:cNvSpPr>
            <a:spLocks noGrp="1"/>
          </p:cNvSpPr>
          <p:nvPr>
            <p:ph idx="1"/>
          </p:nvPr>
        </p:nvSpPr>
        <p:spPr/>
        <p:txBody>
          <a:bodyPr>
            <a:normAutofit/>
          </a:bodyPr>
          <a:lstStyle/>
          <a:p>
            <a:pPr marL="0" indent="0">
              <a:buNone/>
            </a:pPr>
            <a:r>
              <a:rPr lang="en-US" sz="5400" dirty="0"/>
              <a:t>         </a:t>
            </a:r>
          </a:p>
          <a:p>
            <a:pPr marL="0" indent="0">
              <a:buNone/>
            </a:pPr>
            <a:endParaRPr lang="en-US" sz="5400" dirty="0"/>
          </a:p>
          <a:p>
            <a:pPr marL="0" indent="0">
              <a:buNone/>
            </a:pPr>
            <a:r>
              <a:rPr lang="en-US" sz="5400" dirty="0"/>
              <a:t>              </a:t>
            </a:r>
          </a:p>
        </p:txBody>
      </p:sp>
      <p:sp>
        <p:nvSpPr>
          <p:cNvPr id="5" name="Slide Number Placeholder 4">
            <a:extLst>
              <a:ext uri="{FF2B5EF4-FFF2-40B4-BE49-F238E27FC236}">
                <a16:creationId xmlns:a16="http://schemas.microsoft.com/office/drawing/2014/main" id="{70F45BFB-EC53-787E-9E57-27CD431464F5}"/>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83</a:t>
            </a:fld>
            <a:endParaRPr lang="en-US" dirty="0">
              <a:solidFill>
                <a:srgbClr val="000000"/>
              </a:solidFill>
            </a:endParaRPr>
          </a:p>
        </p:txBody>
      </p:sp>
      <p:sp>
        <p:nvSpPr>
          <p:cNvPr id="4" name="TextBox 3">
            <a:extLst>
              <a:ext uri="{FF2B5EF4-FFF2-40B4-BE49-F238E27FC236}">
                <a16:creationId xmlns:a16="http://schemas.microsoft.com/office/drawing/2014/main" id="{872BF80F-6031-62CC-BCDE-6834F7D54FA8}"/>
              </a:ext>
            </a:extLst>
          </p:cNvPr>
          <p:cNvSpPr txBox="1"/>
          <p:nvPr/>
        </p:nvSpPr>
        <p:spPr>
          <a:xfrm>
            <a:off x="835152" y="589761"/>
            <a:ext cx="7423945" cy="5324535"/>
          </a:xfrm>
          <a:prstGeom prst="rect">
            <a:avLst/>
          </a:prstGeom>
          <a:noFill/>
        </p:spPr>
        <p:txBody>
          <a:bodyPr wrap="square">
            <a:spAutoFit/>
          </a:bodyPr>
          <a:lstStyle/>
          <a:p>
            <a:pPr algn="just">
              <a:spcAft>
                <a:spcPts val="600"/>
              </a:spcAft>
              <a:buNone/>
            </a:pPr>
            <a:r>
              <a:rPr lang="en-US" b="0" dirty="0">
                <a:solidFill>
                  <a:srgbClr val="008000"/>
                </a:solidFill>
                <a:effectLst/>
              </a:rPr>
              <a:t># Create a multi-index for column headers (Model and Dataset)</a:t>
            </a:r>
            <a:endParaRPr lang="en-US" b="0" dirty="0">
              <a:solidFill>
                <a:srgbClr val="000000"/>
              </a:solidFill>
              <a:effectLst/>
            </a:endParaRPr>
          </a:p>
          <a:p>
            <a:pPr algn="just">
              <a:spcAft>
                <a:spcPts val="600"/>
              </a:spcAft>
              <a:buNone/>
            </a:pPr>
            <a:r>
              <a:rPr lang="en-US" b="0" dirty="0" err="1">
                <a:solidFill>
                  <a:srgbClr val="000000"/>
                </a:solidFill>
                <a:effectLst/>
              </a:rPr>
              <a:t>multi_index</a:t>
            </a:r>
            <a:r>
              <a:rPr lang="en-US" b="0" dirty="0">
                <a:solidFill>
                  <a:srgbClr val="000000"/>
                </a:solidFill>
                <a:effectLst/>
              </a:rPr>
              <a:t> = </a:t>
            </a:r>
            <a:r>
              <a:rPr lang="en-US" b="0" dirty="0" err="1">
                <a:solidFill>
                  <a:srgbClr val="000000"/>
                </a:solidFill>
                <a:effectLst/>
              </a:rPr>
              <a:t>pd.MultiIndex.from_product</a:t>
            </a:r>
            <a:r>
              <a:rPr lang="en-US" b="0" dirty="0">
                <a:solidFill>
                  <a:srgbClr val="000000"/>
                </a:solidFill>
                <a:effectLst/>
              </a:rPr>
              <a:t>(</a:t>
            </a:r>
          </a:p>
          <a:p>
            <a:pPr algn="just">
              <a:spcAft>
                <a:spcPts val="600"/>
              </a:spcAft>
              <a:buNone/>
            </a:pPr>
            <a:r>
              <a:rPr lang="en-US" b="0" dirty="0">
                <a:solidFill>
                  <a:srgbClr val="000000"/>
                </a:solidFill>
                <a:effectLst/>
              </a:rPr>
              <a:t>[</a:t>
            </a:r>
            <a:r>
              <a:rPr lang="en-US" b="0" dirty="0">
                <a:solidFill>
                  <a:srgbClr val="257693"/>
                </a:solidFill>
                <a:effectLst/>
              </a:rPr>
              <a:t>list</a:t>
            </a:r>
            <a:r>
              <a:rPr lang="en-US" b="0" dirty="0">
                <a:solidFill>
                  <a:srgbClr val="000000"/>
                </a:solidFill>
                <a:effectLst/>
              </a:rPr>
              <a:t>(</a:t>
            </a:r>
            <a:r>
              <a:rPr lang="en-US" b="0" dirty="0" err="1">
                <a:solidFill>
                  <a:srgbClr val="000000"/>
                </a:solidFill>
                <a:effectLst/>
              </a:rPr>
              <a:t>models.keys</a:t>
            </a:r>
            <a:r>
              <a:rPr lang="en-US" b="0" dirty="0">
                <a:solidFill>
                  <a:srgbClr val="000000"/>
                </a:solidFill>
                <a:effectLst/>
              </a:rPr>
              <a:t>()), [</a:t>
            </a:r>
            <a:r>
              <a:rPr lang="en-US" b="0" dirty="0">
                <a:solidFill>
                  <a:srgbClr val="A31515"/>
                </a:solidFill>
                <a:effectLst/>
              </a:rPr>
              <a:t>"Training"</a:t>
            </a:r>
            <a:r>
              <a:rPr lang="en-US" b="0" dirty="0">
                <a:solidFill>
                  <a:srgbClr val="000000"/>
                </a:solidFill>
                <a:effectLst/>
              </a:rPr>
              <a:t>, </a:t>
            </a:r>
            <a:r>
              <a:rPr lang="en-US" b="0" dirty="0">
                <a:solidFill>
                  <a:srgbClr val="A31515"/>
                </a:solidFill>
                <a:effectLst/>
              </a:rPr>
              <a:t>"Validation"</a:t>
            </a:r>
            <a:r>
              <a:rPr lang="en-US" b="0" dirty="0">
                <a:solidFill>
                  <a:srgbClr val="000000"/>
                </a:solidFill>
                <a:effectLst/>
              </a:rPr>
              <a:t>]],</a:t>
            </a:r>
          </a:p>
          <a:p>
            <a:pPr algn="just">
              <a:spcAft>
                <a:spcPts val="600"/>
              </a:spcAft>
              <a:buNone/>
            </a:pPr>
            <a:r>
              <a:rPr lang="en-US" b="0" dirty="0">
                <a:solidFill>
                  <a:srgbClr val="000000"/>
                </a:solidFill>
                <a:effectLst/>
              </a:rPr>
              <a:t>names=[</a:t>
            </a:r>
            <a:r>
              <a:rPr lang="en-US" b="0" dirty="0">
                <a:solidFill>
                  <a:srgbClr val="A31515"/>
                </a:solidFill>
                <a:effectLst/>
              </a:rPr>
              <a:t>"Model"</a:t>
            </a:r>
            <a:r>
              <a:rPr lang="en-US" b="0" dirty="0">
                <a:solidFill>
                  <a:srgbClr val="000000"/>
                </a:solidFill>
                <a:effectLst/>
              </a:rPr>
              <a:t>, </a:t>
            </a:r>
            <a:r>
              <a:rPr lang="en-US" b="0" dirty="0">
                <a:solidFill>
                  <a:srgbClr val="A31515"/>
                </a:solidFill>
                <a:effectLst/>
              </a:rPr>
              <a:t>"Dataset"</a:t>
            </a:r>
            <a:r>
              <a:rPr lang="en-US" b="0" dirty="0">
                <a:solidFill>
                  <a:srgbClr val="000000"/>
                </a:solidFill>
                <a:effectLst/>
              </a:rPr>
              <a:t>]</a:t>
            </a:r>
          </a:p>
          <a:p>
            <a:pPr algn="just">
              <a:spcAft>
                <a:spcPts val="600"/>
              </a:spcAft>
              <a:buNone/>
            </a:pPr>
            <a:r>
              <a:rPr lang="en-US" b="0" dirty="0">
                <a:solidFill>
                  <a:srgbClr val="000000"/>
                </a:solidFill>
                <a:effectLst/>
              </a:rPr>
              <a:t>)</a:t>
            </a:r>
          </a:p>
          <a:p>
            <a:pPr algn="just">
              <a:spcAft>
                <a:spcPts val="600"/>
              </a:spcAft>
              <a:buNone/>
            </a:pPr>
            <a:r>
              <a:rPr lang="en-US" b="0" dirty="0">
                <a:solidFill>
                  <a:srgbClr val="008000"/>
                </a:solidFill>
                <a:effectLst/>
              </a:rPr>
              <a:t># Build the structured </a:t>
            </a:r>
            <a:r>
              <a:rPr lang="en-US" b="0" dirty="0" err="1">
                <a:solidFill>
                  <a:srgbClr val="008000"/>
                </a:solidFill>
                <a:effectLst/>
              </a:rPr>
              <a:t>DataFrame</a:t>
            </a:r>
            <a:r>
              <a:rPr lang="en-US" b="0" dirty="0">
                <a:solidFill>
                  <a:srgbClr val="008000"/>
                </a:solidFill>
                <a:effectLst/>
              </a:rPr>
              <a:t> for the metrics table</a:t>
            </a:r>
            <a:endParaRPr lang="en-US" b="0" dirty="0">
              <a:solidFill>
                <a:srgbClr val="000000"/>
              </a:solidFill>
              <a:effectLst/>
            </a:endParaRPr>
          </a:p>
          <a:p>
            <a:pPr algn="just">
              <a:spcAft>
                <a:spcPts val="600"/>
              </a:spcAft>
              <a:buNone/>
            </a:pPr>
            <a:r>
              <a:rPr lang="en-US" b="0" dirty="0" err="1">
                <a:solidFill>
                  <a:srgbClr val="000000"/>
                </a:solidFill>
                <a:effectLst/>
              </a:rPr>
              <a:t>metrics_df</a:t>
            </a:r>
            <a:r>
              <a:rPr lang="en-US" b="0" dirty="0">
                <a:solidFill>
                  <a:srgbClr val="000000"/>
                </a:solidFill>
                <a:effectLst/>
              </a:rPr>
              <a:t> = </a:t>
            </a:r>
            <a:r>
              <a:rPr lang="en-US" b="0" dirty="0" err="1">
                <a:solidFill>
                  <a:srgbClr val="000000"/>
                </a:solidFill>
                <a:effectLst/>
              </a:rPr>
              <a:t>pd.DataFrame</a:t>
            </a:r>
            <a:r>
              <a:rPr lang="en-US" b="0" dirty="0">
                <a:solidFill>
                  <a:srgbClr val="000000"/>
                </a:solidFill>
                <a:effectLst/>
              </a:rPr>
              <a:t>(</a:t>
            </a:r>
          </a:p>
          <a:p>
            <a:pPr algn="just">
              <a:spcAft>
                <a:spcPts val="600"/>
              </a:spcAft>
              <a:buNone/>
            </a:pPr>
            <a:r>
              <a:rPr lang="en-US" b="0" dirty="0">
                <a:solidFill>
                  <a:srgbClr val="000000"/>
                </a:solidFill>
                <a:effectLst/>
              </a:rPr>
              <a:t>{</a:t>
            </a:r>
          </a:p>
          <a:p>
            <a:pPr algn="just">
              <a:spcAft>
                <a:spcPts val="600"/>
              </a:spcAft>
              <a:buNone/>
            </a:pPr>
            <a:r>
              <a:rPr lang="en-US" dirty="0">
                <a:solidFill>
                  <a:srgbClr val="000000"/>
                </a:solidFill>
              </a:rPr>
              <a:t>(model, dataset): </a:t>
            </a:r>
            <a:r>
              <a:rPr lang="en-US" dirty="0" err="1">
                <a:solidFill>
                  <a:srgbClr val="000000"/>
                </a:solidFill>
              </a:rPr>
              <a:t>metrics_data</a:t>
            </a:r>
            <a:r>
              <a:rPr lang="en-US" dirty="0">
                <a:solidFill>
                  <a:srgbClr val="000000"/>
                </a:solidFill>
              </a:rPr>
              <a:t>[model][dataset]</a:t>
            </a:r>
          </a:p>
          <a:p>
            <a:pPr algn="just">
              <a:spcAft>
                <a:spcPts val="600"/>
              </a:spcAft>
              <a:buNone/>
            </a:pPr>
            <a:r>
              <a:rPr lang="en-US" dirty="0">
                <a:solidFill>
                  <a:srgbClr val="9723B4"/>
                </a:solidFill>
              </a:rPr>
              <a:t>for</a:t>
            </a:r>
            <a:r>
              <a:rPr lang="en-US" dirty="0">
                <a:solidFill>
                  <a:srgbClr val="000000"/>
                </a:solidFill>
              </a:rPr>
              <a:t> model </a:t>
            </a:r>
            <a:r>
              <a:rPr lang="en-US" dirty="0">
                <a:solidFill>
                  <a:srgbClr val="0000FF"/>
                </a:solidFill>
              </a:rPr>
              <a:t>in</a:t>
            </a:r>
            <a:r>
              <a:rPr lang="en-US" dirty="0">
                <a:solidFill>
                  <a:srgbClr val="000000"/>
                </a:solidFill>
              </a:rPr>
              <a:t> models</a:t>
            </a:r>
          </a:p>
          <a:p>
            <a:pPr algn="just">
              <a:spcAft>
                <a:spcPts val="600"/>
              </a:spcAft>
              <a:buNone/>
            </a:pPr>
            <a:r>
              <a:rPr lang="en-US" dirty="0">
                <a:solidFill>
                  <a:srgbClr val="9723B4"/>
                </a:solidFill>
              </a:rPr>
              <a:t>for</a:t>
            </a:r>
            <a:r>
              <a:rPr lang="en-US" dirty="0">
                <a:solidFill>
                  <a:srgbClr val="000000"/>
                </a:solidFill>
              </a:rPr>
              <a:t> dataset </a:t>
            </a:r>
            <a:r>
              <a:rPr lang="en-US" dirty="0">
                <a:solidFill>
                  <a:srgbClr val="0000FF"/>
                </a:solidFill>
              </a:rPr>
              <a:t>in</a:t>
            </a:r>
            <a:r>
              <a:rPr lang="en-US" dirty="0">
                <a:solidFill>
                  <a:srgbClr val="000000"/>
                </a:solidFill>
              </a:rPr>
              <a:t> [</a:t>
            </a:r>
            <a:r>
              <a:rPr lang="en-US" dirty="0">
                <a:solidFill>
                  <a:srgbClr val="A31515"/>
                </a:solidFill>
              </a:rPr>
              <a:t>"Train"</a:t>
            </a:r>
            <a:r>
              <a:rPr lang="en-US" dirty="0">
                <a:solidFill>
                  <a:srgbClr val="000000"/>
                </a:solidFill>
              </a:rPr>
              <a:t>, </a:t>
            </a:r>
            <a:r>
              <a:rPr lang="en-US" dirty="0">
                <a:solidFill>
                  <a:srgbClr val="A31515"/>
                </a:solidFill>
              </a:rPr>
              <a:t>"Validation"</a:t>
            </a:r>
            <a:r>
              <a:rPr lang="en-US" dirty="0">
                <a:solidFill>
                  <a:srgbClr val="000000"/>
                </a:solidFill>
              </a:rPr>
              <a:t>]</a:t>
            </a:r>
          </a:p>
          <a:p>
            <a:pPr algn="just">
              <a:spcAft>
                <a:spcPts val="600"/>
              </a:spcAft>
              <a:buNone/>
            </a:pPr>
            <a:r>
              <a:rPr lang="en-US" dirty="0">
                <a:solidFill>
                  <a:srgbClr val="000000"/>
                </a:solidFill>
              </a:rPr>
              <a:t>},</a:t>
            </a:r>
          </a:p>
          <a:p>
            <a:pPr algn="just">
              <a:spcAft>
                <a:spcPts val="600"/>
              </a:spcAft>
              <a:buNone/>
            </a:pPr>
            <a:r>
              <a:rPr lang="en-US" dirty="0">
                <a:solidFill>
                  <a:srgbClr val="000000"/>
                </a:solidFill>
              </a:rPr>
              <a:t>index=[</a:t>
            </a:r>
            <a:r>
              <a:rPr lang="en-US" dirty="0">
                <a:solidFill>
                  <a:srgbClr val="A31515"/>
                </a:solidFill>
              </a:rPr>
              <a:t>"Accuracy"</a:t>
            </a:r>
            <a:r>
              <a:rPr lang="en-US" dirty="0">
                <a:solidFill>
                  <a:srgbClr val="000000"/>
                </a:solidFill>
              </a:rPr>
              <a:t>, </a:t>
            </a:r>
            <a:r>
              <a:rPr lang="en-US" dirty="0">
                <a:solidFill>
                  <a:srgbClr val="A31515"/>
                </a:solidFill>
              </a:rPr>
              <a:t>"Sensitivity"</a:t>
            </a:r>
            <a:r>
              <a:rPr lang="en-US" dirty="0">
                <a:solidFill>
                  <a:srgbClr val="000000"/>
                </a:solidFill>
              </a:rPr>
              <a:t>, </a:t>
            </a:r>
            <a:r>
              <a:rPr lang="en-US" dirty="0">
                <a:solidFill>
                  <a:srgbClr val="A31515"/>
                </a:solidFill>
              </a:rPr>
              <a:t>"Precision"</a:t>
            </a:r>
            <a:r>
              <a:rPr lang="en-US" dirty="0">
                <a:solidFill>
                  <a:srgbClr val="000000"/>
                </a:solidFill>
              </a:rPr>
              <a:t>, </a:t>
            </a:r>
            <a:r>
              <a:rPr lang="en-US" dirty="0">
                <a:solidFill>
                  <a:srgbClr val="A31515"/>
                </a:solidFill>
              </a:rPr>
              <a:t>"Specificity"</a:t>
            </a:r>
            <a:r>
              <a:rPr lang="en-US" dirty="0">
                <a:solidFill>
                  <a:srgbClr val="000000"/>
                </a:solidFill>
              </a:rPr>
              <a:t>]</a:t>
            </a:r>
          </a:p>
          <a:p>
            <a:pPr algn="just">
              <a:spcAft>
                <a:spcPts val="600"/>
              </a:spcAft>
              <a:buNone/>
            </a:pPr>
            <a:r>
              <a:rPr lang="en-US" dirty="0">
                <a:solidFill>
                  <a:srgbClr val="000000"/>
                </a:solidFill>
              </a:rPr>
              <a:t>)</a:t>
            </a:r>
          </a:p>
          <a:p>
            <a:pPr algn="just">
              <a:spcAft>
                <a:spcPts val="600"/>
              </a:spcAft>
              <a:buNone/>
            </a:pPr>
            <a:r>
              <a:rPr lang="en-US" dirty="0" err="1">
                <a:solidFill>
                  <a:srgbClr val="000000"/>
                </a:solidFill>
              </a:rPr>
              <a:t>metrics_df.columns</a:t>
            </a:r>
            <a:r>
              <a:rPr lang="en-US" dirty="0">
                <a:solidFill>
                  <a:srgbClr val="000000"/>
                </a:solidFill>
              </a:rPr>
              <a:t> = </a:t>
            </a:r>
            <a:r>
              <a:rPr lang="en-US" dirty="0" err="1">
                <a:solidFill>
                  <a:srgbClr val="000000"/>
                </a:solidFill>
              </a:rPr>
              <a:t>multi_index</a:t>
            </a:r>
            <a:r>
              <a:rPr lang="en-US" dirty="0">
                <a:solidFill>
                  <a:srgbClr val="000000"/>
                </a:solidFill>
              </a:rPr>
              <a:t>  </a:t>
            </a:r>
            <a:r>
              <a:rPr lang="en-US" dirty="0">
                <a:solidFill>
                  <a:srgbClr val="008000"/>
                </a:solidFill>
              </a:rPr>
              <a:t># Apply the multi-level column header</a:t>
            </a:r>
            <a:endParaRPr lang="en-US" b="0" dirty="0">
              <a:solidFill>
                <a:srgbClr val="000000"/>
              </a:solidFill>
              <a:effectLst/>
            </a:endParaRPr>
          </a:p>
        </p:txBody>
      </p:sp>
    </p:spTree>
    <p:extLst>
      <p:ext uri="{BB962C8B-B14F-4D97-AF65-F5344CB8AC3E}">
        <p14:creationId xmlns:p14="http://schemas.microsoft.com/office/powerpoint/2010/main" val="266608945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5395D-7130-0187-16CC-34E42D1794C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F4B5A2-9AE7-DC56-1172-E98D71C6444D}"/>
              </a:ext>
            </a:extLst>
          </p:cNvPr>
          <p:cNvSpPr>
            <a:spLocks noGrp="1"/>
          </p:cNvSpPr>
          <p:nvPr>
            <p:ph idx="1"/>
          </p:nvPr>
        </p:nvSpPr>
        <p:spPr/>
        <p:txBody>
          <a:bodyPr>
            <a:normAutofit/>
          </a:bodyPr>
          <a:lstStyle/>
          <a:p>
            <a:pPr marL="0" indent="0">
              <a:buNone/>
            </a:pPr>
            <a:r>
              <a:rPr lang="en-US" sz="5400" dirty="0"/>
              <a:t>         </a:t>
            </a:r>
          </a:p>
          <a:p>
            <a:pPr marL="0" indent="0">
              <a:buNone/>
            </a:pPr>
            <a:endParaRPr lang="en-US" sz="5400" dirty="0"/>
          </a:p>
          <a:p>
            <a:pPr marL="0" indent="0">
              <a:buNone/>
            </a:pPr>
            <a:r>
              <a:rPr lang="en-US" sz="5400" dirty="0"/>
              <a:t>              </a:t>
            </a:r>
          </a:p>
        </p:txBody>
      </p:sp>
      <p:sp>
        <p:nvSpPr>
          <p:cNvPr id="5" name="Slide Number Placeholder 4">
            <a:extLst>
              <a:ext uri="{FF2B5EF4-FFF2-40B4-BE49-F238E27FC236}">
                <a16:creationId xmlns:a16="http://schemas.microsoft.com/office/drawing/2014/main" id="{9869C335-7871-3CFE-E158-20FA8922BD0E}"/>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84</a:t>
            </a:fld>
            <a:endParaRPr lang="en-US" dirty="0">
              <a:solidFill>
                <a:srgbClr val="000000"/>
              </a:solidFill>
            </a:endParaRPr>
          </a:p>
        </p:txBody>
      </p:sp>
      <p:sp>
        <p:nvSpPr>
          <p:cNvPr id="4" name="TextBox 3">
            <a:extLst>
              <a:ext uri="{FF2B5EF4-FFF2-40B4-BE49-F238E27FC236}">
                <a16:creationId xmlns:a16="http://schemas.microsoft.com/office/drawing/2014/main" id="{559247FD-C211-6043-5EA9-CF39BAB4620C}"/>
              </a:ext>
            </a:extLst>
          </p:cNvPr>
          <p:cNvSpPr txBox="1"/>
          <p:nvPr/>
        </p:nvSpPr>
        <p:spPr>
          <a:xfrm>
            <a:off x="835153" y="578885"/>
            <a:ext cx="7396912" cy="5324535"/>
          </a:xfrm>
          <a:custGeom>
            <a:avLst/>
            <a:gdLst>
              <a:gd name="connsiteX0" fmla="*/ 0 w 7372528"/>
              <a:gd name="connsiteY0" fmla="*/ 0 h 6309420"/>
              <a:gd name="connsiteX1" fmla="*/ 7372528 w 7372528"/>
              <a:gd name="connsiteY1" fmla="*/ 0 h 6309420"/>
              <a:gd name="connsiteX2" fmla="*/ 7372528 w 7372528"/>
              <a:gd name="connsiteY2" fmla="*/ 6309420 h 6309420"/>
              <a:gd name="connsiteX3" fmla="*/ 0 w 7372528"/>
              <a:gd name="connsiteY3" fmla="*/ 6309420 h 6309420"/>
              <a:gd name="connsiteX4" fmla="*/ 0 w 7372528"/>
              <a:gd name="connsiteY4" fmla="*/ 0 h 6309420"/>
              <a:gd name="connsiteX0" fmla="*/ 12192 w 7384720"/>
              <a:gd name="connsiteY0" fmla="*/ 0 h 6309420"/>
              <a:gd name="connsiteX1" fmla="*/ 7384720 w 7384720"/>
              <a:gd name="connsiteY1" fmla="*/ 0 h 6309420"/>
              <a:gd name="connsiteX2" fmla="*/ 7384720 w 7384720"/>
              <a:gd name="connsiteY2" fmla="*/ 6309420 h 6309420"/>
              <a:gd name="connsiteX3" fmla="*/ 0 w 7384720"/>
              <a:gd name="connsiteY3" fmla="*/ 5486460 h 6309420"/>
              <a:gd name="connsiteX4" fmla="*/ 12192 w 7384720"/>
              <a:gd name="connsiteY4" fmla="*/ 0 h 6309420"/>
              <a:gd name="connsiteX0" fmla="*/ 12192 w 7396912"/>
              <a:gd name="connsiteY0" fmla="*/ 0 h 5486460"/>
              <a:gd name="connsiteX1" fmla="*/ 7384720 w 7396912"/>
              <a:gd name="connsiteY1" fmla="*/ 0 h 5486460"/>
              <a:gd name="connsiteX2" fmla="*/ 7396912 w 7396912"/>
              <a:gd name="connsiteY2" fmla="*/ 5480364 h 5486460"/>
              <a:gd name="connsiteX3" fmla="*/ 0 w 7396912"/>
              <a:gd name="connsiteY3" fmla="*/ 5486460 h 5486460"/>
              <a:gd name="connsiteX4" fmla="*/ 12192 w 7396912"/>
              <a:gd name="connsiteY4" fmla="*/ 0 h 54864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6912" h="5486460">
                <a:moveTo>
                  <a:pt x="12192" y="0"/>
                </a:moveTo>
                <a:lnTo>
                  <a:pt x="7384720" y="0"/>
                </a:lnTo>
                <a:lnTo>
                  <a:pt x="7396912" y="5480364"/>
                </a:lnTo>
                <a:lnTo>
                  <a:pt x="0" y="5486460"/>
                </a:lnTo>
                <a:lnTo>
                  <a:pt x="12192" y="0"/>
                </a:lnTo>
                <a:close/>
              </a:path>
            </a:pathLst>
          </a:custGeom>
          <a:noFill/>
        </p:spPr>
        <p:txBody>
          <a:bodyPr wrap="square">
            <a:spAutoFit/>
          </a:bodyPr>
          <a:lstStyle/>
          <a:p>
            <a:pPr algn="just">
              <a:spcAft>
                <a:spcPts val="600"/>
              </a:spcAft>
              <a:buNone/>
            </a:pPr>
            <a:r>
              <a:rPr lang="en-US" b="0" dirty="0">
                <a:solidFill>
                  <a:srgbClr val="000000"/>
                </a:solidFill>
                <a:effectLst/>
              </a:rPr>
              <a:t>(model, dataset): </a:t>
            </a:r>
            <a:r>
              <a:rPr lang="en-US" b="0" dirty="0" err="1">
                <a:solidFill>
                  <a:srgbClr val="000000"/>
                </a:solidFill>
                <a:effectLst/>
              </a:rPr>
              <a:t>metrics_data</a:t>
            </a:r>
            <a:r>
              <a:rPr lang="en-US" b="0" dirty="0">
                <a:solidFill>
                  <a:srgbClr val="000000"/>
                </a:solidFill>
                <a:effectLst/>
              </a:rPr>
              <a:t>[model][dataset]</a:t>
            </a:r>
          </a:p>
          <a:p>
            <a:pPr algn="just">
              <a:spcAft>
                <a:spcPts val="600"/>
              </a:spcAft>
              <a:buNone/>
            </a:pPr>
            <a:r>
              <a:rPr lang="en-US" b="0" dirty="0">
                <a:solidFill>
                  <a:srgbClr val="9723B4"/>
                </a:solidFill>
                <a:effectLst/>
              </a:rPr>
              <a:t>for</a:t>
            </a:r>
            <a:r>
              <a:rPr lang="en-US" b="0" dirty="0">
                <a:solidFill>
                  <a:srgbClr val="000000"/>
                </a:solidFill>
                <a:effectLst/>
              </a:rPr>
              <a:t> model </a:t>
            </a:r>
            <a:r>
              <a:rPr lang="en-US" b="0" dirty="0">
                <a:solidFill>
                  <a:srgbClr val="0000FF"/>
                </a:solidFill>
                <a:effectLst/>
              </a:rPr>
              <a:t>in</a:t>
            </a:r>
            <a:r>
              <a:rPr lang="en-US" b="0" dirty="0">
                <a:solidFill>
                  <a:srgbClr val="000000"/>
                </a:solidFill>
                <a:effectLst/>
              </a:rPr>
              <a:t> models</a:t>
            </a:r>
          </a:p>
          <a:p>
            <a:pPr algn="just">
              <a:spcAft>
                <a:spcPts val="600"/>
              </a:spcAft>
              <a:buNone/>
            </a:pPr>
            <a:r>
              <a:rPr lang="en-US" b="0" dirty="0">
                <a:solidFill>
                  <a:srgbClr val="9723B4"/>
                </a:solidFill>
                <a:effectLst/>
              </a:rPr>
              <a:t>for</a:t>
            </a:r>
            <a:r>
              <a:rPr lang="en-US" b="0" dirty="0">
                <a:solidFill>
                  <a:srgbClr val="000000"/>
                </a:solidFill>
                <a:effectLst/>
              </a:rPr>
              <a:t> dataset </a:t>
            </a:r>
            <a:r>
              <a:rPr lang="en-US" b="0" dirty="0">
                <a:solidFill>
                  <a:srgbClr val="0000FF"/>
                </a:solidFill>
                <a:effectLst/>
              </a:rPr>
              <a:t>in</a:t>
            </a:r>
            <a:r>
              <a:rPr lang="en-US" b="0" dirty="0">
                <a:solidFill>
                  <a:srgbClr val="000000"/>
                </a:solidFill>
                <a:effectLst/>
              </a:rPr>
              <a:t> [</a:t>
            </a:r>
            <a:r>
              <a:rPr lang="en-US" b="0" dirty="0">
                <a:solidFill>
                  <a:srgbClr val="A31515"/>
                </a:solidFill>
                <a:effectLst/>
              </a:rPr>
              <a:t>"Train"</a:t>
            </a:r>
            <a:r>
              <a:rPr lang="en-US" b="0" dirty="0">
                <a:solidFill>
                  <a:srgbClr val="000000"/>
                </a:solidFill>
                <a:effectLst/>
              </a:rPr>
              <a:t>, </a:t>
            </a:r>
            <a:r>
              <a:rPr lang="en-US" b="0" dirty="0">
                <a:solidFill>
                  <a:srgbClr val="A31515"/>
                </a:solidFill>
                <a:effectLst/>
              </a:rPr>
              <a:t>"Validation"</a:t>
            </a:r>
            <a:r>
              <a:rPr lang="en-US" b="0" dirty="0">
                <a:solidFill>
                  <a:srgbClr val="000000"/>
                </a:solidFill>
                <a:effectLst/>
              </a:rPr>
              <a:t>]</a:t>
            </a:r>
          </a:p>
          <a:p>
            <a:pPr algn="just">
              <a:spcAft>
                <a:spcPts val="600"/>
              </a:spcAft>
              <a:buNone/>
            </a:pPr>
            <a:r>
              <a:rPr lang="en-US" b="0" dirty="0">
                <a:solidFill>
                  <a:srgbClr val="000000"/>
                </a:solidFill>
                <a:effectLst/>
              </a:rPr>
              <a:t>},</a:t>
            </a:r>
          </a:p>
          <a:p>
            <a:pPr algn="just">
              <a:spcAft>
                <a:spcPts val="600"/>
              </a:spcAft>
              <a:buNone/>
            </a:pPr>
            <a:r>
              <a:rPr lang="en-US" b="0" dirty="0">
                <a:solidFill>
                  <a:srgbClr val="000000"/>
                </a:solidFill>
                <a:effectLst/>
              </a:rPr>
              <a:t>index=[</a:t>
            </a:r>
            <a:r>
              <a:rPr lang="en-US" b="0" dirty="0">
                <a:solidFill>
                  <a:srgbClr val="A31515"/>
                </a:solidFill>
                <a:effectLst/>
              </a:rPr>
              <a:t>"Accuracy"</a:t>
            </a:r>
            <a:r>
              <a:rPr lang="en-US" b="0" dirty="0">
                <a:solidFill>
                  <a:srgbClr val="000000"/>
                </a:solidFill>
                <a:effectLst/>
              </a:rPr>
              <a:t>, </a:t>
            </a:r>
            <a:r>
              <a:rPr lang="en-US" b="0" dirty="0">
                <a:solidFill>
                  <a:srgbClr val="A31515"/>
                </a:solidFill>
                <a:effectLst/>
              </a:rPr>
              <a:t>"Sensitivity"</a:t>
            </a:r>
            <a:r>
              <a:rPr lang="en-US" b="0" dirty="0">
                <a:solidFill>
                  <a:srgbClr val="000000"/>
                </a:solidFill>
                <a:effectLst/>
              </a:rPr>
              <a:t>, </a:t>
            </a:r>
            <a:r>
              <a:rPr lang="en-US" b="0" dirty="0">
                <a:solidFill>
                  <a:srgbClr val="A31515"/>
                </a:solidFill>
                <a:effectLst/>
              </a:rPr>
              <a:t>"Precision"</a:t>
            </a:r>
            <a:r>
              <a:rPr lang="en-US" b="0" dirty="0">
                <a:solidFill>
                  <a:srgbClr val="000000"/>
                </a:solidFill>
                <a:effectLst/>
              </a:rPr>
              <a:t>, </a:t>
            </a:r>
            <a:r>
              <a:rPr lang="en-US" b="0" dirty="0">
                <a:solidFill>
                  <a:srgbClr val="A31515"/>
                </a:solidFill>
                <a:effectLst/>
              </a:rPr>
              <a:t>"Specificity"</a:t>
            </a:r>
            <a:r>
              <a:rPr lang="en-US" b="0" dirty="0">
                <a:solidFill>
                  <a:srgbClr val="000000"/>
                </a:solidFill>
                <a:effectLst/>
              </a:rPr>
              <a:t>]</a:t>
            </a:r>
          </a:p>
          <a:p>
            <a:pPr algn="just">
              <a:spcAft>
                <a:spcPts val="600"/>
              </a:spcAft>
              <a:buNone/>
            </a:pPr>
            <a:r>
              <a:rPr lang="en-US" b="0" dirty="0">
                <a:solidFill>
                  <a:srgbClr val="000000"/>
                </a:solidFill>
                <a:effectLst/>
              </a:rPr>
              <a:t>)</a:t>
            </a:r>
          </a:p>
          <a:p>
            <a:pPr algn="just">
              <a:spcAft>
                <a:spcPts val="600"/>
              </a:spcAft>
              <a:buNone/>
            </a:pPr>
            <a:r>
              <a:rPr lang="en-US" b="0" dirty="0" err="1">
                <a:solidFill>
                  <a:srgbClr val="000000"/>
                </a:solidFill>
                <a:effectLst/>
              </a:rPr>
              <a:t>metrics_df.columns</a:t>
            </a:r>
            <a:r>
              <a:rPr lang="en-US" b="0" dirty="0">
                <a:solidFill>
                  <a:srgbClr val="000000"/>
                </a:solidFill>
                <a:effectLst/>
              </a:rPr>
              <a:t> = </a:t>
            </a:r>
            <a:r>
              <a:rPr lang="en-US" b="0" dirty="0" err="1">
                <a:solidFill>
                  <a:srgbClr val="000000"/>
                </a:solidFill>
                <a:effectLst/>
              </a:rPr>
              <a:t>multi_index</a:t>
            </a:r>
            <a:r>
              <a:rPr lang="en-US" b="0" dirty="0">
                <a:solidFill>
                  <a:srgbClr val="000000"/>
                </a:solidFill>
                <a:effectLst/>
              </a:rPr>
              <a:t>  </a:t>
            </a:r>
            <a:r>
              <a:rPr lang="en-US" b="0" dirty="0">
                <a:solidFill>
                  <a:srgbClr val="008000"/>
                </a:solidFill>
                <a:effectLst/>
              </a:rPr>
              <a:t># Apply the multi-level column header</a:t>
            </a:r>
            <a:endParaRPr lang="en-US" b="0" dirty="0">
              <a:solidFill>
                <a:srgbClr val="000000"/>
              </a:solidFill>
              <a:effectLst/>
            </a:endParaRPr>
          </a:p>
          <a:p>
            <a:pPr algn="just">
              <a:spcAft>
                <a:spcPts val="600"/>
              </a:spcAft>
              <a:buNone/>
            </a:pPr>
            <a:r>
              <a:rPr lang="en-US" b="0" dirty="0">
                <a:solidFill>
                  <a:srgbClr val="008000"/>
                </a:solidFill>
                <a:effectLst/>
              </a:rPr>
              <a:t># Plot the table using matplotlib</a:t>
            </a:r>
            <a:endParaRPr lang="en-US" b="0" dirty="0">
              <a:solidFill>
                <a:srgbClr val="000000"/>
              </a:solidFill>
              <a:effectLst/>
            </a:endParaRPr>
          </a:p>
          <a:p>
            <a:pPr algn="just">
              <a:spcAft>
                <a:spcPts val="600"/>
              </a:spcAft>
              <a:buNone/>
            </a:pPr>
            <a:r>
              <a:rPr lang="en-US" b="0" dirty="0">
                <a:solidFill>
                  <a:srgbClr val="000000"/>
                </a:solidFill>
                <a:effectLst/>
              </a:rPr>
              <a:t>fig, ax = </a:t>
            </a:r>
            <a:r>
              <a:rPr lang="en-US" b="0" dirty="0" err="1">
                <a:solidFill>
                  <a:srgbClr val="000000"/>
                </a:solidFill>
                <a:effectLst/>
              </a:rPr>
              <a:t>plt.subplots</a:t>
            </a:r>
            <a:r>
              <a:rPr lang="en-US" b="0" dirty="0">
                <a:solidFill>
                  <a:srgbClr val="000000"/>
                </a:solidFill>
                <a:effectLst/>
              </a:rPr>
              <a:t>(</a:t>
            </a:r>
            <a:r>
              <a:rPr lang="en-US" b="0" dirty="0" err="1">
                <a:solidFill>
                  <a:srgbClr val="000000"/>
                </a:solidFill>
                <a:effectLst/>
              </a:rPr>
              <a:t>figsize</a:t>
            </a:r>
            <a:r>
              <a:rPr lang="en-US" b="0" dirty="0">
                <a:solidFill>
                  <a:srgbClr val="000000"/>
                </a:solidFill>
                <a:effectLst/>
              </a:rPr>
              <a:t>=(</a:t>
            </a:r>
            <a:r>
              <a:rPr lang="en-US" b="0" dirty="0">
                <a:solidFill>
                  <a:srgbClr val="116644"/>
                </a:solidFill>
                <a:effectLst/>
              </a:rPr>
              <a:t>12</a:t>
            </a:r>
            <a:r>
              <a:rPr lang="en-US" b="0" dirty="0">
                <a:solidFill>
                  <a:srgbClr val="000000"/>
                </a:solidFill>
                <a:effectLst/>
              </a:rPr>
              <a:t>, </a:t>
            </a:r>
            <a:r>
              <a:rPr lang="en-US" b="0" dirty="0">
                <a:solidFill>
                  <a:srgbClr val="116644"/>
                </a:solidFill>
                <a:effectLst/>
              </a:rPr>
              <a:t>4</a:t>
            </a:r>
            <a:r>
              <a:rPr lang="en-US" b="0" dirty="0">
                <a:solidFill>
                  <a:srgbClr val="000000"/>
                </a:solidFill>
                <a:effectLst/>
              </a:rPr>
              <a:t>))</a:t>
            </a:r>
          </a:p>
          <a:p>
            <a:pPr algn="just">
              <a:spcAft>
                <a:spcPts val="600"/>
              </a:spcAft>
              <a:buNone/>
            </a:pPr>
            <a:r>
              <a:rPr lang="en-US" b="0" dirty="0" err="1">
                <a:solidFill>
                  <a:srgbClr val="000000"/>
                </a:solidFill>
                <a:effectLst/>
              </a:rPr>
              <a:t>ax.axis</a:t>
            </a:r>
            <a:r>
              <a:rPr lang="en-US" b="0" dirty="0">
                <a:solidFill>
                  <a:srgbClr val="000000"/>
                </a:solidFill>
                <a:effectLst/>
              </a:rPr>
              <a:t>(</a:t>
            </a:r>
            <a:r>
              <a:rPr lang="en-US" b="0" dirty="0">
                <a:solidFill>
                  <a:srgbClr val="A31515"/>
                </a:solidFill>
                <a:effectLst/>
              </a:rPr>
              <a:t>"tight"</a:t>
            </a:r>
            <a:r>
              <a:rPr lang="en-US" b="0" dirty="0">
                <a:solidFill>
                  <a:srgbClr val="000000"/>
                </a:solidFill>
                <a:effectLst/>
              </a:rPr>
              <a:t>)</a:t>
            </a:r>
          </a:p>
          <a:p>
            <a:pPr algn="just">
              <a:spcAft>
                <a:spcPts val="600"/>
              </a:spcAft>
              <a:buNone/>
            </a:pPr>
            <a:r>
              <a:rPr lang="en-US" b="0" dirty="0">
                <a:solidFill>
                  <a:srgbClr val="000000"/>
                </a:solidFill>
                <a:effectLst/>
              </a:rPr>
              <a:t>ax.af</a:t>
            </a:r>
            <a:r>
              <a:rPr lang="en-US" b="0" dirty="0">
                <a:solidFill>
                  <a:srgbClr val="A31515"/>
                </a:solidFill>
                <a:effectLst/>
              </a:rPr>
              <a:t>")</a:t>
            </a:r>
            <a:endParaRPr lang="en-US" b="0" dirty="0">
              <a:solidFill>
                <a:srgbClr val="000000"/>
              </a:solidFill>
              <a:effectLst/>
            </a:endParaRPr>
          </a:p>
          <a:p>
            <a:pPr algn="just">
              <a:spcAft>
                <a:spcPts val="600"/>
              </a:spcAft>
              <a:buNone/>
            </a:pPr>
            <a:r>
              <a:rPr lang="en-US" b="0" dirty="0">
                <a:solidFill>
                  <a:srgbClr val="000000"/>
                </a:solidFill>
                <a:effectLst/>
              </a:rPr>
              <a:t>table = </a:t>
            </a:r>
            <a:r>
              <a:rPr lang="en-US" b="0" dirty="0" err="1">
                <a:solidFill>
                  <a:srgbClr val="000000"/>
                </a:solidFill>
                <a:effectLst/>
              </a:rPr>
              <a:t>ax.table</a:t>
            </a:r>
            <a:r>
              <a:rPr lang="en-US" b="0" dirty="0">
                <a:solidFill>
                  <a:srgbClr val="000000"/>
                </a:solidFill>
                <a:effectLst/>
              </a:rPr>
              <a:t>(</a:t>
            </a:r>
          </a:p>
          <a:p>
            <a:pPr algn="just">
              <a:spcAft>
                <a:spcPts val="600"/>
              </a:spcAft>
              <a:buNone/>
            </a:pPr>
            <a:r>
              <a:rPr lang="en-US" b="0" dirty="0" err="1">
                <a:solidFill>
                  <a:srgbClr val="000000"/>
                </a:solidFill>
                <a:effectLst/>
              </a:rPr>
              <a:t>cellText</a:t>
            </a:r>
            <a:r>
              <a:rPr lang="en-US" b="0" dirty="0">
                <a:solidFill>
                  <a:srgbClr val="000000"/>
                </a:solidFill>
                <a:effectLst/>
              </a:rPr>
              <a:t>=</a:t>
            </a:r>
            <a:r>
              <a:rPr lang="en-US" b="0" dirty="0" err="1">
                <a:solidFill>
                  <a:srgbClr val="000000"/>
                </a:solidFill>
                <a:effectLst/>
              </a:rPr>
              <a:t>metrics_df.</a:t>
            </a:r>
            <a:r>
              <a:rPr lang="en-US" b="0" dirty="0" err="1">
                <a:solidFill>
                  <a:srgbClr val="6A5221"/>
                </a:solidFill>
                <a:effectLst/>
              </a:rPr>
              <a:t>round</a:t>
            </a:r>
            <a:r>
              <a:rPr lang="en-US" b="0" dirty="0">
                <a:solidFill>
                  <a:srgbClr val="000000"/>
                </a:solidFill>
                <a:effectLst/>
              </a:rPr>
              <a:t>(</a:t>
            </a:r>
            <a:r>
              <a:rPr lang="en-US" b="0" dirty="0">
                <a:solidFill>
                  <a:srgbClr val="116644"/>
                </a:solidFill>
                <a:effectLst/>
              </a:rPr>
              <a:t>4</a:t>
            </a:r>
            <a:r>
              <a:rPr lang="en-US" b="0" dirty="0">
                <a:solidFill>
                  <a:srgbClr val="000000"/>
                </a:solidFill>
                <a:effectLst/>
              </a:rPr>
              <a:t>).values,</a:t>
            </a:r>
          </a:p>
          <a:p>
            <a:pPr algn="just">
              <a:spcAft>
                <a:spcPts val="600"/>
              </a:spcAft>
              <a:buNone/>
            </a:pPr>
            <a:r>
              <a:rPr lang="en-US" b="0" dirty="0" err="1">
                <a:solidFill>
                  <a:srgbClr val="000000"/>
                </a:solidFill>
                <a:effectLst/>
              </a:rPr>
              <a:t>colLabels</a:t>
            </a:r>
            <a:r>
              <a:rPr lang="en-US" b="0" dirty="0">
                <a:solidFill>
                  <a:srgbClr val="000000"/>
                </a:solidFill>
                <a:effectLst/>
              </a:rPr>
              <a:t>=[</a:t>
            </a:r>
            <a:r>
              <a:rPr lang="en-US" b="0" dirty="0">
                <a:solidFill>
                  <a:srgbClr val="0000FF"/>
                </a:solidFill>
                <a:effectLst/>
              </a:rPr>
              <a:t>f</a:t>
            </a:r>
            <a:r>
              <a:rPr lang="en-US" b="0" dirty="0">
                <a:solidFill>
                  <a:srgbClr val="A31515"/>
                </a:solidFill>
                <a:effectLst/>
              </a:rPr>
              <a:t>"</a:t>
            </a:r>
            <a:r>
              <a:rPr lang="en-US" b="0" dirty="0">
                <a:solidFill>
                  <a:srgbClr val="000000"/>
                </a:solidFill>
                <a:effectLst/>
              </a:rPr>
              <a:t>{col[</a:t>
            </a:r>
            <a:r>
              <a:rPr lang="en-US" b="0" dirty="0">
                <a:solidFill>
                  <a:srgbClr val="116644"/>
                </a:solidFill>
                <a:effectLst/>
              </a:rPr>
              <a:t>0</a:t>
            </a:r>
            <a:r>
              <a:rPr lang="en-US" b="0" dirty="0">
                <a:solidFill>
                  <a:srgbClr val="000000"/>
                </a:solidFill>
                <a:effectLst/>
              </a:rPr>
              <a:t>]}</a:t>
            </a:r>
            <a:r>
              <a:rPr lang="en-US" b="0" dirty="0">
                <a:solidFill>
                  <a:srgbClr val="A31515"/>
                </a:solidFill>
                <a:effectLst/>
              </a:rPr>
              <a:t>\n</a:t>
            </a:r>
            <a:r>
              <a:rPr lang="en-US" b="0" dirty="0">
                <a:solidFill>
                  <a:srgbClr val="000000"/>
                </a:solidFill>
                <a:effectLst/>
              </a:rPr>
              <a:t>{col[</a:t>
            </a:r>
            <a:r>
              <a:rPr lang="en-US" b="0" dirty="0">
                <a:solidFill>
                  <a:srgbClr val="116644"/>
                </a:solidFill>
                <a:effectLst/>
              </a:rPr>
              <a:t>1</a:t>
            </a:r>
            <a:r>
              <a:rPr lang="en-US" b="0" dirty="0">
                <a:solidFill>
                  <a:srgbClr val="000000"/>
                </a:solidFill>
                <a:effectLst/>
              </a:rPr>
              <a:t>]}</a:t>
            </a:r>
            <a:r>
              <a:rPr lang="en-US" b="0" dirty="0">
                <a:solidFill>
                  <a:srgbClr val="A31515"/>
                </a:solidFill>
                <a:effectLst/>
              </a:rPr>
              <a:t>"</a:t>
            </a:r>
            <a:r>
              <a:rPr lang="en-US" b="0" dirty="0">
                <a:solidFill>
                  <a:srgbClr val="000000"/>
                </a:solidFill>
                <a:effectLst/>
              </a:rPr>
              <a:t> </a:t>
            </a:r>
            <a:r>
              <a:rPr lang="en-US" b="0" dirty="0">
                <a:solidFill>
                  <a:srgbClr val="9723B4"/>
                </a:solidFill>
                <a:effectLst/>
              </a:rPr>
              <a:t>for</a:t>
            </a:r>
            <a:r>
              <a:rPr lang="en-US" b="0" dirty="0">
                <a:solidFill>
                  <a:srgbClr val="000000"/>
                </a:solidFill>
                <a:effectLst/>
              </a:rPr>
              <a:t> col </a:t>
            </a:r>
            <a:r>
              <a:rPr lang="en-US" b="0" dirty="0">
                <a:solidFill>
                  <a:srgbClr val="0000FF"/>
                </a:solidFill>
                <a:effectLst/>
              </a:rPr>
              <a:t>in</a:t>
            </a:r>
            <a:r>
              <a:rPr lang="en-US" b="0" dirty="0">
                <a:solidFill>
                  <a:srgbClr val="000000"/>
                </a:solidFill>
                <a:effectLst/>
              </a:rPr>
              <a:t> </a:t>
            </a:r>
            <a:r>
              <a:rPr lang="en-US" b="0" dirty="0" err="1">
                <a:solidFill>
                  <a:srgbClr val="000000"/>
                </a:solidFill>
                <a:effectLst/>
              </a:rPr>
              <a:t>metrics_df.columns</a:t>
            </a:r>
            <a:r>
              <a:rPr lang="en-US" b="0" dirty="0">
                <a:solidFill>
                  <a:srgbClr val="000000"/>
                </a:solidFill>
                <a:effectLst/>
              </a:rPr>
              <a:t>],</a:t>
            </a:r>
          </a:p>
          <a:p>
            <a:pPr algn="just">
              <a:spcAft>
                <a:spcPts val="600"/>
              </a:spcAft>
              <a:buNone/>
            </a:pPr>
            <a:r>
              <a:rPr lang="en-US" b="0" dirty="0" err="1">
                <a:solidFill>
                  <a:srgbClr val="000000"/>
                </a:solidFill>
                <a:effectLst/>
              </a:rPr>
              <a:t>rowLabels</a:t>
            </a:r>
            <a:r>
              <a:rPr lang="en-US" b="0" dirty="0">
                <a:solidFill>
                  <a:srgbClr val="000000"/>
                </a:solidFill>
                <a:effectLst/>
              </a:rPr>
              <a:t>=</a:t>
            </a:r>
            <a:r>
              <a:rPr lang="en-US" b="0" dirty="0" err="1">
                <a:solidFill>
                  <a:srgbClr val="000000"/>
                </a:solidFill>
                <a:effectLst/>
              </a:rPr>
              <a:t>metrics_df.index</a:t>
            </a:r>
            <a:r>
              <a:rPr lang="en-US" b="0" dirty="0">
                <a:solidFill>
                  <a:srgbClr val="000000"/>
                </a:solidFill>
                <a:effectLst/>
              </a:rPr>
              <a:t>,</a:t>
            </a:r>
          </a:p>
        </p:txBody>
      </p:sp>
    </p:spTree>
    <p:extLst>
      <p:ext uri="{BB962C8B-B14F-4D97-AF65-F5344CB8AC3E}">
        <p14:creationId xmlns:p14="http://schemas.microsoft.com/office/powerpoint/2010/main" val="87818204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D183D-E38E-2C9D-AA48-89AB09F1D2C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459FE6-C94E-D3C9-1D52-EFFB7C3B6C8D}"/>
              </a:ext>
            </a:extLst>
          </p:cNvPr>
          <p:cNvSpPr>
            <a:spLocks noGrp="1"/>
          </p:cNvSpPr>
          <p:nvPr>
            <p:ph idx="1"/>
          </p:nvPr>
        </p:nvSpPr>
        <p:spPr/>
        <p:txBody>
          <a:bodyPr>
            <a:normAutofit/>
          </a:bodyPr>
          <a:lstStyle/>
          <a:p>
            <a:pPr marL="0" indent="0">
              <a:buNone/>
            </a:pPr>
            <a:r>
              <a:rPr lang="en-US" sz="5400" dirty="0"/>
              <a:t>         </a:t>
            </a:r>
          </a:p>
          <a:p>
            <a:pPr marL="0" indent="0">
              <a:buNone/>
            </a:pPr>
            <a:endParaRPr lang="en-US" sz="5400" dirty="0"/>
          </a:p>
          <a:p>
            <a:pPr marL="0" indent="0">
              <a:buNone/>
            </a:pPr>
            <a:r>
              <a:rPr lang="en-US" sz="5400" dirty="0"/>
              <a:t>              </a:t>
            </a:r>
          </a:p>
        </p:txBody>
      </p:sp>
      <p:sp>
        <p:nvSpPr>
          <p:cNvPr id="5" name="Slide Number Placeholder 4">
            <a:extLst>
              <a:ext uri="{FF2B5EF4-FFF2-40B4-BE49-F238E27FC236}">
                <a16:creationId xmlns:a16="http://schemas.microsoft.com/office/drawing/2014/main" id="{143891A3-E4E9-19EB-0BA7-F6989F5F553B}"/>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85</a:t>
            </a:fld>
            <a:endParaRPr lang="en-US" dirty="0">
              <a:solidFill>
                <a:srgbClr val="000000"/>
              </a:solidFill>
            </a:endParaRPr>
          </a:p>
        </p:txBody>
      </p:sp>
      <p:sp>
        <p:nvSpPr>
          <p:cNvPr id="4" name="TextBox 3">
            <a:extLst>
              <a:ext uri="{FF2B5EF4-FFF2-40B4-BE49-F238E27FC236}">
                <a16:creationId xmlns:a16="http://schemas.microsoft.com/office/drawing/2014/main" id="{DBEAAAB7-B879-49D6-296C-7D87B28F5361}"/>
              </a:ext>
            </a:extLst>
          </p:cNvPr>
          <p:cNvSpPr txBox="1"/>
          <p:nvPr/>
        </p:nvSpPr>
        <p:spPr>
          <a:xfrm>
            <a:off x="838200" y="625525"/>
            <a:ext cx="7677150" cy="5247590"/>
          </a:xfrm>
          <a:custGeom>
            <a:avLst/>
            <a:gdLst>
              <a:gd name="connsiteX0" fmla="*/ 0 w 7586202"/>
              <a:gd name="connsiteY0" fmla="*/ 0 h 6232475"/>
              <a:gd name="connsiteX1" fmla="*/ 7586202 w 7586202"/>
              <a:gd name="connsiteY1" fmla="*/ 0 h 6232475"/>
              <a:gd name="connsiteX2" fmla="*/ 7586202 w 7586202"/>
              <a:gd name="connsiteY2" fmla="*/ 6232475 h 6232475"/>
              <a:gd name="connsiteX3" fmla="*/ 0 w 7586202"/>
              <a:gd name="connsiteY3" fmla="*/ 6232475 h 6232475"/>
              <a:gd name="connsiteX4" fmla="*/ 0 w 7586202"/>
              <a:gd name="connsiteY4" fmla="*/ 0 h 6232475"/>
              <a:gd name="connsiteX0" fmla="*/ 18288 w 7604490"/>
              <a:gd name="connsiteY0" fmla="*/ 0 h 6232475"/>
              <a:gd name="connsiteX1" fmla="*/ 7604490 w 7604490"/>
              <a:gd name="connsiteY1" fmla="*/ 0 h 6232475"/>
              <a:gd name="connsiteX2" fmla="*/ 7604490 w 7604490"/>
              <a:gd name="connsiteY2" fmla="*/ 6232475 h 6232475"/>
              <a:gd name="connsiteX3" fmla="*/ 0 w 7604490"/>
              <a:gd name="connsiteY3" fmla="*/ 5622875 h 6232475"/>
              <a:gd name="connsiteX4" fmla="*/ 18288 w 7604490"/>
              <a:gd name="connsiteY4" fmla="*/ 0 h 6232475"/>
              <a:gd name="connsiteX0" fmla="*/ 18288 w 7622778"/>
              <a:gd name="connsiteY0" fmla="*/ 0 h 5714315"/>
              <a:gd name="connsiteX1" fmla="*/ 7604490 w 7622778"/>
              <a:gd name="connsiteY1" fmla="*/ 0 h 5714315"/>
              <a:gd name="connsiteX2" fmla="*/ 7622778 w 7622778"/>
              <a:gd name="connsiteY2" fmla="*/ 5714315 h 5714315"/>
              <a:gd name="connsiteX3" fmla="*/ 0 w 7622778"/>
              <a:gd name="connsiteY3" fmla="*/ 5622875 h 5714315"/>
              <a:gd name="connsiteX4" fmla="*/ 18288 w 7622778"/>
              <a:gd name="connsiteY4" fmla="*/ 0 h 57143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2778" h="5714315">
                <a:moveTo>
                  <a:pt x="18288" y="0"/>
                </a:moveTo>
                <a:lnTo>
                  <a:pt x="7604490" y="0"/>
                </a:lnTo>
                <a:lnTo>
                  <a:pt x="7622778" y="5714315"/>
                </a:lnTo>
                <a:lnTo>
                  <a:pt x="0" y="5622875"/>
                </a:lnTo>
                <a:lnTo>
                  <a:pt x="18288" y="0"/>
                </a:lnTo>
                <a:close/>
              </a:path>
            </a:pathLst>
          </a:custGeom>
          <a:noFill/>
        </p:spPr>
        <p:txBody>
          <a:bodyPr wrap="square">
            <a:spAutoFit/>
          </a:bodyPr>
          <a:lstStyle/>
          <a:p>
            <a:pPr algn="just">
              <a:spcAft>
                <a:spcPts val="600"/>
              </a:spcAft>
              <a:buNone/>
            </a:pPr>
            <a:r>
              <a:rPr lang="en-US" dirty="0">
                <a:solidFill>
                  <a:srgbClr val="000000"/>
                </a:solidFill>
              </a:rPr>
              <a:t>loc=</a:t>
            </a:r>
            <a:r>
              <a:rPr lang="en-US" dirty="0">
                <a:solidFill>
                  <a:srgbClr val="A31515"/>
                </a:solidFill>
              </a:rPr>
              <a:t>"center"</a:t>
            </a:r>
            <a:r>
              <a:rPr lang="en-US" dirty="0">
                <a:solidFill>
                  <a:srgbClr val="000000"/>
                </a:solidFill>
              </a:rPr>
              <a:t>,</a:t>
            </a:r>
          </a:p>
          <a:p>
            <a:pPr algn="just">
              <a:spcAft>
                <a:spcPts val="600"/>
              </a:spcAft>
              <a:buNone/>
            </a:pPr>
            <a:r>
              <a:rPr lang="en-US" dirty="0" err="1">
                <a:solidFill>
                  <a:srgbClr val="000000"/>
                </a:solidFill>
              </a:rPr>
              <a:t>cellLoc</a:t>
            </a:r>
            <a:r>
              <a:rPr lang="en-US" dirty="0">
                <a:solidFill>
                  <a:srgbClr val="000000"/>
                </a:solidFill>
              </a:rPr>
              <a:t>=</a:t>
            </a:r>
            <a:r>
              <a:rPr lang="en-US" dirty="0">
                <a:solidFill>
                  <a:srgbClr val="A31515"/>
                </a:solidFill>
              </a:rPr>
              <a:t>"center"</a:t>
            </a:r>
            <a:r>
              <a:rPr lang="en-US" dirty="0">
                <a:solidFill>
                  <a:srgbClr val="000000"/>
                </a:solidFill>
              </a:rPr>
              <a:t>,</a:t>
            </a:r>
          </a:p>
          <a:p>
            <a:pPr algn="just">
              <a:spcAft>
                <a:spcPts val="600"/>
              </a:spcAft>
              <a:buNone/>
            </a:pPr>
            <a:r>
              <a:rPr lang="en-US" dirty="0">
                <a:solidFill>
                  <a:srgbClr val="000000"/>
                </a:solidFill>
              </a:rPr>
              <a:t>)</a:t>
            </a:r>
          </a:p>
          <a:p>
            <a:pPr algn="just">
              <a:spcAft>
                <a:spcPts val="600"/>
              </a:spcAft>
              <a:buNone/>
            </a:pPr>
            <a:r>
              <a:rPr lang="en-US" dirty="0" err="1">
                <a:solidFill>
                  <a:srgbClr val="000000"/>
                </a:solidFill>
              </a:rPr>
              <a:t>table.auto_set_font_size</a:t>
            </a:r>
            <a:r>
              <a:rPr lang="en-US" dirty="0">
                <a:solidFill>
                  <a:srgbClr val="000000"/>
                </a:solidFill>
              </a:rPr>
              <a:t>(</a:t>
            </a:r>
            <a:r>
              <a:rPr lang="en-US" dirty="0">
                <a:solidFill>
                  <a:srgbClr val="0000FF"/>
                </a:solidFill>
              </a:rPr>
              <a:t>False</a:t>
            </a:r>
            <a:r>
              <a:rPr lang="en-US" dirty="0">
                <a:solidFill>
                  <a:srgbClr val="000000"/>
                </a:solidFill>
              </a:rPr>
              <a:t>)</a:t>
            </a:r>
          </a:p>
          <a:p>
            <a:pPr algn="just">
              <a:spcAft>
                <a:spcPts val="600"/>
              </a:spcAft>
              <a:buNone/>
            </a:pPr>
            <a:r>
              <a:rPr lang="en-US" dirty="0" err="1">
                <a:solidFill>
                  <a:srgbClr val="000000"/>
                </a:solidFill>
              </a:rPr>
              <a:t>table.set_fontsize</a:t>
            </a:r>
            <a:r>
              <a:rPr lang="en-US" dirty="0">
                <a:solidFill>
                  <a:srgbClr val="000000"/>
                </a:solidFill>
              </a:rPr>
              <a:t>(</a:t>
            </a:r>
            <a:r>
              <a:rPr lang="en-US" dirty="0">
                <a:solidFill>
                  <a:srgbClr val="116644"/>
                </a:solidFill>
              </a:rPr>
              <a:t>10</a:t>
            </a:r>
            <a:r>
              <a:rPr lang="en-US" dirty="0">
                <a:solidFill>
                  <a:srgbClr val="000000"/>
                </a:solidFill>
              </a:rPr>
              <a:t>)</a:t>
            </a:r>
          </a:p>
          <a:p>
            <a:pPr algn="just">
              <a:spcAft>
                <a:spcPts val="600"/>
              </a:spcAft>
              <a:buNone/>
            </a:pPr>
            <a:r>
              <a:rPr lang="en-US" b="0" dirty="0">
                <a:solidFill>
                  <a:srgbClr val="000000"/>
                </a:solidFill>
                <a:effectLst/>
              </a:rPr>
              <a:t> </a:t>
            </a:r>
          </a:p>
          <a:p>
            <a:pPr algn="just">
              <a:spcAft>
                <a:spcPts val="600"/>
              </a:spcAft>
              <a:buNone/>
            </a:pPr>
            <a:r>
              <a:rPr lang="en-US" b="0" dirty="0">
                <a:solidFill>
                  <a:srgbClr val="008000"/>
                </a:solidFill>
                <a:effectLst/>
              </a:rPr>
              <a:t># Adjust table cell properties for better readability</a:t>
            </a:r>
            <a:endParaRPr lang="en-US" b="0" dirty="0">
              <a:solidFill>
                <a:srgbClr val="000000"/>
              </a:solidFill>
              <a:effectLst/>
            </a:endParaRPr>
          </a:p>
          <a:p>
            <a:pPr algn="just">
              <a:spcAft>
                <a:spcPts val="600"/>
              </a:spcAft>
              <a:buNone/>
            </a:pPr>
            <a:r>
              <a:rPr lang="en-US" b="0" dirty="0">
                <a:solidFill>
                  <a:srgbClr val="9723B4"/>
                </a:solidFill>
                <a:effectLst/>
              </a:rPr>
              <a:t>for</a:t>
            </a:r>
            <a:r>
              <a:rPr lang="en-US" b="0" dirty="0">
                <a:solidFill>
                  <a:srgbClr val="000000"/>
                </a:solidFill>
                <a:effectLst/>
              </a:rPr>
              <a:t> key, cell </a:t>
            </a:r>
            <a:r>
              <a:rPr lang="en-US" b="0" dirty="0">
                <a:solidFill>
                  <a:srgbClr val="0000FF"/>
                </a:solidFill>
                <a:effectLst/>
              </a:rPr>
              <a:t>in</a:t>
            </a:r>
            <a:r>
              <a:rPr lang="en-US" b="0" dirty="0">
                <a:solidFill>
                  <a:srgbClr val="000000"/>
                </a:solidFill>
                <a:effectLst/>
              </a:rPr>
              <a:t> </a:t>
            </a:r>
            <a:r>
              <a:rPr lang="en-US" b="0" dirty="0" err="1">
                <a:solidFill>
                  <a:srgbClr val="000000"/>
                </a:solidFill>
                <a:effectLst/>
              </a:rPr>
              <a:t>table.get_celld</a:t>
            </a:r>
            <a:r>
              <a:rPr lang="en-US" b="0" dirty="0">
                <a:solidFill>
                  <a:srgbClr val="000000"/>
                </a:solidFill>
                <a:effectLst/>
              </a:rPr>
              <a:t>().items():</a:t>
            </a:r>
          </a:p>
          <a:p>
            <a:pPr algn="just">
              <a:spcAft>
                <a:spcPts val="600"/>
              </a:spcAft>
              <a:buNone/>
            </a:pPr>
            <a:r>
              <a:rPr lang="en-US" b="0" dirty="0" err="1">
                <a:solidFill>
                  <a:srgbClr val="000000"/>
                </a:solidFill>
                <a:effectLst/>
              </a:rPr>
              <a:t>cell.set_height</a:t>
            </a:r>
            <a:r>
              <a:rPr lang="en-US" b="0" dirty="0">
                <a:solidFill>
                  <a:srgbClr val="000000"/>
                </a:solidFill>
                <a:effectLst/>
              </a:rPr>
              <a:t>(</a:t>
            </a:r>
            <a:r>
              <a:rPr lang="en-US" b="0" dirty="0">
                <a:solidFill>
                  <a:srgbClr val="116644"/>
                </a:solidFill>
                <a:effectLst/>
              </a:rPr>
              <a:t>0.2</a:t>
            </a:r>
            <a:r>
              <a:rPr lang="en-US" b="0" dirty="0">
                <a:solidFill>
                  <a:srgbClr val="000000"/>
                </a:solidFill>
                <a:effectLst/>
              </a:rPr>
              <a:t>)</a:t>
            </a:r>
          </a:p>
          <a:p>
            <a:pPr algn="just">
              <a:spcAft>
                <a:spcPts val="600"/>
              </a:spcAft>
              <a:buNone/>
            </a:pPr>
            <a:r>
              <a:rPr lang="en-US" b="0" dirty="0" err="1">
                <a:solidFill>
                  <a:srgbClr val="000000"/>
                </a:solidFill>
                <a:effectLst/>
              </a:rPr>
              <a:t>cell.PAD</a:t>
            </a:r>
            <a:r>
              <a:rPr lang="en-US" b="0" dirty="0">
                <a:solidFill>
                  <a:srgbClr val="000000"/>
                </a:solidFill>
                <a:effectLst/>
              </a:rPr>
              <a:t> = </a:t>
            </a:r>
            <a:r>
              <a:rPr lang="en-US" b="0" dirty="0">
                <a:solidFill>
                  <a:srgbClr val="116644"/>
                </a:solidFill>
                <a:effectLst/>
              </a:rPr>
              <a:t>0.15</a:t>
            </a:r>
            <a:endParaRPr lang="en-US" b="0" dirty="0">
              <a:solidFill>
                <a:srgbClr val="000000"/>
              </a:solidFill>
              <a:effectLst/>
            </a:endParaRPr>
          </a:p>
          <a:p>
            <a:pPr algn="just">
              <a:spcAft>
                <a:spcPts val="600"/>
              </a:spcAft>
              <a:buNone/>
            </a:pPr>
            <a:r>
              <a:rPr lang="en-US" b="0" dirty="0" err="1">
                <a:solidFill>
                  <a:srgbClr val="000000"/>
                </a:solidFill>
                <a:effectLst/>
              </a:rPr>
              <a:t>plt.title</a:t>
            </a:r>
            <a:r>
              <a:rPr lang="en-US" b="0" dirty="0">
                <a:solidFill>
                  <a:srgbClr val="000000"/>
                </a:solidFill>
                <a:effectLst/>
              </a:rPr>
              <a:t>(</a:t>
            </a:r>
            <a:r>
              <a:rPr lang="en-US" b="0" dirty="0">
                <a:solidFill>
                  <a:srgbClr val="A31515"/>
                </a:solidFill>
                <a:effectLst/>
              </a:rPr>
              <a:t>"Naive Bayes Model Performance Metrics"</a:t>
            </a:r>
            <a:r>
              <a:rPr lang="en-US" b="0" dirty="0">
                <a:solidFill>
                  <a:srgbClr val="000000"/>
                </a:solidFill>
                <a:effectLst/>
              </a:rPr>
              <a:t>, </a:t>
            </a:r>
            <a:r>
              <a:rPr lang="en-US" b="0" dirty="0" err="1">
                <a:solidFill>
                  <a:srgbClr val="000000"/>
                </a:solidFill>
                <a:effectLst/>
              </a:rPr>
              <a:t>fontsize</a:t>
            </a:r>
            <a:r>
              <a:rPr lang="en-US" b="0" dirty="0">
                <a:solidFill>
                  <a:srgbClr val="000000"/>
                </a:solidFill>
                <a:effectLst/>
              </a:rPr>
              <a:t>=</a:t>
            </a:r>
            <a:r>
              <a:rPr lang="en-US" b="0" dirty="0">
                <a:solidFill>
                  <a:srgbClr val="116644"/>
                </a:solidFill>
                <a:effectLst/>
              </a:rPr>
              <a:t>12</a:t>
            </a:r>
            <a:r>
              <a:rPr lang="en-US" b="0" dirty="0">
                <a:solidFill>
                  <a:srgbClr val="000000"/>
                </a:solidFill>
                <a:effectLst/>
              </a:rPr>
              <a:t>, </a:t>
            </a:r>
            <a:r>
              <a:rPr lang="en-US" b="0" dirty="0" err="1">
                <a:solidFill>
                  <a:srgbClr val="000000"/>
                </a:solidFill>
                <a:effectLst/>
              </a:rPr>
              <a:t>fontweight</a:t>
            </a:r>
            <a:r>
              <a:rPr lang="en-US" b="0" dirty="0">
                <a:solidFill>
                  <a:srgbClr val="000000"/>
                </a:solidFill>
                <a:effectLst/>
              </a:rPr>
              <a:t>=</a:t>
            </a:r>
            <a:r>
              <a:rPr lang="en-US" b="0" dirty="0">
                <a:solidFill>
                  <a:srgbClr val="A31515"/>
                </a:solidFill>
                <a:effectLst/>
              </a:rPr>
              <a:t>"bold"</a:t>
            </a:r>
            <a:r>
              <a:rPr lang="en-US" b="0" dirty="0">
                <a:solidFill>
                  <a:srgbClr val="000000"/>
                </a:solidFill>
                <a:effectLst/>
              </a:rPr>
              <a:t>)</a:t>
            </a:r>
          </a:p>
          <a:p>
            <a:pPr algn="just">
              <a:spcAft>
                <a:spcPts val="600"/>
              </a:spcAft>
              <a:buNone/>
            </a:pPr>
            <a:r>
              <a:rPr lang="en-US" b="0" dirty="0" err="1">
                <a:solidFill>
                  <a:srgbClr val="000000"/>
                </a:solidFill>
                <a:effectLst/>
              </a:rPr>
              <a:t>plt.show</a:t>
            </a:r>
            <a:r>
              <a:rPr lang="en-US" b="0" dirty="0">
                <a:solidFill>
                  <a:srgbClr val="000000"/>
                </a:solidFill>
                <a:effectLst/>
              </a:rPr>
              <a:t>()</a:t>
            </a:r>
          </a:p>
          <a:p>
            <a:pPr algn="just">
              <a:spcAft>
                <a:spcPts val="600"/>
              </a:spcAft>
              <a:buNone/>
            </a:pPr>
            <a:endParaRPr lang="en-US" b="0" dirty="0">
              <a:solidFill>
                <a:srgbClr val="000000"/>
              </a:solidFill>
              <a:effectLst/>
            </a:endParaRPr>
          </a:p>
          <a:p>
            <a:pPr algn="just">
              <a:spcAft>
                <a:spcPts val="600"/>
              </a:spcAft>
              <a:buNone/>
            </a:pPr>
            <a:r>
              <a:rPr lang="en-US" b="0" dirty="0" err="1">
                <a:solidFill>
                  <a:srgbClr val="000000"/>
                </a:solidFill>
                <a:effectLst/>
              </a:rPr>
              <a:t>generate_nb_metrics_table</a:t>
            </a:r>
            <a:r>
              <a:rPr lang="en-US" b="0" dirty="0">
                <a:solidFill>
                  <a:srgbClr val="000000"/>
                </a:solidFill>
                <a:effectLst/>
              </a:rPr>
              <a:t>(</a:t>
            </a:r>
            <a:r>
              <a:rPr lang="en-US" b="0" dirty="0" err="1">
                <a:solidFill>
                  <a:srgbClr val="000000"/>
                </a:solidFill>
                <a:effectLst/>
              </a:rPr>
              <a:t>X_train</a:t>
            </a:r>
            <a:r>
              <a:rPr lang="en-US" b="0" dirty="0">
                <a:solidFill>
                  <a:srgbClr val="000000"/>
                </a:solidFill>
                <a:effectLst/>
              </a:rPr>
              <a:t>, </a:t>
            </a:r>
            <a:r>
              <a:rPr lang="en-US" b="0" dirty="0" err="1">
                <a:solidFill>
                  <a:srgbClr val="000000"/>
                </a:solidFill>
                <a:effectLst/>
              </a:rPr>
              <a:t>y_train</a:t>
            </a:r>
            <a:r>
              <a:rPr lang="en-US" b="0" dirty="0">
                <a:solidFill>
                  <a:srgbClr val="000000"/>
                </a:solidFill>
                <a:effectLst/>
              </a:rPr>
              <a:t>, </a:t>
            </a:r>
            <a:r>
              <a:rPr lang="en-US" b="0" dirty="0" err="1">
                <a:solidFill>
                  <a:srgbClr val="000000"/>
                </a:solidFill>
                <a:effectLst/>
              </a:rPr>
              <a:t>X_val</a:t>
            </a:r>
            <a:r>
              <a:rPr lang="en-US" b="0" dirty="0">
                <a:solidFill>
                  <a:srgbClr val="000000"/>
                </a:solidFill>
                <a:effectLst/>
              </a:rPr>
              <a:t>, </a:t>
            </a:r>
            <a:r>
              <a:rPr lang="en-US" b="0" dirty="0" err="1">
                <a:solidFill>
                  <a:srgbClr val="000000"/>
                </a:solidFill>
                <a:effectLst/>
              </a:rPr>
              <a:t>y_val</a:t>
            </a:r>
            <a:r>
              <a:rPr lang="en-US" b="0" dirty="0">
                <a:solidFill>
                  <a:srgbClr val="000000"/>
                </a:solidFill>
                <a:effectLst/>
              </a:rPr>
              <a:t>)</a:t>
            </a:r>
            <a:endParaRPr lang="en-US" dirty="0"/>
          </a:p>
        </p:txBody>
      </p:sp>
    </p:spTree>
    <p:extLst>
      <p:ext uri="{BB962C8B-B14F-4D97-AF65-F5344CB8AC3E}">
        <p14:creationId xmlns:p14="http://schemas.microsoft.com/office/powerpoint/2010/main" val="357796035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B77C5B-4654-92D1-70FF-50E40EBFE79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A78437-A629-C1A9-29D0-4974360CE29E}"/>
              </a:ext>
            </a:extLst>
          </p:cNvPr>
          <p:cNvSpPr>
            <a:spLocks noGrp="1"/>
          </p:cNvSpPr>
          <p:nvPr>
            <p:ph idx="1"/>
          </p:nvPr>
        </p:nvSpPr>
        <p:spPr/>
        <p:txBody>
          <a:bodyPr>
            <a:normAutofit/>
          </a:bodyPr>
          <a:lstStyle/>
          <a:p>
            <a:pPr marL="0" indent="0">
              <a:buNone/>
            </a:pPr>
            <a:r>
              <a:rPr lang="en-US" sz="5400" dirty="0"/>
              <a:t>         </a:t>
            </a:r>
          </a:p>
          <a:p>
            <a:pPr marL="0" indent="0">
              <a:buNone/>
            </a:pPr>
            <a:endParaRPr lang="en-US" sz="5400" dirty="0"/>
          </a:p>
          <a:p>
            <a:pPr marL="0" indent="0">
              <a:buNone/>
            </a:pPr>
            <a:r>
              <a:rPr lang="en-US" sz="5400" dirty="0"/>
              <a:t>              </a:t>
            </a:r>
          </a:p>
        </p:txBody>
      </p:sp>
      <p:sp>
        <p:nvSpPr>
          <p:cNvPr id="5" name="Slide Number Placeholder 4">
            <a:extLst>
              <a:ext uri="{FF2B5EF4-FFF2-40B4-BE49-F238E27FC236}">
                <a16:creationId xmlns:a16="http://schemas.microsoft.com/office/drawing/2014/main" id="{D0B4757D-7E59-738B-3D6B-AB112EE1D2B9}"/>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86</a:t>
            </a:fld>
            <a:endParaRPr lang="en-US" dirty="0">
              <a:solidFill>
                <a:srgbClr val="000000"/>
              </a:solidFill>
            </a:endParaRPr>
          </a:p>
        </p:txBody>
      </p:sp>
      <p:sp>
        <p:nvSpPr>
          <p:cNvPr id="4" name="TextBox 3">
            <a:extLst>
              <a:ext uri="{FF2B5EF4-FFF2-40B4-BE49-F238E27FC236}">
                <a16:creationId xmlns:a16="http://schemas.microsoft.com/office/drawing/2014/main" id="{ECC5E734-44D9-75FE-A37E-FFB98779A274}"/>
              </a:ext>
            </a:extLst>
          </p:cNvPr>
          <p:cNvSpPr txBox="1"/>
          <p:nvPr/>
        </p:nvSpPr>
        <p:spPr>
          <a:xfrm>
            <a:off x="833698" y="642018"/>
            <a:ext cx="7364151" cy="4616648"/>
          </a:xfrm>
          <a:custGeom>
            <a:avLst/>
            <a:gdLst>
              <a:gd name="connsiteX0" fmla="*/ 0 w 7364151"/>
              <a:gd name="connsiteY0" fmla="*/ 0 h 6663363"/>
              <a:gd name="connsiteX1" fmla="*/ 7364151 w 7364151"/>
              <a:gd name="connsiteY1" fmla="*/ 0 h 6663363"/>
              <a:gd name="connsiteX2" fmla="*/ 7364151 w 7364151"/>
              <a:gd name="connsiteY2" fmla="*/ 6663363 h 6663363"/>
              <a:gd name="connsiteX3" fmla="*/ 0 w 7364151"/>
              <a:gd name="connsiteY3" fmla="*/ 6663363 h 6663363"/>
              <a:gd name="connsiteX4" fmla="*/ 0 w 7364151"/>
              <a:gd name="connsiteY4" fmla="*/ 0 h 6663363"/>
              <a:gd name="connsiteX0" fmla="*/ 0 w 7364151"/>
              <a:gd name="connsiteY0" fmla="*/ 0 h 6663363"/>
              <a:gd name="connsiteX1" fmla="*/ 7364151 w 7364151"/>
              <a:gd name="connsiteY1" fmla="*/ 0 h 6663363"/>
              <a:gd name="connsiteX2" fmla="*/ 7364151 w 7364151"/>
              <a:gd name="connsiteY2" fmla="*/ 6663363 h 6663363"/>
              <a:gd name="connsiteX3" fmla="*/ 36576 w 7364151"/>
              <a:gd name="connsiteY3" fmla="*/ 5675811 h 6663363"/>
              <a:gd name="connsiteX4" fmla="*/ 0 w 7364151"/>
              <a:gd name="connsiteY4" fmla="*/ 0 h 6663363"/>
              <a:gd name="connsiteX0" fmla="*/ 0 w 7364151"/>
              <a:gd name="connsiteY0" fmla="*/ 0 h 5755059"/>
              <a:gd name="connsiteX1" fmla="*/ 7364151 w 7364151"/>
              <a:gd name="connsiteY1" fmla="*/ 0 h 5755059"/>
              <a:gd name="connsiteX2" fmla="*/ 7364151 w 7364151"/>
              <a:gd name="connsiteY2" fmla="*/ 5755059 h 5755059"/>
              <a:gd name="connsiteX3" fmla="*/ 36576 w 7364151"/>
              <a:gd name="connsiteY3" fmla="*/ 5675811 h 5755059"/>
              <a:gd name="connsiteX4" fmla="*/ 0 w 7364151"/>
              <a:gd name="connsiteY4" fmla="*/ 0 h 57550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64151" h="5755059">
                <a:moveTo>
                  <a:pt x="0" y="0"/>
                </a:moveTo>
                <a:lnTo>
                  <a:pt x="7364151" y="0"/>
                </a:lnTo>
                <a:lnTo>
                  <a:pt x="7364151" y="5755059"/>
                </a:lnTo>
                <a:lnTo>
                  <a:pt x="36576" y="5675811"/>
                </a:lnTo>
                <a:lnTo>
                  <a:pt x="0" y="0"/>
                </a:lnTo>
                <a:close/>
              </a:path>
            </a:pathLst>
          </a:custGeom>
          <a:noFill/>
        </p:spPr>
        <p:txBody>
          <a:bodyPr wrap="square">
            <a:spAutoFit/>
          </a:bodyPr>
          <a:lstStyle/>
          <a:p>
            <a:pPr algn="just">
              <a:spcAft>
                <a:spcPts val="600"/>
              </a:spcAft>
              <a:buNone/>
            </a:pPr>
            <a:r>
              <a:rPr lang="en-US" b="0" dirty="0">
                <a:solidFill>
                  <a:srgbClr val="0000FF"/>
                </a:solidFill>
                <a:effectLst/>
              </a:rPr>
              <a:t>def</a:t>
            </a:r>
            <a:r>
              <a:rPr lang="en-US" b="0" dirty="0">
                <a:solidFill>
                  <a:srgbClr val="000000"/>
                </a:solidFill>
                <a:effectLst/>
              </a:rPr>
              <a:t> </a:t>
            </a:r>
            <a:r>
              <a:rPr lang="en-US" b="0" dirty="0" err="1">
                <a:solidFill>
                  <a:srgbClr val="6A5221"/>
                </a:solidFill>
                <a:effectLst/>
              </a:rPr>
              <a:t>compute_metrics_dfs</a:t>
            </a:r>
            <a:r>
              <a:rPr lang="en-US" b="0" dirty="0">
                <a:solidFill>
                  <a:srgbClr val="000000"/>
                </a:solidFill>
                <a:effectLst/>
              </a:rPr>
              <a:t>(</a:t>
            </a:r>
            <a:r>
              <a:rPr lang="en-US" b="0" dirty="0">
                <a:solidFill>
                  <a:srgbClr val="001080"/>
                </a:solidFill>
                <a:effectLst/>
              </a:rPr>
              <a:t>models</a:t>
            </a:r>
            <a:r>
              <a:rPr lang="en-US" b="0" dirty="0">
                <a:solidFill>
                  <a:srgbClr val="000000"/>
                </a:solidFill>
                <a:effectLst/>
              </a:rPr>
              <a:t>, </a:t>
            </a:r>
            <a:r>
              <a:rPr lang="en-US" b="0" dirty="0" err="1">
                <a:solidFill>
                  <a:srgbClr val="001080"/>
                </a:solidFill>
                <a:effectLst/>
              </a:rPr>
              <a:t>X_train</a:t>
            </a:r>
            <a:r>
              <a:rPr lang="en-US" b="0" dirty="0">
                <a:solidFill>
                  <a:srgbClr val="000000"/>
                </a:solidFill>
                <a:effectLst/>
              </a:rPr>
              <a:t>, </a:t>
            </a:r>
            <a:r>
              <a:rPr lang="en-US" b="0" dirty="0" err="1">
                <a:solidFill>
                  <a:srgbClr val="001080"/>
                </a:solidFill>
                <a:effectLst/>
              </a:rPr>
              <a:t>y_train</a:t>
            </a:r>
            <a:r>
              <a:rPr lang="en-US" b="0" dirty="0">
                <a:solidFill>
                  <a:srgbClr val="000000"/>
                </a:solidFill>
                <a:effectLst/>
              </a:rPr>
              <a:t>, </a:t>
            </a:r>
            <a:r>
              <a:rPr lang="en-US" b="0" dirty="0" err="1">
                <a:solidFill>
                  <a:srgbClr val="001080"/>
                </a:solidFill>
                <a:effectLst/>
              </a:rPr>
              <a:t>X_val</a:t>
            </a:r>
            <a:r>
              <a:rPr lang="en-US" b="0" dirty="0">
                <a:solidFill>
                  <a:srgbClr val="000000"/>
                </a:solidFill>
                <a:effectLst/>
              </a:rPr>
              <a:t>, </a:t>
            </a:r>
            <a:r>
              <a:rPr lang="en-US" b="0" dirty="0" err="1">
                <a:solidFill>
                  <a:srgbClr val="001080"/>
                </a:solidFill>
                <a:effectLst/>
              </a:rPr>
              <a:t>y_val</a:t>
            </a:r>
            <a:r>
              <a:rPr lang="en-US" b="0" dirty="0">
                <a:solidFill>
                  <a:srgbClr val="000000"/>
                </a:solidFill>
                <a:effectLst/>
              </a:rPr>
              <a:t>):</a:t>
            </a:r>
          </a:p>
          <a:p>
            <a:pPr algn="just">
              <a:spcAft>
                <a:spcPts val="600"/>
              </a:spcAft>
              <a:buNone/>
            </a:pPr>
            <a:r>
              <a:rPr lang="en-US" b="0" dirty="0">
                <a:solidFill>
                  <a:srgbClr val="008000"/>
                </a:solidFill>
                <a:effectLst/>
              </a:rPr>
              <a:t># Initialize dictionaries to store metrics</a:t>
            </a:r>
            <a:endParaRPr lang="en-US" b="0" dirty="0">
              <a:solidFill>
                <a:srgbClr val="000000"/>
              </a:solidFill>
              <a:effectLst/>
            </a:endParaRPr>
          </a:p>
          <a:p>
            <a:pPr algn="just">
              <a:spcAft>
                <a:spcPts val="600"/>
              </a:spcAft>
              <a:buNone/>
            </a:pPr>
            <a:r>
              <a:rPr lang="en-US" b="0" dirty="0" err="1">
                <a:solidFill>
                  <a:srgbClr val="000000"/>
                </a:solidFill>
                <a:effectLst/>
              </a:rPr>
              <a:t>train_metrics</a:t>
            </a:r>
            <a:r>
              <a:rPr lang="en-US" b="0" dirty="0">
                <a:solidFill>
                  <a:srgbClr val="000000"/>
                </a:solidFill>
                <a:effectLst/>
              </a:rPr>
              <a:t> = {}</a:t>
            </a:r>
          </a:p>
          <a:p>
            <a:pPr algn="just">
              <a:spcAft>
                <a:spcPts val="600"/>
              </a:spcAft>
              <a:buNone/>
            </a:pPr>
            <a:r>
              <a:rPr lang="en-US" b="0" dirty="0" err="1">
                <a:solidFill>
                  <a:srgbClr val="000000"/>
                </a:solidFill>
                <a:effectLst/>
              </a:rPr>
              <a:t>val_metrics</a:t>
            </a:r>
            <a:r>
              <a:rPr lang="en-US" b="0" dirty="0">
                <a:solidFill>
                  <a:srgbClr val="000000"/>
                </a:solidFill>
                <a:effectLst/>
              </a:rPr>
              <a:t> = {}</a:t>
            </a:r>
          </a:p>
          <a:p>
            <a:pPr algn="just">
              <a:spcAft>
                <a:spcPts val="600"/>
              </a:spcAft>
              <a:buNone/>
            </a:pPr>
            <a:r>
              <a:rPr lang="en-US" b="0" dirty="0">
                <a:solidFill>
                  <a:srgbClr val="008000"/>
                </a:solidFill>
                <a:effectLst/>
              </a:rPr>
              <a:t># Define a helper function to compute metrics</a:t>
            </a:r>
            <a:endParaRPr lang="en-US" b="0" dirty="0">
              <a:solidFill>
                <a:srgbClr val="000000"/>
              </a:solidFill>
              <a:effectLst/>
            </a:endParaRPr>
          </a:p>
          <a:p>
            <a:pPr algn="just">
              <a:spcAft>
                <a:spcPts val="600"/>
              </a:spcAft>
              <a:buNone/>
            </a:pPr>
            <a:r>
              <a:rPr lang="en-US" b="0" dirty="0">
                <a:solidFill>
                  <a:srgbClr val="0000FF"/>
                </a:solidFill>
                <a:effectLst/>
              </a:rPr>
              <a:t>def</a:t>
            </a:r>
            <a:r>
              <a:rPr lang="en-US" b="0" dirty="0">
                <a:solidFill>
                  <a:srgbClr val="000000"/>
                </a:solidFill>
                <a:effectLst/>
              </a:rPr>
              <a:t> </a:t>
            </a:r>
            <a:r>
              <a:rPr lang="en-US" b="0" dirty="0" err="1">
                <a:solidFill>
                  <a:srgbClr val="6A5221"/>
                </a:solidFill>
                <a:effectLst/>
              </a:rPr>
              <a:t>calc_metrics</a:t>
            </a:r>
            <a:r>
              <a:rPr lang="en-US" b="0" dirty="0">
                <a:solidFill>
                  <a:srgbClr val="000000"/>
                </a:solidFill>
                <a:effectLst/>
              </a:rPr>
              <a:t>(</a:t>
            </a:r>
            <a:r>
              <a:rPr lang="en-US" b="0" dirty="0" err="1">
                <a:solidFill>
                  <a:srgbClr val="001080"/>
                </a:solidFill>
                <a:effectLst/>
              </a:rPr>
              <a:t>y_true</a:t>
            </a:r>
            <a:r>
              <a:rPr lang="en-US" b="0" dirty="0">
                <a:solidFill>
                  <a:srgbClr val="000000"/>
                </a:solidFill>
                <a:effectLst/>
              </a:rPr>
              <a:t>, </a:t>
            </a:r>
            <a:r>
              <a:rPr lang="en-US" b="0" dirty="0" err="1">
                <a:solidFill>
                  <a:srgbClr val="001080"/>
                </a:solidFill>
                <a:effectLst/>
              </a:rPr>
              <a:t>y_pred</a:t>
            </a:r>
            <a:r>
              <a:rPr lang="en-US" b="0" dirty="0">
                <a:solidFill>
                  <a:srgbClr val="000000"/>
                </a:solidFill>
                <a:effectLst/>
              </a:rPr>
              <a:t>):</a:t>
            </a:r>
          </a:p>
          <a:p>
            <a:pPr algn="just">
              <a:spcAft>
                <a:spcPts val="600"/>
              </a:spcAft>
              <a:buNone/>
            </a:pPr>
            <a:r>
              <a:rPr lang="en-US" b="0" dirty="0">
                <a:solidFill>
                  <a:srgbClr val="000000"/>
                </a:solidFill>
                <a:effectLst/>
              </a:rPr>
              <a:t>acc = </a:t>
            </a:r>
            <a:r>
              <a:rPr lang="en-US" b="0" dirty="0" err="1">
                <a:solidFill>
                  <a:srgbClr val="000000"/>
                </a:solidFill>
                <a:effectLst/>
              </a:rPr>
              <a:t>accuracy_score</a:t>
            </a:r>
            <a:r>
              <a:rPr lang="en-US" b="0" dirty="0">
                <a:solidFill>
                  <a:srgbClr val="000000"/>
                </a:solidFill>
                <a:effectLst/>
              </a:rPr>
              <a:t>(</a:t>
            </a:r>
            <a:r>
              <a:rPr lang="en-US" b="0" dirty="0" err="1">
                <a:solidFill>
                  <a:srgbClr val="000000"/>
                </a:solidFill>
                <a:effectLst/>
              </a:rPr>
              <a:t>y_true</a:t>
            </a:r>
            <a:r>
              <a:rPr lang="en-US" b="0" dirty="0">
                <a:solidFill>
                  <a:srgbClr val="000000"/>
                </a:solidFill>
                <a:effectLst/>
              </a:rPr>
              <a:t>, </a:t>
            </a:r>
            <a:r>
              <a:rPr lang="en-US" b="0" dirty="0" err="1">
                <a:solidFill>
                  <a:srgbClr val="000000"/>
                </a:solidFill>
                <a:effectLst/>
              </a:rPr>
              <a:t>y_pred</a:t>
            </a:r>
            <a:r>
              <a:rPr lang="en-US" b="0" dirty="0">
                <a:solidFill>
                  <a:srgbClr val="000000"/>
                </a:solidFill>
                <a:effectLst/>
              </a:rPr>
              <a:t>)</a:t>
            </a:r>
          </a:p>
          <a:p>
            <a:pPr algn="just">
              <a:spcAft>
                <a:spcPts val="600"/>
              </a:spcAft>
              <a:buNone/>
            </a:pPr>
            <a:r>
              <a:rPr lang="en-US" b="0" dirty="0">
                <a:solidFill>
                  <a:srgbClr val="000000"/>
                </a:solidFill>
                <a:effectLst/>
              </a:rPr>
              <a:t>cm = </a:t>
            </a:r>
            <a:r>
              <a:rPr lang="en-US" b="0" dirty="0" err="1">
                <a:solidFill>
                  <a:srgbClr val="000000"/>
                </a:solidFill>
                <a:effectLst/>
              </a:rPr>
              <a:t>confusion_matrix</a:t>
            </a:r>
            <a:r>
              <a:rPr lang="en-US" b="0" dirty="0">
                <a:solidFill>
                  <a:srgbClr val="000000"/>
                </a:solidFill>
                <a:effectLst/>
              </a:rPr>
              <a:t>(</a:t>
            </a:r>
            <a:r>
              <a:rPr lang="en-US" b="0" dirty="0" err="1">
                <a:solidFill>
                  <a:srgbClr val="000000"/>
                </a:solidFill>
                <a:effectLst/>
              </a:rPr>
              <a:t>y_true</a:t>
            </a:r>
            <a:r>
              <a:rPr lang="en-US" b="0" dirty="0">
                <a:solidFill>
                  <a:srgbClr val="000000"/>
                </a:solidFill>
                <a:effectLst/>
              </a:rPr>
              <a:t>, </a:t>
            </a:r>
            <a:r>
              <a:rPr lang="en-US" b="0" dirty="0" err="1">
                <a:solidFill>
                  <a:srgbClr val="000000"/>
                </a:solidFill>
                <a:effectLst/>
              </a:rPr>
              <a:t>y_pred</a:t>
            </a:r>
            <a:r>
              <a:rPr lang="en-US" b="0" dirty="0">
                <a:solidFill>
                  <a:srgbClr val="000000"/>
                </a:solidFill>
                <a:effectLst/>
              </a:rPr>
              <a:t>)</a:t>
            </a:r>
          </a:p>
          <a:p>
            <a:pPr algn="just">
              <a:spcAft>
                <a:spcPts val="600"/>
              </a:spcAft>
              <a:buNone/>
            </a:pPr>
            <a:r>
              <a:rPr lang="en-US" b="0" dirty="0">
                <a:solidFill>
                  <a:srgbClr val="9723B4"/>
                </a:solidFill>
                <a:effectLst/>
              </a:rPr>
              <a:t>if</a:t>
            </a:r>
            <a:r>
              <a:rPr lang="en-US" b="0" dirty="0">
                <a:solidFill>
                  <a:srgbClr val="000000"/>
                </a:solidFill>
                <a:effectLst/>
              </a:rPr>
              <a:t> </a:t>
            </a:r>
            <a:r>
              <a:rPr lang="en-US" b="0" dirty="0" err="1">
                <a:solidFill>
                  <a:srgbClr val="000000"/>
                </a:solidFill>
                <a:effectLst/>
              </a:rPr>
              <a:t>cm.shape</a:t>
            </a:r>
            <a:r>
              <a:rPr lang="en-US" b="0" dirty="0">
                <a:solidFill>
                  <a:srgbClr val="000000"/>
                </a:solidFill>
                <a:effectLst/>
              </a:rPr>
              <a:t> == (</a:t>
            </a:r>
            <a:r>
              <a:rPr lang="en-US" b="0" dirty="0">
                <a:solidFill>
                  <a:srgbClr val="116644"/>
                </a:solidFill>
                <a:effectLst/>
              </a:rPr>
              <a:t>2</a:t>
            </a:r>
            <a:r>
              <a:rPr lang="en-US" b="0" dirty="0">
                <a:solidFill>
                  <a:srgbClr val="000000"/>
                </a:solidFill>
                <a:effectLst/>
              </a:rPr>
              <a:t>, </a:t>
            </a:r>
            <a:r>
              <a:rPr lang="en-US" b="0" dirty="0">
                <a:solidFill>
                  <a:srgbClr val="116644"/>
                </a:solidFill>
                <a:effectLst/>
              </a:rPr>
              <a:t>2</a:t>
            </a:r>
            <a:r>
              <a:rPr lang="en-US" b="0" dirty="0">
                <a:solidFill>
                  <a:srgbClr val="000000"/>
                </a:solidFill>
                <a:effectLst/>
              </a:rPr>
              <a:t>):  </a:t>
            </a:r>
            <a:r>
              <a:rPr lang="en-US" b="0" dirty="0">
                <a:solidFill>
                  <a:srgbClr val="008000"/>
                </a:solidFill>
                <a:effectLst/>
              </a:rPr>
              <a:t># Ensure binary classification format</a:t>
            </a:r>
            <a:endParaRPr lang="en-US" b="0" dirty="0">
              <a:solidFill>
                <a:srgbClr val="000000"/>
              </a:solidFill>
              <a:effectLst/>
            </a:endParaRPr>
          </a:p>
          <a:p>
            <a:pPr algn="just">
              <a:spcAft>
                <a:spcPts val="600"/>
              </a:spcAft>
              <a:buNone/>
            </a:pPr>
            <a:r>
              <a:rPr lang="en-US" b="0" dirty="0" err="1">
                <a:solidFill>
                  <a:srgbClr val="000000"/>
                </a:solidFill>
                <a:effectLst/>
              </a:rPr>
              <a:t>tn</a:t>
            </a:r>
            <a:r>
              <a:rPr lang="en-US" b="0" dirty="0">
                <a:solidFill>
                  <a:srgbClr val="000000"/>
                </a:solidFill>
                <a:effectLst/>
              </a:rPr>
              <a:t>, </a:t>
            </a:r>
            <a:r>
              <a:rPr lang="en-US" b="0" dirty="0" err="1">
                <a:solidFill>
                  <a:srgbClr val="000000"/>
                </a:solidFill>
                <a:effectLst/>
              </a:rPr>
              <a:t>fp</a:t>
            </a:r>
            <a:r>
              <a:rPr lang="en-US" b="0" dirty="0">
                <a:solidFill>
                  <a:srgbClr val="000000"/>
                </a:solidFill>
                <a:effectLst/>
              </a:rPr>
              <a:t>, </a:t>
            </a:r>
            <a:r>
              <a:rPr lang="en-US" b="0" dirty="0" err="1">
                <a:solidFill>
                  <a:srgbClr val="000000"/>
                </a:solidFill>
                <a:effectLst/>
              </a:rPr>
              <a:t>fn</a:t>
            </a:r>
            <a:r>
              <a:rPr lang="en-US" b="0" dirty="0">
                <a:solidFill>
                  <a:srgbClr val="000000"/>
                </a:solidFill>
                <a:effectLst/>
              </a:rPr>
              <a:t>, </a:t>
            </a:r>
            <a:r>
              <a:rPr lang="en-US" b="0" dirty="0" err="1">
                <a:solidFill>
                  <a:srgbClr val="000000"/>
                </a:solidFill>
                <a:effectLst/>
              </a:rPr>
              <a:t>tp</a:t>
            </a:r>
            <a:r>
              <a:rPr lang="en-US" b="0" dirty="0">
                <a:solidFill>
                  <a:srgbClr val="000000"/>
                </a:solidFill>
                <a:effectLst/>
              </a:rPr>
              <a:t> = </a:t>
            </a:r>
            <a:r>
              <a:rPr lang="en-US" b="0" dirty="0" err="1">
                <a:solidFill>
                  <a:srgbClr val="000000"/>
                </a:solidFill>
                <a:effectLst/>
              </a:rPr>
              <a:t>cm.ravel</a:t>
            </a:r>
            <a:r>
              <a:rPr lang="en-US" b="0" dirty="0">
                <a:solidFill>
                  <a:srgbClr val="000000"/>
                </a:solidFill>
                <a:effectLst/>
              </a:rPr>
              <a:t>()</a:t>
            </a:r>
          </a:p>
          <a:p>
            <a:pPr algn="just">
              <a:spcAft>
                <a:spcPts val="600"/>
              </a:spcAft>
              <a:buNone/>
            </a:pPr>
            <a:r>
              <a:rPr lang="en-US" b="0" dirty="0">
                <a:solidFill>
                  <a:srgbClr val="000000"/>
                </a:solidFill>
                <a:effectLst/>
              </a:rPr>
              <a:t>sensitivity = </a:t>
            </a:r>
            <a:r>
              <a:rPr lang="en-US" b="0" dirty="0" err="1">
                <a:solidFill>
                  <a:srgbClr val="000000"/>
                </a:solidFill>
                <a:effectLst/>
              </a:rPr>
              <a:t>tp</a:t>
            </a:r>
            <a:r>
              <a:rPr lang="en-US" b="0" dirty="0">
                <a:solidFill>
                  <a:srgbClr val="000000"/>
                </a:solidFill>
                <a:effectLst/>
              </a:rPr>
              <a:t> / (</a:t>
            </a:r>
            <a:r>
              <a:rPr lang="en-US" b="0" dirty="0" err="1">
                <a:solidFill>
                  <a:srgbClr val="000000"/>
                </a:solidFill>
                <a:effectLst/>
              </a:rPr>
              <a:t>tp</a:t>
            </a:r>
            <a:r>
              <a:rPr lang="en-US" b="0" dirty="0">
                <a:solidFill>
                  <a:srgbClr val="000000"/>
                </a:solidFill>
                <a:effectLst/>
              </a:rPr>
              <a:t> + </a:t>
            </a:r>
            <a:r>
              <a:rPr lang="en-US" b="0" dirty="0" err="1">
                <a:solidFill>
                  <a:srgbClr val="000000"/>
                </a:solidFill>
                <a:effectLst/>
              </a:rPr>
              <a:t>fn</a:t>
            </a:r>
            <a:r>
              <a:rPr lang="en-US" b="0" dirty="0">
                <a:solidFill>
                  <a:srgbClr val="000000"/>
                </a:solidFill>
                <a:effectLst/>
              </a:rPr>
              <a:t>) </a:t>
            </a:r>
            <a:r>
              <a:rPr lang="en-US" b="0" dirty="0">
                <a:solidFill>
                  <a:srgbClr val="9723B4"/>
                </a:solidFill>
                <a:effectLst/>
              </a:rPr>
              <a:t>if</a:t>
            </a:r>
            <a:r>
              <a:rPr lang="en-US" b="0" dirty="0">
                <a:solidFill>
                  <a:srgbClr val="000000"/>
                </a:solidFill>
                <a:effectLst/>
              </a:rPr>
              <a:t> (</a:t>
            </a:r>
            <a:r>
              <a:rPr lang="en-US" b="0" dirty="0" err="1">
                <a:solidFill>
                  <a:srgbClr val="000000"/>
                </a:solidFill>
                <a:effectLst/>
              </a:rPr>
              <a:t>tp</a:t>
            </a:r>
            <a:r>
              <a:rPr lang="en-US" b="0" dirty="0">
                <a:solidFill>
                  <a:srgbClr val="000000"/>
                </a:solidFill>
                <a:effectLst/>
              </a:rPr>
              <a:t> + </a:t>
            </a:r>
            <a:r>
              <a:rPr lang="en-US" b="0" dirty="0" err="1">
                <a:solidFill>
                  <a:srgbClr val="000000"/>
                </a:solidFill>
                <a:effectLst/>
              </a:rPr>
              <a:t>fn</a:t>
            </a:r>
            <a:r>
              <a:rPr lang="en-US" b="0" dirty="0">
                <a:solidFill>
                  <a:srgbClr val="000000"/>
                </a:solidFill>
                <a:effectLst/>
              </a:rPr>
              <a:t>) &gt; </a:t>
            </a:r>
            <a:r>
              <a:rPr lang="en-US" b="0" dirty="0">
                <a:solidFill>
                  <a:srgbClr val="116644"/>
                </a:solidFill>
                <a:effectLst/>
              </a:rPr>
              <a:t>0</a:t>
            </a:r>
            <a:r>
              <a:rPr lang="en-US" b="0" dirty="0">
                <a:solidFill>
                  <a:srgbClr val="000000"/>
                </a:solidFill>
                <a:effectLst/>
              </a:rPr>
              <a:t> </a:t>
            </a:r>
            <a:r>
              <a:rPr lang="en-US" b="0" dirty="0">
                <a:solidFill>
                  <a:srgbClr val="9723B4"/>
                </a:solidFill>
                <a:effectLst/>
              </a:rPr>
              <a:t>else</a:t>
            </a:r>
            <a:r>
              <a:rPr lang="en-US" b="0" dirty="0">
                <a:solidFill>
                  <a:srgbClr val="000000"/>
                </a:solidFill>
                <a:effectLst/>
              </a:rPr>
              <a:t> </a:t>
            </a:r>
            <a:r>
              <a:rPr lang="en-US" b="0" dirty="0">
                <a:solidFill>
                  <a:srgbClr val="116644"/>
                </a:solidFill>
                <a:effectLst/>
              </a:rPr>
              <a:t>0</a:t>
            </a:r>
            <a:endParaRPr lang="en-US" b="0" dirty="0">
              <a:solidFill>
                <a:srgbClr val="000000"/>
              </a:solidFill>
              <a:effectLst/>
            </a:endParaRPr>
          </a:p>
          <a:p>
            <a:pPr algn="just">
              <a:spcAft>
                <a:spcPts val="600"/>
              </a:spcAft>
              <a:buNone/>
            </a:pPr>
            <a:r>
              <a:rPr lang="en-US" b="0" dirty="0">
                <a:solidFill>
                  <a:srgbClr val="000000"/>
                </a:solidFill>
                <a:effectLst/>
              </a:rPr>
              <a:t>specificity = </a:t>
            </a:r>
            <a:r>
              <a:rPr lang="en-US" b="0" dirty="0" err="1">
                <a:solidFill>
                  <a:srgbClr val="000000"/>
                </a:solidFill>
                <a:effectLst/>
              </a:rPr>
              <a:t>tn</a:t>
            </a:r>
            <a:r>
              <a:rPr lang="en-US" b="0" dirty="0">
                <a:solidFill>
                  <a:srgbClr val="000000"/>
                </a:solidFill>
                <a:effectLst/>
              </a:rPr>
              <a:t> / (</a:t>
            </a:r>
            <a:r>
              <a:rPr lang="en-US" b="0" dirty="0" err="1">
                <a:solidFill>
                  <a:srgbClr val="000000"/>
                </a:solidFill>
                <a:effectLst/>
              </a:rPr>
              <a:t>tn</a:t>
            </a:r>
            <a:r>
              <a:rPr lang="en-US" b="0" dirty="0">
                <a:solidFill>
                  <a:srgbClr val="000000"/>
                </a:solidFill>
                <a:effectLst/>
              </a:rPr>
              <a:t> + </a:t>
            </a:r>
            <a:r>
              <a:rPr lang="en-US" b="0" dirty="0" err="1">
                <a:solidFill>
                  <a:srgbClr val="000000"/>
                </a:solidFill>
                <a:effectLst/>
              </a:rPr>
              <a:t>fp</a:t>
            </a:r>
            <a:r>
              <a:rPr lang="en-US" b="0" dirty="0">
                <a:solidFill>
                  <a:srgbClr val="000000"/>
                </a:solidFill>
                <a:effectLst/>
              </a:rPr>
              <a:t>) </a:t>
            </a:r>
            <a:r>
              <a:rPr lang="en-US" b="0" dirty="0">
                <a:solidFill>
                  <a:srgbClr val="9723B4"/>
                </a:solidFill>
                <a:effectLst/>
              </a:rPr>
              <a:t>if</a:t>
            </a:r>
            <a:r>
              <a:rPr lang="en-US" b="0" dirty="0">
                <a:solidFill>
                  <a:srgbClr val="000000"/>
                </a:solidFill>
                <a:effectLst/>
              </a:rPr>
              <a:t> (</a:t>
            </a:r>
            <a:r>
              <a:rPr lang="en-US" b="0" dirty="0" err="1">
                <a:solidFill>
                  <a:srgbClr val="000000"/>
                </a:solidFill>
                <a:effectLst/>
              </a:rPr>
              <a:t>tn</a:t>
            </a:r>
            <a:r>
              <a:rPr lang="en-US" b="0" dirty="0">
                <a:solidFill>
                  <a:srgbClr val="000000"/>
                </a:solidFill>
                <a:effectLst/>
              </a:rPr>
              <a:t> + </a:t>
            </a:r>
            <a:r>
              <a:rPr lang="en-US" b="0" dirty="0" err="1">
                <a:solidFill>
                  <a:srgbClr val="000000"/>
                </a:solidFill>
                <a:effectLst/>
              </a:rPr>
              <a:t>fp</a:t>
            </a:r>
            <a:r>
              <a:rPr lang="en-US" b="0" dirty="0">
                <a:solidFill>
                  <a:srgbClr val="000000"/>
                </a:solidFill>
                <a:effectLst/>
              </a:rPr>
              <a:t>) &gt; </a:t>
            </a:r>
            <a:r>
              <a:rPr lang="en-US" b="0" dirty="0">
                <a:solidFill>
                  <a:srgbClr val="116644"/>
                </a:solidFill>
                <a:effectLst/>
              </a:rPr>
              <a:t>0</a:t>
            </a:r>
            <a:r>
              <a:rPr lang="en-US" b="0" dirty="0">
                <a:solidFill>
                  <a:srgbClr val="000000"/>
                </a:solidFill>
                <a:effectLst/>
              </a:rPr>
              <a:t> </a:t>
            </a:r>
            <a:r>
              <a:rPr lang="en-US" b="0" dirty="0">
                <a:solidFill>
                  <a:srgbClr val="9723B4"/>
                </a:solidFill>
                <a:effectLst/>
              </a:rPr>
              <a:t>else</a:t>
            </a:r>
            <a:r>
              <a:rPr lang="en-US" b="0" dirty="0">
                <a:solidFill>
                  <a:srgbClr val="000000"/>
                </a:solidFill>
                <a:effectLst/>
              </a:rPr>
              <a:t> </a:t>
            </a:r>
            <a:r>
              <a:rPr lang="en-US" b="0" dirty="0">
                <a:solidFill>
                  <a:srgbClr val="116644"/>
                </a:solidFill>
                <a:effectLst/>
              </a:rPr>
              <a:t>0</a:t>
            </a:r>
            <a:endParaRPr lang="en-US" b="0" dirty="0">
              <a:solidFill>
                <a:srgbClr val="000000"/>
              </a:solidFill>
              <a:effectLst/>
            </a:endParaRPr>
          </a:p>
          <a:p>
            <a:pPr algn="just">
              <a:spcAft>
                <a:spcPts val="600"/>
              </a:spcAft>
              <a:buNone/>
            </a:pPr>
            <a:r>
              <a:rPr lang="en-US" b="0" dirty="0">
                <a:solidFill>
                  <a:srgbClr val="000000"/>
                </a:solidFill>
                <a:effectLst/>
              </a:rPr>
              <a:t>precision = </a:t>
            </a:r>
            <a:r>
              <a:rPr lang="en-US" b="0" dirty="0" err="1">
                <a:solidFill>
                  <a:srgbClr val="000000"/>
                </a:solidFill>
                <a:effectLst/>
              </a:rPr>
              <a:t>tp</a:t>
            </a:r>
            <a:r>
              <a:rPr lang="en-US" b="0" dirty="0">
                <a:solidFill>
                  <a:srgbClr val="000000"/>
                </a:solidFill>
                <a:effectLst/>
              </a:rPr>
              <a:t> / (</a:t>
            </a:r>
            <a:r>
              <a:rPr lang="en-US" b="0" dirty="0" err="1">
                <a:solidFill>
                  <a:srgbClr val="000000"/>
                </a:solidFill>
                <a:effectLst/>
              </a:rPr>
              <a:t>tp</a:t>
            </a:r>
            <a:r>
              <a:rPr lang="en-US" b="0" dirty="0">
                <a:solidFill>
                  <a:srgbClr val="000000"/>
                </a:solidFill>
                <a:effectLst/>
              </a:rPr>
              <a:t> + </a:t>
            </a:r>
            <a:r>
              <a:rPr lang="en-US" b="0" dirty="0" err="1">
                <a:solidFill>
                  <a:srgbClr val="000000"/>
                </a:solidFill>
                <a:effectLst/>
              </a:rPr>
              <a:t>fp</a:t>
            </a:r>
            <a:r>
              <a:rPr lang="en-US" b="0" dirty="0">
                <a:solidFill>
                  <a:srgbClr val="000000"/>
                </a:solidFill>
                <a:effectLst/>
              </a:rPr>
              <a:t>) </a:t>
            </a:r>
            <a:r>
              <a:rPr lang="en-US" b="0" dirty="0">
                <a:solidFill>
                  <a:srgbClr val="9723B4"/>
                </a:solidFill>
                <a:effectLst/>
              </a:rPr>
              <a:t>if</a:t>
            </a:r>
            <a:r>
              <a:rPr lang="en-US" b="0" dirty="0">
                <a:solidFill>
                  <a:srgbClr val="000000"/>
                </a:solidFill>
                <a:effectLst/>
              </a:rPr>
              <a:t> (</a:t>
            </a:r>
            <a:r>
              <a:rPr lang="en-US" b="0" dirty="0" err="1">
                <a:solidFill>
                  <a:srgbClr val="000000"/>
                </a:solidFill>
                <a:effectLst/>
              </a:rPr>
              <a:t>tp</a:t>
            </a:r>
            <a:r>
              <a:rPr lang="en-US" b="0" dirty="0">
                <a:solidFill>
                  <a:srgbClr val="000000"/>
                </a:solidFill>
                <a:effectLst/>
              </a:rPr>
              <a:t> + </a:t>
            </a:r>
            <a:r>
              <a:rPr lang="en-US" b="0" dirty="0" err="1">
                <a:solidFill>
                  <a:srgbClr val="000000"/>
                </a:solidFill>
                <a:effectLst/>
              </a:rPr>
              <a:t>fp</a:t>
            </a:r>
            <a:r>
              <a:rPr lang="en-US" b="0" dirty="0">
                <a:solidFill>
                  <a:srgbClr val="000000"/>
                </a:solidFill>
                <a:effectLst/>
              </a:rPr>
              <a:t>) &gt; </a:t>
            </a:r>
            <a:r>
              <a:rPr lang="en-US" b="0" dirty="0">
                <a:solidFill>
                  <a:srgbClr val="116644"/>
                </a:solidFill>
                <a:effectLst/>
              </a:rPr>
              <a:t>0</a:t>
            </a:r>
            <a:r>
              <a:rPr lang="en-US" b="0" dirty="0">
                <a:solidFill>
                  <a:srgbClr val="000000"/>
                </a:solidFill>
                <a:effectLst/>
              </a:rPr>
              <a:t> </a:t>
            </a:r>
            <a:r>
              <a:rPr lang="en-US" b="0" dirty="0">
                <a:solidFill>
                  <a:srgbClr val="9723B4"/>
                </a:solidFill>
                <a:effectLst/>
              </a:rPr>
              <a:t>else</a:t>
            </a:r>
            <a:r>
              <a:rPr lang="en-US" b="0" dirty="0">
                <a:solidFill>
                  <a:srgbClr val="000000"/>
                </a:solidFill>
                <a:effectLst/>
              </a:rPr>
              <a:t> </a:t>
            </a:r>
            <a:r>
              <a:rPr lang="en-US" b="0" dirty="0">
                <a:solidFill>
                  <a:srgbClr val="116644"/>
                </a:solidFill>
                <a:effectLst/>
              </a:rPr>
              <a:t>0</a:t>
            </a:r>
            <a:endParaRPr lang="en-US" b="0" dirty="0">
              <a:solidFill>
                <a:srgbClr val="000000"/>
              </a:solidFill>
              <a:effectLst/>
            </a:endParaRPr>
          </a:p>
        </p:txBody>
      </p:sp>
    </p:spTree>
    <p:extLst>
      <p:ext uri="{BB962C8B-B14F-4D97-AF65-F5344CB8AC3E}">
        <p14:creationId xmlns:p14="http://schemas.microsoft.com/office/powerpoint/2010/main" val="367307922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EF53E-3C9D-F6B0-4CAA-384F301207A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FC02E0-9D96-CA32-CAAD-17B82D50252C}"/>
              </a:ext>
            </a:extLst>
          </p:cNvPr>
          <p:cNvSpPr>
            <a:spLocks noGrp="1"/>
          </p:cNvSpPr>
          <p:nvPr>
            <p:ph idx="1"/>
          </p:nvPr>
        </p:nvSpPr>
        <p:spPr/>
        <p:txBody>
          <a:bodyPr>
            <a:normAutofit/>
          </a:bodyPr>
          <a:lstStyle/>
          <a:p>
            <a:pPr marL="0" indent="0">
              <a:buNone/>
            </a:pPr>
            <a:r>
              <a:rPr lang="en-US" sz="5400" dirty="0"/>
              <a:t>         </a:t>
            </a:r>
          </a:p>
          <a:p>
            <a:pPr marL="0" indent="0">
              <a:buNone/>
            </a:pPr>
            <a:endParaRPr lang="en-US" sz="5400" dirty="0"/>
          </a:p>
          <a:p>
            <a:pPr marL="0" indent="0">
              <a:buNone/>
            </a:pPr>
            <a:r>
              <a:rPr lang="en-US" sz="5400" dirty="0"/>
              <a:t>              </a:t>
            </a:r>
          </a:p>
        </p:txBody>
      </p:sp>
      <p:sp>
        <p:nvSpPr>
          <p:cNvPr id="5" name="Slide Number Placeholder 4">
            <a:extLst>
              <a:ext uri="{FF2B5EF4-FFF2-40B4-BE49-F238E27FC236}">
                <a16:creationId xmlns:a16="http://schemas.microsoft.com/office/drawing/2014/main" id="{53DA12CD-6D90-59B9-3311-7E838C2A235E}"/>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87</a:t>
            </a:fld>
            <a:endParaRPr lang="en-US" dirty="0">
              <a:solidFill>
                <a:srgbClr val="000000"/>
              </a:solidFill>
            </a:endParaRPr>
          </a:p>
        </p:txBody>
      </p:sp>
      <p:sp>
        <p:nvSpPr>
          <p:cNvPr id="4" name="TextBox 3">
            <a:extLst>
              <a:ext uri="{FF2B5EF4-FFF2-40B4-BE49-F238E27FC236}">
                <a16:creationId xmlns:a16="http://schemas.microsoft.com/office/drawing/2014/main" id="{98C92C48-ABA2-3F27-0192-BE52DE1A8B1F}"/>
              </a:ext>
            </a:extLst>
          </p:cNvPr>
          <p:cNvSpPr txBox="1"/>
          <p:nvPr/>
        </p:nvSpPr>
        <p:spPr>
          <a:xfrm>
            <a:off x="860222" y="575742"/>
            <a:ext cx="7300970" cy="5479465"/>
          </a:xfrm>
          <a:custGeom>
            <a:avLst/>
            <a:gdLst>
              <a:gd name="connsiteX0" fmla="*/ 0 w 7251186"/>
              <a:gd name="connsiteY0" fmla="*/ 0 h 6232475"/>
              <a:gd name="connsiteX1" fmla="*/ 7251186 w 7251186"/>
              <a:gd name="connsiteY1" fmla="*/ 0 h 6232475"/>
              <a:gd name="connsiteX2" fmla="*/ 7251186 w 7251186"/>
              <a:gd name="connsiteY2" fmla="*/ 6232475 h 6232475"/>
              <a:gd name="connsiteX3" fmla="*/ 0 w 7251186"/>
              <a:gd name="connsiteY3" fmla="*/ 6232475 h 6232475"/>
              <a:gd name="connsiteX4" fmla="*/ 0 w 7251186"/>
              <a:gd name="connsiteY4" fmla="*/ 0 h 6232475"/>
              <a:gd name="connsiteX0" fmla="*/ 0 w 7275570"/>
              <a:gd name="connsiteY0" fmla="*/ 0 h 6232475"/>
              <a:gd name="connsiteX1" fmla="*/ 7251186 w 7275570"/>
              <a:gd name="connsiteY1" fmla="*/ 0 h 6232475"/>
              <a:gd name="connsiteX2" fmla="*/ 7275570 w 7275570"/>
              <a:gd name="connsiteY2" fmla="*/ 5452187 h 6232475"/>
              <a:gd name="connsiteX3" fmla="*/ 0 w 7275570"/>
              <a:gd name="connsiteY3" fmla="*/ 6232475 h 6232475"/>
              <a:gd name="connsiteX4" fmla="*/ 0 w 7275570"/>
              <a:gd name="connsiteY4" fmla="*/ 0 h 6232475"/>
              <a:gd name="connsiteX0" fmla="*/ 0 w 7275570"/>
              <a:gd name="connsiteY0" fmla="*/ 0 h 5452187"/>
              <a:gd name="connsiteX1" fmla="*/ 7251186 w 7275570"/>
              <a:gd name="connsiteY1" fmla="*/ 0 h 5452187"/>
              <a:gd name="connsiteX2" fmla="*/ 7275570 w 7275570"/>
              <a:gd name="connsiteY2" fmla="*/ 5452187 h 5452187"/>
              <a:gd name="connsiteX3" fmla="*/ 18288 w 7275570"/>
              <a:gd name="connsiteY3" fmla="*/ 5415611 h 5452187"/>
              <a:gd name="connsiteX4" fmla="*/ 0 w 7275570"/>
              <a:gd name="connsiteY4" fmla="*/ 0 h 5452187"/>
              <a:gd name="connsiteX0" fmla="*/ 0 w 7275570"/>
              <a:gd name="connsiteY0" fmla="*/ 0 h 5452187"/>
              <a:gd name="connsiteX1" fmla="*/ 7251186 w 7275570"/>
              <a:gd name="connsiteY1" fmla="*/ 0 h 5452187"/>
              <a:gd name="connsiteX2" fmla="*/ 7275570 w 7275570"/>
              <a:gd name="connsiteY2" fmla="*/ 5452187 h 5452187"/>
              <a:gd name="connsiteX3" fmla="*/ 18288 w 7275570"/>
              <a:gd name="connsiteY3" fmla="*/ 4793452 h 5452187"/>
              <a:gd name="connsiteX4" fmla="*/ 0 w 7275570"/>
              <a:gd name="connsiteY4" fmla="*/ 0 h 5452187"/>
              <a:gd name="connsiteX0" fmla="*/ 0 w 7300970"/>
              <a:gd name="connsiteY0" fmla="*/ 0 h 4793452"/>
              <a:gd name="connsiteX1" fmla="*/ 7251186 w 7300970"/>
              <a:gd name="connsiteY1" fmla="*/ 0 h 4793452"/>
              <a:gd name="connsiteX2" fmla="*/ 7300970 w 7300970"/>
              <a:gd name="connsiteY2" fmla="*/ 4735592 h 4793452"/>
              <a:gd name="connsiteX3" fmla="*/ 18288 w 7300970"/>
              <a:gd name="connsiteY3" fmla="*/ 4793452 h 4793452"/>
              <a:gd name="connsiteX4" fmla="*/ 0 w 7300970"/>
              <a:gd name="connsiteY4" fmla="*/ 0 h 47934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00970" h="4793452">
                <a:moveTo>
                  <a:pt x="0" y="0"/>
                </a:moveTo>
                <a:lnTo>
                  <a:pt x="7251186" y="0"/>
                </a:lnTo>
                <a:lnTo>
                  <a:pt x="7300970" y="4735592"/>
                </a:lnTo>
                <a:lnTo>
                  <a:pt x="18288" y="4793452"/>
                </a:lnTo>
                <a:lnTo>
                  <a:pt x="0" y="0"/>
                </a:lnTo>
                <a:close/>
              </a:path>
            </a:pathLst>
          </a:custGeom>
          <a:noFill/>
        </p:spPr>
        <p:txBody>
          <a:bodyPr wrap="square">
            <a:spAutoFit/>
          </a:bodyPr>
          <a:lstStyle/>
          <a:p>
            <a:pPr algn="just">
              <a:spcAft>
                <a:spcPts val="600"/>
              </a:spcAft>
              <a:buNone/>
            </a:pPr>
            <a:r>
              <a:rPr lang="en-US" dirty="0">
                <a:solidFill>
                  <a:srgbClr val="9723B4"/>
                </a:solidFill>
              </a:rPr>
              <a:t>else</a:t>
            </a:r>
            <a:r>
              <a:rPr lang="en-US" dirty="0">
                <a:solidFill>
                  <a:srgbClr val="000000"/>
                </a:solidFill>
              </a:rPr>
              <a:t>:</a:t>
            </a:r>
          </a:p>
          <a:p>
            <a:pPr algn="just">
              <a:spcAft>
                <a:spcPts val="600"/>
              </a:spcAft>
              <a:buNone/>
            </a:pPr>
            <a:r>
              <a:rPr lang="en-US" dirty="0">
                <a:solidFill>
                  <a:srgbClr val="000000"/>
                </a:solidFill>
              </a:rPr>
              <a:t>sensitivity = specificity = precision = </a:t>
            </a:r>
            <a:r>
              <a:rPr lang="en-US" dirty="0">
                <a:solidFill>
                  <a:srgbClr val="116644"/>
                </a:solidFill>
              </a:rPr>
              <a:t>0</a:t>
            </a:r>
            <a:endParaRPr lang="en-US" dirty="0">
              <a:solidFill>
                <a:srgbClr val="000000"/>
              </a:solidFill>
            </a:endParaRPr>
          </a:p>
          <a:p>
            <a:pPr algn="just">
              <a:spcAft>
                <a:spcPts val="600"/>
              </a:spcAft>
              <a:buNone/>
            </a:pPr>
            <a:r>
              <a:rPr lang="en-US" dirty="0">
                <a:solidFill>
                  <a:srgbClr val="9723B4"/>
                </a:solidFill>
              </a:rPr>
              <a:t>return</a:t>
            </a:r>
            <a:r>
              <a:rPr lang="en-US" dirty="0">
                <a:solidFill>
                  <a:srgbClr val="000000"/>
                </a:solidFill>
              </a:rPr>
              <a:t> [acc, sensitivity, precision, specificity]</a:t>
            </a:r>
            <a:endParaRPr lang="en-US" b="0" dirty="0">
              <a:solidFill>
                <a:srgbClr val="008000"/>
              </a:solidFill>
              <a:effectLst/>
            </a:endParaRPr>
          </a:p>
          <a:p>
            <a:pPr algn="just">
              <a:spcAft>
                <a:spcPts val="600"/>
              </a:spcAft>
              <a:buNone/>
            </a:pPr>
            <a:r>
              <a:rPr lang="en-US" b="0" dirty="0">
                <a:solidFill>
                  <a:srgbClr val="008000"/>
                </a:solidFill>
                <a:effectLst/>
              </a:rPr>
              <a:t># Loop through each model and compute metrics</a:t>
            </a:r>
            <a:endParaRPr lang="en-US" b="0" dirty="0">
              <a:solidFill>
                <a:srgbClr val="000000"/>
              </a:solidFill>
              <a:effectLst/>
            </a:endParaRPr>
          </a:p>
          <a:p>
            <a:pPr algn="just">
              <a:spcAft>
                <a:spcPts val="600"/>
              </a:spcAft>
              <a:buNone/>
            </a:pPr>
            <a:r>
              <a:rPr lang="en-US" b="0" dirty="0">
                <a:solidFill>
                  <a:srgbClr val="9723B4"/>
                </a:solidFill>
                <a:effectLst/>
              </a:rPr>
              <a:t>for</a:t>
            </a:r>
            <a:r>
              <a:rPr lang="en-US" b="0" dirty="0">
                <a:solidFill>
                  <a:srgbClr val="000000"/>
                </a:solidFill>
                <a:effectLst/>
              </a:rPr>
              <a:t> </a:t>
            </a:r>
            <a:r>
              <a:rPr lang="en-US" b="0" dirty="0" err="1">
                <a:solidFill>
                  <a:srgbClr val="000000"/>
                </a:solidFill>
                <a:effectLst/>
              </a:rPr>
              <a:t>model_name</a:t>
            </a:r>
            <a:r>
              <a:rPr lang="en-US" b="0" dirty="0">
                <a:solidFill>
                  <a:srgbClr val="000000"/>
                </a:solidFill>
                <a:effectLst/>
              </a:rPr>
              <a:t>, model </a:t>
            </a:r>
            <a:r>
              <a:rPr lang="en-US" b="0" dirty="0">
                <a:solidFill>
                  <a:srgbClr val="0000FF"/>
                </a:solidFill>
                <a:effectLst/>
              </a:rPr>
              <a:t>in</a:t>
            </a:r>
            <a:r>
              <a:rPr lang="en-US" b="0" dirty="0">
                <a:solidFill>
                  <a:srgbClr val="000000"/>
                </a:solidFill>
                <a:effectLst/>
              </a:rPr>
              <a:t> </a:t>
            </a:r>
            <a:r>
              <a:rPr lang="en-US" b="0" dirty="0" err="1">
                <a:solidFill>
                  <a:srgbClr val="000000"/>
                </a:solidFill>
                <a:effectLst/>
              </a:rPr>
              <a:t>models.items</a:t>
            </a:r>
            <a:r>
              <a:rPr lang="en-US" b="0" dirty="0">
                <a:solidFill>
                  <a:srgbClr val="000000"/>
                </a:solidFill>
                <a:effectLst/>
              </a:rPr>
              <a:t>():</a:t>
            </a:r>
          </a:p>
          <a:p>
            <a:pPr algn="just">
              <a:spcAft>
                <a:spcPts val="600"/>
              </a:spcAft>
              <a:buNone/>
            </a:pPr>
            <a:r>
              <a:rPr lang="en-US" b="0" dirty="0">
                <a:solidFill>
                  <a:srgbClr val="008000"/>
                </a:solidFill>
                <a:effectLst/>
              </a:rPr>
              <a:t># Training Metrics</a:t>
            </a:r>
            <a:endParaRPr lang="en-US" b="0" dirty="0">
              <a:solidFill>
                <a:srgbClr val="000000"/>
              </a:solidFill>
              <a:effectLst/>
            </a:endParaRPr>
          </a:p>
          <a:p>
            <a:pPr algn="just">
              <a:spcAft>
                <a:spcPts val="600"/>
              </a:spcAft>
              <a:buNone/>
            </a:pPr>
            <a:r>
              <a:rPr lang="en-US" b="0" dirty="0" err="1">
                <a:solidFill>
                  <a:srgbClr val="000000"/>
                </a:solidFill>
                <a:effectLst/>
              </a:rPr>
              <a:t>y_train_pred</a:t>
            </a:r>
            <a:r>
              <a:rPr lang="en-US" b="0" dirty="0">
                <a:solidFill>
                  <a:srgbClr val="000000"/>
                </a:solidFill>
                <a:effectLst/>
              </a:rPr>
              <a:t> = </a:t>
            </a:r>
            <a:r>
              <a:rPr lang="en-US" b="0" dirty="0" err="1">
                <a:solidFill>
                  <a:srgbClr val="000000"/>
                </a:solidFill>
                <a:effectLst/>
              </a:rPr>
              <a:t>model.predict</a:t>
            </a:r>
            <a:r>
              <a:rPr lang="en-US" b="0" dirty="0">
                <a:solidFill>
                  <a:srgbClr val="000000"/>
                </a:solidFill>
                <a:effectLst/>
              </a:rPr>
              <a:t>(</a:t>
            </a:r>
            <a:r>
              <a:rPr lang="en-US" b="0" dirty="0" err="1">
                <a:solidFill>
                  <a:srgbClr val="000000"/>
                </a:solidFill>
                <a:effectLst/>
              </a:rPr>
              <a:t>X_train</a:t>
            </a:r>
            <a:r>
              <a:rPr lang="en-US" b="0" dirty="0">
                <a:solidFill>
                  <a:srgbClr val="000000"/>
                </a:solidFill>
                <a:effectLst/>
              </a:rPr>
              <a:t>)</a:t>
            </a:r>
          </a:p>
          <a:p>
            <a:pPr algn="just">
              <a:spcAft>
                <a:spcPts val="600"/>
              </a:spcAft>
              <a:buNone/>
            </a:pPr>
            <a:r>
              <a:rPr lang="en-US" b="0" dirty="0" err="1">
                <a:solidFill>
                  <a:srgbClr val="000000"/>
                </a:solidFill>
                <a:effectLst/>
              </a:rPr>
              <a:t>train_metrics</a:t>
            </a:r>
            <a:r>
              <a:rPr lang="en-US" b="0" dirty="0">
                <a:solidFill>
                  <a:srgbClr val="000000"/>
                </a:solidFill>
                <a:effectLst/>
              </a:rPr>
              <a:t>[</a:t>
            </a:r>
            <a:r>
              <a:rPr lang="en-US" b="0" dirty="0" err="1">
                <a:solidFill>
                  <a:srgbClr val="000000"/>
                </a:solidFill>
                <a:effectLst/>
              </a:rPr>
              <a:t>model_name</a:t>
            </a:r>
            <a:r>
              <a:rPr lang="en-US" b="0" dirty="0">
                <a:solidFill>
                  <a:srgbClr val="000000"/>
                </a:solidFill>
                <a:effectLst/>
              </a:rPr>
              <a:t>] = </a:t>
            </a:r>
            <a:r>
              <a:rPr lang="en-US" b="0" dirty="0" err="1">
                <a:solidFill>
                  <a:srgbClr val="000000"/>
                </a:solidFill>
                <a:effectLst/>
              </a:rPr>
              <a:t>calc_metrics</a:t>
            </a:r>
            <a:r>
              <a:rPr lang="en-US" b="0" dirty="0">
                <a:solidFill>
                  <a:srgbClr val="000000"/>
                </a:solidFill>
                <a:effectLst/>
              </a:rPr>
              <a:t>(</a:t>
            </a:r>
            <a:r>
              <a:rPr lang="en-US" b="0" dirty="0" err="1">
                <a:solidFill>
                  <a:srgbClr val="000000"/>
                </a:solidFill>
                <a:effectLst/>
              </a:rPr>
              <a:t>y_train</a:t>
            </a:r>
            <a:r>
              <a:rPr lang="en-US" b="0" dirty="0">
                <a:solidFill>
                  <a:srgbClr val="000000"/>
                </a:solidFill>
                <a:effectLst/>
              </a:rPr>
              <a:t>, </a:t>
            </a:r>
            <a:r>
              <a:rPr lang="en-US" b="0" dirty="0" err="1">
                <a:solidFill>
                  <a:srgbClr val="000000"/>
                </a:solidFill>
                <a:effectLst/>
              </a:rPr>
              <a:t>y_train_pred</a:t>
            </a:r>
            <a:r>
              <a:rPr lang="en-US" b="0" dirty="0">
                <a:solidFill>
                  <a:srgbClr val="000000"/>
                </a:solidFill>
                <a:effectLst/>
              </a:rPr>
              <a:t>)     </a:t>
            </a:r>
          </a:p>
          <a:p>
            <a:pPr algn="just">
              <a:spcAft>
                <a:spcPts val="600"/>
              </a:spcAft>
              <a:buNone/>
            </a:pPr>
            <a:r>
              <a:rPr lang="en-US" b="0" dirty="0">
                <a:solidFill>
                  <a:srgbClr val="008000"/>
                </a:solidFill>
                <a:effectLst/>
              </a:rPr>
              <a:t># Validation Metrics</a:t>
            </a:r>
            <a:endParaRPr lang="en-US" b="0" dirty="0">
              <a:solidFill>
                <a:srgbClr val="000000"/>
              </a:solidFill>
              <a:effectLst/>
            </a:endParaRPr>
          </a:p>
          <a:p>
            <a:pPr algn="just">
              <a:spcAft>
                <a:spcPts val="600"/>
              </a:spcAft>
              <a:buNone/>
            </a:pPr>
            <a:r>
              <a:rPr lang="en-US" b="0" dirty="0" err="1">
                <a:solidFill>
                  <a:srgbClr val="000000"/>
                </a:solidFill>
                <a:effectLst/>
              </a:rPr>
              <a:t>y_val_pred</a:t>
            </a:r>
            <a:r>
              <a:rPr lang="en-US" b="0" dirty="0">
                <a:solidFill>
                  <a:srgbClr val="000000"/>
                </a:solidFill>
                <a:effectLst/>
              </a:rPr>
              <a:t> = </a:t>
            </a:r>
            <a:r>
              <a:rPr lang="en-US" b="0" dirty="0" err="1">
                <a:solidFill>
                  <a:srgbClr val="000000"/>
                </a:solidFill>
                <a:effectLst/>
              </a:rPr>
              <a:t>model.predict</a:t>
            </a:r>
            <a:r>
              <a:rPr lang="en-US" b="0" dirty="0">
                <a:solidFill>
                  <a:srgbClr val="000000"/>
                </a:solidFill>
                <a:effectLst/>
              </a:rPr>
              <a:t>(</a:t>
            </a:r>
            <a:r>
              <a:rPr lang="en-US" b="0" dirty="0" err="1">
                <a:solidFill>
                  <a:srgbClr val="000000"/>
                </a:solidFill>
                <a:effectLst/>
              </a:rPr>
              <a:t>X_val</a:t>
            </a:r>
            <a:r>
              <a:rPr lang="en-US" b="0" dirty="0">
                <a:solidFill>
                  <a:srgbClr val="000000"/>
                </a:solidFill>
                <a:effectLst/>
              </a:rPr>
              <a:t>)</a:t>
            </a:r>
          </a:p>
          <a:p>
            <a:pPr algn="just">
              <a:spcAft>
                <a:spcPts val="600"/>
              </a:spcAft>
              <a:buNone/>
            </a:pPr>
            <a:r>
              <a:rPr lang="en-US" b="0" dirty="0" err="1">
                <a:solidFill>
                  <a:srgbClr val="000000"/>
                </a:solidFill>
                <a:effectLst/>
              </a:rPr>
              <a:t>val_metrics</a:t>
            </a:r>
            <a:r>
              <a:rPr lang="en-US" b="0" dirty="0">
                <a:solidFill>
                  <a:srgbClr val="000000"/>
                </a:solidFill>
                <a:effectLst/>
              </a:rPr>
              <a:t>[</a:t>
            </a:r>
            <a:r>
              <a:rPr lang="en-US" b="0" dirty="0" err="1">
                <a:solidFill>
                  <a:srgbClr val="000000"/>
                </a:solidFill>
                <a:effectLst/>
              </a:rPr>
              <a:t>model_name</a:t>
            </a:r>
            <a:r>
              <a:rPr lang="en-US" b="0" dirty="0">
                <a:solidFill>
                  <a:srgbClr val="000000"/>
                </a:solidFill>
                <a:effectLst/>
              </a:rPr>
              <a:t>] = </a:t>
            </a:r>
            <a:r>
              <a:rPr lang="en-US" b="0" dirty="0" err="1">
                <a:solidFill>
                  <a:srgbClr val="000000"/>
                </a:solidFill>
                <a:effectLst/>
              </a:rPr>
              <a:t>calc_metrics</a:t>
            </a:r>
            <a:r>
              <a:rPr lang="en-US" b="0" dirty="0">
                <a:solidFill>
                  <a:srgbClr val="000000"/>
                </a:solidFill>
                <a:effectLst/>
              </a:rPr>
              <a:t>(</a:t>
            </a:r>
            <a:r>
              <a:rPr lang="en-US" b="0" dirty="0" err="1">
                <a:solidFill>
                  <a:srgbClr val="000000"/>
                </a:solidFill>
                <a:effectLst/>
              </a:rPr>
              <a:t>y_val</a:t>
            </a:r>
            <a:r>
              <a:rPr lang="en-US" b="0" dirty="0">
                <a:solidFill>
                  <a:srgbClr val="000000"/>
                </a:solidFill>
                <a:effectLst/>
              </a:rPr>
              <a:t>, </a:t>
            </a:r>
            <a:r>
              <a:rPr lang="en-US" b="0" dirty="0" err="1">
                <a:solidFill>
                  <a:srgbClr val="000000"/>
                </a:solidFill>
                <a:effectLst/>
              </a:rPr>
              <a:t>y_val_pred</a:t>
            </a:r>
            <a:r>
              <a:rPr lang="en-US" b="0" dirty="0">
                <a:solidFill>
                  <a:srgbClr val="000000"/>
                </a:solidFill>
                <a:effectLst/>
              </a:rPr>
              <a:t>)</a:t>
            </a:r>
          </a:p>
          <a:p>
            <a:pPr algn="just">
              <a:spcAft>
                <a:spcPts val="600"/>
              </a:spcAft>
              <a:buNone/>
            </a:pPr>
            <a:r>
              <a:rPr lang="en-US" b="0" dirty="0">
                <a:solidFill>
                  <a:srgbClr val="008000"/>
                </a:solidFill>
                <a:effectLst/>
              </a:rPr>
              <a:t># Create </a:t>
            </a:r>
            <a:r>
              <a:rPr lang="en-US" b="0" dirty="0" err="1">
                <a:solidFill>
                  <a:srgbClr val="008000"/>
                </a:solidFill>
                <a:effectLst/>
              </a:rPr>
              <a:t>DataFrames</a:t>
            </a:r>
            <a:endParaRPr lang="en-US" b="0" dirty="0">
              <a:solidFill>
                <a:srgbClr val="000000"/>
              </a:solidFill>
              <a:effectLst/>
            </a:endParaRPr>
          </a:p>
          <a:p>
            <a:pPr algn="just">
              <a:spcAft>
                <a:spcPts val="600"/>
              </a:spcAft>
              <a:buNone/>
            </a:pPr>
            <a:r>
              <a:rPr lang="en-US" b="0" dirty="0" err="1">
                <a:solidFill>
                  <a:srgbClr val="000000"/>
                </a:solidFill>
                <a:effectLst/>
              </a:rPr>
              <a:t>metrics_index</a:t>
            </a:r>
            <a:r>
              <a:rPr lang="en-US" b="0" dirty="0">
                <a:solidFill>
                  <a:srgbClr val="000000"/>
                </a:solidFill>
                <a:effectLst/>
              </a:rPr>
              <a:t> = [</a:t>
            </a:r>
            <a:r>
              <a:rPr lang="en-US" b="0" dirty="0">
                <a:solidFill>
                  <a:srgbClr val="A31515"/>
                </a:solidFill>
                <a:effectLst/>
              </a:rPr>
              <a:t>"Accuracy"</a:t>
            </a:r>
            <a:r>
              <a:rPr lang="en-US" b="0" dirty="0">
                <a:solidFill>
                  <a:srgbClr val="000000"/>
                </a:solidFill>
                <a:effectLst/>
              </a:rPr>
              <a:t>, </a:t>
            </a:r>
            <a:r>
              <a:rPr lang="en-US" b="0" dirty="0">
                <a:solidFill>
                  <a:srgbClr val="A31515"/>
                </a:solidFill>
                <a:effectLst/>
              </a:rPr>
              <a:t>"Sensitivity"</a:t>
            </a:r>
            <a:r>
              <a:rPr lang="en-US" b="0" dirty="0">
                <a:solidFill>
                  <a:srgbClr val="000000"/>
                </a:solidFill>
                <a:effectLst/>
              </a:rPr>
              <a:t>, </a:t>
            </a:r>
            <a:r>
              <a:rPr lang="en-US" b="0" dirty="0">
                <a:solidFill>
                  <a:srgbClr val="A31515"/>
                </a:solidFill>
                <a:effectLst/>
              </a:rPr>
              <a:t>"Precision"</a:t>
            </a:r>
            <a:r>
              <a:rPr lang="en-US" b="0" dirty="0">
                <a:solidFill>
                  <a:srgbClr val="000000"/>
                </a:solidFill>
                <a:effectLst/>
              </a:rPr>
              <a:t>, </a:t>
            </a:r>
            <a:r>
              <a:rPr lang="en-US" b="0" dirty="0">
                <a:solidFill>
                  <a:srgbClr val="A31515"/>
                </a:solidFill>
                <a:effectLst/>
              </a:rPr>
              <a:t>"Specificity"</a:t>
            </a:r>
            <a:r>
              <a:rPr lang="en-US" b="0" dirty="0">
                <a:solidFill>
                  <a:srgbClr val="000000"/>
                </a:solidFill>
                <a:effectLst/>
              </a:rPr>
              <a:t>]</a:t>
            </a:r>
          </a:p>
          <a:p>
            <a:pPr algn="just">
              <a:spcAft>
                <a:spcPts val="600"/>
              </a:spcAft>
              <a:buNone/>
            </a:pPr>
            <a:r>
              <a:rPr lang="en-US" b="0" dirty="0" err="1">
                <a:solidFill>
                  <a:srgbClr val="000000"/>
                </a:solidFill>
                <a:effectLst/>
              </a:rPr>
              <a:t>train_df</a:t>
            </a:r>
            <a:r>
              <a:rPr lang="en-US" b="0" dirty="0">
                <a:solidFill>
                  <a:srgbClr val="000000"/>
                </a:solidFill>
                <a:effectLst/>
              </a:rPr>
              <a:t> = </a:t>
            </a:r>
            <a:r>
              <a:rPr lang="en-US" b="0" dirty="0" err="1">
                <a:solidFill>
                  <a:srgbClr val="000000"/>
                </a:solidFill>
                <a:effectLst/>
              </a:rPr>
              <a:t>pd.DataFrame</a:t>
            </a:r>
            <a:r>
              <a:rPr lang="en-US" b="0" dirty="0">
                <a:solidFill>
                  <a:srgbClr val="000000"/>
                </a:solidFill>
                <a:effectLst/>
              </a:rPr>
              <a:t>(</a:t>
            </a:r>
            <a:r>
              <a:rPr lang="en-US" b="0" dirty="0" err="1">
                <a:solidFill>
                  <a:srgbClr val="000000"/>
                </a:solidFill>
                <a:effectLst/>
              </a:rPr>
              <a:t>train_metrics</a:t>
            </a:r>
            <a:r>
              <a:rPr lang="en-US" b="0" dirty="0">
                <a:solidFill>
                  <a:srgbClr val="000000"/>
                </a:solidFill>
                <a:effectLst/>
              </a:rPr>
              <a:t>, index=</a:t>
            </a:r>
            <a:r>
              <a:rPr lang="en-US" b="0" dirty="0" err="1">
                <a:solidFill>
                  <a:srgbClr val="000000"/>
                </a:solidFill>
                <a:effectLst/>
              </a:rPr>
              <a:t>metrics_index</a:t>
            </a:r>
            <a:r>
              <a:rPr lang="en-US" b="0" dirty="0">
                <a:solidFill>
                  <a:srgbClr val="000000"/>
                </a:solidFill>
                <a:effectLst/>
              </a:rPr>
              <a:t>)</a:t>
            </a:r>
          </a:p>
          <a:p>
            <a:pPr algn="just">
              <a:spcAft>
                <a:spcPts val="600"/>
              </a:spcAft>
              <a:buNone/>
            </a:pPr>
            <a:r>
              <a:rPr lang="en-US" b="0" dirty="0" err="1">
                <a:solidFill>
                  <a:srgbClr val="000000"/>
                </a:solidFill>
                <a:effectLst/>
              </a:rPr>
              <a:t>val_df</a:t>
            </a:r>
            <a:r>
              <a:rPr lang="en-US" b="0" dirty="0">
                <a:solidFill>
                  <a:srgbClr val="000000"/>
                </a:solidFill>
                <a:effectLst/>
              </a:rPr>
              <a:t> = </a:t>
            </a:r>
            <a:r>
              <a:rPr lang="en-US" b="0" dirty="0" err="1">
                <a:solidFill>
                  <a:srgbClr val="000000"/>
                </a:solidFill>
                <a:effectLst/>
              </a:rPr>
              <a:t>pd.DataFrame</a:t>
            </a:r>
            <a:r>
              <a:rPr lang="en-US" b="0" dirty="0">
                <a:solidFill>
                  <a:srgbClr val="000000"/>
                </a:solidFill>
                <a:effectLst/>
              </a:rPr>
              <a:t>(</a:t>
            </a:r>
            <a:r>
              <a:rPr lang="en-US" b="0" dirty="0" err="1">
                <a:solidFill>
                  <a:srgbClr val="000000"/>
                </a:solidFill>
                <a:effectLst/>
              </a:rPr>
              <a:t>val_metrics</a:t>
            </a:r>
            <a:r>
              <a:rPr lang="en-US" b="0" dirty="0">
                <a:solidFill>
                  <a:srgbClr val="000000"/>
                </a:solidFill>
                <a:effectLst/>
              </a:rPr>
              <a:t>, index=</a:t>
            </a:r>
            <a:r>
              <a:rPr lang="en-US" b="0" dirty="0" err="1">
                <a:solidFill>
                  <a:srgbClr val="000000"/>
                </a:solidFill>
                <a:effectLst/>
              </a:rPr>
              <a:t>metrics_index</a:t>
            </a:r>
            <a:r>
              <a:rPr lang="en-US" b="0" dirty="0">
                <a:solidFill>
                  <a:srgbClr val="000000"/>
                </a:solidFill>
                <a:effectLst/>
              </a:rPr>
              <a:t>)</a:t>
            </a:r>
          </a:p>
          <a:p>
            <a:pPr algn="just">
              <a:spcAft>
                <a:spcPts val="600"/>
              </a:spcAft>
              <a:buNone/>
            </a:pPr>
            <a:br>
              <a:rPr lang="en-US" b="0" dirty="0">
                <a:solidFill>
                  <a:srgbClr val="000000"/>
                </a:solidFill>
                <a:effectLst/>
              </a:rPr>
            </a:br>
            <a:br>
              <a:rPr lang="en-US" b="0" dirty="0">
                <a:solidFill>
                  <a:srgbClr val="000000"/>
                </a:solidFill>
                <a:effectLst/>
              </a:rPr>
            </a:br>
            <a:endParaRPr lang="en-US" b="0" dirty="0">
              <a:solidFill>
                <a:srgbClr val="000000"/>
              </a:solidFill>
              <a:effectLst/>
            </a:endParaRPr>
          </a:p>
        </p:txBody>
      </p:sp>
    </p:spTree>
    <p:extLst>
      <p:ext uri="{BB962C8B-B14F-4D97-AF65-F5344CB8AC3E}">
        <p14:creationId xmlns:p14="http://schemas.microsoft.com/office/powerpoint/2010/main" val="288688734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5694C-3AE0-3C1B-B664-E68236E2516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E0D0DA-C8F3-1F92-D0D2-A6D352274933}"/>
              </a:ext>
            </a:extLst>
          </p:cNvPr>
          <p:cNvSpPr>
            <a:spLocks noGrp="1"/>
          </p:cNvSpPr>
          <p:nvPr>
            <p:ph idx="1"/>
          </p:nvPr>
        </p:nvSpPr>
        <p:spPr>
          <a:xfrm>
            <a:off x="628650" y="1079158"/>
            <a:ext cx="7630133" cy="4825958"/>
          </a:xfrm>
        </p:spPr>
        <p:txBody>
          <a:bodyPr>
            <a:normAutofit/>
          </a:bodyPr>
          <a:lstStyle/>
          <a:p>
            <a:pPr marL="0" indent="0">
              <a:buNone/>
            </a:pPr>
            <a:r>
              <a:rPr lang="en-US" sz="5400" dirty="0"/>
              <a:t>         </a:t>
            </a:r>
          </a:p>
          <a:p>
            <a:pPr marL="0" indent="0">
              <a:buNone/>
            </a:pPr>
            <a:endParaRPr lang="en-US" sz="5400" dirty="0"/>
          </a:p>
          <a:p>
            <a:pPr marL="0" indent="0">
              <a:buNone/>
            </a:pPr>
            <a:r>
              <a:rPr lang="en-US" sz="5400" dirty="0"/>
              <a:t>              </a:t>
            </a:r>
          </a:p>
        </p:txBody>
      </p:sp>
      <p:sp>
        <p:nvSpPr>
          <p:cNvPr id="5" name="Slide Number Placeholder 4">
            <a:extLst>
              <a:ext uri="{FF2B5EF4-FFF2-40B4-BE49-F238E27FC236}">
                <a16:creationId xmlns:a16="http://schemas.microsoft.com/office/drawing/2014/main" id="{3C4F3573-875D-108F-0F9A-992832AA6DCE}"/>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88</a:t>
            </a:fld>
            <a:endParaRPr lang="en-US" dirty="0">
              <a:solidFill>
                <a:srgbClr val="000000"/>
              </a:solidFill>
            </a:endParaRPr>
          </a:p>
        </p:txBody>
      </p:sp>
      <p:sp>
        <p:nvSpPr>
          <p:cNvPr id="4" name="TextBox 3">
            <a:extLst>
              <a:ext uri="{FF2B5EF4-FFF2-40B4-BE49-F238E27FC236}">
                <a16:creationId xmlns:a16="http://schemas.microsoft.com/office/drawing/2014/main" id="{B46EF17F-25CB-689C-2D52-8F98E4C501D5}"/>
              </a:ext>
            </a:extLst>
          </p:cNvPr>
          <p:cNvSpPr txBox="1"/>
          <p:nvPr/>
        </p:nvSpPr>
        <p:spPr>
          <a:xfrm>
            <a:off x="820962" y="560984"/>
            <a:ext cx="7387021" cy="5637123"/>
          </a:xfrm>
          <a:custGeom>
            <a:avLst/>
            <a:gdLst>
              <a:gd name="connsiteX0" fmla="*/ 0 w 7314885"/>
              <a:gd name="connsiteY0" fmla="*/ 0 h 6432530"/>
              <a:gd name="connsiteX1" fmla="*/ 7314885 w 7314885"/>
              <a:gd name="connsiteY1" fmla="*/ 0 h 6432530"/>
              <a:gd name="connsiteX2" fmla="*/ 7314885 w 7314885"/>
              <a:gd name="connsiteY2" fmla="*/ 6432530 h 6432530"/>
              <a:gd name="connsiteX3" fmla="*/ 0 w 7314885"/>
              <a:gd name="connsiteY3" fmla="*/ 6432530 h 6432530"/>
              <a:gd name="connsiteX4" fmla="*/ 0 w 7314885"/>
              <a:gd name="connsiteY4" fmla="*/ 0 h 6432530"/>
              <a:gd name="connsiteX0" fmla="*/ 0 w 7314885"/>
              <a:gd name="connsiteY0" fmla="*/ 0 h 6432530"/>
              <a:gd name="connsiteX1" fmla="*/ 7314885 w 7314885"/>
              <a:gd name="connsiteY1" fmla="*/ 0 h 6432530"/>
              <a:gd name="connsiteX2" fmla="*/ 7314885 w 7314885"/>
              <a:gd name="connsiteY2" fmla="*/ 6432530 h 6432530"/>
              <a:gd name="connsiteX3" fmla="*/ 0 w 7314885"/>
              <a:gd name="connsiteY3" fmla="*/ 5420594 h 6432530"/>
              <a:gd name="connsiteX4" fmla="*/ 0 w 7314885"/>
              <a:gd name="connsiteY4" fmla="*/ 0 h 6432530"/>
              <a:gd name="connsiteX0" fmla="*/ 0 w 7412421"/>
              <a:gd name="connsiteY0" fmla="*/ 0 h 5432786"/>
              <a:gd name="connsiteX1" fmla="*/ 7314885 w 7412421"/>
              <a:gd name="connsiteY1" fmla="*/ 0 h 5432786"/>
              <a:gd name="connsiteX2" fmla="*/ 7412421 w 7412421"/>
              <a:gd name="connsiteY2" fmla="*/ 5432786 h 5432786"/>
              <a:gd name="connsiteX3" fmla="*/ 0 w 7412421"/>
              <a:gd name="connsiteY3" fmla="*/ 5420594 h 5432786"/>
              <a:gd name="connsiteX4" fmla="*/ 0 w 7412421"/>
              <a:gd name="connsiteY4" fmla="*/ 0 h 5432786"/>
              <a:gd name="connsiteX0" fmla="*/ 0 w 7412421"/>
              <a:gd name="connsiteY0" fmla="*/ 0 h 5432786"/>
              <a:gd name="connsiteX1" fmla="*/ 7314885 w 7412421"/>
              <a:gd name="connsiteY1" fmla="*/ 0 h 5432786"/>
              <a:gd name="connsiteX2" fmla="*/ 7412421 w 7412421"/>
              <a:gd name="connsiteY2" fmla="*/ 5432786 h 5432786"/>
              <a:gd name="connsiteX3" fmla="*/ 0 w 7412421"/>
              <a:gd name="connsiteY3" fmla="*/ 4434419 h 5432786"/>
              <a:gd name="connsiteX4" fmla="*/ 0 w 7412421"/>
              <a:gd name="connsiteY4" fmla="*/ 0 h 5432786"/>
              <a:gd name="connsiteX0" fmla="*/ 0 w 7387021"/>
              <a:gd name="connsiteY0" fmla="*/ 0 h 4512695"/>
              <a:gd name="connsiteX1" fmla="*/ 7314885 w 7387021"/>
              <a:gd name="connsiteY1" fmla="*/ 0 h 4512695"/>
              <a:gd name="connsiteX2" fmla="*/ 7387021 w 7387021"/>
              <a:gd name="connsiteY2" fmla="*/ 4512695 h 4512695"/>
              <a:gd name="connsiteX3" fmla="*/ 0 w 7387021"/>
              <a:gd name="connsiteY3" fmla="*/ 4434419 h 4512695"/>
              <a:gd name="connsiteX4" fmla="*/ 0 w 7387021"/>
              <a:gd name="connsiteY4" fmla="*/ 0 h 45126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87021" h="4512695">
                <a:moveTo>
                  <a:pt x="0" y="0"/>
                </a:moveTo>
                <a:lnTo>
                  <a:pt x="7314885" y="0"/>
                </a:lnTo>
                <a:lnTo>
                  <a:pt x="7387021" y="4512695"/>
                </a:lnTo>
                <a:lnTo>
                  <a:pt x="0" y="4434419"/>
                </a:lnTo>
                <a:lnTo>
                  <a:pt x="0" y="0"/>
                </a:lnTo>
                <a:close/>
              </a:path>
            </a:pathLst>
          </a:custGeom>
          <a:noFill/>
        </p:spPr>
        <p:txBody>
          <a:bodyPr wrap="square">
            <a:spAutoFit/>
          </a:bodyPr>
          <a:lstStyle/>
          <a:p>
            <a:pPr algn="just">
              <a:spcAft>
                <a:spcPts val="600"/>
              </a:spcAft>
            </a:pPr>
            <a:r>
              <a:rPr lang="en-US" dirty="0">
                <a:solidFill>
                  <a:srgbClr val="9723B4"/>
                </a:solidFill>
              </a:rPr>
              <a:t>return</a:t>
            </a:r>
            <a:r>
              <a:rPr lang="en-US" dirty="0">
                <a:solidFill>
                  <a:srgbClr val="000000"/>
                </a:solidFill>
              </a:rPr>
              <a:t> </a:t>
            </a:r>
            <a:r>
              <a:rPr lang="en-US" dirty="0" err="1">
                <a:solidFill>
                  <a:srgbClr val="000000"/>
                </a:solidFill>
              </a:rPr>
              <a:t>train_df</a:t>
            </a:r>
            <a:r>
              <a:rPr lang="en-US" dirty="0">
                <a:solidFill>
                  <a:srgbClr val="000000"/>
                </a:solidFill>
              </a:rPr>
              <a:t>, </a:t>
            </a:r>
            <a:r>
              <a:rPr lang="en-US" dirty="0" err="1">
                <a:solidFill>
                  <a:srgbClr val="000000"/>
                </a:solidFill>
              </a:rPr>
              <a:t>val_df</a:t>
            </a:r>
            <a:endParaRPr lang="en-US" dirty="0">
              <a:solidFill>
                <a:srgbClr val="008000"/>
              </a:solidFill>
            </a:endParaRPr>
          </a:p>
          <a:p>
            <a:pPr algn="just">
              <a:spcAft>
                <a:spcPts val="600"/>
              </a:spcAft>
              <a:buNone/>
            </a:pPr>
            <a:r>
              <a:rPr lang="en-US" dirty="0">
                <a:solidFill>
                  <a:srgbClr val="008000"/>
                </a:solidFill>
              </a:rPr>
              <a:t>#  usage</a:t>
            </a:r>
            <a:endParaRPr lang="en-US" dirty="0">
              <a:solidFill>
                <a:srgbClr val="000000"/>
              </a:solidFill>
            </a:endParaRPr>
          </a:p>
          <a:p>
            <a:pPr algn="just">
              <a:spcAft>
                <a:spcPts val="600"/>
              </a:spcAft>
              <a:buNone/>
            </a:pPr>
            <a:r>
              <a:rPr lang="en-US" dirty="0" err="1">
                <a:solidFill>
                  <a:srgbClr val="000000"/>
                </a:solidFill>
              </a:rPr>
              <a:t>train_metrics_df</a:t>
            </a:r>
            <a:r>
              <a:rPr lang="en-US" dirty="0">
                <a:solidFill>
                  <a:srgbClr val="000000"/>
                </a:solidFill>
              </a:rPr>
              <a:t>, </a:t>
            </a:r>
            <a:r>
              <a:rPr lang="en-US" dirty="0" err="1">
                <a:solidFill>
                  <a:srgbClr val="000000"/>
                </a:solidFill>
              </a:rPr>
              <a:t>val_metrics_df</a:t>
            </a:r>
            <a:r>
              <a:rPr lang="en-US" dirty="0">
                <a:solidFill>
                  <a:srgbClr val="000000"/>
                </a:solidFill>
              </a:rPr>
              <a:t> = </a:t>
            </a:r>
            <a:r>
              <a:rPr lang="en-US" dirty="0" err="1">
                <a:solidFill>
                  <a:srgbClr val="000000"/>
                </a:solidFill>
              </a:rPr>
              <a:t>compute_metrics_dfs</a:t>
            </a:r>
            <a:r>
              <a:rPr lang="en-US" dirty="0">
                <a:solidFill>
                  <a:srgbClr val="000000"/>
                </a:solidFill>
              </a:rPr>
              <a:t>(models, </a:t>
            </a:r>
            <a:r>
              <a:rPr lang="en-US" dirty="0" err="1">
                <a:solidFill>
                  <a:srgbClr val="000000"/>
                </a:solidFill>
              </a:rPr>
              <a:t>X_train</a:t>
            </a:r>
            <a:r>
              <a:rPr lang="en-US" dirty="0">
                <a:solidFill>
                  <a:srgbClr val="000000"/>
                </a:solidFill>
              </a:rPr>
              <a:t>, </a:t>
            </a:r>
            <a:r>
              <a:rPr lang="en-US" dirty="0" err="1">
                <a:solidFill>
                  <a:srgbClr val="000000"/>
                </a:solidFill>
              </a:rPr>
              <a:t>y_train</a:t>
            </a:r>
            <a:r>
              <a:rPr lang="en-US" dirty="0">
                <a:solidFill>
                  <a:srgbClr val="000000"/>
                </a:solidFill>
              </a:rPr>
              <a:t>, </a:t>
            </a:r>
            <a:r>
              <a:rPr lang="en-US" dirty="0" err="1">
                <a:solidFill>
                  <a:srgbClr val="000000"/>
                </a:solidFill>
              </a:rPr>
              <a:t>X_val</a:t>
            </a:r>
            <a:r>
              <a:rPr lang="en-US" dirty="0">
                <a:solidFill>
                  <a:srgbClr val="000000"/>
                </a:solidFill>
              </a:rPr>
              <a:t>, </a:t>
            </a:r>
            <a:r>
              <a:rPr lang="en-US" dirty="0" err="1">
                <a:solidFill>
                  <a:srgbClr val="000000"/>
                </a:solidFill>
              </a:rPr>
              <a:t>y_val</a:t>
            </a:r>
            <a:r>
              <a:rPr lang="en-US" dirty="0">
                <a:solidFill>
                  <a:srgbClr val="000000"/>
                </a:solidFill>
              </a:rPr>
              <a:t>)</a:t>
            </a:r>
          </a:p>
          <a:p>
            <a:pPr algn="just">
              <a:spcAft>
                <a:spcPts val="600"/>
              </a:spcAft>
              <a:buNone/>
            </a:pPr>
            <a:endParaRPr lang="en-US" b="0" dirty="0">
              <a:solidFill>
                <a:srgbClr val="008000"/>
              </a:solidFill>
              <a:effectLst/>
            </a:endParaRPr>
          </a:p>
          <a:p>
            <a:pPr algn="just">
              <a:spcAft>
                <a:spcPts val="600"/>
              </a:spcAft>
              <a:buNone/>
            </a:pPr>
            <a:r>
              <a:rPr lang="en-US" b="0" dirty="0">
                <a:solidFill>
                  <a:srgbClr val="008000"/>
                </a:solidFill>
                <a:effectLst/>
              </a:rPr>
              <a:t># Display the </a:t>
            </a:r>
            <a:r>
              <a:rPr lang="en-US" b="0" dirty="0" err="1">
                <a:solidFill>
                  <a:srgbClr val="008000"/>
                </a:solidFill>
                <a:effectLst/>
              </a:rPr>
              <a:t>DataFrames</a:t>
            </a:r>
            <a:endParaRPr lang="en-US" b="0" dirty="0">
              <a:solidFill>
                <a:srgbClr val="000000"/>
              </a:solidFill>
              <a:effectLst/>
            </a:endParaRPr>
          </a:p>
          <a:p>
            <a:pPr algn="just">
              <a:spcAft>
                <a:spcPts val="600"/>
              </a:spcAft>
              <a:buNone/>
            </a:pPr>
            <a:r>
              <a:rPr lang="en-US" b="0" dirty="0">
                <a:solidFill>
                  <a:srgbClr val="6A5221"/>
                </a:solidFill>
                <a:effectLst/>
              </a:rPr>
              <a:t>print</a:t>
            </a:r>
            <a:r>
              <a:rPr lang="en-US" b="0" dirty="0">
                <a:solidFill>
                  <a:srgbClr val="000000"/>
                </a:solidFill>
                <a:effectLst/>
              </a:rPr>
              <a:t>(</a:t>
            </a:r>
            <a:r>
              <a:rPr lang="en-US" b="0" dirty="0">
                <a:solidFill>
                  <a:srgbClr val="A31515"/>
                </a:solidFill>
                <a:effectLst/>
              </a:rPr>
              <a:t>"Training Metrics:\n"</a:t>
            </a:r>
            <a:r>
              <a:rPr lang="en-US" b="0" dirty="0">
                <a:solidFill>
                  <a:srgbClr val="000000"/>
                </a:solidFill>
                <a:effectLst/>
              </a:rPr>
              <a:t>, </a:t>
            </a:r>
            <a:r>
              <a:rPr lang="en-US" b="0" dirty="0" err="1">
                <a:solidFill>
                  <a:srgbClr val="000000"/>
                </a:solidFill>
                <a:effectLst/>
              </a:rPr>
              <a:t>train_metrics_df</a:t>
            </a:r>
            <a:r>
              <a:rPr lang="en-US" b="0" dirty="0">
                <a:solidFill>
                  <a:srgbClr val="000000"/>
                </a:solidFill>
                <a:effectLst/>
              </a:rPr>
              <a:t>)</a:t>
            </a:r>
          </a:p>
          <a:p>
            <a:pPr algn="just">
              <a:spcAft>
                <a:spcPts val="600"/>
              </a:spcAft>
              <a:buNone/>
            </a:pPr>
            <a:r>
              <a:rPr lang="en-US" b="0" dirty="0">
                <a:solidFill>
                  <a:srgbClr val="6A5221"/>
                </a:solidFill>
                <a:effectLst/>
              </a:rPr>
              <a:t>print</a:t>
            </a:r>
            <a:r>
              <a:rPr lang="en-US" b="0" dirty="0">
                <a:solidFill>
                  <a:srgbClr val="000000"/>
                </a:solidFill>
                <a:effectLst/>
              </a:rPr>
              <a:t>(</a:t>
            </a:r>
            <a:r>
              <a:rPr lang="en-US" b="0" dirty="0">
                <a:solidFill>
                  <a:srgbClr val="A31515"/>
                </a:solidFill>
                <a:effectLst/>
              </a:rPr>
              <a:t>"Validation Metrics:\n"</a:t>
            </a:r>
            <a:r>
              <a:rPr lang="en-US" b="0" dirty="0">
                <a:solidFill>
                  <a:srgbClr val="000000"/>
                </a:solidFill>
                <a:effectLst/>
              </a:rPr>
              <a:t>, </a:t>
            </a:r>
            <a:r>
              <a:rPr lang="en-US" b="0" dirty="0" err="1">
                <a:solidFill>
                  <a:srgbClr val="000000"/>
                </a:solidFill>
                <a:effectLst/>
              </a:rPr>
              <a:t>val_metrics_df</a:t>
            </a:r>
            <a:r>
              <a:rPr lang="en-US" b="0" dirty="0">
                <a:solidFill>
                  <a:srgbClr val="000000"/>
                </a:solidFill>
                <a:effectLst/>
              </a:rPr>
              <a:t>)</a:t>
            </a:r>
          </a:p>
          <a:p>
            <a:pPr algn="just">
              <a:spcAft>
                <a:spcPts val="600"/>
              </a:spcAft>
              <a:buNone/>
            </a:pPr>
            <a:endParaRPr lang="en-US" b="0" dirty="0">
              <a:solidFill>
                <a:srgbClr val="000000"/>
              </a:solidFill>
              <a:effectLst/>
            </a:endParaRPr>
          </a:p>
          <a:p>
            <a:pPr algn="just">
              <a:spcAft>
                <a:spcPts val="600"/>
              </a:spcAft>
              <a:buNone/>
            </a:pPr>
            <a:r>
              <a:rPr lang="en-US" dirty="0">
                <a:solidFill>
                  <a:srgbClr val="0000FF"/>
                </a:solidFill>
              </a:rPr>
              <a:t>def</a:t>
            </a:r>
            <a:r>
              <a:rPr lang="en-US" dirty="0">
                <a:solidFill>
                  <a:srgbClr val="000000"/>
                </a:solidFill>
              </a:rPr>
              <a:t> </a:t>
            </a:r>
            <a:r>
              <a:rPr lang="en-US" dirty="0" err="1">
                <a:solidFill>
                  <a:srgbClr val="6A5221"/>
                </a:solidFill>
              </a:rPr>
              <a:t>generate_nb_metrics_table</a:t>
            </a:r>
            <a:r>
              <a:rPr lang="en-US" dirty="0">
                <a:solidFill>
                  <a:srgbClr val="000000"/>
                </a:solidFill>
              </a:rPr>
              <a:t>(</a:t>
            </a:r>
            <a:r>
              <a:rPr lang="en-US" dirty="0" err="1">
                <a:solidFill>
                  <a:srgbClr val="001080"/>
                </a:solidFill>
              </a:rPr>
              <a:t>X_train</a:t>
            </a:r>
            <a:r>
              <a:rPr lang="en-US" dirty="0">
                <a:solidFill>
                  <a:srgbClr val="000000"/>
                </a:solidFill>
              </a:rPr>
              <a:t>, </a:t>
            </a:r>
            <a:r>
              <a:rPr lang="en-US" dirty="0" err="1">
                <a:solidFill>
                  <a:srgbClr val="001080"/>
                </a:solidFill>
              </a:rPr>
              <a:t>y_train</a:t>
            </a:r>
            <a:r>
              <a:rPr lang="en-US" dirty="0">
                <a:solidFill>
                  <a:srgbClr val="000000"/>
                </a:solidFill>
              </a:rPr>
              <a:t>, </a:t>
            </a:r>
            <a:r>
              <a:rPr lang="en-US" dirty="0" err="1">
                <a:solidFill>
                  <a:srgbClr val="001080"/>
                </a:solidFill>
              </a:rPr>
              <a:t>X_val</a:t>
            </a:r>
            <a:r>
              <a:rPr lang="en-US" dirty="0">
                <a:solidFill>
                  <a:srgbClr val="000000"/>
                </a:solidFill>
              </a:rPr>
              <a:t>, </a:t>
            </a:r>
            <a:r>
              <a:rPr lang="en-US" dirty="0" err="1">
                <a:solidFill>
                  <a:srgbClr val="001080"/>
                </a:solidFill>
              </a:rPr>
              <a:t>y_val</a:t>
            </a:r>
            <a:r>
              <a:rPr lang="en-US" dirty="0">
                <a:solidFill>
                  <a:srgbClr val="000000"/>
                </a:solidFill>
              </a:rPr>
              <a:t>):</a:t>
            </a:r>
          </a:p>
          <a:p>
            <a:pPr algn="just">
              <a:spcAft>
                <a:spcPts val="600"/>
              </a:spcAft>
              <a:buNone/>
            </a:pPr>
            <a:r>
              <a:rPr lang="en-US" dirty="0">
                <a:solidFill>
                  <a:srgbClr val="000000"/>
                </a:solidFill>
              </a:rPr>
              <a:t>models = </a:t>
            </a:r>
            <a:r>
              <a:rPr lang="en-US" dirty="0" err="1">
                <a:solidFill>
                  <a:srgbClr val="000000"/>
                </a:solidFill>
              </a:rPr>
              <a:t>naive_bayes_types</a:t>
            </a:r>
            <a:r>
              <a:rPr lang="en-US" dirty="0">
                <a:solidFill>
                  <a:srgbClr val="000000"/>
                </a:solidFill>
              </a:rPr>
              <a:t>(</a:t>
            </a:r>
            <a:r>
              <a:rPr lang="en-US" dirty="0" err="1">
                <a:solidFill>
                  <a:srgbClr val="000000"/>
                </a:solidFill>
              </a:rPr>
              <a:t>X_train</a:t>
            </a:r>
            <a:r>
              <a:rPr lang="en-US" dirty="0">
                <a:solidFill>
                  <a:srgbClr val="000000"/>
                </a:solidFill>
              </a:rPr>
              <a:t>, </a:t>
            </a:r>
            <a:r>
              <a:rPr lang="en-US" dirty="0" err="1">
                <a:solidFill>
                  <a:srgbClr val="000000"/>
                </a:solidFill>
              </a:rPr>
              <a:t>y_train</a:t>
            </a:r>
            <a:r>
              <a:rPr lang="en-US" dirty="0">
                <a:solidFill>
                  <a:srgbClr val="000000"/>
                </a:solidFill>
              </a:rPr>
              <a:t>)</a:t>
            </a:r>
          </a:p>
          <a:p>
            <a:pPr algn="just">
              <a:spcAft>
                <a:spcPts val="600"/>
              </a:spcAft>
              <a:buNone/>
            </a:pPr>
            <a:r>
              <a:rPr lang="en-US" dirty="0" err="1">
                <a:solidFill>
                  <a:srgbClr val="000000"/>
                </a:solidFill>
              </a:rPr>
              <a:t>metrics_data</a:t>
            </a:r>
            <a:r>
              <a:rPr lang="en-US" dirty="0">
                <a:solidFill>
                  <a:srgbClr val="000000"/>
                </a:solidFill>
              </a:rPr>
              <a:t> = {}</a:t>
            </a:r>
          </a:p>
          <a:p>
            <a:pPr algn="just">
              <a:spcAft>
                <a:spcPts val="600"/>
              </a:spcAft>
              <a:buNone/>
            </a:pPr>
            <a:endParaRPr lang="en-US" dirty="0">
              <a:solidFill>
                <a:srgbClr val="000000"/>
              </a:solidFill>
            </a:endParaRPr>
          </a:p>
          <a:p>
            <a:pPr algn="just">
              <a:spcAft>
                <a:spcPts val="600"/>
              </a:spcAft>
              <a:buNone/>
            </a:pPr>
            <a:r>
              <a:rPr lang="en-US" dirty="0">
                <a:solidFill>
                  <a:srgbClr val="9723B4"/>
                </a:solidFill>
              </a:rPr>
              <a:t>for</a:t>
            </a:r>
            <a:r>
              <a:rPr lang="en-US" dirty="0">
                <a:solidFill>
                  <a:srgbClr val="000000"/>
                </a:solidFill>
              </a:rPr>
              <a:t> </a:t>
            </a:r>
            <a:r>
              <a:rPr lang="en-US" dirty="0" err="1">
                <a:solidFill>
                  <a:srgbClr val="000000"/>
                </a:solidFill>
              </a:rPr>
              <a:t>model_name</a:t>
            </a:r>
            <a:r>
              <a:rPr lang="en-US" dirty="0">
                <a:solidFill>
                  <a:srgbClr val="000000"/>
                </a:solidFill>
              </a:rPr>
              <a:t>, model </a:t>
            </a:r>
            <a:r>
              <a:rPr lang="en-US" dirty="0">
                <a:solidFill>
                  <a:srgbClr val="0000FF"/>
                </a:solidFill>
              </a:rPr>
              <a:t>in</a:t>
            </a:r>
            <a:r>
              <a:rPr lang="en-US" dirty="0">
                <a:solidFill>
                  <a:srgbClr val="000000"/>
                </a:solidFill>
              </a:rPr>
              <a:t> </a:t>
            </a:r>
            <a:r>
              <a:rPr lang="en-US" dirty="0" err="1">
                <a:solidFill>
                  <a:srgbClr val="000000"/>
                </a:solidFill>
              </a:rPr>
              <a:t>models.items</a:t>
            </a:r>
            <a:r>
              <a:rPr lang="en-US" dirty="0">
                <a:solidFill>
                  <a:srgbClr val="000000"/>
                </a:solidFill>
              </a:rPr>
              <a:t>():</a:t>
            </a:r>
          </a:p>
          <a:p>
            <a:pPr algn="just">
              <a:spcAft>
                <a:spcPts val="600"/>
              </a:spcAft>
              <a:buNone/>
            </a:pPr>
            <a:r>
              <a:rPr lang="en-US" dirty="0" err="1">
                <a:solidFill>
                  <a:srgbClr val="000000"/>
                </a:solidFill>
              </a:rPr>
              <a:t>metrics_data</a:t>
            </a:r>
            <a:r>
              <a:rPr lang="en-US" dirty="0">
                <a:solidFill>
                  <a:srgbClr val="000000"/>
                </a:solidFill>
              </a:rPr>
              <a:t>[</a:t>
            </a:r>
            <a:r>
              <a:rPr lang="en-US" dirty="0" err="1">
                <a:solidFill>
                  <a:srgbClr val="000000"/>
                </a:solidFill>
              </a:rPr>
              <a:t>model_name</a:t>
            </a:r>
            <a:r>
              <a:rPr lang="en-US" dirty="0">
                <a:solidFill>
                  <a:srgbClr val="000000"/>
                </a:solidFill>
              </a:rPr>
              <a:t>] = </a:t>
            </a:r>
            <a:r>
              <a:rPr lang="en-US" dirty="0" err="1">
                <a:solidFill>
                  <a:srgbClr val="000000"/>
                </a:solidFill>
              </a:rPr>
              <a:t>compute_metrics</a:t>
            </a:r>
            <a:r>
              <a:rPr lang="en-US" dirty="0">
                <a:solidFill>
                  <a:srgbClr val="000000"/>
                </a:solidFill>
              </a:rPr>
              <a:t>(model, </a:t>
            </a:r>
            <a:r>
              <a:rPr lang="en-US" dirty="0" err="1">
                <a:solidFill>
                  <a:srgbClr val="000000"/>
                </a:solidFill>
              </a:rPr>
              <a:t>X_train</a:t>
            </a:r>
            <a:r>
              <a:rPr lang="en-US" dirty="0">
                <a:solidFill>
                  <a:srgbClr val="000000"/>
                </a:solidFill>
              </a:rPr>
              <a:t>, </a:t>
            </a:r>
            <a:r>
              <a:rPr lang="en-US" dirty="0" err="1">
                <a:solidFill>
                  <a:srgbClr val="000000"/>
                </a:solidFill>
              </a:rPr>
              <a:t>y_train</a:t>
            </a:r>
            <a:r>
              <a:rPr lang="en-US" dirty="0">
                <a:solidFill>
                  <a:srgbClr val="000000"/>
                </a:solidFill>
              </a:rPr>
              <a:t>, </a:t>
            </a:r>
            <a:r>
              <a:rPr lang="en-US" dirty="0" err="1">
                <a:solidFill>
                  <a:srgbClr val="000000"/>
                </a:solidFill>
              </a:rPr>
              <a:t>X_val</a:t>
            </a:r>
            <a:r>
              <a:rPr lang="en-US" dirty="0">
                <a:solidFill>
                  <a:srgbClr val="000000"/>
                </a:solidFill>
              </a:rPr>
              <a:t>, </a:t>
            </a:r>
            <a:r>
              <a:rPr lang="en-US" dirty="0" err="1">
                <a:solidFill>
                  <a:srgbClr val="000000"/>
                </a:solidFill>
              </a:rPr>
              <a:t>y_val</a:t>
            </a:r>
            <a:r>
              <a:rPr lang="en-US" dirty="0">
                <a:solidFill>
                  <a:srgbClr val="000000"/>
                </a:solidFill>
              </a:rPr>
              <a:t>)</a:t>
            </a:r>
          </a:p>
          <a:p>
            <a:pPr algn="just">
              <a:spcAft>
                <a:spcPts val="600"/>
              </a:spcAft>
              <a:buNone/>
            </a:pPr>
            <a:br>
              <a:rPr lang="en-US" dirty="0">
                <a:solidFill>
                  <a:srgbClr val="000000"/>
                </a:solidFill>
              </a:rPr>
            </a:br>
            <a:endParaRPr lang="en-US" dirty="0">
              <a:solidFill>
                <a:srgbClr val="000000"/>
              </a:solidFill>
            </a:endParaRPr>
          </a:p>
          <a:p>
            <a:pPr algn="just">
              <a:spcAft>
                <a:spcPts val="600"/>
              </a:spcAft>
              <a:buNone/>
            </a:pPr>
            <a:r>
              <a:rPr lang="en-US" dirty="0">
                <a:solidFill>
                  <a:srgbClr val="000000"/>
                </a:solidFill>
              </a:rPr>
              <a:t>   </a:t>
            </a:r>
            <a:br>
              <a:rPr lang="en-US" b="0" dirty="0">
                <a:solidFill>
                  <a:srgbClr val="000000"/>
                </a:solidFill>
                <a:effectLst/>
              </a:rPr>
            </a:br>
            <a:endParaRPr lang="en-US" b="0" dirty="0">
              <a:solidFill>
                <a:srgbClr val="000000"/>
              </a:solidFill>
              <a:effectLst/>
            </a:endParaRPr>
          </a:p>
        </p:txBody>
      </p:sp>
    </p:spTree>
    <p:extLst>
      <p:ext uri="{BB962C8B-B14F-4D97-AF65-F5344CB8AC3E}">
        <p14:creationId xmlns:p14="http://schemas.microsoft.com/office/powerpoint/2010/main" val="208875696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4FCAEB-2CE6-31CB-CF09-B7279CE7711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441B4B9-F885-4705-E0D4-B49DEC1D4555}"/>
              </a:ext>
            </a:extLst>
          </p:cNvPr>
          <p:cNvSpPr>
            <a:spLocks noGrp="1"/>
          </p:cNvSpPr>
          <p:nvPr>
            <p:ph idx="1"/>
          </p:nvPr>
        </p:nvSpPr>
        <p:spPr/>
        <p:txBody>
          <a:bodyPr>
            <a:normAutofit/>
          </a:bodyPr>
          <a:lstStyle/>
          <a:p>
            <a:pPr marL="0" indent="0">
              <a:buNone/>
            </a:pPr>
            <a:r>
              <a:rPr lang="en-US" sz="5400" dirty="0"/>
              <a:t>         </a:t>
            </a:r>
          </a:p>
          <a:p>
            <a:pPr marL="0" indent="0">
              <a:buNone/>
            </a:pPr>
            <a:endParaRPr lang="en-US" sz="5400" dirty="0"/>
          </a:p>
          <a:p>
            <a:pPr marL="0" indent="0">
              <a:buNone/>
            </a:pPr>
            <a:r>
              <a:rPr lang="en-US" sz="5400" dirty="0"/>
              <a:t>              </a:t>
            </a:r>
          </a:p>
        </p:txBody>
      </p:sp>
      <p:sp>
        <p:nvSpPr>
          <p:cNvPr id="5" name="Slide Number Placeholder 4">
            <a:extLst>
              <a:ext uri="{FF2B5EF4-FFF2-40B4-BE49-F238E27FC236}">
                <a16:creationId xmlns:a16="http://schemas.microsoft.com/office/drawing/2014/main" id="{C34068A2-84E9-9CF4-5986-70CFCB3A686B}"/>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89</a:t>
            </a:fld>
            <a:endParaRPr lang="en-US" dirty="0">
              <a:solidFill>
                <a:srgbClr val="000000"/>
              </a:solidFill>
            </a:endParaRPr>
          </a:p>
        </p:txBody>
      </p:sp>
      <p:sp>
        <p:nvSpPr>
          <p:cNvPr id="4" name="TextBox 3">
            <a:extLst>
              <a:ext uri="{FF2B5EF4-FFF2-40B4-BE49-F238E27FC236}">
                <a16:creationId xmlns:a16="http://schemas.microsoft.com/office/drawing/2014/main" id="{7E64443F-8F80-B15B-538F-8616152E583E}"/>
              </a:ext>
            </a:extLst>
          </p:cNvPr>
          <p:cNvSpPr txBox="1"/>
          <p:nvPr/>
        </p:nvSpPr>
        <p:spPr>
          <a:xfrm>
            <a:off x="843777" y="606852"/>
            <a:ext cx="7456446" cy="4539704"/>
          </a:xfrm>
          <a:prstGeom prst="rect">
            <a:avLst/>
          </a:prstGeom>
          <a:noFill/>
        </p:spPr>
        <p:txBody>
          <a:bodyPr wrap="square">
            <a:spAutoFit/>
          </a:bodyPr>
          <a:lstStyle/>
          <a:p>
            <a:pPr algn="just">
              <a:spcAft>
                <a:spcPts val="600"/>
              </a:spcAft>
              <a:buNone/>
            </a:pPr>
            <a:r>
              <a:rPr lang="en-US" b="0" dirty="0" err="1">
                <a:solidFill>
                  <a:srgbClr val="000000"/>
                </a:solidFill>
                <a:effectLst/>
              </a:rPr>
              <a:t>table.auto_set_font_size</a:t>
            </a:r>
            <a:r>
              <a:rPr lang="en-US" b="0" dirty="0">
                <a:solidFill>
                  <a:srgbClr val="000000"/>
                </a:solidFill>
                <a:effectLst/>
              </a:rPr>
              <a:t>(</a:t>
            </a:r>
            <a:r>
              <a:rPr lang="en-US" b="0" dirty="0">
                <a:solidFill>
                  <a:srgbClr val="0000FF"/>
                </a:solidFill>
                <a:effectLst/>
              </a:rPr>
              <a:t>False</a:t>
            </a:r>
            <a:r>
              <a:rPr lang="en-US" b="0" dirty="0">
                <a:solidFill>
                  <a:srgbClr val="000000"/>
                </a:solidFill>
                <a:effectLst/>
              </a:rPr>
              <a:t>)</a:t>
            </a:r>
          </a:p>
          <a:p>
            <a:pPr algn="just">
              <a:spcAft>
                <a:spcPts val="600"/>
              </a:spcAft>
              <a:buNone/>
            </a:pPr>
            <a:r>
              <a:rPr lang="en-US" b="0" dirty="0" err="1">
                <a:solidFill>
                  <a:srgbClr val="000000"/>
                </a:solidFill>
                <a:effectLst/>
              </a:rPr>
              <a:t>table.set_fontsize</a:t>
            </a:r>
            <a:r>
              <a:rPr lang="en-US" b="0" dirty="0">
                <a:solidFill>
                  <a:srgbClr val="000000"/>
                </a:solidFill>
                <a:effectLst/>
              </a:rPr>
              <a:t>(</a:t>
            </a:r>
            <a:r>
              <a:rPr lang="en-US" b="0" dirty="0">
                <a:solidFill>
                  <a:srgbClr val="116644"/>
                </a:solidFill>
                <a:effectLst/>
              </a:rPr>
              <a:t>10</a:t>
            </a:r>
            <a:r>
              <a:rPr lang="en-US" b="0" dirty="0">
                <a:solidFill>
                  <a:srgbClr val="000000"/>
                </a:solidFill>
                <a:effectLst/>
              </a:rPr>
              <a:t>)</a:t>
            </a:r>
          </a:p>
          <a:p>
            <a:pPr algn="just">
              <a:spcAft>
                <a:spcPts val="600"/>
              </a:spcAft>
              <a:buNone/>
            </a:pPr>
            <a:endParaRPr lang="en-US" b="0" dirty="0">
              <a:solidFill>
                <a:srgbClr val="000000"/>
              </a:solidFill>
              <a:effectLst/>
            </a:endParaRPr>
          </a:p>
          <a:p>
            <a:pPr algn="just">
              <a:spcAft>
                <a:spcPts val="600"/>
              </a:spcAft>
              <a:buNone/>
            </a:pPr>
            <a:r>
              <a:rPr lang="en-US" b="0" dirty="0">
                <a:solidFill>
                  <a:srgbClr val="9723B4"/>
                </a:solidFill>
                <a:effectLst/>
              </a:rPr>
              <a:t>for</a:t>
            </a:r>
            <a:r>
              <a:rPr lang="en-US" b="0" dirty="0">
                <a:solidFill>
                  <a:srgbClr val="000000"/>
                </a:solidFill>
                <a:effectLst/>
              </a:rPr>
              <a:t> key, cell </a:t>
            </a:r>
            <a:r>
              <a:rPr lang="en-US" b="0" dirty="0">
                <a:solidFill>
                  <a:srgbClr val="0000FF"/>
                </a:solidFill>
                <a:effectLst/>
              </a:rPr>
              <a:t>in</a:t>
            </a:r>
            <a:r>
              <a:rPr lang="en-US" b="0" dirty="0">
                <a:solidFill>
                  <a:srgbClr val="000000"/>
                </a:solidFill>
                <a:effectLst/>
              </a:rPr>
              <a:t> </a:t>
            </a:r>
            <a:r>
              <a:rPr lang="en-US" b="0" dirty="0" err="1">
                <a:solidFill>
                  <a:srgbClr val="000000"/>
                </a:solidFill>
                <a:effectLst/>
              </a:rPr>
              <a:t>table.get_celld</a:t>
            </a:r>
            <a:r>
              <a:rPr lang="en-US" b="0" dirty="0">
                <a:solidFill>
                  <a:srgbClr val="000000"/>
                </a:solidFill>
                <a:effectLst/>
              </a:rPr>
              <a:t>().items():</a:t>
            </a:r>
          </a:p>
          <a:p>
            <a:pPr algn="just">
              <a:spcAft>
                <a:spcPts val="600"/>
              </a:spcAft>
              <a:buNone/>
            </a:pPr>
            <a:r>
              <a:rPr lang="en-US" b="0" dirty="0" err="1">
                <a:solidFill>
                  <a:srgbClr val="000000"/>
                </a:solidFill>
                <a:effectLst/>
              </a:rPr>
              <a:t>cell.set_height</a:t>
            </a:r>
            <a:r>
              <a:rPr lang="en-US" b="0" dirty="0">
                <a:solidFill>
                  <a:srgbClr val="000000"/>
                </a:solidFill>
                <a:effectLst/>
              </a:rPr>
              <a:t>(</a:t>
            </a:r>
            <a:r>
              <a:rPr lang="en-US" b="0" dirty="0">
                <a:solidFill>
                  <a:srgbClr val="116644"/>
                </a:solidFill>
                <a:effectLst/>
              </a:rPr>
              <a:t>0.2</a:t>
            </a:r>
            <a:r>
              <a:rPr lang="en-US" b="0" dirty="0">
                <a:solidFill>
                  <a:srgbClr val="000000"/>
                </a:solidFill>
                <a:effectLst/>
              </a:rPr>
              <a:t>)</a:t>
            </a:r>
          </a:p>
          <a:p>
            <a:pPr algn="just">
              <a:spcAft>
                <a:spcPts val="600"/>
              </a:spcAft>
              <a:buNone/>
            </a:pPr>
            <a:r>
              <a:rPr lang="en-US" b="0" dirty="0" err="1">
                <a:solidFill>
                  <a:srgbClr val="000000"/>
                </a:solidFill>
                <a:effectLst/>
              </a:rPr>
              <a:t>cell.PAD</a:t>
            </a:r>
            <a:r>
              <a:rPr lang="en-US" b="0" dirty="0">
                <a:solidFill>
                  <a:srgbClr val="000000"/>
                </a:solidFill>
                <a:effectLst/>
              </a:rPr>
              <a:t> = </a:t>
            </a:r>
            <a:r>
              <a:rPr lang="en-US" b="0" dirty="0">
                <a:solidFill>
                  <a:srgbClr val="116644"/>
                </a:solidFill>
                <a:effectLst/>
              </a:rPr>
              <a:t>0.15</a:t>
            </a:r>
            <a:endParaRPr lang="en-US" b="0" dirty="0">
              <a:solidFill>
                <a:srgbClr val="000000"/>
              </a:solidFill>
              <a:effectLst/>
            </a:endParaRPr>
          </a:p>
          <a:p>
            <a:pPr algn="just">
              <a:spcAft>
                <a:spcPts val="600"/>
              </a:spcAft>
              <a:buNone/>
            </a:pPr>
            <a:r>
              <a:rPr lang="en-US" b="0" dirty="0" err="1">
                <a:solidFill>
                  <a:srgbClr val="000000"/>
                </a:solidFill>
                <a:effectLst/>
              </a:rPr>
              <a:t>cell.set_edgecolor</a:t>
            </a:r>
            <a:r>
              <a:rPr lang="en-US" b="0" dirty="0">
                <a:solidFill>
                  <a:srgbClr val="000000"/>
                </a:solidFill>
                <a:effectLst/>
              </a:rPr>
              <a:t>(</a:t>
            </a:r>
            <a:r>
              <a:rPr lang="en-US" b="0" dirty="0">
                <a:solidFill>
                  <a:srgbClr val="A31515"/>
                </a:solidFill>
                <a:effectLst/>
              </a:rPr>
              <a:t>"#</a:t>
            </a:r>
            <a:r>
              <a:rPr lang="en-US" b="0" dirty="0" err="1">
                <a:solidFill>
                  <a:srgbClr val="A31515"/>
                </a:solidFill>
                <a:effectLst/>
              </a:rPr>
              <a:t>dedede</a:t>
            </a:r>
            <a:r>
              <a:rPr lang="en-US" b="0" dirty="0">
                <a:solidFill>
                  <a:srgbClr val="A31515"/>
                </a:solidFill>
                <a:effectLst/>
              </a:rPr>
              <a:t>"</a:t>
            </a:r>
            <a:r>
              <a:rPr lang="en-US" b="0" dirty="0">
                <a:solidFill>
                  <a:srgbClr val="000000"/>
                </a:solidFill>
                <a:effectLst/>
              </a:rPr>
              <a:t>)</a:t>
            </a:r>
          </a:p>
          <a:p>
            <a:pPr algn="just">
              <a:spcAft>
                <a:spcPts val="600"/>
              </a:spcAft>
              <a:buNone/>
            </a:pPr>
            <a:r>
              <a:rPr lang="en-US" b="0" dirty="0" err="1">
                <a:solidFill>
                  <a:srgbClr val="000000"/>
                </a:solidFill>
                <a:effectLst/>
              </a:rPr>
              <a:t>plt.title</a:t>
            </a:r>
            <a:r>
              <a:rPr lang="en-US" b="0" dirty="0">
                <a:solidFill>
                  <a:srgbClr val="000000"/>
                </a:solidFill>
                <a:effectLst/>
              </a:rPr>
              <a:t>(</a:t>
            </a:r>
            <a:r>
              <a:rPr lang="en-US" b="0" dirty="0" err="1">
                <a:solidFill>
                  <a:srgbClr val="0000FF"/>
                </a:solidFill>
                <a:effectLst/>
              </a:rPr>
              <a:t>f</a:t>
            </a:r>
            <a:r>
              <a:rPr lang="en-US" b="0" dirty="0" err="1">
                <a:solidFill>
                  <a:srgbClr val="A31515"/>
                </a:solidFill>
                <a:effectLst/>
              </a:rPr>
              <a:t>"Naive</a:t>
            </a:r>
            <a:r>
              <a:rPr lang="en-US" b="0" dirty="0">
                <a:solidFill>
                  <a:srgbClr val="A31515"/>
                </a:solidFill>
                <a:effectLst/>
              </a:rPr>
              <a:t> Bayes Model Performance Metrics - </a:t>
            </a:r>
            <a:r>
              <a:rPr lang="en-US" b="0" dirty="0">
                <a:solidFill>
                  <a:srgbClr val="000000"/>
                </a:solidFill>
                <a:effectLst/>
              </a:rPr>
              <a:t>{dataset}</a:t>
            </a:r>
            <a:r>
              <a:rPr lang="en-US" b="0" dirty="0">
                <a:solidFill>
                  <a:srgbClr val="A31515"/>
                </a:solidFill>
                <a:effectLst/>
              </a:rPr>
              <a:t> Data"</a:t>
            </a:r>
            <a:r>
              <a:rPr lang="en-US" b="0" dirty="0">
                <a:solidFill>
                  <a:srgbClr val="000000"/>
                </a:solidFill>
                <a:effectLst/>
              </a:rPr>
              <a:t>, </a:t>
            </a:r>
            <a:r>
              <a:rPr lang="en-US" b="0" dirty="0" err="1">
                <a:solidFill>
                  <a:srgbClr val="000000"/>
                </a:solidFill>
                <a:effectLst/>
              </a:rPr>
              <a:t>fontsize</a:t>
            </a:r>
            <a:r>
              <a:rPr lang="en-US" b="0" dirty="0">
                <a:solidFill>
                  <a:srgbClr val="000000"/>
                </a:solidFill>
                <a:effectLst/>
              </a:rPr>
              <a:t>=</a:t>
            </a:r>
            <a:r>
              <a:rPr lang="en-US" b="0" dirty="0">
                <a:solidFill>
                  <a:srgbClr val="116644"/>
                </a:solidFill>
                <a:effectLst/>
              </a:rPr>
              <a:t>12</a:t>
            </a:r>
            <a:r>
              <a:rPr lang="en-US" b="0" dirty="0">
                <a:solidFill>
                  <a:srgbClr val="000000"/>
                </a:solidFill>
                <a:effectLst/>
              </a:rPr>
              <a:t>, </a:t>
            </a:r>
            <a:r>
              <a:rPr lang="en-US" b="0" dirty="0" err="1">
                <a:solidFill>
                  <a:srgbClr val="000000"/>
                </a:solidFill>
                <a:effectLst/>
              </a:rPr>
              <a:t>fontweight</a:t>
            </a:r>
            <a:r>
              <a:rPr lang="en-US" b="0" dirty="0">
                <a:solidFill>
                  <a:srgbClr val="000000"/>
                </a:solidFill>
                <a:effectLst/>
              </a:rPr>
              <a:t>=</a:t>
            </a:r>
            <a:r>
              <a:rPr lang="en-US" b="0" dirty="0">
                <a:solidFill>
                  <a:srgbClr val="A31515"/>
                </a:solidFill>
                <a:effectLst/>
              </a:rPr>
              <a:t>"bold"</a:t>
            </a:r>
            <a:r>
              <a:rPr lang="en-US" b="0" dirty="0">
                <a:solidFill>
                  <a:srgbClr val="000000"/>
                </a:solidFill>
                <a:effectLst/>
              </a:rPr>
              <a:t>)</a:t>
            </a:r>
          </a:p>
          <a:p>
            <a:pPr algn="just">
              <a:spcAft>
                <a:spcPts val="600"/>
              </a:spcAft>
              <a:buNone/>
            </a:pPr>
            <a:r>
              <a:rPr lang="en-US" b="0" dirty="0" err="1">
                <a:solidFill>
                  <a:srgbClr val="000000"/>
                </a:solidFill>
                <a:effectLst/>
              </a:rPr>
              <a:t>plt.show</a:t>
            </a:r>
            <a:r>
              <a:rPr lang="en-US" b="0" dirty="0">
                <a:solidFill>
                  <a:srgbClr val="000000"/>
                </a:solidFill>
                <a:effectLst/>
              </a:rPr>
              <a:t>()</a:t>
            </a:r>
          </a:p>
          <a:p>
            <a:pPr algn="just">
              <a:spcAft>
                <a:spcPts val="600"/>
              </a:spcAft>
              <a:buNone/>
            </a:pPr>
            <a:endParaRPr lang="en-US" b="0" dirty="0">
              <a:solidFill>
                <a:srgbClr val="000000"/>
              </a:solidFill>
              <a:effectLst/>
            </a:endParaRPr>
          </a:p>
          <a:p>
            <a:pPr algn="just">
              <a:spcAft>
                <a:spcPts val="600"/>
              </a:spcAft>
              <a:buNone/>
            </a:pPr>
            <a:r>
              <a:rPr lang="en-US" b="0" dirty="0">
                <a:solidFill>
                  <a:srgbClr val="008000"/>
                </a:solidFill>
                <a:effectLst/>
              </a:rPr>
              <a:t>#  call</a:t>
            </a:r>
            <a:endParaRPr lang="en-US" b="0" dirty="0">
              <a:solidFill>
                <a:srgbClr val="000000"/>
              </a:solidFill>
              <a:effectLst/>
            </a:endParaRPr>
          </a:p>
          <a:p>
            <a:pPr algn="just">
              <a:spcAft>
                <a:spcPts val="600"/>
              </a:spcAft>
              <a:buNone/>
            </a:pPr>
            <a:r>
              <a:rPr lang="en-US" b="0" dirty="0" err="1">
                <a:solidFill>
                  <a:srgbClr val="000000"/>
                </a:solidFill>
                <a:effectLst/>
              </a:rPr>
              <a:t>generate_nb_metrics_table</a:t>
            </a:r>
            <a:r>
              <a:rPr lang="en-US" b="0" dirty="0">
                <a:solidFill>
                  <a:srgbClr val="000000"/>
                </a:solidFill>
                <a:effectLst/>
              </a:rPr>
              <a:t>(</a:t>
            </a:r>
            <a:r>
              <a:rPr lang="en-US" b="0" dirty="0" err="1">
                <a:solidFill>
                  <a:srgbClr val="000000"/>
                </a:solidFill>
                <a:effectLst/>
              </a:rPr>
              <a:t>X_train</a:t>
            </a:r>
            <a:r>
              <a:rPr lang="en-US" b="0" dirty="0">
                <a:solidFill>
                  <a:srgbClr val="000000"/>
                </a:solidFill>
                <a:effectLst/>
              </a:rPr>
              <a:t>, </a:t>
            </a:r>
            <a:r>
              <a:rPr lang="en-US" b="0" dirty="0" err="1">
                <a:solidFill>
                  <a:srgbClr val="000000"/>
                </a:solidFill>
                <a:effectLst/>
              </a:rPr>
              <a:t>y_train</a:t>
            </a:r>
            <a:r>
              <a:rPr lang="en-US" b="0" dirty="0">
                <a:solidFill>
                  <a:srgbClr val="000000"/>
                </a:solidFill>
                <a:effectLst/>
              </a:rPr>
              <a:t>, </a:t>
            </a:r>
            <a:r>
              <a:rPr lang="en-US" b="0" dirty="0" err="1">
                <a:solidFill>
                  <a:srgbClr val="000000"/>
                </a:solidFill>
                <a:effectLst/>
              </a:rPr>
              <a:t>X_val</a:t>
            </a:r>
            <a:r>
              <a:rPr lang="en-US" b="0" dirty="0">
                <a:solidFill>
                  <a:srgbClr val="000000"/>
                </a:solidFill>
                <a:effectLst/>
              </a:rPr>
              <a:t>, </a:t>
            </a:r>
            <a:r>
              <a:rPr lang="en-US" b="0" dirty="0" err="1">
                <a:solidFill>
                  <a:srgbClr val="000000"/>
                </a:solidFill>
                <a:effectLst/>
              </a:rPr>
              <a:t>y_val</a:t>
            </a:r>
            <a:r>
              <a:rPr lang="en-US" b="0" dirty="0">
                <a:solidFill>
                  <a:srgbClr val="000000"/>
                </a:solidFill>
                <a:effectLst/>
              </a:rPr>
              <a:t>)</a:t>
            </a:r>
          </a:p>
        </p:txBody>
      </p:sp>
    </p:spTree>
    <p:extLst>
      <p:ext uri="{BB962C8B-B14F-4D97-AF65-F5344CB8AC3E}">
        <p14:creationId xmlns:p14="http://schemas.microsoft.com/office/powerpoint/2010/main" val="247546338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68A12-B3CC-270F-E5E9-6E3316D780D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3B68F2B-63ED-68F7-7387-8F07E2639F8E}"/>
              </a:ext>
            </a:extLst>
          </p:cNvPr>
          <p:cNvSpPr>
            <a:spLocks noGrp="1"/>
          </p:cNvSpPr>
          <p:nvPr>
            <p:ph idx="1"/>
          </p:nvPr>
        </p:nvSpPr>
        <p:spPr/>
        <p:txBody>
          <a:bodyPr>
            <a:normAutofit/>
          </a:bodyPr>
          <a:lstStyle/>
          <a:p>
            <a:pPr marL="0" indent="0">
              <a:buNone/>
            </a:pPr>
            <a:r>
              <a:rPr lang="en-US" sz="5400" dirty="0"/>
              <a:t>         </a:t>
            </a:r>
          </a:p>
          <a:p>
            <a:pPr marL="0" indent="0">
              <a:buNone/>
            </a:pPr>
            <a:endParaRPr lang="en-US" sz="5400" dirty="0"/>
          </a:p>
          <a:p>
            <a:pPr marL="0" indent="0">
              <a:buNone/>
            </a:pPr>
            <a:r>
              <a:rPr lang="en-US" sz="5400" dirty="0"/>
              <a:t>              </a:t>
            </a:r>
          </a:p>
        </p:txBody>
      </p:sp>
      <p:sp>
        <p:nvSpPr>
          <p:cNvPr id="5" name="Slide Number Placeholder 4">
            <a:extLst>
              <a:ext uri="{FF2B5EF4-FFF2-40B4-BE49-F238E27FC236}">
                <a16:creationId xmlns:a16="http://schemas.microsoft.com/office/drawing/2014/main" id="{94CD148D-228E-D756-5075-803635656E75}"/>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90</a:t>
            </a:fld>
            <a:endParaRPr lang="en-US" dirty="0">
              <a:solidFill>
                <a:srgbClr val="000000"/>
              </a:solidFill>
            </a:endParaRPr>
          </a:p>
        </p:txBody>
      </p:sp>
      <p:sp>
        <p:nvSpPr>
          <p:cNvPr id="4" name="TextBox 3">
            <a:extLst>
              <a:ext uri="{FF2B5EF4-FFF2-40B4-BE49-F238E27FC236}">
                <a16:creationId xmlns:a16="http://schemas.microsoft.com/office/drawing/2014/main" id="{1F24197C-BF1B-CABE-DE23-68516856C6B2}"/>
              </a:ext>
            </a:extLst>
          </p:cNvPr>
          <p:cNvSpPr txBox="1"/>
          <p:nvPr/>
        </p:nvSpPr>
        <p:spPr>
          <a:xfrm>
            <a:off x="839602" y="768218"/>
            <a:ext cx="6710516" cy="400110"/>
          </a:xfrm>
          <a:prstGeom prst="rect">
            <a:avLst/>
          </a:prstGeom>
          <a:noFill/>
        </p:spPr>
        <p:txBody>
          <a:bodyPr wrap="square">
            <a:spAutoFit/>
          </a:bodyPr>
          <a:lstStyle/>
          <a:p>
            <a:pPr algn="l">
              <a:buNone/>
            </a:pPr>
            <a:r>
              <a:rPr lang="en-US" sz="2000" b="0" i="0" dirty="0">
                <a:solidFill>
                  <a:srgbClr val="1F1F1F"/>
                </a:solidFill>
                <a:effectLst/>
              </a:rPr>
              <a:t>From the above results the best model is </a:t>
            </a:r>
            <a:r>
              <a:rPr lang="en-US" sz="2000" b="0" dirty="0" err="1">
                <a:solidFill>
                  <a:srgbClr val="1F1F1F"/>
                </a:solidFill>
                <a:effectLst/>
              </a:rPr>
              <a:t>ComplementNB</a:t>
            </a:r>
            <a:endParaRPr lang="en-US" sz="2000" b="0" dirty="0">
              <a:solidFill>
                <a:srgbClr val="1F1F1F"/>
              </a:solidFill>
              <a:effectLst/>
            </a:endParaRPr>
          </a:p>
        </p:txBody>
      </p:sp>
      <p:sp>
        <p:nvSpPr>
          <p:cNvPr id="7" name="TextBox 6">
            <a:extLst>
              <a:ext uri="{FF2B5EF4-FFF2-40B4-BE49-F238E27FC236}">
                <a16:creationId xmlns:a16="http://schemas.microsoft.com/office/drawing/2014/main" id="{4D3C51C4-0167-E7C7-B767-E956900F1477}"/>
              </a:ext>
            </a:extLst>
          </p:cNvPr>
          <p:cNvSpPr txBox="1"/>
          <p:nvPr/>
        </p:nvSpPr>
        <p:spPr>
          <a:xfrm>
            <a:off x="839602" y="1556724"/>
            <a:ext cx="7410394" cy="4185761"/>
          </a:xfrm>
          <a:prstGeom prst="rect">
            <a:avLst/>
          </a:prstGeom>
          <a:noFill/>
        </p:spPr>
        <p:txBody>
          <a:bodyPr wrap="square">
            <a:spAutoFit/>
          </a:bodyPr>
          <a:lstStyle/>
          <a:p>
            <a:pPr algn="just">
              <a:spcAft>
                <a:spcPts val="600"/>
              </a:spcAft>
              <a:buNone/>
            </a:pPr>
            <a:r>
              <a:rPr lang="en-US" b="0" dirty="0">
                <a:solidFill>
                  <a:srgbClr val="008000"/>
                </a:solidFill>
                <a:effectLst/>
              </a:rPr>
              <a:t>#ComplementNB Model Training</a:t>
            </a:r>
            <a:endParaRPr lang="en-US" b="0" dirty="0">
              <a:solidFill>
                <a:srgbClr val="000000"/>
              </a:solidFill>
              <a:effectLst/>
            </a:endParaRPr>
          </a:p>
          <a:p>
            <a:pPr algn="just">
              <a:spcAft>
                <a:spcPts val="600"/>
              </a:spcAft>
              <a:buNone/>
            </a:pPr>
            <a:r>
              <a:rPr lang="en-US" b="0" dirty="0">
                <a:solidFill>
                  <a:srgbClr val="008000"/>
                </a:solidFill>
                <a:effectLst/>
              </a:rPr>
              <a:t>#def </a:t>
            </a:r>
            <a:r>
              <a:rPr lang="en-US" b="0" dirty="0" err="1">
                <a:solidFill>
                  <a:srgbClr val="008000"/>
                </a:solidFill>
                <a:effectLst/>
              </a:rPr>
              <a:t>complement_nb</a:t>
            </a:r>
            <a:r>
              <a:rPr lang="en-US" b="0" dirty="0">
                <a:solidFill>
                  <a:srgbClr val="008000"/>
                </a:solidFill>
                <a:effectLst/>
              </a:rPr>
              <a:t>(X, y):</a:t>
            </a:r>
            <a:endParaRPr lang="en-US" b="0" dirty="0">
              <a:solidFill>
                <a:srgbClr val="000000"/>
              </a:solidFill>
              <a:effectLst/>
            </a:endParaRPr>
          </a:p>
          <a:p>
            <a:pPr algn="just">
              <a:spcAft>
                <a:spcPts val="600"/>
              </a:spcAft>
              <a:buNone/>
            </a:pPr>
            <a:r>
              <a:rPr lang="en-US" b="0" dirty="0">
                <a:solidFill>
                  <a:srgbClr val="008000"/>
                </a:solidFill>
                <a:effectLst/>
              </a:rPr>
              <a:t>#cnb_pipeline = Pipeline([</a:t>
            </a:r>
            <a:endParaRPr lang="en-US" b="0" dirty="0">
              <a:solidFill>
                <a:srgbClr val="000000"/>
              </a:solidFill>
              <a:effectLst/>
            </a:endParaRPr>
          </a:p>
          <a:p>
            <a:pPr algn="just">
              <a:spcAft>
                <a:spcPts val="600"/>
              </a:spcAft>
              <a:buNone/>
            </a:pPr>
            <a:r>
              <a:rPr lang="en-US" b="0" dirty="0">
                <a:solidFill>
                  <a:srgbClr val="008000"/>
                </a:solidFill>
                <a:effectLst/>
              </a:rPr>
              <a:t>#('vect', </a:t>
            </a:r>
            <a:r>
              <a:rPr lang="en-US" b="0" dirty="0" err="1">
                <a:solidFill>
                  <a:srgbClr val="008000"/>
                </a:solidFill>
                <a:effectLst/>
              </a:rPr>
              <a:t>CountVectorizer</a:t>
            </a:r>
            <a:r>
              <a:rPr lang="en-US" b="0" dirty="0">
                <a:solidFill>
                  <a:srgbClr val="008000"/>
                </a:solidFill>
                <a:effectLst/>
              </a:rPr>
              <a:t>()),</a:t>
            </a:r>
            <a:endParaRPr lang="en-US" b="0" dirty="0">
              <a:solidFill>
                <a:srgbClr val="000000"/>
              </a:solidFill>
              <a:effectLst/>
            </a:endParaRPr>
          </a:p>
          <a:p>
            <a:pPr algn="just">
              <a:spcAft>
                <a:spcPts val="600"/>
              </a:spcAft>
              <a:buNone/>
            </a:pPr>
            <a:r>
              <a:rPr lang="en-US" b="0" dirty="0">
                <a:solidFill>
                  <a:srgbClr val="008000"/>
                </a:solidFill>
                <a:effectLst/>
              </a:rPr>
              <a:t>#('tfidf', </a:t>
            </a:r>
            <a:r>
              <a:rPr lang="en-US" b="0" dirty="0" err="1">
                <a:solidFill>
                  <a:srgbClr val="008000"/>
                </a:solidFill>
                <a:effectLst/>
              </a:rPr>
              <a:t>TfidfTransformer</a:t>
            </a:r>
            <a:r>
              <a:rPr lang="en-US" b="0" dirty="0">
                <a:solidFill>
                  <a:srgbClr val="008000"/>
                </a:solidFill>
                <a:effectLst/>
              </a:rPr>
              <a:t>()),</a:t>
            </a:r>
            <a:endParaRPr lang="en-US" b="0" dirty="0">
              <a:solidFill>
                <a:srgbClr val="000000"/>
              </a:solidFill>
              <a:effectLst/>
            </a:endParaRPr>
          </a:p>
          <a:p>
            <a:pPr algn="just">
              <a:spcAft>
                <a:spcPts val="600"/>
              </a:spcAft>
              <a:buNone/>
            </a:pPr>
            <a:r>
              <a:rPr lang="en-US" b="0" dirty="0">
                <a:solidFill>
                  <a:srgbClr val="008000"/>
                </a:solidFill>
                <a:effectLst/>
              </a:rPr>
              <a:t>#('clf', </a:t>
            </a:r>
            <a:r>
              <a:rPr lang="en-US" b="0" dirty="0" err="1">
                <a:solidFill>
                  <a:srgbClr val="008000"/>
                </a:solidFill>
                <a:effectLst/>
              </a:rPr>
              <a:t>ComplementNB</a:t>
            </a:r>
            <a:r>
              <a:rPr lang="en-US" b="0" dirty="0">
                <a:solidFill>
                  <a:srgbClr val="008000"/>
                </a:solidFill>
                <a:effectLst/>
              </a:rPr>
              <a:t>())</a:t>
            </a:r>
            <a:endParaRPr lang="en-US" b="0" dirty="0">
              <a:solidFill>
                <a:srgbClr val="000000"/>
              </a:solidFill>
              <a:effectLst/>
            </a:endParaRPr>
          </a:p>
          <a:p>
            <a:pPr algn="just">
              <a:spcAft>
                <a:spcPts val="600"/>
              </a:spcAft>
              <a:buNone/>
            </a:pPr>
            <a:r>
              <a:rPr lang="en-US" b="0" dirty="0">
                <a:solidFill>
                  <a:srgbClr val="008000"/>
                </a:solidFill>
                <a:effectLst/>
              </a:rPr>
              <a:t>#])</a:t>
            </a:r>
            <a:endParaRPr lang="en-US" b="0" dirty="0">
              <a:solidFill>
                <a:srgbClr val="000000"/>
              </a:solidFill>
              <a:effectLst/>
            </a:endParaRPr>
          </a:p>
          <a:p>
            <a:pPr algn="just">
              <a:spcAft>
                <a:spcPts val="600"/>
              </a:spcAft>
              <a:buNone/>
            </a:pPr>
            <a:r>
              <a:rPr lang="en-US" b="0" dirty="0">
                <a:solidFill>
                  <a:srgbClr val="008000"/>
                </a:solidFill>
                <a:effectLst/>
              </a:rPr>
              <a:t>#cnb_pipeline.fit(X_train, </a:t>
            </a:r>
            <a:r>
              <a:rPr lang="en-US" b="0" dirty="0" err="1">
                <a:solidFill>
                  <a:srgbClr val="008000"/>
                </a:solidFill>
                <a:effectLst/>
              </a:rPr>
              <a:t>y_train</a:t>
            </a:r>
            <a:r>
              <a:rPr lang="en-US" b="0" dirty="0">
                <a:solidFill>
                  <a:srgbClr val="008000"/>
                </a:solidFill>
                <a:effectLst/>
              </a:rPr>
              <a:t>)</a:t>
            </a:r>
            <a:endParaRPr lang="en-US" b="0" dirty="0">
              <a:solidFill>
                <a:srgbClr val="000000"/>
              </a:solidFill>
              <a:effectLst/>
            </a:endParaRPr>
          </a:p>
          <a:p>
            <a:pPr algn="just">
              <a:spcAft>
                <a:spcPts val="600"/>
              </a:spcAft>
              <a:buNone/>
            </a:pPr>
            <a:r>
              <a:rPr lang="en-US" b="0" dirty="0">
                <a:solidFill>
                  <a:srgbClr val="008000"/>
                </a:solidFill>
                <a:effectLst/>
              </a:rPr>
              <a:t>#return </a:t>
            </a:r>
            <a:r>
              <a:rPr lang="en-US" b="0" dirty="0" err="1">
                <a:solidFill>
                  <a:srgbClr val="008000"/>
                </a:solidFill>
                <a:effectLst/>
              </a:rPr>
              <a:t>cnb_pipeline</a:t>
            </a:r>
            <a:endParaRPr lang="en-US" b="0" dirty="0">
              <a:solidFill>
                <a:srgbClr val="000000"/>
              </a:solidFill>
              <a:effectLst/>
            </a:endParaRPr>
          </a:p>
          <a:p>
            <a:pPr algn="just">
              <a:spcAft>
                <a:spcPts val="600"/>
              </a:spcAft>
              <a:buNone/>
            </a:pPr>
            <a:r>
              <a:rPr lang="en-US" b="0" dirty="0">
                <a:solidFill>
                  <a:srgbClr val="008000"/>
                </a:solidFill>
                <a:effectLst/>
              </a:rPr>
              <a:t>#model = </a:t>
            </a:r>
            <a:r>
              <a:rPr lang="en-US" b="0" dirty="0" err="1">
                <a:solidFill>
                  <a:srgbClr val="008000"/>
                </a:solidFill>
                <a:effectLst/>
              </a:rPr>
              <a:t>complement_nb</a:t>
            </a:r>
            <a:r>
              <a:rPr lang="en-US" b="0" dirty="0">
                <a:solidFill>
                  <a:srgbClr val="008000"/>
                </a:solidFill>
                <a:effectLst/>
              </a:rPr>
              <a:t>(X, y)</a:t>
            </a:r>
            <a:endParaRPr lang="en-US" b="0" dirty="0">
              <a:solidFill>
                <a:srgbClr val="000000"/>
              </a:solidFill>
              <a:effectLst/>
            </a:endParaRPr>
          </a:p>
          <a:p>
            <a:pPr algn="just">
              <a:spcAft>
                <a:spcPts val="600"/>
              </a:spcAft>
              <a:buNone/>
            </a:pPr>
            <a:r>
              <a:rPr lang="en-US" b="0" dirty="0">
                <a:solidFill>
                  <a:srgbClr val="008000"/>
                </a:solidFill>
                <a:effectLst/>
              </a:rPr>
              <a:t>#confusion_matrix_plot(model, </a:t>
            </a:r>
            <a:r>
              <a:rPr lang="en-US" b="0" dirty="0" err="1">
                <a:solidFill>
                  <a:srgbClr val="008000"/>
                </a:solidFill>
                <a:effectLst/>
              </a:rPr>
              <a:t>X_train</a:t>
            </a:r>
            <a:r>
              <a:rPr lang="en-US" b="0" dirty="0">
                <a:solidFill>
                  <a:srgbClr val="008000"/>
                </a:solidFill>
                <a:effectLst/>
              </a:rPr>
              <a:t>, </a:t>
            </a:r>
            <a:r>
              <a:rPr lang="en-US" b="0" dirty="0" err="1">
                <a:solidFill>
                  <a:srgbClr val="008000"/>
                </a:solidFill>
                <a:effectLst/>
              </a:rPr>
              <a:t>y_train</a:t>
            </a:r>
            <a:r>
              <a:rPr lang="en-US" b="0" dirty="0">
                <a:solidFill>
                  <a:srgbClr val="008000"/>
                </a:solidFill>
                <a:effectLst/>
              </a:rPr>
              <a:t>, </a:t>
            </a:r>
            <a:r>
              <a:rPr lang="en-US" b="0" dirty="0" err="1">
                <a:solidFill>
                  <a:srgbClr val="008000"/>
                </a:solidFill>
                <a:effectLst/>
              </a:rPr>
              <a:t>X_val</a:t>
            </a:r>
            <a:r>
              <a:rPr lang="en-US" b="0" dirty="0">
                <a:solidFill>
                  <a:srgbClr val="008000"/>
                </a:solidFill>
                <a:effectLst/>
              </a:rPr>
              <a:t>, </a:t>
            </a:r>
            <a:r>
              <a:rPr lang="en-US" b="0" dirty="0" err="1">
                <a:solidFill>
                  <a:srgbClr val="008000"/>
                </a:solidFill>
                <a:effectLst/>
              </a:rPr>
              <a:t>y_val</a:t>
            </a:r>
            <a:r>
              <a:rPr lang="en-US" b="0" dirty="0">
                <a:solidFill>
                  <a:srgbClr val="008000"/>
                </a:solidFill>
                <a:effectLst/>
              </a:rPr>
              <a:t>, "Logistic </a:t>
            </a:r>
            <a:r>
              <a:rPr lang="en-US" b="0" dirty="0" err="1">
                <a:solidFill>
                  <a:srgbClr val="008000"/>
                </a:solidFill>
                <a:effectLst/>
              </a:rPr>
              <a:t>Regresion</a:t>
            </a:r>
            <a:r>
              <a:rPr lang="en-US" b="0" dirty="0">
                <a:solidFill>
                  <a:srgbClr val="008000"/>
                </a:solidFill>
                <a:effectLst/>
              </a:rPr>
              <a:t>")</a:t>
            </a:r>
            <a:endParaRPr lang="en-US" b="0" dirty="0">
              <a:solidFill>
                <a:srgbClr val="000000"/>
              </a:solidFill>
              <a:effectLst/>
            </a:endParaRPr>
          </a:p>
        </p:txBody>
      </p:sp>
      <p:sp>
        <p:nvSpPr>
          <p:cNvPr id="8" name="object 2">
            <a:extLst>
              <a:ext uri="{FF2B5EF4-FFF2-40B4-BE49-F238E27FC236}">
                <a16:creationId xmlns:a16="http://schemas.microsoft.com/office/drawing/2014/main" id="{08DB6EBA-AE22-44A9-FF0C-F9B238E357FB}"/>
              </a:ext>
            </a:extLst>
          </p:cNvPr>
          <p:cNvSpPr txBox="1">
            <a:spLocks/>
          </p:cNvSpPr>
          <p:nvPr/>
        </p:nvSpPr>
        <p:spPr>
          <a:xfrm>
            <a:off x="228600" y="128017"/>
            <a:ext cx="8686800" cy="590472"/>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n-US" dirty="0">
                <a:solidFill>
                  <a:srgbClr val="1F1F1F"/>
                </a:solidFill>
              </a:rPr>
              <a:t>Best Naive Model</a:t>
            </a:r>
          </a:p>
        </p:txBody>
      </p:sp>
    </p:spTree>
    <p:extLst>
      <p:ext uri="{BB962C8B-B14F-4D97-AF65-F5344CB8AC3E}">
        <p14:creationId xmlns:p14="http://schemas.microsoft.com/office/powerpoint/2010/main" val="408076388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2FE916-4103-67CD-79A1-797009529A9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425250-E0CF-0481-4E6C-980661F7B9AE}"/>
              </a:ext>
            </a:extLst>
          </p:cNvPr>
          <p:cNvSpPr>
            <a:spLocks noGrp="1"/>
          </p:cNvSpPr>
          <p:nvPr>
            <p:ph idx="1"/>
          </p:nvPr>
        </p:nvSpPr>
        <p:spPr/>
        <p:txBody>
          <a:bodyPr>
            <a:normAutofit/>
          </a:bodyPr>
          <a:lstStyle/>
          <a:p>
            <a:pPr marL="0" indent="0">
              <a:buNone/>
            </a:pPr>
            <a:r>
              <a:rPr lang="en-US" sz="5400" dirty="0"/>
              <a:t>         </a:t>
            </a:r>
          </a:p>
          <a:p>
            <a:pPr marL="0" indent="0">
              <a:buNone/>
            </a:pPr>
            <a:endParaRPr lang="en-US" sz="5400" dirty="0"/>
          </a:p>
          <a:p>
            <a:pPr marL="0" indent="0">
              <a:buNone/>
            </a:pPr>
            <a:r>
              <a:rPr lang="en-US" sz="5400" dirty="0"/>
              <a:t>              </a:t>
            </a:r>
          </a:p>
        </p:txBody>
      </p:sp>
      <p:sp>
        <p:nvSpPr>
          <p:cNvPr id="5" name="Slide Number Placeholder 4">
            <a:extLst>
              <a:ext uri="{FF2B5EF4-FFF2-40B4-BE49-F238E27FC236}">
                <a16:creationId xmlns:a16="http://schemas.microsoft.com/office/drawing/2014/main" id="{A71D02C1-D6F5-A509-4C4F-D27DD3C91D1A}"/>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91</a:t>
            </a:fld>
            <a:endParaRPr lang="en-US" dirty="0">
              <a:solidFill>
                <a:srgbClr val="000000"/>
              </a:solidFill>
            </a:endParaRPr>
          </a:p>
        </p:txBody>
      </p:sp>
      <p:sp>
        <p:nvSpPr>
          <p:cNvPr id="7" name="TextBox 6">
            <a:extLst>
              <a:ext uri="{FF2B5EF4-FFF2-40B4-BE49-F238E27FC236}">
                <a16:creationId xmlns:a16="http://schemas.microsoft.com/office/drawing/2014/main" id="{FA6554D3-BDD5-8600-7738-07362CA67ACD}"/>
              </a:ext>
            </a:extLst>
          </p:cNvPr>
          <p:cNvSpPr txBox="1"/>
          <p:nvPr/>
        </p:nvSpPr>
        <p:spPr>
          <a:xfrm>
            <a:off x="830326" y="593067"/>
            <a:ext cx="7394448" cy="4893647"/>
          </a:xfrm>
          <a:prstGeom prst="rect">
            <a:avLst/>
          </a:prstGeom>
          <a:noFill/>
        </p:spPr>
        <p:txBody>
          <a:bodyPr wrap="square">
            <a:spAutoFit/>
          </a:bodyPr>
          <a:lstStyle/>
          <a:p>
            <a:pPr indent="1588" algn="just">
              <a:spcAft>
                <a:spcPts val="600"/>
              </a:spcAft>
              <a:buNone/>
            </a:pPr>
            <a:r>
              <a:rPr lang="en-US" b="0" dirty="0">
                <a:solidFill>
                  <a:srgbClr val="008000"/>
                </a:solidFill>
                <a:effectLst/>
              </a:rPr>
              <a:t># Logistic Regression Model Training</a:t>
            </a:r>
            <a:endParaRPr lang="en-US" b="0" dirty="0">
              <a:solidFill>
                <a:srgbClr val="000000"/>
              </a:solidFill>
              <a:effectLst/>
            </a:endParaRPr>
          </a:p>
          <a:p>
            <a:pPr indent="1588" algn="just">
              <a:spcAft>
                <a:spcPts val="600"/>
              </a:spcAft>
              <a:buNone/>
            </a:pPr>
            <a:r>
              <a:rPr lang="en-US" b="0" dirty="0">
                <a:solidFill>
                  <a:srgbClr val="0000FF"/>
                </a:solidFill>
                <a:effectLst/>
              </a:rPr>
              <a:t>def</a:t>
            </a:r>
            <a:r>
              <a:rPr lang="en-US" b="0" dirty="0">
                <a:solidFill>
                  <a:srgbClr val="000000"/>
                </a:solidFill>
                <a:effectLst/>
              </a:rPr>
              <a:t> </a:t>
            </a:r>
            <a:r>
              <a:rPr lang="en-US" b="0" dirty="0" err="1">
                <a:solidFill>
                  <a:srgbClr val="6A5221"/>
                </a:solidFill>
                <a:effectLst/>
              </a:rPr>
              <a:t>logistic_regression_model</a:t>
            </a:r>
            <a:r>
              <a:rPr lang="en-US" b="0" dirty="0">
                <a:solidFill>
                  <a:srgbClr val="000000"/>
                </a:solidFill>
                <a:effectLst/>
              </a:rPr>
              <a:t>(</a:t>
            </a:r>
            <a:r>
              <a:rPr lang="en-US" b="0" dirty="0">
                <a:solidFill>
                  <a:srgbClr val="001080"/>
                </a:solidFill>
                <a:effectLst/>
              </a:rPr>
              <a:t>X</a:t>
            </a:r>
            <a:r>
              <a:rPr lang="en-US" b="0" dirty="0">
                <a:solidFill>
                  <a:srgbClr val="000000"/>
                </a:solidFill>
                <a:effectLst/>
              </a:rPr>
              <a:t>, </a:t>
            </a:r>
            <a:r>
              <a:rPr lang="en-US" b="0" dirty="0">
                <a:solidFill>
                  <a:srgbClr val="001080"/>
                </a:solidFill>
                <a:effectLst/>
              </a:rPr>
              <a:t>y</a:t>
            </a:r>
            <a:r>
              <a:rPr lang="en-US" b="0" dirty="0">
                <a:solidFill>
                  <a:srgbClr val="000000"/>
                </a:solidFill>
                <a:effectLst/>
              </a:rPr>
              <a:t>):</a:t>
            </a:r>
          </a:p>
          <a:p>
            <a:pPr indent="1588" algn="just">
              <a:spcAft>
                <a:spcPts val="600"/>
              </a:spcAft>
              <a:buNone/>
            </a:pPr>
            <a:r>
              <a:rPr lang="en-US" b="0" dirty="0">
                <a:solidFill>
                  <a:srgbClr val="008000"/>
                </a:solidFill>
                <a:effectLst/>
              </a:rPr>
              <a:t># Pipeline for feature extraction and model training</a:t>
            </a:r>
            <a:endParaRPr lang="en-US" b="0" dirty="0">
              <a:solidFill>
                <a:srgbClr val="000000"/>
              </a:solidFill>
              <a:effectLst/>
            </a:endParaRPr>
          </a:p>
          <a:p>
            <a:pPr indent="1588" algn="just">
              <a:spcAft>
                <a:spcPts val="600"/>
              </a:spcAft>
              <a:buNone/>
            </a:pPr>
            <a:r>
              <a:rPr lang="en-US" b="0" dirty="0" err="1">
                <a:solidFill>
                  <a:srgbClr val="000000"/>
                </a:solidFill>
                <a:effectLst/>
              </a:rPr>
              <a:t>lr_pipeline</a:t>
            </a:r>
            <a:r>
              <a:rPr lang="en-US" b="0" dirty="0">
                <a:solidFill>
                  <a:srgbClr val="000000"/>
                </a:solidFill>
                <a:effectLst/>
              </a:rPr>
              <a:t> = Pipeline([</a:t>
            </a:r>
          </a:p>
          <a:p>
            <a:pPr indent="1588" algn="just">
              <a:spcAft>
                <a:spcPts val="600"/>
              </a:spcAft>
              <a:buNone/>
            </a:pPr>
            <a:r>
              <a:rPr lang="en-US" b="0" dirty="0">
                <a:solidFill>
                  <a:srgbClr val="000000"/>
                </a:solidFill>
                <a:effectLst/>
              </a:rPr>
              <a:t>(</a:t>
            </a:r>
            <a:r>
              <a:rPr lang="en-US" b="0" dirty="0">
                <a:solidFill>
                  <a:srgbClr val="A31515"/>
                </a:solidFill>
                <a:effectLst/>
              </a:rPr>
              <a:t>'</a:t>
            </a:r>
            <a:r>
              <a:rPr lang="en-US" b="0" dirty="0" err="1">
                <a:solidFill>
                  <a:srgbClr val="A31515"/>
                </a:solidFill>
                <a:effectLst/>
              </a:rPr>
              <a:t>vect</a:t>
            </a:r>
            <a:r>
              <a:rPr lang="en-US" b="0" dirty="0">
                <a:solidFill>
                  <a:srgbClr val="A31515"/>
                </a:solidFill>
                <a:effectLst/>
              </a:rPr>
              <a:t>'</a:t>
            </a:r>
            <a:r>
              <a:rPr lang="en-US" b="0" dirty="0">
                <a:solidFill>
                  <a:srgbClr val="000000"/>
                </a:solidFill>
                <a:effectLst/>
              </a:rPr>
              <a:t>, </a:t>
            </a:r>
            <a:r>
              <a:rPr lang="en-US" b="0" dirty="0" err="1">
                <a:solidFill>
                  <a:srgbClr val="000000"/>
                </a:solidFill>
                <a:effectLst/>
              </a:rPr>
              <a:t>CountVectorizer</a:t>
            </a:r>
            <a:r>
              <a:rPr lang="en-US" b="0" dirty="0">
                <a:solidFill>
                  <a:srgbClr val="000000"/>
                </a:solidFill>
                <a:effectLst/>
              </a:rPr>
              <a:t>()),</a:t>
            </a:r>
          </a:p>
          <a:p>
            <a:pPr indent="1588" algn="just">
              <a:spcAft>
                <a:spcPts val="600"/>
              </a:spcAft>
              <a:buNone/>
            </a:pPr>
            <a:r>
              <a:rPr lang="en-US" b="0" dirty="0">
                <a:solidFill>
                  <a:srgbClr val="000000"/>
                </a:solidFill>
                <a:effectLst/>
              </a:rPr>
              <a:t>(</a:t>
            </a:r>
            <a:r>
              <a:rPr lang="en-US" b="0" dirty="0">
                <a:solidFill>
                  <a:srgbClr val="A31515"/>
                </a:solidFill>
                <a:effectLst/>
              </a:rPr>
              <a:t>'</a:t>
            </a:r>
            <a:r>
              <a:rPr lang="en-US" b="0" dirty="0" err="1">
                <a:solidFill>
                  <a:srgbClr val="A31515"/>
                </a:solidFill>
                <a:effectLst/>
              </a:rPr>
              <a:t>tfidf</a:t>
            </a:r>
            <a:r>
              <a:rPr lang="en-US" b="0" dirty="0">
                <a:solidFill>
                  <a:srgbClr val="A31515"/>
                </a:solidFill>
                <a:effectLst/>
              </a:rPr>
              <a:t>'</a:t>
            </a:r>
            <a:r>
              <a:rPr lang="en-US" b="0" dirty="0">
                <a:solidFill>
                  <a:srgbClr val="000000"/>
                </a:solidFill>
                <a:effectLst/>
              </a:rPr>
              <a:t>, </a:t>
            </a:r>
            <a:r>
              <a:rPr lang="en-US" b="0" dirty="0" err="1">
                <a:solidFill>
                  <a:srgbClr val="000000"/>
                </a:solidFill>
                <a:effectLst/>
              </a:rPr>
              <a:t>TfidfTransformer</a:t>
            </a:r>
            <a:r>
              <a:rPr lang="en-US" b="0" dirty="0">
                <a:solidFill>
                  <a:srgbClr val="000000"/>
                </a:solidFill>
                <a:effectLst/>
              </a:rPr>
              <a:t>()),</a:t>
            </a:r>
          </a:p>
          <a:p>
            <a:pPr indent="1588" algn="just">
              <a:spcAft>
                <a:spcPts val="600"/>
              </a:spcAft>
              <a:buNone/>
            </a:pPr>
            <a:r>
              <a:rPr lang="en-US" b="0" dirty="0">
                <a:solidFill>
                  <a:srgbClr val="000000"/>
                </a:solidFill>
                <a:effectLst/>
              </a:rPr>
              <a:t>(</a:t>
            </a:r>
            <a:r>
              <a:rPr lang="en-US" b="0" dirty="0">
                <a:solidFill>
                  <a:srgbClr val="A31515"/>
                </a:solidFill>
                <a:effectLst/>
              </a:rPr>
              <a:t>'</a:t>
            </a:r>
            <a:r>
              <a:rPr lang="en-US" b="0" dirty="0" err="1">
                <a:solidFill>
                  <a:srgbClr val="A31515"/>
                </a:solidFill>
                <a:effectLst/>
              </a:rPr>
              <a:t>clf</a:t>
            </a:r>
            <a:r>
              <a:rPr lang="en-US" b="0" dirty="0">
                <a:solidFill>
                  <a:srgbClr val="A31515"/>
                </a:solidFill>
                <a:effectLst/>
              </a:rPr>
              <a:t>'</a:t>
            </a:r>
            <a:r>
              <a:rPr lang="en-US" b="0" dirty="0">
                <a:solidFill>
                  <a:srgbClr val="000000"/>
                </a:solidFill>
                <a:effectLst/>
              </a:rPr>
              <a:t>, </a:t>
            </a:r>
            <a:r>
              <a:rPr lang="en-US" b="0" dirty="0" err="1">
                <a:solidFill>
                  <a:srgbClr val="000000"/>
                </a:solidFill>
                <a:effectLst/>
              </a:rPr>
              <a:t>LogisticRegression</a:t>
            </a:r>
            <a:r>
              <a:rPr lang="en-US" b="0" dirty="0">
                <a:solidFill>
                  <a:srgbClr val="000000"/>
                </a:solidFill>
                <a:effectLst/>
              </a:rPr>
              <a:t>())</a:t>
            </a:r>
          </a:p>
          <a:p>
            <a:pPr indent="1588" algn="just">
              <a:spcAft>
                <a:spcPts val="600"/>
              </a:spcAft>
              <a:buNone/>
            </a:pPr>
            <a:r>
              <a:rPr lang="en-US" b="0" dirty="0">
                <a:solidFill>
                  <a:srgbClr val="000000"/>
                </a:solidFill>
                <a:effectLst/>
              </a:rPr>
              <a:t>])</a:t>
            </a:r>
          </a:p>
          <a:p>
            <a:pPr indent="1588" algn="just">
              <a:spcAft>
                <a:spcPts val="600"/>
              </a:spcAft>
              <a:buNone/>
            </a:pPr>
            <a:r>
              <a:rPr lang="en-US" b="0" dirty="0" err="1">
                <a:solidFill>
                  <a:srgbClr val="000000"/>
                </a:solidFill>
                <a:effectLst/>
              </a:rPr>
              <a:t>lr_pipeline.fit</a:t>
            </a:r>
            <a:r>
              <a:rPr lang="en-US" b="0" dirty="0">
                <a:solidFill>
                  <a:srgbClr val="000000"/>
                </a:solidFill>
                <a:effectLst/>
              </a:rPr>
              <a:t>(</a:t>
            </a:r>
            <a:r>
              <a:rPr lang="en-US" b="0" dirty="0" err="1">
                <a:solidFill>
                  <a:srgbClr val="000000"/>
                </a:solidFill>
                <a:effectLst/>
              </a:rPr>
              <a:t>X_train</a:t>
            </a:r>
            <a:r>
              <a:rPr lang="en-US" b="0" dirty="0">
                <a:solidFill>
                  <a:srgbClr val="000000"/>
                </a:solidFill>
                <a:effectLst/>
              </a:rPr>
              <a:t>, </a:t>
            </a:r>
            <a:r>
              <a:rPr lang="en-US" b="0" dirty="0" err="1">
                <a:solidFill>
                  <a:srgbClr val="000000"/>
                </a:solidFill>
                <a:effectLst/>
              </a:rPr>
              <a:t>y_train</a:t>
            </a:r>
            <a:r>
              <a:rPr lang="en-US" b="0" dirty="0">
                <a:solidFill>
                  <a:srgbClr val="000000"/>
                </a:solidFill>
                <a:effectLst/>
              </a:rPr>
              <a:t>)</a:t>
            </a:r>
          </a:p>
          <a:p>
            <a:pPr indent="1588" algn="just">
              <a:spcAft>
                <a:spcPts val="600"/>
              </a:spcAft>
              <a:buNone/>
            </a:pPr>
            <a:r>
              <a:rPr lang="en-US" b="0" dirty="0">
                <a:solidFill>
                  <a:srgbClr val="9723B4"/>
                </a:solidFill>
                <a:effectLst/>
              </a:rPr>
              <a:t>return</a:t>
            </a:r>
            <a:r>
              <a:rPr lang="en-US" b="0" dirty="0">
                <a:solidFill>
                  <a:srgbClr val="000000"/>
                </a:solidFill>
                <a:effectLst/>
              </a:rPr>
              <a:t> </a:t>
            </a:r>
            <a:r>
              <a:rPr lang="en-US" b="0" dirty="0" err="1">
                <a:solidFill>
                  <a:srgbClr val="000000"/>
                </a:solidFill>
                <a:effectLst/>
              </a:rPr>
              <a:t>lr_pipeline</a:t>
            </a:r>
            <a:endParaRPr lang="en-US" b="0" dirty="0">
              <a:solidFill>
                <a:srgbClr val="000000"/>
              </a:solidFill>
              <a:effectLst/>
            </a:endParaRPr>
          </a:p>
          <a:p>
            <a:pPr indent="1588" algn="just">
              <a:spcAft>
                <a:spcPts val="600"/>
              </a:spcAft>
              <a:buNone/>
            </a:pPr>
            <a:endParaRPr lang="en-US" b="0" dirty="0">
              <a:solidFill>
                <a:srgbClr val="000000"/>
              </a:solidFill>
              <a:effectLst/>
            </a:endParaRPr>
          </a:p>
          <a:p>
            <a:pPr indent="1588" algn="just">
              <a:spcAft>
                <a:spcPts val="600"/>
              </a:spcAft>
              <a:buNone/>
            </a:pPr>
            <a:r>
              <a:rPr lang="en-US" b="0" dirty="0">
                <a:solidFill>
                  <a:srgbClr val="000000"/>
                </a:solidFill>
                <a:effectLst/>
              </a:rPr>
              <a:t>model = </a:t>
            </a:r>
            <a:r>
              <a:rPr lang="en-US" b="0" dirty="0" err="1">
                <a:solidFill>
                  <a:srgbClr val="000000"/>
                </a:solidFill>
                <a:effectLst/>
              </a:rPr>
              <a:t>logistic_regression_model</a:t>
            </a:r>
            <a:r>
              <a:rPr lang="en-US" b="0" dirty="0">
                <a:solidFill>
                  <a:srgbClr val="000000"/>
                </a:solidFill>
                <a:effectLst/>
              </a:rPr>
              <a:t>(X, y)</a:t>
            </a:r>
          </a:p>
          <a:p>
            <a:pPr indent="1588" algn="just">
              <a:spcAft>
                <a:spcPts val="600"/>
              </a:spcAft>
              <a:buNone/>
            </a:pPr>
            <a:r>
              <a:rPr lang="en-US" b="0" dirty="0" err="1">
                <a:solidFill>
                  <a:srgbClr val="000000"/>
                </a:solidFill>
                <a:effectLst/>
              </a:rPr>
              <a:t>confusion_matrix_plot</a:t>
            </a:r>
            <a:r>
              <a:rPr lang="en-US" b="0" dirty="0">
                <a:solidFill>
                  <a:srgbClr val="000000"/>
                </a:solidFill>
                <a:effectLst/>
              </a:rPr>
              <a:t>(model, </a:t>
            </a:r>
            <a:r>
              <a:rPr lang="en-US" b="0" dirty="0" err="1">
                <a:solidFill>
                  <a:srgbClr val="000000"/>
                </a:solidFill>
                <a:effectLst/>
              </a:rPr>
              <a:t>X_train</a:t>
            </a:r>
            <a:r>
              <a:rPr lang="en-US" b="0" dirty="0">
                <a:solidFill>
                  <a:srgbClr val="000000"/>
                </a:solidFill>
                <a:effectLst/>
              </a:rPr>
              <a:t>, </a:t>
            </a:r>
            <a:r>
              <a:rPr lang="en-US" b="0" dirty="0" err="1">
                <a:solidFill>
                  <a:srgbClr val="000000"/>
                </a:solidFill>
                <a:effectLst/>
              </a:rPr>
              <a:t>y_train</a:t>
            </a:r>
            <a:r>
              <a:rPr lang="en-US" b="0" dirty="0">
                <a:solidFill>
                  <a:srgbClr val="000000"/>
                </a:solidFill>
                <a:effectLst/>
              </a:rPr>
              <a:t>, </a:t>
            </a:r>
            <a:r>
              <a:rPr lang="en-US" b="0" dirty="0" err="1">
                <a:solidFill>
                  <a:srgbClr val="000000"/>
                </a:solidFill>
                <a:effectLst/>
              </a:rPr>
              <a:t>X_val</a:t>
            </a:r>
            <a:r>
              <a:rPr lang="en-US" b="0" dirty="0">
                <a:solidFill>
                  <a:srgbClr val="000000"/>
                </a:solidFill>
                <a:effectLst/>
              </a:rPr>
              <a:t>, </a:t>
            </a:r>
            <a:r>
              <a:rPr lang="en-US" b="0" dirty="0" err="1">
                <a:solidFill>
                  <a:srgbClr val="000000"/>
                </a:solidFill>
                <a:effectLst/>
              </a:rPr>
              <a:t>y_val</a:t>
            </a:r>
            <a:r>
              <a:rPr lang="en-US" b="0" dirty="0">
                <a:solidFill>
                  <a:srgbClr val="000000"/>
                </a:solidFill>
                <a:effectLst/>
              </a:rPr>
              <a:t>, </a:t>
            </a:r>
            <a:r>
              <a:rPr lang="en-US" b="0" dirty="0">
                <a:solidFill>
                  <a:srgbClr val="A31515"/>
                </a:solidFill>
                <a:effectLst/>
              </a:rPr>
              <a:t>"Logistic </a:t>
            </a:r>
            <a:r>
              <a:rPr lang="en-US" b="0" dirty="0" err="1">
                <a:solidFill>
                  <a:srgbClr val="A31515"/>
                </a:solidFill>
                <a:effectLst/>
              </a:rPr>
              <a:t>Regresion</a:t>
            </a:r>
            <a:r>
              <a:rPr lang="en-US" b="0" dirty="0">
                <a:solidFill>
                  <a:srgbClr val="A31515"/>
                </a:solidFill>
                <a:effectLst/>
              </a:rPr>
              <a:t>"</a:t>
            </a:r>
            <a:r>
              <a:rPr lang="en-US" b="0" dirty="0">
                <a:solidFill>
                  <a:srgbClr val="000000"/>
                </a:solidFill>
                <a:effectLst/>
              </a:rPr>
              <a:t>)</a:t>
            </a:r>
          </a:p>
        </p:txBody>
      </p:sp>
      <p:sp>
        <p:nvSpPr>
          <p:cNvPr id="10" name="object 2">
            <a:extLst>
              <a:ext uri="{FF2B5EF4-FFF2-40B4-BE49-F238E27FC236}">
                <a16:creationId xmlns:a16="http://schemas.microsoft.com/office/drawing/2014/main" id="{15CB0F5B-3E4F-E0A7-FDFE-F0BD5A2D0657}"/>
              </a:ext>
            </a:extLst>
          </p:cNvPr>
          <p:cNvSpPr txBox="1">
            <a:spLocks/>
          </p:cNvSpPr>
          <p:nvPr/>
        </p:nvSpPr>
        <p:spPr>
          <a:xfrm>
            <a:off x="228600" y="128017"/>
            <a:ext cx="8686800" cy="590472"/>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n-US" dirty="0">
                <a:solidFill>
                  <a:srgbClr val="1F1F1F"/>
                </a:solidFill>
              </a:rPr>
              <a:t>Logistic Regression Model</a:t>
            </a:r>
            <a:endParaRPr lang="en-US" dirty="0"/>
          </a:p>
        </p:txBody>
      </p:sp>
    </p:spTree>
    <p:extLst>
      <p:ext uri="{BB962C8B-B14F-4D97-AF65-F5344CB8AC3E}">
        <p14:creationId xmlns:p14="http://schemas.microsoft.com/office/powerpoint/2010/main" val="359944045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F3A9E6-77A9-9D5C-6EA0-AE949113E5D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D27CC4-BFF2-ED09-BC54-BE7A7F44F39E}"/>
              </a:ext>
            </a:extLst>
          </p:cNvPr>
          <p:cNvSpPr>
            <a:spLocks noGrp="1"/>
          </p:cNvSpPr>
          <p:nvPr>
            <p:ph idx="1"/>
          </p:nvPr>
        </p:nvSpPr>
        <p:spPr/>
        <p:txBody>
          <a:bodyPr>
            <a:normAutofit/>
          </a:bodyPr>
          <a:lstStyle/>
          <a:p>
            <a:pPr marL="0" indent="0">
              <a:buNone/>
            </a:pPr>
            <a:r>
              <a:rPr lang="en-US" sz="5400" dirty="0"/>
              <a:t>         </a:t>
            </a:r>
          </a:p>
          <a:p>
            <a:pPr marL="0" indent="0">
              <a:buNone/>
            </a:pPr>
            <a:endParaRPr lang="en-US" sz="5400" dirty="0"/>
          </a:p>
          <a:p>
            <a:pPr marL="0" indent="0">
              <a:buNone/>
            </a:pPr>
            <a:r>
              <a:rPr lang="en-US" sz="5400" dirty="0"/>
              <a:t>              </a:t>
            </a:r>
          </a:p>
        </p:txBody>
      </p:sp>
      <p:sp>
        <p:nvSpPr>
          <p:cNvPr id="5" name="Slide Number Placeholder 4">
            <a:extLst>
              <a:ext uri="{FF2B5EF4-FFF2-40B4-BE49-F238E27FC236}">
                <a16:creationId xmlns:a16="http://schemas.microsoft.com/office/drawing/2014/main" id="{28C0880A-2509-1263-989C-A348AA4ECD60}"/>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92</a:t>
            </a:fld>
            <a:endParaRPr lang="en-US" dirty="0">
              <a:solidFill>
                <a:srgbClr val="000000"/>
              </a:solidFill>
            </a:endParaRPr>
          </a:p>
        </p:txBody>
      </p:sp>
      <p:sp>
        <p:nvSpPr>
          <p:cNvPr id="7" name="TextBox 6">
            <a:extLst>
              <a:ext uri="{FF2B5EF4-FFF2-40B4-BE49-F238E27FC236}">
                <a16:creationId xmlns:a16="http://schemas.microsoft.com/office/drawing/2014/main" id="{8483B165-DBFB-3E1D-0846-30825B3DD088}"/>
              </a:ext>
            </a:extLst>
          </p:cNvPr>
          <p:cNvSpPr txBox="1"/>
          <p:nvPr/>
        </p:nvSpPr>
        <p:spPr>
          <a:xfrm>
            <a:off x="830326" y="593067"/>
            <a:ext cx="7394448" cy="5724644"/>
          </a:xfrm>
          <a:custGeom>
            <a:avLst/>
            <a:gdLst>
              <a:gd name="connsiteX0" fmla="*/ 0 w 7394448"/>
              <a:gd name="connsiteY0" fmla="*/ 0 h 5724644"/>
              <a:gd name="connsiteX1" fmla="*/ 7394448 w 7394448"/>
              <a:gd name="connsiteY1" fmla="*/ 0 h 5724644"/>
              <a:gd name="connsiteX2" fmla="*/ 7394448 w 7394448"/>
              <a:gd name="connsiteY2" fmla="*/ 5724644 h 5724644"/>
              <a:gd name="connsiteX3" fmla="*/ 0 w 7394448"/>
              <a:gd name="connsiteY3" fmla="*/ 5724644 h 5724644"/>
              <a:gd name="connsiteX4" fmla="*/ 0 w 7394448"/>
              <a:gd name="connsiteY4" fmla="*/ 0 h 5724644"/>
              <a:gd name="connsiteX0" fmla="*/ 0 w 7394448"/>
              <a:gd name="connsiteY0" fmla="*/ 0 h 5724644"/>
              <a:gd name="connsiteX1" fmla="*/ 7394448 w 7394448"/>
              <a:gd name="connsiteY1" fmla="*/ 0 h 5724644"/>
              <a:gd name="connsiteX2" fmla="*/ 7394448 w 7394448"/>
              <a:gd name="connsiteY2" fmla="*/ 5724644 h 5724644"/>
              <a:gd name="connsiteX3" fmla="*/ 0 w 7394448"/>
              <a:gd name="connsiteY3" fmla="*/ 5419844 h 5724644"/>
              <a:gd name="connsiteX4" fmla="*/ 0 w 7394448"/>
              <a:gd name="connsiteY4" fmla="*/ 0 h 5724644"/>
              <a:gd name="connsiteX0" fmla="*/ 0 w 7394448"/>
              <a:gd name="connsiteY0" fmla="*/ 0 h 5419844"/>
              <a:gd name="connsiteX1" fmla="*/ 7394448 w 7394448"/>
              <a:gd name="connsiteY1" fmla="*/ 0 h 5419844"/>
              <a:gd name="connsiteX2" fmla="*/ 7394448 w 7394448"/>
              <a:gd name="connsiteY2" fmla="*/ 5392950 h 5419844"/>
              <a:gd name="connsiteX3" fmla="*/ 0 w 7394448"/>
              <a:gd name="connsiteY3" fmla="*/ 5419844 h 5419844"/>
              <a:gd name="connsiteX4" fmla="*/ 0 w 7394448"/>
              <a:gd name="connsiteY4" fmla="*/ 0 h 54198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4448" h="5419844">
                <a:moveTo>
                  <a:pt x="0" y="0"/>
                </a:moveTo>
                <a:lnTo>
                  <a:pt x="7394448" y="0"/>
                </a:lnTo>
                <a:lnTo>
                  <a:pt x="7394448" y="5392950"/>
                </a:lnTo>
                <a:lnTo>
                  <a:pt x="0" y="5419844"/>
                </a:lnTo>
                <a:lnTo>
                  <a:pt x="0" y="0"/>
                </a:lnTo>
                <a:close/>
              </a:path>
            </a:pathLst>
          </a:custGeom>
          <a:noFill/>
        </p:spPr>
        <p:txBody>
          <a:bodyPr wrap="square">
            <a:spAutoFit/>
          </a:bodyPr>
          <a:lstStyle/>
          <a:p>
            <a:pPr algn="just">
              <a:spcAft>
                <a:spcPts val="600"/>
              </a:spcAft>
            </a:pPr>
            <a:r>
              <a:rPr lang="en-US" dirty="0"/>
              <a:t>def </a:t>
            </a:r>
            <a:r>
              <a:rPr lang="en-US" dirty="0" err="1"/>
              <a:t>compute_metrics</a:t>
            </a:r>
            <a:r>
              <a:rPr lang="en-US" dirty="0"/>
              <a:t>(model, </a:t>
            </a:r>
            <a:r>
              <a:rPr lang="en-US" dirty="0" err="1"/>
              <a:t>X_train</a:t>
            </a:r>
            <a:r>
              <a:rPr lang="en-US" dirty="0"/>
              <a:t>, </a:t>
            </a:r>
            <a:r>
              <a:rPr lang="en-US" dirty="0" err="1"/>
              <a:t>y_train</a:t>
            </a:r>
            <a:r>
              <a:rPr lang="en-US" dirty="0"/>
              <a:t>, </a:t>
            </a:r>
            <a:r>
              <a:rPr lang="en-US" dirty="0" err="1"/>
              <a:t>X_val</a:t>
            </a:r>
            <a:r>
              <a:rPr lang="en-US" dirty="0"/>
              <a:t>, </a:t>
            </a:r>
            <a:r>
              <a:rPr lang="en-US" dirty="0" err="1"/>
              <a:t>y_val</a:t>
            </a:r>
            <a:r>
              <a:rPr lang="en-US" dirty="0"/>
              <a:t>): # Metrics </a:t>
            </a:r>
            <a:r>
              <a:rPr lang="en-US" dirty="0" err="1"/>
              <a:t>func</a:t>
            </a:r>
            <a:endParaRPr lang="en-US" dirty="0"/>
          </a:p>
          <a:p>
            <a:pPr algn="just">
              <a:spcAft>
                <a:spcPts val="600"/>
              </a:spcAft>
            </a:pPr>
            <a:r>
              <a:rPr lang="en-US" dirty="0"/>
              <a:t>metrics = {}</a:t>
            </a:r>
          </a:p>
          <a:p>
            <a:pPr algn="just">
              <a:spcAft>
                <a:spcPts val="600"/>
              </a:spcAft>
            </a:pPr>
            <a:br>
              <a:rPr lang="en-US" dirty="0"/>
            </a:br>
            <a:r>
              <a:rPr lang="en-US" dirty="0"/>
              <a:t>for dataset, X, y in [("Train", </a:t>
            </a:r>
            <a:r>
              <a:rPr lang="en-US" dirty="0" err="1"/>
              <a:t>X_train</a:t>
            </a:r>
            <a:r>
              <a:rPr lang="en-US" dirty="0"/>
              <a:t>, </a:t>
            </a:r>
            <a:r>
              <a:rPr lang="en-US" dirty="0" err="1"/>
              <a:t>y_train</a:t>
            </a:r>
            <a:r>
              <a:rPr lang="en-US" dirty="0"/>
              <a:t>), ("Validation", </a:t>
            </a:r>
            <a:r>
              <a:rPr lang="en-US" dirty="0" err="1"/>
              <a:t>X_val</a:t>
            </a:r>
            <a:r>
              <a:rPr lang="en-US" dirty="0"/>
              <a:t>, </a:t>
            </a:r>
            <a:r>
              <a:rPr lang="en-US" dirty="0" err="1"/>
              <a:t>y_val</a:t>
            </a:r>
            <a:r>
              <a:rPr lang="en-US" dirty="0"/>
              <a:t>)]:</a:t>
            </a:r>
          </a:p>
          <a:p>
            <a:pPr algn="just">
              <a:spcAft>
                <a:spcPts val="600"/>
              </a:spcAft>
            </a:pPr>
            <a:r>
              <a:rPr lang="en-US" dirty="0" err="1"/>
              <a:t>y_pred</a:t>
            </a:r>
            <a:r>
              <a:rPr lang="en-US" dirty="0"/>
              <a:t> = </a:t>
            </a:r>
            <a:r>
              <a:rPr lang="en-US" dirty="0" err="1"/>
              <a:t>model.predict</a:t>
            </a:r>
            <a:r>
              <a:rPr lang="en-US" dirty="0"/>
              <a:t>(X)</a:t>
            </a:r>
          </a:p>
          <a:p>
            <a:pPr algn="just">
              <a:spcAft>
                <a:spcPts val="600"/>
              </a:spcAft>
            </a:pPr>
            <a:r>
              <a:rPr lang="en-US" dirty="0"/>
              <a:t>cm = </a:t>
            </a:r>
            <a:r>
              <a:rPr lang="en-US" dirty="0" err="1"/>
              <a:t>confusion_matrix</a:t>
            </a:r>
            <a:r>
              <a:rPr lang="en-US" dirty="0"/>
              <a:t>(y, </a:t>
            </a:r>
            <a:r>
              <a:rPr lang="en-US" dirty="0" err="1"/>
              <a:t>y_pred</a:t>
            </a:r>
            <a:r>
              <a:rPr lang="en-US" dirty="0"/>
              <a:t>)</a:t>
            </a:r>
          </a:p>
          <a:p>
            <a:pPr algn="just">
              <a:spcAft>
                <a:spcPts val="600"/>
              </a:spcAft>
            </a:pPr>
            <a:br>
              <a:rPr lang="en-US" dirty="0"/>
            </a:br>
            <a:r>
              <a:rPr lang="en-US" dirty="0" err="1"/>
              <a:t>tn</a:t>
            </a:r>
            <a:r>
              <a:rPr lang="en-US" dirty="0"/>
              <a:t>, </a:t>
            </a:r>
            <a:r>
              <a:rPr lang="en-US" dirty="0" err="1"/>
              <a:t>fp</a:t>
            </a:r>
            <a:r>
              <a:rPr lang="en-US" dirty="0"/>
              <a:t>, </a:t>
            </a:r>
            <a:r>
              <a:rPr lang="en-US" dirty="0" err="1"/>
              <a:t>fn</a:t>
            </a:r>
            <a:r>
              <a:rPr lang="en-US" dirty="0"/>
              <a:t>, </a:t>
            </a:r>
            <a:r>
              <a:rPr lang="en-US" dirty="0" err="1"/>
              <a:t>tp</a:t>
            </a:r>
            <a:r>
              <a:rPr lang="en-US" dirty="0"/>
              <a:t> = </a:t>
            </a:r>
            <a:r>
              <a:rPr lang="en-US" dirty="0" err="1"/>
              <a:t>cm.ravel</a:t>
            </a:r>
            <a:r>
              <a:rPr lang="en-US" dirty="0"/>
              <a:t>()</a:t>
            </a:r>
          </a:p>
          <a:p>
            <a:pPr algn="just">
              <a:spcAft>
                <a:spcPts val="600"/>
              </a:spcAft>
            </a:pPr>
            <a:r>
              <a:rPr lang="en-US" dirty="0"/>
              <a:t>accuracy = (</a:t>
            </a:r>
            <a:r>
              <a:rPr lang="en-US" dirty="0" err="1"/>
              <a:t>tp</a:t>
            </a:r>
            <a:r>
              <a:rPr lang="en-US" dirty="0"/>
              <a:t> + </a:t>
            </a:r>
            <a:r>
              <a:rPr lang="en-US" dirty="0" err="1"/>
              <a:t>tn</a:t>
            </a:r>
            <a:r>
              <a:rPr lang="en-US" dirty="0"/>
              <a:t>) / </a:t>
            </a:r>
            <a:r>
              <a:rPr lang="en-US" dirty="0" err="1"/>
              <a:t>cm.sum</a:t>
            </a:r>
            <a:r>
              <a:rPr lang="en-US" dirty="0"/>
              <a:t>()</a:t>
            </a:r>
          </a:p>
          <a:p>
            <a:pPr algn="just">
              <a:spcAft>
                <a:spcPts val="600"/>
              </a:spcAft>
            </a:pPr>
            <a:r>
              <a:rPr lang="en-US" dirty="0"/>
              <a:t>sensitivity = </a:t>
            </a:r>
            <a:r>
              <a:rPr lang="en-US" dirty="0" err="1"/>
              <a:t>tp</a:t>
            </a:r>
            <a:r>
              <a:rPr lang="en-US" dirty="0"/>
              <a:t> / (</a:t>
            </a:r>
            <a:r>
              <a:rPr lang="en-US" dirty="0" err="1"/>
              <a:t>tp</a:t>
            </a:r>
            <a:r>
              <a:rPr lang="en-US" dirty="0"/>
              <a:t> + </a:t>
            </a:r>
            <a:r>
              <a:rPr lang="en-US" dirty="0" err="1"/>
              <a:t>fn</a:t>
            </a:r>
            <a:r>
              <a:rPr lang="en-US" dirty="0"/>
              <a:t>) if (</a:t>
            </a:r>
            <a:r>
              <a:rPr lang="en-US" dirty="0" err="1"/>
              <a:t>tp</a:t>
            </a:r>
            <a:r>
              <a:rPr lang="en-US" dirty="0"/>
              <a:t> + </a:t>
            </a:r>
            <a:r>
              <a:rPr lang="en-US" dirty="0" err="1"/>
              <a:t>fn</a:t>
            </a:r>
            <a:r>
              <a:rPr lang="en-US" dirty="0"/>
              <a:t>) != 0 else 0  # Recall</a:t>
            </a:r>
          </a:p>
          <a:p>
            <a:pPr algn="just">
              <a:spcAft>
                <a:spcPts val="600"/>
              </a:spcAft>
            </a:pPr>
            <a:r>
              <a:rPr lang="en-US" dirty="0"/>
              <a:t>specificity = </a:t>
            </a:r>
            <a:r>
              <a:rPr lang="en-US" dirty="0" err="1"/>
              <a:t>tn</a:t>
            </a:r>
            <a:r>
              <a:rPr lang="en-US" dirty="0"/>
              <a:t> / (</a:t>
            </a:r>
            <a:r>
              <a:rPr lang="en-US" dirty="0" err="1"/>
              <a:t>tn</a:t>
            </a:r>
            <a:r>
              <a:rPr lang="en-US" dirty="0"/>
              <a:t> + </a:t>
            </a:r>
            <a:r>
              <a:rPr lang="en-US" dirty="0" err="1"/>
              <a:t>fp</a:t>
            </a:r>
            <a:r>
              <a:rPr lang="en-US" dirty="0"/>
              <a:t>) if (</a:t>
            </a:r>
            <a:r>
              <a:rPr lang="en-US" dirty="0" err="1"/>
              <a:t>tn</a:t>
            </a:r>
            <a:r>
              <a:rPr lang="en-US" dirty="0"/>
              <a:t> + </a:t>
            </a:r>
            <a:r>
              <a:rPr lang="en-US" dirty="0" err="1"/>
              <a:t>fp</a:t>
            </a:r>
            <a:r>
              <a:rPr lang="en-US" dirty="0"/>
              <a:t>) != 0 else 0</a:t>
            </a:r>
          </a:p>
          <a:p>
            <a:pPr algn="just">
              <a:spcAft>
                <a:spcPts val="600"/>
              </a:spcAft>
            </a:pPr>
            <a:r>
              <a:rPr lang="en-US" dirty="0"/>
              <a:t>precision = </a:t>
            </a:r>
            <a:r>
              <a:rPr lang="en-US" dirty="0" err="1"/>
              <a:t>tp</a:t>
            </a:r>
            <a:r>
              <a:rPr lang="en-US" dirty="0"/>
              <a:t> / (</a:t>
            </a:r>
            <a:r>
              <a:rPr lang="en-US" dirty="0" err="1"/>
              <a:t>tp</a:t>
            </a:r>
            <a:r>
              <a:rPr lang="en-US" dirty="0"/>
              <a:t> + </a:t>
            </a:r>
            <a:r>
              <a:rPr lang="en-US" dirty="0" err="1"/>
              <a:t>fp</a:t>
            </a:r>
            <a:r>
              <a:rPr lang="en-US" dirty="0"/>
              <a:t>) if (</a:t>
            </a:r>
            <a:r>
              <a:rPr lang="en-US" dirty="0" err="1"/>
              <a:t>tp</a:t>
            </a:r>
            <a:r>
              <a:rPr lang="en-US" dirty="0"/>
              <a:t> + </a:t>
            </a:r>
            <a:r>
              <a:rPr lang="en-US" dirty="0" err="1"/>
              <a:t>fp</a:t>
            </a:r>
            <a:r>
              <a:rPr lang="en-US" dirty="0"/>
              <a:t>) != 0 else 0</a:t>
            </a:r>
          </a:p>
          <a:p>
            <a:pPr algn="just">
              <a:spcAft>
                <a:spcPts val="600"/>
              </a:spcAft>
            </a:pPr>
            <a:br>
              <a:rPr lang="en-US" dirty="0"/>
            </a:br>
            <a:r>
              <a:rPr lang="en-US" dirty="0"/>
              <a:t>metrics[dataset] = [accuracy, sensitivity, precision, specificity]</a:t>
            </a:r>
          </a:p>
          <a:p>
            <a:pPr algn="just">
              <a:spcAft>
                <a:spcPts val="600"/>
              </a:spcAft>
            </a:pPr>
            <a:r>
              <a:rPr lang="en-US" dirty="0"/>
              <a:t>return metrics</a:t>
            </a:r>
          </a:p>
          <a:p>
            <a:pPr algn="just">
              <a:spcAft>
                <a:spcPts val="600"/>
              </a:spcAft>
            </a:pPr>
            <a:br>
              <a:rPr lang="en-US" dirty="0"/>
            </a:br>
            <a:endParaRPr lang="en-US" dirty="0"/>
          </a:p>
        </p:txBody>
      </p:sp>
    </p:spTree>
    <p:extLst>
      <p:ext uri="{BB962C8B-B14F-4D97-AF65-F5344CB8AC3E}">
        <p14:creationId xmlns:p14="http://schemas.microsoft.com/office/powerpoint/2010/main" val="250639758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F00FF9-D08A-3335-1DC9-F7C53C1605C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630845D-AA84-6A07-2385-6D07AB77A226}"/>
              </a:ext>
            </a:extLst>
          </p:cNvPr>
          <p:cNvSpPr>
            <a:spLocks noGrp="1"/>
          </p:cNvSpPr>
          <p:nvPr>
            <p:ph idx="1"/>
          </p:nvPr>
        </p:nvSpPr>
        <p:spPr/>
        <p:txBody>
          <a:bodyPr>
            <a:normAutofit/>
          </a:bodyPr>
          <a:lstStyle/>
          <a:p>
            <a:pPr marL="0" indent="0">
              <a:buNone/>
            </a:pPr>
            <a:r>
              <a:rPr lang="en-US" sz="5400" dirty="0"/>
              <a:t>         </a:t>
            </a:r>
          </a:p>
          <a:p>
            <a:pPr marL="0" indent="0">
              <a:buNone/>
            </a:pPr>
            <a:endParaRPr lang="en-US" sz="5400" dirty="0"/>
          </a:p>
          <a:p>
            <a:pPr marL="0" indent="0">
              <a:buNone/>
            </a:pPr>
            <a:r>
              <a:rPr lang="en-US" sz="5400" dirty="0"/>
              <a:t>              </a:t>
            </a:r>
          </a:p>
        </p:txBody>
      </p:sp>
      <p:sp>
        <p:nvSpPr>
          <p:cNvPr id="5" name="Slide Number Placeholder 4">
            <a:extLst>
              <a:ext uri="{FF2B5EF4-FFF2-40B4-BE49-F238E27FC236}">
                <a16:creationId xmlns:a16="http://schemas.microsoft.com/office/drawing/2014/main" id="{B19025A6-9B96-7A43-788A-C02D7D06800A}"/>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93</a:t>
            </a:fld>
            <a:endParaRPr lang="en-US" dirty="0">
              <a:solidFill>
                <a:srgbClr val="000000"/>
              </a:solidFill>
            </a:endParaRPr>
          </a:p>
        </p:txBody>
      </p:sp>
      <p:sp>
        <p:nvSpPr>
          <p:cNvPr id="7" name="TextBox 6">
            <a:extLst>
              <a:ext uri="{FF2B5EF4-FFF2-40B4-BE49-F238E27FC236}">
                <a16:creationId xmlns:a16="http://schemas.microsoft.com/office/drawing/2014/main" id="{E756ED35-1D40-C1FF-D436-44FFFF8DEFE2}"/>
              </a:ext>
            </a:extLst>
          </p:cNvPr>
          <p:cNvSpPr txBox="1"/>
          <p:nvPr/>
        </p:nvSpPr>
        <p:spPr>
          <a:xfrm>
            <a:off x="821360" y="593067"/>
            <a:ext cx="7403413" cy="5596888"/>
          </a:xfrm>
          <a:custGeom>
            <a:avLst/>
            <a:gdLst>
              <a:gd name="connsiteX0" fmla="*/ 0 w 7394448"/>
              <a:gd name="connsiteY0" fmla="*/ 0 h 5955476"/>
              <a:gd name="connsiteX1" fmla="*/ 7394448 w 7394448"/>
              <a:gd name="connsiteY1" fmla="*/ 0 h 5955476"/>
              <a:gd name="connsiteX2" fmla="*/ 7394448 w 7394448"/>
              <a:gd name="connsiteY2" fmla="*/ 5955476 h 5955476"/>
              <a:gd name="connsiteX3" fmla="*/ 0 w 7394448"/>
              <a:gd name="connsiteY3" fmla="*/ 5955476 h 5955476"/>
              <a:gd name="connsiteX4" fmla="*/ 0 w 7394448"/>
              <a:gd name="connsiteY4" fmla="*/ 0 h 5955476"/>
              <a:gd name="connsiteX0" fmla="*/ 0 w 7394448"/>
              <a:gd name="connsiteY0" fmla="*/ 0 h 5955476"/>
              <a:gd name="connsiteX1" fmla="*/ 7394448 w 7394448"/>
              <a:gd name="connsiteY1" fmla="*/ 0 h 5955476"/>
              <a:gd name="connsiteX2" fmla="*/ 7376518 w 7394448"/>
              <a:gd name="connsiteY2" fmla="*/ 5596888 h 5955476"/>
              <a:gd name="connsiteX3" fmla="*/ 0 w 7394448"/>
              <a:gd name="connsiteY3" fmla="*/ 5955476 h 5955476"/>
              <a:gd name="connsiteX4" fmla="*/ 0 w 7394448"/>
              <a:gd name="connsiteY4" fmla="*/ 0 h 5955476"/>
              <a:gd name="connsiteX0" fmla="*/ 8965 w 7403413"/>
              <a:gd name="connsiteY0" fmla="*/ 0 h 5596888"/>
              <a:gd name="connsiteX1" fmla="*/ 7403413 w 7403413"/>
              <a:gd name="connsiteY1" fmla="*/ 0 h 5596888"/>
              <a:gd name="connsiteX2" fmla="*/ 7385483 w 7403413"/>
              <a:gd name="connsiteY2" fmla="*/ 5596888 h 5596888"/>
              <a:gd name="connsiteX3" fmla="*/ 0 w 7403413"/>
              <a:gd name="connsiteY3" fmla="*/ 5569994 h 5596888"/>
              <a:gd name="connsiteX4" fmla="*/ 8965 w 7403413"/>
              <a:gd name="connsiteY4" fmla="*/ 0 h 55968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03413" h="5596888">
                <a:moveTo>
                  <a:pt x="8965" y="0"/>
                </a:moveTo>
                <a:lnTo>
                  <a:pt x="7403413" y="0"/>
                </a:lnTo>
                <a:cubicBezTo>
                  <a:pt x="7397436" y="1865629"/>
                  <a:pt x="7391460" y="3731259"/>
                  <a:pt x="7385483" y="5596888"/>
                </a:cubicBezTo>
                <a:lnTo>
                  <a:pt x="0" y="5569994"/>
                </a:lnTo>
                <a:cubicBezTo>
                  <a:pt x="2988" y="3713329"/>
                  <a:pt x="5977" y="1856665"/>
                  <a:pt x="8965" y="0"/>
                </a:cubicBezTo>
                <a:close/>
              </a:path>
            </a:pathLst>
          </a:custGeom>
          <a:noFill/>
        </p:spPr>
        <p:txBody>
          <a:bodyPr wrap="square">
            <a:spAutoFit/>
          </a:bodyPr>
          <a:lstStyle/>
          <a:p>
            <a:pPr algn="just">
              <a:spcAft>
                <a:spcPts val="600"/>
              </a:spcAft>
            </a:pPr>
            <a:r>
              <a:rPr lang="en-US" dirty="0"/>
              <a:t># structured metrics table</a:t>
            </a:r>
          </a:p>
          <a:p>
            <a:pPr algn="just">
              <a:spcAft>
                <a:spcPts val="600"/>
              </a:spcAft>
            </a:pPr>
            <a:r>
              <a:rPr lang="en-US" dirty="0"/>
              <a:t>def </a:t>
            </a:r>
            <a:r>
              <a:rPr lang="en-US" dirty="0" err="1"/>
              <a:t>generate_metrics_table</a:t>
            </a:r>
            <a:r>
              <a:rPr lang="en-US" dirty="0"/>
              <a:t>(</a:t>
            </a:r>
            <a:r>
              <a:rPr lang="en-US" dirty="0" err="1"/>
              <a:t>X_train</a:t>
            </a:r>
            <a:r>
              <a:rPr lang="en-US" dirty="0"/>
              <a:t>, </a:t>
            </a:r>
            <a:r>
              <a:rPr lang="en-US" dirty="0" err="1"/>
              <a:t>y_train</a:t>
            </a:r>
            <a:r>
              <a:rPr lang="en-US" dirty="0"/>
              <a:t>, </a:t>
            </a:r>
            <a:r>
              <a:rPr lang="en-US" dirty="0" err="1"/>
              <a:t>X_val</a:t>
            </a:r>
            <a:r>
              <a:rPr lang="en-US" dirty="0"/>
              <a:t>, </a:t>
            </a:r>
            <a:r>
              <a:rPr lang="en-US" dirty="0" err="1"/>
              <a:t>y_val</a:t>
            </a:r>
            <a:r>
              <a:rPr lang="en-US" dirty="0"/>
              <a:t>):</a:t>
            </a:r>
          </a:p>
          <a:p>
            <a:pPr algn="just">
              <a:spcAft>
                <a:spcPts val="600"/>
              </a:spcAft>
            </a:pPr>
            <a:r>
              <a:rPr lang="en-US" dirty="0"/>
              <a:t>models = {</a:t>
            </a:r>
          </a:p>
          <a:p>
            <a:pPr algn="just">
              <a:spcAft>
                <a:spcPts val="600"/>
              </a:spcAft>
            </a:pPr>
            <a:r>
              <a:rPr lang="en-US" dirty="0"/>
              <a:t>"</a:t>
            </a:r>
            <a:r>
              <a:rPr lang="en-US" dirty="0" err="1"/>
              <a:t>ComplementNB</a:t>
            </a:r>
            <a:r>
              <a:rPr lang="en-US" dirty="0"/>
              <a:t>": </a:t>
            </a:r>
            <a:r>
              <a:rPr lang="en-US" dirty="0" err="1"/>
              <a:t>complement_nb</a:t>
            </a:r>
            <a:r>
              <a:rPr lang="en-US" dirty="0"/>
              <a:t>(</a:t>
            </a:r>
            <a:r>
              <a:rPr lang="en-US" dirty="0" err="1"/>
              <a:t>X_train</a:t>
            </a:r>
            <a:r>
              <a:rPr lang="en-US" dirty="0"/>
              <a:t>, </a:t>
            </a:r>
            <a:r>
              <a:rPr lang="en-US" dirty="0" err="1"/>
              <a:t>y_train</a:t>
            </a:r>
            <a:r>
              <a:rPr lang="en-US" dirty="0"/>
              <a:t>),</a:t>
            </a:r>
          </a:p>
          <a:p>
            <a:pPr algn="just">
              <a:spcAft>
                <a:spcPts val="600"/>
              </a:spcAft>
            </a:pPr>
            <a:r>
              <a:rPr lang="en-US" dirty="0"/>
              <a:t>"Logistic Regression": </a:t>
            </a:r>
            <a:r>
              <a:rPr lang="en-US" dirty="0" err="1"/>
              <a:t>logistic_regression_model</a:t>
            </a:r>
            <a:r>
              <a:rPr lang="en-US" dirty="0"/>
              <a:t>(</a:t>
            </a:r>
            <a:r>
              <a:rPr lang="en-US" dirty="0" err="1"/>
              <a:t>X_train</a:t>
            </a:r>
            <a:r>
              <a:rPr lang="en-US" dirty="0"/>
              <a:t>, </a:t>
            </a:r>
            <a:r>
              <a:rPr lang="en-US" dirty="0" err="1"/>
              <a:t>y_train</a:t>
            </a:r>
            <a:r>
              <a:rPr lang="en-US" dirty="0"/>
              <a:t>)</a:t>
            </a:r>
          </a:p>
          <a:p>
            <a:pPr algn="just">
              <a:spcAft>
                <a:spcPts val="600"/>
              </a:spcAft>
            </a:pPr>
            <a:r>
              <a:rPr lang="en-US" dirty="0"/>
              <a:t> }</a:t>
            </a:r>
          </a:p>
          <a:p>
            <a:pPr algn="just">
              <a:spcAft>
                <a:spcPts val="600"/>
              </a:spcAft>
            </a:pPr>
            <a:endParaRPr lang="en-US" dirty="0"/>
          </a:p>
          <a:p>
            <a:pPr algn="just">
              <a:spcAft>
                <a:spcPts val="600"/>
              </a:spcAft>
            </a:pPr>
            <a:r>
              <a:rPr lang="en-US" dirty="0"/>
              <a:t># Compute metrics for both models</a:t>
            </a:r>
          </a:p>
          <a:p>
            <a:pPr algn="just">
              <a:spcAft>
                <a:spcPts val="600"/>
              </a:spcAft>
            </a:pPr>
            <a:r>
              <a:rPr lang="en-US" dirty="0" err="1"/>
              <a:t>metrics_data</a:t>
            </a:r>
            <a:r>
              <a:rPr lang="en-US" dirty="0"/>
              <a:t> = {}</a:t>
            </a:r>
          </a:p>
          <a:p>
            <a:pPr algn="just">
              <a:spcAft>
                <a:spcPts val="600"/>
              </a:spcAft>
            </a:pPr>
            <a:r>
              <a:rPr lang="en-US" dirty="0"/>
              <a:t>for </a:t>
            </a:r>
            <a:r>
              <a:rPr lang="en-US" dirty="0" err="1"/>
              <a:t>model_name</a:t>
            </a:r>
            <a:r>
              <a:rPr lang="en-US" dirty="0"/>
              <a:t>, model in </a:t>
            </a:r>
            <a:r>
              <a:rPr lang="en-US" dirty="0" err="1"/>
              <a:t>models.items</a:t>
            </a:r>
            <a:r>
              <a:rPr lang="en-US" dirty="0"/>
              <a:t>():</a:t>
            </a:r>
          </a:p>
          <a:p>
            <a:pPr algn="just">
              <a:spcAft>
                <a:spcPts val="600"/>
              </a:spcAft>
            </a:pPr>
            <a:r>
              <a:rPr lang="en-US" dirty="0" err="1"/>
              <a:t>metrics_data</a:t>
            </a:r>
            <a:r>
              <a:rPr lang="en-US" dirty="0"/>
              <a:t>[</a:t>
            </a:r>
            <a:r>
              <a:rPr lang="en-US" dirty="0" err="1"/>
              <a:t>model_name</a:t>
            </a:r>
            <a:r>
              <a:rPr lang="en-US" dirty="0"/>
              <a:t>] = </a:t>
            </a:r>
            <a:r>
              <a:rPr lang="en-US" dirty="0" err="1"/>
              <a:t>compute_metrics</a:t>
            </a:r>
            <a:r>
              <a:rPr lang="en-US" dirty="0"/>
              <a:t>(model, </a:t>
            </a:r>
            <a:r>
              <a:rPr lang="en-US" dirty="0" err="1"/>
              <a:t>X_train</a:t>
            </a:r>
            <a:r>
              <a:rPr lang="en-US" dirty="0"/>
              <a:t>, </a:t>
            </a:r>
            <a:r>
              <a:rPr lang="en-US" dirty="0" err="1"/>
              <a:t>y_train</a:t>
            </a:r>
            <a:r>
              <a:rPr lang="en-US" dirty="0"/>
              <a:t>,</a:t>
            </a:r>
          </a:p>
          <a:p>
            <a:pPr algn="just">
              <a:spcAft>
                <a:spcPts val="600"/>
              </a:spcAft>
            </a:pPr>
            <a:r>
              <a:rPr lang="en-US" dirty="0" err="1"/>
              <a:t>X_val</a:t>
            </a:r>
            <a:r>
              <a:rPr lang="en-US" dirty="0"/>
              <a:t>, </a:t>
            </a:r>
            <a:r>
              <a:rPr lang="en-US" dirty="0" err="1"/>
              <a:t>y_val</a:t>
            </a:r>
            <a:r>
              <a:rPr lang="en-US" dirty="0"/>
              <a:t>)</a:t>
            </a:r>
          </a:p>
          <a:p>
            <a:pPr algn="just">
              <a:spcAft>
                <a:spcPts val="600"/>
              </a:spcAft>
            </a:pPr>
            <a:r>
              <a:rPr lang="en-US" dirty="0"/>
              <a:t># multi-index for headers</a:t>
            </a:r>
          </a:p>
          <a:p>
            <a:pPr algn="just">
              <a:spcAft>
                <a:spcPts val="600"/>
              </a:spcAft>
            </a:pPr>
            <a:r>
              <a:rPr lang="en-US" dirty="0" err="1"/>
              <a:t>multi_index</a:t>
            </a:r>
            <a:r>
              <a:rPr lang="en-US" dirty="0"/>
              <a:t> = </a:t>
            </a:r>
            <a:r>
              <a:rPr lang="en-US" dirty="0" err="1"/>
              <a:t>pd.MultiIndex.from_product</a:t>
            </a:r>
            <a:r>
              <a:rPr lang="en-US" dirty="0"/>
              <a:t>(</a:t>
            </a:r>
          </a:p>
          <a:p>
            <a:pPr algn="just">
              <a:spcAft>
                <a:spcPts val="600"/>
              </a:spcAft>
            </a:pPr>
            <a:r>
              <a:rPr lang="en-US" dirty="0"/>
              <a:t>[["Complement Naive Bayes", "Logistic Regression"], ["Training", "Validation"]],</a:t>
            </a:r>
          </a:p>
          <a:p>
            <a:pPr algn="just">
              <a:spcAft>
                <a:spcPts val="600"/>
              </a:spcAft>
            </a:pPr>
            <a:r>
              <a:rPr lang="en-US" dirty="0"/>
              <a:t>       </a:t>
            </a:r>
          </a:p>
        </p:txBody>
      </p:sp>
    </p:spTree>
    <p:extLst>
      <p:ext uri="{BB962C8B-B14F-4D97-AF65-F5344CB8AC3E}">
        <p14:creationId xmlns:p14="http://schemas.microsoft.com/office/powerpoint/2010/main" val="119325938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F694D-B8D7-7BBD-883F-98C196AEFF2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00789B-A2A0-6C69-179E-84C7E54A3B67}"/>
              </a:ext>
            </a:extLst>
          </p:cNvPr>
          <p:cNvSpPr>
            <a:spLocks noGrp="1"/>
          </p:cNvSpPr>
          <p:nvPr>
            <p:ph idx="1"/>
          </p:nvPr>
        </p:nvSpPr>
        <p:spPr/>
        <p:txBody>
          <a:bodyPr>
            <a:normAutofit/>
          </a:bodyPr>
          <a:lstStyle/>
          <a:p>
            <a:pPr marL="0" indent="0">
              <a:buNone/>
            </a:pPr>
            <a:r>
              <a:rPr lang="en-US" sz="5400" dirty="0"/>
              <a:t>         </a:t>
            </a:r>
          </a:p>
          <a:p>
            <a:pPr marL="0" indent="0">
              <a:buNone/>
            </a:pPr>
            <a:endParaRPr lang="en-US" sz="5400" dirty="0"/>
          </a:p>
          <a:p>
            <a:pPr marL="0" indent="0">
              <a:buNone/>
            </a:pPr>
            <a:r>
              <a:rPr lang="en-US" sz="5400" dirty="0"/>
              <a:t>              </a:t>
            </a:r>
          </a:p>
        </p:txBody>
      </p:sp>
      <p:sp>
        <p:nvSpPr>
          <p:cNvPr id="5" name="Slide Number Placeholder 4">
            <a:extLst>
              <a:ext uri="{FF2B5EF4-FFF2-40B4-BE49-F238E27FC236}">
                <a16:creationId xmlns:a16="http://schemas.microsoft.com/office/drawing/2014/main" id="{BB8B12A2-B8EA-C55A-0743-552FE59D4A21}"/>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94</a:t>
            </a:fld>
            <a:endParaRPr lang="en-US" dirty="0">
              <a:solidFill>
                <a:srgbClr val="000000"/>
              </a:solidFill>
            </a:endParaRPr>
          </a:p>
        </p:txBody>
      </p:sp>
      <p:sp>
        <p:nvSpPr>
          <p:cNvPr id="7" name="TextBox 6">
            <a:extLst>
              <a:ext uri="{FF2B5EF4-FFF2-40B4-BE49-F238E27FC236}">
                <a16:creationId xmlns:a16="http://schemas.microsoft.com/office/drawing/2014/main" id="{128BD89F-E4C6-6320-560F-4A23712EDD64}"/>
              </a:ext>
            </a:extLst>
          </p:cNvPr>
          <p:cNvSpPr txBox="1"/>
          <p:nvPr/>
        </p:nvSpPr>
        <p:spPr>
          <a:xfrm>
            <a:off x="830326" y="593066"/>
            <a:ext cx="7394448" cy="5197215"/>
          </a:xfrm>
          <a:custGeom>
            <a:avLst/>
            <a:gdLst>
              <a:gd name="connsiteX0" fmla="*/ 0 w 7394448"/>
              <a:gd name="connsiteY0" fmla="*/ 0 h 5878532"/>
              <a:gd name="connsiteX1" fmla="*/ 7394448 w 7394448"/>
              <a:gd name="connsiteY1" fmla="*/ 0 h 5878532"/>
              <a:gd name="connsiteX2" fmla="*/ 7394448 w 7394448"/>
              <a:gd name="connsiteY2" fmla="*/ 5878532 h 5878532"/>
              <a:gd name="connsiteX3" fmla="*/ 0 w 7394448"/>
              <a:gd name="connsiteY3" fmla="*/ 5878532 h 5878532"/>
              <a:gd name="connsiteX4" fmla="*/ 0 w 7394448"/>
              <a:gd name="connsiteY4" fmla="*/ 0 h 5878532"/>
              <a:gd name="connsiteX0" fmla="*/ 0 w 7394448"/>
              <a:gd name="connsiteY0" fmla="*/ 0 h 5878532"/>
              <a:gd name="connsiteX1" fmla="*/ 7394448 w 7394448"/>
              <a:gd name="connsiteY1" fmla="*/ 0 h 5878532"/>
              <a:gd name="connsiteX2" fmla="*/ 7394448 w 7394448"/>
              <a:gd name="connsiteY2" fmla="*/ 5878532 h 5878532"/>
              <a:gd name="connsiteX3" fmla="*/ 17929 w 7394448"/>
              <a:gd name="connsiteY3" fmla="*/ 5125497 h 5878532"/>
              <a:gd name="connsiteX4" fmla="*/ 0 w 7394448"/>
              <a:gd name="connsiteY4" fmla="*/ 0 h 5878532"/>
              <a:gd name="connsiteX0" fmla="*/ 0 w 7394448"/>
              <a:gd name="connsiteY0" fmla="*/ 0 h 5197215"/>
              <a:gd name="connsiteX1" fmla="*/ 7394448 w 7394448"/>
              <a:gd name="connsiteY1" fmla="*/ 0 h 5197215"/>
              <a:gd name="connsiteX2" fmla="*/ 7385483 w 7394448"/>
              <a:gd name="connsiteY2" fmla="*/ 5197215 h 5197215"/>
              <a:gd name="connsiteX3" fmla="*/ 17929 w 7394448"/>
              <a:gd name="connsiteY3" fmla="*/ 5125497 h 5197215"/>
              <a:gd name="connsiteX4" fmla="*/ 0 w 7394448"/>
              <a:gd name="connsiteY4" fmla="*/ 0 h 51972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4448" h="5197215">
                <a:moveTo>
                  <a:pt x="0" y="0"/>
                </a:moveTo>
                <a:lnTo>
                  <a:pt x="7394448" y="0"/>
                </a:lnTo>
                <a:cubicBezTo>
                  <a:pt x="7391460" y="1732405"/>
                  <a:pt x="7388471" y="3464810"/>
                  <a:pt x="7385483" y="5197215"/>
                </a:cubicBezTo>
                <a:lnTo>
                  <a:pt x="17929" y="5125497"/>
                </a:lnTo>
                <a:cubicBezTo>
                  <a:pt x="11953" y="3416998"/>
                  <a:pt x="5976" y="1708499"/>
                  <a:pt x="0" y="0"/>
                </a:cubicBezTo>
                <a:close/>
              </a:path>
            </a:pathLst>
          </a:custGeom>
          <a:noFill/>
        </p:spPr>
        <p:txBody>
          <a:bodyPr wrap="square">
            <a:spAutoFit/>
          </a:bodyPr>
          <a:lstStyle/>
          <a:p>
            <a:pPr algn="just">
              <a:spcAft>
                <a:spcPts val="600"/>
              </a:spcAft>
            </a:pPr>
            <a:r>
              <a:rPr lang="en-US" dirty="0"/>
              <a:t>names=["Model", "Dataset"]</a:t>
            </a:r>
          </a:p>
          <a:p>
            <a:pPr algn="just">
              <a:spcAft>
                <a:spcPts val="600"/>
              </a:spcAft>
            </a:pPr>
            <a:r>
              <a:rPr lang="en-US" dirty="0"/>
              <a:t>)</a:t>
            </a:r>
          </a:p>
          <a:p>
            <a:pPr algn="just">
              <a:spcAft>
                <a:spcPts val="600"/>
              </a:spcAft>
            </a:pPr>
            <a:br>
              <a:rPr lang="en-US" dirty="0"/>
            </a:br>
            <a:endParaRPr lang="en-US" dirty="0"/>
          </a:p>
          <a:p>
            <a:pPr algn="just">
              <a:spcAft>
                <a:spcPts val="600"/>
              </a:spcAft>
            </a:pPr>
            <a:r>
              <a:rPr lang="en-US" dirty="0"/>
              <a:t># structured table </a:t>
            </a:r>
            <a:r>
              <a:rPr lang="en-US" dirty="0" err="1"/>
              <a:t>DataFrame</a:t>
            </a:r>
            <a:endParaRPr lang="en-US" dirty="0"/>
          </a:p>
          <a:p>
            <a:pPr algn="just">
              <a:spcAft>
                <a:spcPts val="600"/>
              </a:spcAft>
            </a:pPr>
            <a:r>
              <a:rPr lang="en-US" dirty="0" err="1"/>
              <a:t>metrics_df</a:t>
            </a:r>
            <a:r>
              <a:rPr lang="en-US" dirty="0"/>
              <a:t> = </a:t>
            </a:r>
            <a:r>
              <a:rPr lang="en-US" dirty="0" err="1"/>
              <a:t>pd.DataFrame</a:t>
            </a:r>
            <a:r>
              <a:rPr lang="en-US" dirty="0"/>
              <a:t>(</a:t>
            </a:r>
          </a:p>
          <a:p>
            <a:pPr algn="just">
              <a:spcAft>
                <a:spcPts val="600"/>
              </a:spcAft>
            </a:pPr>
            <a:r>
              <a:rPr lang="en-US" dirty="0"/>
              <a:t>{</a:t>
            </a:r>
          </a:p>
          <a:p>
            <a:pPr algn="just">
              <a:spcAft>
                <a:spcPts val="600"/>
              </a:spcAft>
            </a:pPr>
            <a:r>
              <a:rPr lang="en-US" dirty="0"/>
              <a:t>(model, dataset): </a:t>
            </a:r>
            <a:r>
              <a:rPr lang="en-US" dirty="0" err="1"/>
              <a:t>metrics_data</a:t>
            </a:r>
            <a:r>
              <a:rPr lang="en-US" dirty="0"/>
              <a:t>[model][dataset]</a:t>
            </a:r>
          </a:p>
          <a:p>
            <a:pPr algn="just">
              <a:spcAft>
                <a:spcPts val="600"/>
              </a:spcAft>
            </a:pPr>
            <a:r>
              <a:rPr lang="en-US" dirty="0"/>
              <a:t>for model in models</a:t>
            </a:r>
          </a:p>
          <a:p>
            <a:pPr algn="just">
              <a:spcAft>
                <a:spcPts val="600"/>
              </a:spcAft>
            </a:pPr>
            <a:r>
              <a:rPr lang="en-US" dirty="0"/>
              <a:t>for dataset in ["Train", "Validation"]</a:t>
            </a:r>
          </a:p>
          <a:p>
            <a:pPr algn="just">
              <a:spcAft>
                <a:spcPts val="600"/>
              </a:spcAft>
            </a:pPr>
            <a:r>
              <a:rPr lang="en-US" dirty="0"/>
              <a:t>},</a:t>
            </a:r>
          </a:p>
          <a:p>
            <a:pPr algn="just">
              <a:spcAft>
                <a:spcPts val="600"/>
              </a:spcAft>
            </a:pPr>
            <a:r>
              <a:rPr lang="en-US" dirty="0"/>
              <a:t>index=["Accuracy", "Sensitivity", "Precision", "Specificity"]</a:t>
            </a:r>
          </a:p>
          <a:p>
            <a:pPr algn="just">
              <a:spcAft>
                <a:spcPts val="600"/>
              </a:spcAft>
            </a:pPr>
            <a:r>
              <a:rPr lang="en-US" dirty="0"/>
              <a:t>)</a:t>
            </a:r>
          </a:p>
          <a:p>
            <a:pPr algn="just">
              <a:spcAft>
                <a:spcPts val="600"/>
              </a:spcAft>
            </a:pPr>
            <a:r>
              <a:rPr lang="en-US" dirty="0" err="1"/>
              <a:t>metrics_df.columns</a:t>
            </a:r>
            <a:r>
              <a:rPr lang="en-US" dirty="0"/>
              <a:t> = </a:t>
            </a:r>
            <a:r>
              <a:rPr lang="en-US" dirty="0" err="1"/>
              <a:t>multi_index</a:t>
            </a:r>
            <a:r>
              <a:rPr lang="en-US" dirty="0"/>
              <a:t>  # Apply headers</a:t>
            </a:r>
          </a:p>
          <a:p>
            <a:pPr algn="just">
              <a:spcAft>
                <a:spcPts val="600"/>
              </a:spcAft>
            </a:pPr>
            <a:br>
              <a:rPr lang="en-US" dirty="0"/>
            </a:br>
            <a:endParaRPr lang="en-US" dirty="0"/>
          </a:p>
          <a:p>
            <a:pPr algn="just">
              <a:spcAft>
                <a:spcPts val="600"/>
              </a:spcAft>
            </a:pPr>
            <a:r>
              <a:rPr lang="en-US" dirty="0"/>
              <a:t>   </a:t>
            </a:r>
          </a:p>
        </p:txBody>
      </p:sp>
    </p:spTree>
    <p:extLst>
      <p:ext uri="{BB962C8B-B14F-4D97-AF65-F5344CB8AC3E}">
        <p14:creationId xmlns:p14="http://schemas.microsoft.com/office/powerpoint/2010/main" val="332844233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805EE-31EB-AEB8-72C9-5D0F1139B47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187E3A8-D495-F6A6-7DA9-00F52EC1DB2F}"/>
              </a:ext>
            </a:extLst>
          </p:cNvPr>
          <p:cNvSpPr>
            <a:spLocks noGrp="1"/>
          </p:cNvSpPr>
          <p:nvPr>
            <p:ph idx="1"/>
          </p:nvPr>
        </p:nvSpPr>
        <p:spPr/>
        <p:txBody>
          <a:bodyPr>
            <a:normAutofit/>
          </a:bodyPr>
          <a:lstStyle/>
          <a:p>
            <a:pPr marL="0" indent="0">
              <a:buNone/>
            </a:pPr>
            <a:r>
              <a:rPr lang="en-US" sz="5400" dirty="0"/>
              <a:t>         </a:t>
            </a:r>
          </a:p>
          <a:p>
            <a:pPr marL="0" indent="0">
              <a:buNone/>
            </a:pPr>
            <a:endParaRPr lang="en-US" sz="5400" dirty="0"/>
          </a:p>
          <a:p>
            <a:pPr marL="0" indent="0">
              <a:buNone/>
            </a:pPr>
            <a:r>
              <a:rPr lang="en-US" sz="5400" dirty="0"/>
              <a:t>              </a:t>
            </a:r>
          </a:p>
        </p:txBody>
      </p:sp>
      <p:sp>
        <p:nvSpPr>
          <p:cNvPr id="5" name="Slide Number Placeholder 4">
            <a:extLst>
              <a:ext uri="{FF2B5EF4-FFF2-40B4-BE49-F238E27FC236}">
                <a16:creationId xmlns:a16="http://schemas.microsoft.com/office/drawing/2014/main" id="{DA7483E2-6312-9055-547C-FB2CC4C74497}"/>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95</a:t>
            </a:fld>
            <a:endParaRPr lang="en-US" dirty="0">
              <a:solidFill>
                <a:srgbClr val="000000"/>
              </a:solidFill>
            </a:endParaRPr>
          </a:p>
        </p:txBody>
      </p:sp>
      <p:sp>
        <p:nvSpPr>
          <p:cNvPr id="7" name="TextBox 6">
            <a:extLst>
              <a:ext uri="{FF2B5EF4-FFF2-40B4-BE49-F238E27FC236}">
                <a16:creationId xmlns:a16="http://schemas.microsoft.com/office/drawing/2014/main" id="{38C69895-651D-AF53-D908-774158BD8FCC}"/>
              </a:ext>
            </a:extLst>
          </p:cNvPr>
          <p:cNvSpPr txBox="1"/>
          <p:nvPr/>
        </p:nvSpPr>
        <p:spPr>
          <a:xfrm>
            <a:off x="830326" y="593067"/>
            <a:ext cx="7394448" cy="5571918"/>
          </a:xfrm>
          <a:custGeom>
            <a:avLst/>
            <a:gdLst>
              <a:gd name="connsiteX0" fmla="*/ 0 w 7394448"/>
              <a:gd name="connsiteY0" fmla="*/ 0 h 6432530"/>
              <a:gd name="connsiteX1" fmla="*/ 7394448 w 7394448"/>
              <a:gd name="connsiteY1" fmla="*/ 0 h 6432530"/>
              <a:gd name="connsiteX2" fmla="*/ 7394448 w 7394448"/>
              <a:gd name="connsiteY2" fmla="*/ 6432530 h 6432530"/>
              <a:gd name="connsiteX3" fmla="*/ 0 w 7394448"/>
              <a:gd name="connsiteY3" fmla="*/ 6432530 h 6432530"/>
              <a:gd name="connsiteX4" fmla="*/ 0 w 7394448"/>
              <a:gd name="connsiteY4" fmla="*/ 0 h 6432530"/>
              <a:gd name="connsiteX0" fmla="*/ 0 w 7394448"/>
              <a:gd name="connsiteY0" fmla="*/ 0 h 6432530"/>
              <a:gd name="connsiteX1" fmla="*/ 7394448 w 7394448"/>
              <a:gd name="connsiteY1" fmla="*/ 0 h 6432530"/>
              <a:gd name="connsiteX2" fmla="*/ 7394448 w 7394448"/>
              <a:gd name="connsiteY2" fmla="*/ 6432530 h 6432530"/>
              <a:gd name="connsiteX3" fmla="*/ 8965 w 7394448"/>
              <a:gd name="connsiteY3" fmla="*/ 5571918 h 6432530"/>
              <a:gd name="connsiteX4" fmla="*/ 0 w 7394448"/>
              <a:gd name="connsiteY4" fmla="*/ 0 h 6432530"/>
              <a:gd name="connsiteX0" fmla="*/ 0 w 7394448"/>
              <a:gd name="connsiteY0" fmla="*/ 0 h 6432530"/>
              <a:gd name="connsiteX1" fmla="*/ 7394448 w 7394448"/>
              <a:gd name="connsiteY1" fmla="*/ 0 h 6432530"/>
              <a:gd name="connsiteX2" fmla="*/ 7372380 w 7394448"/>
              <a:gd name="connsiteY2" fmla="*/ 5493968 h 6432530"/>
              <a:gd name="connsiteX3" fmla="*/ 7394448 w 7394448"/>
              <a:gd name="connsiteY3" fmla="*/ 6432530 h 6432530"/>
              <a:gd name="connsiteX4" fmla="*/ 8965 w 7394448"/>
              <a:gd name="connsiteY4" fmla="*/ 5571918 h 6432530"/>
              <a:gd name="connsiteX5" fmla="*/ 0 w 7394448"/>
              <a:gd name="connsiteY5" fmla="*/ 0 h 6432530"/>
              <a:gd name="connsiteX0" fmla="*/ 0 w 7394448"/>
              <a:gd name="connsiteY0" fmla="*/ 0 h 5571918"/>
              <a:gd name="connsiteX1" fmla="*/ 7394448 w 7394448"/>
              <a:gd name="connsiteY1" fmla="*/ 0 h 5571918"/>
              <a:gd name="connsiteX2" fmla="*/ 7372380 w 7394448"/>
              <a:gd name="connsiteY2" fmla="*/ 5493968 h 5571918"/>
              <a:gd name="connsiteX3" fmla="*/ 7385483 w 7394448"/>
              <a:gd name="connsiteY3" fmla="*/ 5545024 h 5571918"/>
              <a:gd name="connsiteX4" fmla="*/ 8965 w 7394448"/>
              <a:gd name="connsiteY4" fmla="*/ 5571918 h 5571918"/>
              <a:gd name="connsiteX5" fmla="*/ 0 w 7394448"/>
              <a:gd name="connsiteY5" fmla="*/ 0 h 5571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94448" h="5571918">
                <a:moveTo>
                  <a:pt x="0" y="0"/>
                </a:moveTo>
                <a:lnTo>
                  <a:pt x="7394448" y="0"/>
                </a:lnTo>
                <a:cubicBezTo>
                  <a:pt x="7393068" y="2112217"/>
                  <a:pt x="7373760" y="3381751"/>
                  <a:pt x="7372380" y="5493968"/>
                </a:cubicBezTo>
                <a:lnTo>
                  <a:pt x="7385483" y="5545024"/>
                </a:lnTo>
                <a:lnTo>
                  <a:pt x="8965" y="5571918"/>
                </a:lnTo>
                <a:cubicBezTo>
                  <a:pt x="5977" y="3714612"/>
                  <a:pt x="2988" y="1857306"/>
                  <a:pt x="0" y="0"/>
                </a:cubicBezTo>
                <a:close/>
              </a:path>
            </a:pathLst>
          </a:custGeom>
          <a:noFill/>
        </p:spPr>
        <p:txBody>
          <a:bodyPr wrap="square">
            <a:spAutoFit/>
          </a:bodyPr>
          <a:lstStyle/>
          <a:p>
            <a:pPr algn="just">
              <a:spcAft>
                <a:spcPts val="600"/>
              </a:spcAft>
            </a:pPr>
            <a:r>
              <a:rPr lang="en-US" dirty="0"/>
              <a:t># Plot table</a:t>
            </a:r>
          </a:p>
          <a:p>
            <a:pPr algn="just">
              <a:spcAft>
                <a:spcPts val="600"/>
              </a:spcAft>
            </a:pPr>
            <a:r>
              <a:rPr lang="en-US" dirty="0"/>
              <a:t>fig, ax = </a:t>
            </a:r>
            <a:r>
              <a:rPr lang="en-US" dirty="0" err="1"/>
              <a:t>plt.subplots</a:t>
            </a:r>
            <a:r>
              <a:rPr lang="en-US" dirty="0"/>
              <a:t>(</a:t>
            </a:r>
            <a:r>
              <a:rPr lang="en-US" dirty="0" err="1"/>
              <a:t>figsize</a:t>
            </a:r>
            <a:r>
              <a:rPr lang="en-US" dirty="0"/>
              <a:t>=(10, 4))  # Increased figure size</a:t>
            </a:r>
          </a:p>
          <a:p>
            <a:pPr algn="just">
              <a:spcAft>
                <a:spcPts val="600"/>
              </a:spcAft>
            </a:pPr>
            <a:r>
              <a:rPr lang="en-US" dirty="0" err="1"/>
              <a:t>ax.axis</a:t>
            </a:r>
            <a:r>
              <a:rPr lang="en-US" dirty="0"/>
              <a:t>("tight")</a:t>
            </a:r>
          </a:p>
          <a:p>
            <a:pPr algn="just">
              <a:spcAft>
                <a:spcPts val="600"/>
              </a:spcAft>
            </a:pPr>
            <a:r>
              <a:rPr lang="en-US" dirty="0" err="1"/>
              <a:t>ax.axis</a:t>
            </a:r>
            <a:r>
              <a:rPr lang="en-US" dirty="0"/>
              <a:t>("off")</a:t>
            </a:r>
          </a:p>
          <a:p>
            <a:pPr algn="just">
              <a:spcAft>
                <a:spcPts val="600"/>
              </a:spcAft>
            </a:pPr>
            <a:br>
              <a:rPr lang="en-US" dirty="0"/>
            </a:br>
            <a:r>
              <a:rPr lang="en-US" dirty="0"/>
              <a:t>table = </a:t>
            </a:r>
            <a:r>
              <a:rPr lang="en-US" dirty="0" err="1"/>
              <a:t>ax.table</a:t>
            </a:r>
            <a:r>
              <a:rPr lang="en-US" dirty="0"/>
              <a:t>(</a:t>
            </a:r>
          </a:p>
          <a:p>
            <a:pPr algn="just">
              <a:spcAft>
                <a:spcPts val="600"/>
              </a:spcAft>
            </a:pPr>
            <a:r>
              <a:rPr lang="en-US" dirty="0" err="1"/>
              <a:t>cellText</a:t>
            </a:r>
            <a:r>
              <a:rPr lang="en-US" dirty="0"/>
              <a:t>=</a:t>
            </a:r>
            <a:r>
              <a:rPr lang="en-US" dirty="0" err="1"/>
              <a:t>metrics_df.round</a:t>
            </a:r>
            <a:r>
              <a:rPr lang="en-US" dirty="0"/>
              <a:t>(4).values,</a:t>
            </a:r>
          </a:p>
          <a:p>
            <a:pPr algn="just">
              <a:spcAft>
                <a:spcPts val="600"/>
              </a:spcAft>
            </a:pPr>
            <a:r>
              <a:rPr lang="en-US" dirty="0" err="1"/>
              <a:t>colLabels</a:t>
            </a:r>
            <a:r>
              <a:rPr lang="en-US" dirty="0"/>
              <a:t>=[f"{col[0]}\n{col[1]}" for col in </a:t>
            </a:r>
            <a:r>
              <a:rPr lang="en-US" dirty="0" err="1"/>
              <a:t>metrics_df.columns</a:t>
            </a:r>
            <a:r>
              <a:rPr lang="en-US" dirty="0"/>
              <a:t>],  # Format multi-header</a:t>
            </a:r>
          </a:p>
          <a:p>
            <a:pPr algn="just">
              <a:spcAft>
                <a:spcPts val="600"/>
              </a:spcAft>
            </a:pPr>
            <a:r>
              <a:rPr lang="en-US" dirty="0" err="1"/>
              <a:t>rowLabels</a:t>
            </a:r>
            <a:r>
              <a:rPr lang="en-US" dirty="0"/>
              <a:t>=</a:t>
            </a:r>
            <a:r>
              <a:rPr lang="en-US" dirty="0" err="1"/>
              <a:t>metrics_df.index</a:t>
            </a:r>
            <a:r>
              <a:rPr lang="en-US" dirty="0"/>
              <a:t>,</a:t>
            </a:r>
          </a:p>
          <a:p>
            <a:pPr algn="just">
              <a:spcAft>
                <a:spcPts val="600"/>
              </a:spcAft>
            </a:pPr>
            <a:r>
              <a:rPr lang="en-US" dirty="0"/>
              <a:t>loc="center",</a:t>
            </a:r>
          </a:p>
          <a:p>
            <a:pPr algn="just">
              <a:spcAft>
                <a:spcPts val="600"/>
              </a:spcAft>
            </a:pPr>
            <a:r>
              <a:rPr lang="en-US" dirty="0" err="1"/>
              <a:t>cellLoc</a:t>
            </a:r>
            <a:r>
              <a:rPr lang="en-US" dirty="0"/>
              <a:t>="center",</a:t>
            </a:r>
          </a:p>
          <a:p>
            <a:pPr algn="just">
              <a:spcAft>
                <a:spcPts val="600"/>
              </a:spcAft>
            </a:pPr>
            <a:r>
              <a:rPr lang="en-US" dirty="0"/>
              <a:t>)</a:t>
            </a:r>
          </a:p>
          <a:p>
            <a:pPr algn="just">
              <a:spcAft>
                <a:spcPts val="600"/>
              </a:spcAft>
            </a:pPr>
            <a:br>
              <a:rPr lang="en-US" dirty="0"/>
            </a:br>
            <a:r>
              <a:rPr lang="en-US" dirty="0" err="1"/>
              <a:t>table.auto_set_font_size</a:t>
            </a:r>
            <a:r>
              <a:rPr lang="en-US" dirty="0"/>
              <a:t>(False)</a:t>
            </a:r>
          </a:p>
          <a:p>
            <a:pPr algn="just">
              <a:spcAft>
                <a:spcPts val="600"/>
              </a:spcAft>
            </a:pPr>
            <a:r>
              <a:rPr lang="en-US" dirty="0" err="1"/>
              <a:t>table.set_fontsize</a:t>
            </a:r>
            <a:r>
              <a:rPr lang="en-US" dirty="0"/>
              <a:t>(10)</a:t>
            </a:r>
          </a:p>
          <a:p>
            <a:pPr algn="just">
              <a:spcAft>
                <a:spcPts val="600"/>
              </a:spcAft>
            </a:pPr>
            <a:br>
              <a:rPr lang="en-US" dirty="0"/>
            </a:br>
            <a:endParaRPr lang="en-US" dirty="0"/>
          </a:p>
          <a:p>
            <a:pPr algn="just">
              <a:spcAft>
                <a:spcPts val="600"/>
              </a:spcAft>
            </a:pPr>
            <a:r>
              <a:rPr lang="en-US" dirty="0"/>
              <a:t>   </a:t>
            </a:r>
          </a:p>
        </p:txBody>
      </p:sp>
    </p:spTree>
    <p:extLst>
      <p:ext uri="{BB962C8B-B14F-4D97-AF65-F5344CB8AC3E}">
        <p14:creationId xmlns:p14="http://schemas.microsoft.com/office/powerpoint/2010/main" val="200442249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92EE7C-7037-1C8B-5693-809404A9EB7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0317C5-494B-51BB-1E62-C317540699AF}"/>
              </a:ext>
            </a:extLst>
          </p:cNvPr>
          <p:cNvSpPr>
            <a:spLocks noGrp="1"/>
          </p:cNvSpPr>
          <p:nvPr>
            <p:ph idx="1"/>
          </p:nvPr>
        </p:nvSpPr>
        <p:spPr/>
        <p:txBody>
          <a:bodyPr>
            <a:normAutofit/>
          </a:bodyPr>
          <a:lstStyle/>
          <a:p>
            <a:pPr marL="0" indent="0">
              <a:buNone/>
            </a:pPr>
            <a:r>
              <a:rPr lang="en-US" sz="5400" dirty="0"/>
              <a:t>         </a:t>
            </a:r>
          </a:p>
          <a:p>
            <a:pPr marL="0" indent="0">
              <a:buNone/>
            </a:pPr>
            <a:endParaRPr lang="en-US" sz="5400" dirty="0"/>
          </a:p>
          <a:p>
            <a:pPr marL="0" indent="0">
              <a:buNone/>
            </a:pPr>
            <a:r>
              <a:rPr lang="en-US" sz="5400" dirty="0"/>
              <a:t>              </a:t>
            </a:r>
          </a:p>
        </p:txBody>
      </p:sp>
      <p:sp>
        <p:nvSpPr>
          <p:cNvPr id="5" name="Slide Number Placeholder 4">
            <a:extLst>
              <a:ext uri="{FF2B5EF4-FFF2-40B4-BE49-F238E27FC236}">
                <a16:creationId xmlns:a16="http://schemas.microsoft.com/office/drawing/2014/main" id="{CD80D569-34FD-2D89-7855-4C18CB4E4669}"/>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96</a:t>
            </a:fld>
            <a:endParaRPr lang="en-US" dirty="0">
              <a:solidFill>
                <a:srgbClr val="000000"/>
              </a:solidFill>
            </a:endParaRPr>
          </a:p>
        </p:txBody>
      </p:sp>
      <p:sp>
        <p:nvSpPr>
          <p:cNvPr id="7" name="TextBox 6">
            <a:extLst>
              <a:ext uri="{FF2B5EF4-FFF2-40B4-BE49-F238E27FC236}">
                <a16:creationId xmlns:a16="http://schemas.microsoft.com/office/drawing/2014/main" id="{6CC94355-E166-FE40-F3A1-1F97427656E3}"/>
              </a:ext>
            </a:extLst>
          </p:cNvPr>
          <p:cNvSpPr txBox="1"/>
          <p:nvPr/>
        </p:nvSpPr>
        <p:spPr>
          <a:xfrm>
            <a:off x="830326" y="593067"/>
            <a:ext cx="7394448" cy="4385816"/>
          </a:xfrm>
          <a:prstGeom prst="rect">
            <a:avLst/>
          </a:prstGeom>
          <a:noFill/>
        </p:spPr>
        <p:txBody>
          <a:bodyPr wrap="square">
            <a:spAutoFit/>
          </a:bodyPr>
          <a:lstStyle/>
          <a:p>
            <a:pPr algn="just">
              <a:spcAft>
                <a:spcPts val="600"/>
              </a:spcAft>
            </a:pPr>
            <a:r>
              <a:rPr lang="en-US" dirty="0"/>
              <a:t>for key, cell in </a:t>
            </a:r>
            <a:r>
              <a:rPr lang="en-US" dirty="0" err="1"/>
              <a:t>table.get_celld</a:t>
            </a:r>
            <a:r>
              <a:rPr lang="en-US" dirty="0"/>
              <a:t>().items():</a:t>
            </a:r>
          </a:p>
          <a:p>
            <a:pPr algn="just">
              <a:spcAft>
                <a:spcPts val="600"/>
              </a:spcAft>
            </a:pPr>
            <a:r>
              <a:rPr lang="en-US" dirty="0" err="1"/>
              <a:t>cell.set_height</a:t>
            </a:r>
            <a:r>
              <a:rPr lang="en-US" dirty="0"/>
              <a:t>(0.2)  # row height</a:t>
            </a:r>
          </a:p>
          <a:p>
            <a:pPr algn="just">
              <a:spcAft>
                <a:spcPts val="600"/>
              </a:spcAft>
            </a:pPr>
            <a:r>
              <a:rPr lang="en-US" dirty="0" err="1"/>
              <a:t>cell.PAD</a:t>
            </a:r>
            <a:r>
              <a:rPr lang="en-US" dirty="0"/>
              <a:t> = 0.15  # Adjust internal padding</a:t>
            </a:r>
          </a:p>
          <a:p>
            <a:pPr algn="just">
              <a:spcAft>
                <a:spcPts val="600"/>
              </a:spcAft>
            </a:pPr>
            <a:r>
              <a:rPr lang="en-US" dirty="0" err="1"/>
              <a:t>cell.set_edgecolor</a:t>
            </a:r>
            <a:r>
              <a:rPr lang="en-US" dirty="0"/>
              <a:t>("#</a:t>
            </a:r>
            <a:r>
              <a:rPr lang="en-US" dirty="0" err="1"/>
              <a:t>dedede</a:t>
            </a:r>
            <a:r>
              <a:rPr lang="en-US" dirty="0"/>
              <a:t>")  # grid line color</a:t>
            </a:r>
          </a:p>
          <a:p>
            <a:pPr algn="just">
              <a:spcAft>
                <a:spcPts val="600"/>
              </a:spcAft>
            </a:pPr>
            <a:br>
              <a:rPr lang="en-US" dirty="0"/>
            </a:br>
            <a:r>
              <a:rPr lang="en-US" dirty="0" err="1"/>
              <a:t>plt.title</a:t>
            </a:r>
            <a:r>
              <a:rPr lang="en-US" dirty="0"/>
              <a:t>("Model Performance Metrics", </a:t>
            </a:r>
            <a:r>
              <a:rPr lang="en-US" dirty="0" err="1"/>
              <a:t>fontsize</a:t>
            </a:r>
            <a:r>
              <a:rPr lang="en-US" dirty="0"/>
              <a:t>=12, </a:t>
            </a:r>
            <a:r>
              <a:rPr lang="en-US" dirty="0" err="1"/>
              <a:t>fontweight</a:t>
            </a:r>
            <a:r>
              <a:rPr lang="en-US" dirty="0"/>
              <a:t>="bold")</a:t>
            </a:r>
          </a:p>
          <a:p>
            <a:pPr algn="just">
              <a:spcAft>
                <a:spcPts val="600"/>
              </a:spcAft>
            </a:pPr>
            <a:r>
              <a:rPr lang="en-US" dirty="0" err="1"/>
              <a:t>plt.show</a:t>
            </a:r>
            <a:r>
              <a:rPr lang="en-US" dirty="0"/>
              <a:t>()</a:t>
            </a:r>
          </a:p>
          <a:p>
            <a:pPr algn="just">
              <a:spcAft>
                <a:spcPts val="600"/>
              </a:spcAft>
            </a:pPr>
            <a:br>
              <a:rPr lang="en-US" dirty="0"/>
            </a:br>
            <a:endParaRPr lang="en-US" dirty="0"/>
          </a:p>
          <a:p>
            <a:pPr algn="just">
              <a:spcAft>
                <a:spcPts val="600"/>
              </a:spcAft>
            </a:pPr>
            <a:r>
              <a:rPr lang="en-US" dirty="0"/>
              <a:t># Call function to generate the table</a:t>
            </a:r>
          </a:p>
          <a:p>
            <a:pPr algn="just">
              <a:spcAft>
                <a:spcPts val="600"/>
              </a:spcAft>
            </a:pPr>
            <a:r>
              <a:rPr lang="en-US" dirty="0" err="1"/>
              <a:t>generate_metrics_table</a:t>
            </a:r>
            <a:r>
              <a:rPr lang="en-US" dirty="0"/>
              <a:t>(</a:t>
            </a:r>
            <a:r>
              <a:rPr lang="en-US" dirty="0" err="1"/>
              <a:t>X_train</a:t>
            </a:r>
            <a:r>
              <a:rPr lang="en-US" dirty="0"/>
              <a:t>, </a:t>
            </a:r>
            <a:r>
              <a:rPr lang="en-US" dirty="0" err="1"/>
              <a:t>y_train</a:t>
            </a:r>
            <a:r>
              <a:rPr lang="en-US" dirty="0"/>
              <a:t>, </a:t>
            </a:r>
            <a:r>
              <a:rPr lang="en-US" dirty="0" err="1"/>
              <a:t>X_val</a:t>
            </a:r>
            <a:r>
              <a:rPr lang="en-US" dirty="0"/>
              <a:t>, </a:t>
            </a:r>
            <a:r>
              <a:rPr lang="en-US" dirty="0" err="1"/>
              <a:t>y_val</a:t>
            </a:r>
            <a:r>
              <a:rPr lang="en-US" dirty="0"/>
              <a:t>)</a:t>
            </a:r>
          </a:p>
          <a:p>
            <a:pPr algn="just">
              <a:spcAft>
                <a:spcPts val="600"/>
              </a:spcAft>
            </a:pPr>
            <a:br>
              <a:rPr lang="en-US" dirty="0"/>
            </a:br>
            <a:endParaRPr lang="en-US" dirty="0"/>
          </a:p>
        </p:txBody>
      </p:sp>
    </p:spTree>
    <p:extLst>
      <p:ext uri="{BB962C8B-B14F-4D97-AF65-F5344CB8AC3E}">
        <p14:creationId xmlns:p14="http://schemas.microsoft.com/office/powerpoint/2010/main" val="124053087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8193E-4453-182D-E3AF-F1885286545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7113EE0-4E97-7D18-1924-E1EFEEA7D347}"/>
              </a:ext>
            </a:extLst>
          </p:cNvPr>
          <p:cNvSpPr>
            <a:spLocks noGrp="1"/>
          </p:cNvSpPr>
          <p:nvPr>
            <p:ph idx="1"/>
          </p:nvPr>
        </p:nvSpPr>
        <p:spPr/>
        <p:txBody>
          <a:bodyPr>
            <a:normAutofit/>
          </a:bodyPr>
          <a:lstStyle/>
          <a:p>
            <a:pPr marL="0" indent="0">
              <a:buNone/>
            </a:pPr>
            <a:r>
              <a:rPr lang="en-US" sz="5400" dirty="0"/>
              <a:t>         </a:t>
            </a:r>
          </a:p>
          <a:p>
            <a:pPr marL="0" indent="0">
              <a:buNone/>
            </a:pPr>
            <a:endParaRPr lang="en-US" sz="5400" dirty="0"/>
          </a:p>
          <a:p>
            <a:pPr marL="0" indent="0">
              <a:buNone/>
            </a:pPr>
            <a:r>
              <a:rPr lang="en-US" sz="5400" dirty="0"/>
              <a:t>              </a:t>
            </a:r>
          </a:p>
        </p:txBody>
      </p:sp>
      <p:sp>
        <p:nvSpPr>
          <p:cNvPr id="5" name="Slide Number Placeholder 4">
            <a:extLst>
              <a:ext uri="{FF2B5EF4-FFF2-40B4-BE49-F238E27FC236}">
                <a16:creationId xmlns:a16="http://schemas.microsoft.com/office/drawing/2014/main" id="{5A3E6168-CA54-3045-1923-4C83F316A5A7}"/>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97</a:t>
            </a:fld>
            <a:endParaRPr lang="en-US" dirty="0">
              <a:solidFill>
                <a:srgbClr val="000000"/>
              </a:solidFill>
            </a:endParaRPr>
          </a:p>
        </p:txBody>
      </p:sp>
      <p:sp>
        <p:nvSpPr>
          <p:cNvPr id="7" name="TextBox 6">
            <a:extLst>
              <a:ext uri="{FF2B5EF4-FFF2-40B4-BE49-F238E27FC236}">
                <a16:creationId xmlns:a16="http://schemas.microsoft.com/office/drawing/2014/main" id="{34FF7641-3EE5-A9A0-3625-B2E6192895E2}"/>
              </a:ext>
            </a:extLst>
          </p:cNvPr>
          <p:cNvSpPr txBox="1"/>
          <p:nvPr/>
        </p:nvSpPr>
        <p:spPr>
          <a:xfrm>
            <a:off x="830326" y="593067"/>
            <a:ext cx="7394448" cy="5524589"/>
          </a:xfrm>
          <a:prstGeom prst="rect">
            <a:avLst/>
          </a:prstGeom>
          <a:noFill/>
        </p:spPr>
        <p:txBody>
          <a:bodyPr wrap="square">
            <a:spAutoFit/>
          </a:bodyPr>
          <a:lstStyle/>
          <a:p>
            <a:pPr algn="just">
              <a:spcAft>
                <a:spcPts val="600"/>
              </a:spcAft>
            </a:pPr>
            <a:r>
              <a:rPr lang="en-US" dirty="0"/>
              <a:t>from </a:t>
            </a:r>
            <a:r>
              <a:rPr lang="en-US" dirty="0" err="1"/>
              <a:t>sklearn.linear_model</a:t>
            </a:r>
            <a:r>
              <a:rPr lang="en-US" dirty="0"/>
              <a:t> import </a:t>
            </a:r>
            <a:r>
              <a:rPr lang="en-US" dirty="0" err="1"/>
              <a:t>LogisticRegression</a:t>
            </a:r>
            <a:endParaRPr lang="en-US" dirty="0"/>
          </a:p>
          <a:p>
            <a:pPr algn="just">
              <a:spcAft>
                <a:spcPts val="600"/>
              </a:spcAft>
            </a:pPr>
            <a:r>
              <a:rPr lang="en-US" dirty="0"/>
              <a:t>from </a:t>
            </a:r>
            <a:r>
              <a:rPr lang="en-US" dirty="0" err="1"/>
              <a:t>sklearn.metrics</a:t>
            </a:r>
            <a:r>
              <a:rPr lang="en-US" dirty="0"/>
              <a:t> import </a:t>
            </a:r>
            <a:r>
              <a:rPr lang="en-US" dirty="0" err="1"/>
              <a:t>confusion_matrix</a:t>
            </a:r>
            <a:endParaRPr lang="en-US" dirty="0"/>
          </a:p>
          <a:p>
            <a:pPr algn="just">
              <a:spcAft>
                <a:spcPts val="600"/>
              </a:spcAft>
            </a:pPr>
            <a:r>
              <a:rPr lang="en-US" dirty="0"/>
              <a:t>import pandas as pd</a:t>
            </a:r>
          </a:p>
          <a:p>
            <a:pPr algn="just">
              <a:spcAft>
                <a:spcPts val="600"/>
              </a:spcAft>
            </a:pPr>
            <a:r>
              <a:rPr lang="en-US" dirty="0"/>
              <a:t>from </a:t>
            </a:r>
            <a:r>
              <a:rPr lang="en-US" dirty="0" err="1"/>
              <a:t>sklearn.feature_extraction.text</a:t>
            </a:r>
            <a:r>
              <a:rPr lang="en-US" dirty="0"/>
              <a:t> import </a:t>
            </a:r>
            <a:r>
              <a:rPr lang="en-US" dirty="0" err="1"/>
              <a:t>TfidfVectorizer</a:t>
            </a:r>
            <a:endParaRPr lang="en-US" dirty="0"/>
          </a:p>
          <a:p>
            <a:pPr algn="just">
              <a:spcAft>
                <a:spcPts val="600"/>
              </a:spcAft>
            </a:pPr>
            <a:r>
              <a:rPr lang="en-US" dirty="0"/>
              <a:t>from </a:t>
            </a:r>
            <a:r>
              <a:rPr lang="en-US" dirty="0" err="1"/>
              <a:t>colorama</a:t>
            </a:r>
            <a:r>
              <a:rPr lang="en-US" dirty="0"/>
              <a:t> import Fore, Back, Style</a:t>
            </a:r>
          </a:p>
          <a:p>
            <a:pPr algn="just">
              <a:spcAft>
                <a:spcPts val="600"/>
              </a:spcAft>
            </a:pPr>
            <a:r>
              <a:rPr lang="en-US" dirty="0"/>
              <a:t># Vectorization for training and test</a:t>
            </a:r>
          </a:p>
          <a:p>
            <a:pPr algn="just">
              <a:spcAft>
                <a:spcPts val="600"/>
              </a:spcAft>
            </a:pPr>
            <a:r>
              <a:rPr lang="en-US" dirty="0"/>
              <a:t>vectorizer = </a:t>
            </a:r>
            <a:r>
              <a:rPr lang="en-US" dirty="0" err="1"/>
              <a:t>TfidfVectorizer</a:t>
            </a:r>
            <a:r>
              <a:rPr lang="en-US" dirty="0"/>
              <a:t>()</a:t>
            </a:r>
          </a:p>
          <a:p>
            <a:pPr algn="just">
              <a:spcAft>
                <a:spcPts val="600"/>
              </a:spcAft>
            </a:pPr>
            <a:r>
              <a:rPr lang="en-US" dirty="0" err="1"/>
              <a:t>x_train</a:t>
            </a:r>
            <a:r>
              <a:rPr lang="en-US" dirty="0"/>
              <a:t> = </a:t>
            </a:r>
            <a:r>
              <a:rPr lang="en-US" dirty="0" err="1"/>
              <a:t>vectorizer.fit_transform</a:t>
            </a:r>
            <a:r>
              <a:rPr lang="en-US" dirty="0"/>
              <a:t>(</a:t>
            </a:r>
            <a:r>
              <a:rPr lang="en-US" dirty="0" err="1"/>
              <a:t>train_data</a:t>
            </a:r>
            <a:r>
              <a:rPr lang="en-US" dirty="0"/>
              <a:t>['</a:t>
            </a:r>
            <a:r>
              <a:rPr lang="en-US" dirty="0" err="1"/>
              <a:t>commentText</a:t>
            </a:r>
            <a:r>
              <a:rPr lang="en-US" dirty="0"/>
              <a:t>'])  # Fit and transform training data</a:t>
            </a:r>
          </a:p>
          <a:p>
            <a:pPr algn="just">
              <a:spcAft>
                <a:spcPts val="600"/>
              </a:spcAft>
            </a:pPr>
            <a:r>
              <a:rPr lang="en-US" dirty="0" err="1"/>
              <a:t>x_test</a:t>
            </a:r>
            <a:r>
              <a:rPr lang="en-US" dirty="0"/>
              <a:t> = </a:t>
            </a:r>
            <a:r>
              <a:rPr lang="en-US" dirty="0" err="1"/>
              <a:t>vectorizer.transform</a:t>
            </a:r>
            <a:r>
              <a:rPr lang="en-US" dirty="0"/>
              <a:t>(</a:t>
            </a:r>
            <a:r>
              <a:rPr lang="en-US" dirty="0" err="1"/>
              <a:t>test_data</a:t>
            </a:r>
            <a:r>
              <a:rPr lang="en-US" dirty="0"/>
              <a:t>['</a:t>
            </a:r>
            <a:r>
              <a:rPr lang="en-US" dirty="0" err="1"/>
              <a:t>commentText</a:t>
            </a:r>
            <a:r>
              <a:rPr lang="en-US" dirty="0"/>
              <a:t>'])  # Transform test data using the same vectorizer</a:t>
            </a:r>
          </a:p>
          <a:p>
            <a:pPr algn="just">
              <a:spcAft>
                <a:spcPts val="600"/>
              </a:spcAft>
            </a:pPr>
            <a:r>
              <a:rPr lang="en-US" dirty="0"/>
              <a:t># Function to print confusion matrix with metrics</a:t>
            </a:r>
          </a:p>
          <a:p>
            <a:pPr algn="just">
              <a:spcAft>
                <a:spcPts val="600"/>
              </a:spcAft>
            </a:pPr>
            <a:r>
              <a:rPr lang="en-US" dirty="0"/>
              <a:t>def </a:t>
            </a:r>
            <a:r>
              <a:rPr lang="en-US" dirty="0" err="1"/>
              <a:t>print_confusion_matrix</a:t>
            </a:r>
            <a:r>
              <a:rPr lang="en-US" dirty="0"/>
              <a:t>(cm):</a:t>
            </a:r>
          </a:p>
          <a:p>
            <a:pPr algn="just">
              <a:spcAft>
                <a:spcPts val="600"/>
              </a:spcAft>
            </a:pPr>
            <a:r>
              <a:rPr lang="en-US" dirty="0" err="1"/>
              <a:t>tn</a:t>
            </a:r>
            <a:r>
              <a:rPr lang="en-US" dirty="0"/>
              <a:t>, </a:t>
            </a:r>
            <a:r>
              <a:rPr lang="en-US" dirty="0" err="1"/>
              <a:t>fp</a:t>
            </a:r>
            <a:r>
              <a:rPr lang="en-US" dirty="0"/>
              <a:t>, </a:t>
            </a:r>
            <a:r>
              <a:rPr lang="en-US" dirty="0" err="1"/>
              <a:t>fn</a:t>
            </a:r>
            <a:r>
              <a:rPr lang="en-US" dirty="0"/>
              <a:t>, </a:t>
            </a:r>
            <a:r>
              <a:rPr lang="en-US" dirty="0" err="1"/>
              <a:t>tp</a:t>
            </a:r>
            <a:r>
              <a:rPr lang="en-US" dirty="0"/>
              <a:t> = </a:t>
            </a:r>
            <a:r>
              <a:rPr lang="en-US" dirty="0" err="1"/>
              <a:t>cm.ravel</a:t>
            </a:r>
            <a:r>
              <a:rPr lang="en-US" dirty="0"/>
              <a:t>()</a:t>
            </a:r>
          </a:p>
          <a:p>
            <a:pPr algn="just">
              <a:spcAft>
                <a:spcPts val="600"/>
              </a:spcAft>
            </a:pPr>
            <a:r>
              <a:rPr lang="en-US" dirty="0"/>
              <a:t>total = </a:t>
            </a:r>
            <a:r>
              <a:rPr lang="en-US" dirty="0" err="1"/>
              <a:t>tn</a:t>
            </a:r>
            <a:r>
              <a:rPr lang="en-US" dirty="0"/>
              <a:t> + </a:t>
            </a:r>
            <a:r>
              <a:rPr lang="en-US" dirty="0" err="1"/>
              <a:t>fp</a:t>
            </a:r>
            <a:r>
              <a:rPr lang="en-US" dirty="0"/>
              <a:t> + </a:t>
            </a:r>
            <a:r>
              <a:rPr lang="en-US" dirty="0" err="1"/>
              <a:t>fn</a:t>
            </a:r>
            <a:r>
              <a:rPr lang="en-US" dirty="0"/>
              <a:t> + </a:t>
            </a:r>
            <a:r>
              <a:rPr lang="en-US" dirty="0" err="1"/>
              <a:t>tp</a:t>
            </a:r>
            <a:endParaRPr lang="en-US" dirty="0"/>
          </a:p>
          <a:p>
            <a:pPr algn="just">
              <a:spcAft>
                <a:spcPts val="600"/>
              </a:spcAft>
            </a:pPr>
            <a:r>
              <a:rPr lang="en-US" dirty="0"/>
              <a:t>accuracy = (</a:t>
            </a:r>
            <a:r>
              <a:rPr lang="en-US" dirty="0" err="1"/>
              <a:t>tp</a:t>
            </a:r>
            <a:r>
              <a:rPr lang="en-US" dirty="0"/>
              <a:t> + </a:t>
            </a:r>
            <a:r>
              <a:rPr lang="en-US" dirty="0" err="1"/>
              <a:t>tn</a:t>
            </a:r>
            <a:r>
              <a:rPr lang="en-US" dirty="0"/>
              <a:t>) / total</a:t>
            </a:r>
          </a:p>
        </p:txBody>
      </p:sp>
    </p:spTree>
    <p:extLst>
      <p:ext uri="{BB962C8B-B14F-4D97-AF65-F5344CB8AC3E}">
        <p14:creationId xmlns:p14="http://schemas.microsoft.com/office/powerpoint/2010/main" val="124910569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9C3A44-EFA3-1C1C-3FAB-430F7FEF14B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079DD7-F619-FF26-FB05-53FEC08B131B}"/>
              </a:ext>
            </a:extLst>
          </p:cNvPr>
          <p:cNvSpPr>
            <a:spLocks noGrp="1"/>
          </p:cNvSpPr>
          <p:nvPr>
            <p:ph idx="1"/>
          </p:nvPr>
        </p:nvSpPr>
        <p:spPr/>
        <p:txBody>
          <a:bodyPr>
            <a:normAutofit/>
          </a:bodyPr>
          <a:lstStyle/>
          <a:p>
            <a:pPr marL="0" indent="0">
              <a:buNone/>
            </a:pPr>
            <a:r>
              <a:rPr lang="en-US" sz="5400" dirty="0"/>
              <a:t>         </a:t>
            </a:r>
          </a:p>
          <a:p>
            <a:pPr marL="0" indent="0">
              <a:buNone/>
            </a:pPr>
            <a:endParaRPr lang="en-US" sz="5400" dirty="0"/>
          </a:p>
          <a:p>
            <a:pPr marL="0" indent="0">
              <a:buNone/>
            </a:pPr>
            <a:r>
              <a:rPr lang="en-US" sz="5400" dirty="0"/>
              <a:t>              </a:t>
            </a:r>
          </a:p>
        </p:txBody>
      </p:sp>
      <p:sp>
        <p:nvSpPr>
          <p:cNvPr id="5" name="Slide Number Placeholder 4">
            <a:extLst>
              <a:ext uri="{FF2B5EF4-FFF2-40B4-BE49-F238E27FC236}">
                <a16:creationId xmlns:a16="http://schemas.microsoft.com/office/drawing/2014/main" id="{A1D28FF7-1992-4B37-5407-DCEB44938F02}"/>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98</a:t>
            </a:fld>
            <a:endParaRPr lang="en-US" dirty="0">
              <a:solidFill>
                <a:srgbClr val="000000"/>
              </a:solidFill>
            </a:endParaRPr>
          </a:p>
        </p:txBody>
      </p:sp>
      <p:sp>
        <p:nvSpPr>
          <p:cNvPr id="7" name="TextBox 6">
            <a:extLst>
              <a:ext uri="{FF2B5EF4-FFF2-40B4-BE49-F238E27FC236}">
                <a16:creationId xmlns:a16="http://schemas.microsoft.com/office/drawing/2014/main" id="{82B70B1B-6E2B-E367-9A63-7E021E41E202}"/>
              </a:ext>
            </a:extLst>
          </p:cNvPr>
          <p:cNvSpPr txBox="1"/>
          <p:nvPr/>
        </p:nvSpPr>
        <p:spPr>
          <a:xfrm>
            <a:off x="830326" y="593067"/>
            <a:ext cx="7394448" cy="5370701"/>
          </a:xfrm>
          <a:prstGeom prst="rect">
            <a:avLst/>
          </a:prstGeom>
          <a:noFill/>
        </p:spPr>
        <p:txBody>
          <a:bodyPr wrap="square">
            <a:spAutoFit/>
          </a:bodyPr>
          <a:lstStyle/>
          <a:p>
            <a:pPr algn="just">
              <a:spcAft>
                <a:spcPts val="600"/>
              </a:spcAft>
            </a:pPr>
            <a:r>
              <a:rPr lang="en-US" dirty="0"/>
              <a:t>sensitivity = </a:t>
            </a:r>
            <a:r>
              <a:rPr lang="en-US" dirty="0" err="1"/>
              <a:t>tp</a:t>
            </a:r>
            <a:r>
              <a:rPr lang="en-US" dirty="0"/>
              <a:t> / (</a:t>
            </a:r>
            <a:r>
              <a:rPr lang="en-US" dirty="0" err="1"/>
              <a:t>tp</a:t>
            </a:r>
            <a:r>
              <a:rPr lang="en-US" dirty="0"/>
              <a:t> + </a:t>
            </a:r>
            <a:r>
              <a:rPr lang="en-US" dirty="0" err="1"/>
              <a:t>fn</a:t>
            </a:r>
            <a:r>
              <a:rPr lang="en-US" dirty="0"/>
              <a:t>) if (</a:t>
            </a:r>
            <a:r>
              <a:rPr lang="en-US" dirty="0" err="1"/>
              <a:t>tp</a:t>
            </a:r>
            <a:r>
              <a:rPr lang="en-US" dirty="0"/>
              <a:t> + </a:t>
            </a:r>
            <a:r>
              <a:rPr lang="en-US" dirty="0" err="1"/>
              <a:t>fn</a:t>
            </a:r>
            <a:r>
              <a:rPr lang="en-US" dirty="0"/>
              <a:t>) &gt; 0 else 0</a:t>
            </a:r>
          </a:p>
          <a:p>
            <a:pPr algn="just">
              <a:spcAft>
                <a:spcPts val="600"/>
              </a:spcAft>
            </a:pPr>
            <a:r>
              <a:rPr lang="en-US" dirty="0"/>
              <a:t>precision = </a:t>
            </a:r>
            <a:r>
              <a:rPr lang="en-US" dirty="0" err="1"/>
              <a:t>tp</a:t>
            </a:r>
            <a:r>
              <a:rPr lang="en-US" dirty="0"/>
              <a:t> / (</a:t>
            </a:r>
            <a:r>
              <a:rPr lang="en-US" dirty="0" err="1"/>
              <a:t>tp</a:t>
            </a:r>
            <a:r>
              <a:rPr lang="en-US" dirty="0"/>
              <a:t> + </a:t>
            </a:r>
            <a:r>
              <a:rPr lang="en-US" dirty="0" err="1"/>
              <a:t>fp</a:t>
            </a:r>
            <a:r>
              <a:rPr lang="en-US" dirty="0"/>
              <a:t>) if (</a:t>
            </a:r>
            <a:r>
              <a:rPr lang="en-US" dirty="0" err="1"/>
              <a:t>tp</a:t>
            </a:r>
            <a:r>
              <a:rPr lang="en-US" dirty="0"/>
              <a:t> + </a:t>
            </a:r>
            <a:r>
              <a:rPr lang="en-US" dirty="0" err="1"/>
              <a:t>fp</a:t>
            </a:r>
            <a:r>
              <a:rPr lang="en-US" dirty="0"/>
              <a:t>) &gt; 0 else 0</a:t>
            </a:r>
          </a:p>
          <a:p>
            <a:pPr algn="just">
              <a:spcAft>
                <a:spcPts val="600"/>
              </a:spcAft>
            </a:pPr>
            <a:r>
              <a:rPr lang="en-US" dirty="0"/>
              <a:t>specificity = </a:t>
            </a:r>
            <a:r>
              <a:rPr lang="en-US" dirty="0" err="1"/>
              <a:t>tn</a:t>
            </a:r>
            <a:r>
              <a:rPr lang="en-US" dirty="0"/>
              <a:t> / (</a:t>
            </a:r>
            <a:r>
              <a:rPr lang="en-US" dirty="0" err="1"/>
              <a:t>tn</a:t>
            </a:r>
            <a:r>
              <a:rPr lang="en-US" dirty="0"/>
              <a:t> + </a:t>
            </a:r>
            <a:r>
              <a:rPr lang="en-US" dirty="0" err="1"/>
              <a:t>fp</a:t>
            </a:r>
            <a:r>
              <a:rPr lang="en-US" dirty="0"/>
              <a:t>) if (</a:t>
            </a:r>
            <a:r>
              <a:rPr lang="en-US" dirty="0" err="1"/>
              <a:t>tn</a:t>
            </a:r>
            <a:r>
              <a:rPr lang="en-US" dirty="0"/>
              <a:t> + </a:t>
            </a:r>
            <a:r>
              <a:rPr lang="en-US" dirty="0" err="1"/>
              <a:t>fp</a:t>
            </a:r>
            <a:r>
              <a:rPr lang="en-US" dirty="0"/>
              <a:t>) &gt; 0 else 0</a:t>
            </a:r>
          </a:p>
          <a:p>
            <a:pPr algn="just">
              <a:spcAft>
                <a:spcPts val="600"/>
              </a:spcAft>
            </a:pPr>
            <a:r>
              <a:rPr lang="en-US" dirty="0"/>
              <a:t>print(f"\n{</a:t>
            </a:r>
            <a:r>
              <a:rPr lang="en-US" dirty="0" err="1"/>
              <a:t>Fore.YELLOW</a:t>
            </a:r>
            <a:r>
              <a:rPr lang="en-US" dirty="0"/>
              <a:t>}Confusion Matrix (Test Set){</a:t>
            </a:r>
            <a:r>
              <a:rPr lang="en-US" dirty="0" err="1"/>
              <a:t>Style.RESET_ALL</a:t>
            </a:r>
            <a:r>
              <a:rPr lang="en-US" dirty="0"/>
              <a:t>}")</a:t>
            </a:r>
          </a:p>
          <a:p>
            <a:pPr algn="just">
              <a:spcAft>
                <a:spcPts val="600"/>
              </a:spcAft>
            </a:pPr>
            <a:r>
              <a:rPr lang="en-US" dirty="0"/>
              <a:t>print(f"              Predicted")</a:t>
            </a:r>
          </a:p>
          <a:p>
            <a:pPr algn="just">
              <a:spcAft>
                <a:spcPts val="600"/>
              </a:spcAft>
            </a:pPr>
            <a:r>
              <a:rPr lang="en-US" dirty="0"/>
              <a:t>print(f"               0        1     Total")</a:t>
            </a:r>
          </a:p>
          <a:p>
            <a:pPr algn="just">
              <a:spcAft>
                <a:spcPts val="600"/>
              </a:spcAft>
            </a:pPr>
            <a:r>
              <a:rPr lang="en-US" dirty="0"/>
              <a:t>print(f"Actual0   |   {</a:t>
            </a:r>
            <a:r>
              <a:rPr lang="en-US" dirty="0" err="1"/>
              <a:t>Back.LIGHTBLUE_EX</a:t>
            </a:r>
            <a:r>
              <a:rPr lang="en-US" dirty="0"/>
              <a:t>}{</a:t>
            </a:r>
            <a:r>
              <a:rPr lang="en-US" dirty="0" err="1"/>
              <a:t>tn</a:t>
            </a:r>
            <a:r>
              <a:rPr lang="en-US" dirty="0"/>
              <a:t>}{</a:t>
            </a:r>
            <a:r>
              <a:rPr lang="en-US" dirty="0" err="1"/>
              <a:t>Style.RESET_ALL</a:t>
            </a:r>
            <a:r>
              <a:rPr lang="en-US" dirty="0"/>
              <a:t>}     {</a:t>
            </a:r>
            <a:r>
              <a:rPr lang="en-US" dirty="0" err="1"/>
              <a:t>Back.LIGHTCYAN_EX</a:t>
            </a:r>
            <a:r>
              <a:rPr lang="en-US" dirty="0"/>
              <a:t>}{</a:t>
            </a:r>
            <a:r>
              <a:rPr lang="en-US" dirty="0" err="1"/>
              <a:t>fp</a:t>
            </a:r>
            <a:r>
              <a:rPr lang="en-US" dirty="0"/>
              <a:t>}{</a:t>
            </a:r>
            <a:r>
              <a:rPr lang="en-US" dirty="0" err="1"/>
              <a:t>Style.RESET_ALL</a:t>
            </a:r>
            <a:r>
              <a:rPr lang="en-US" dirty="0"/>
              <a:t>}    {</a:t>
            </a:r>
            <a:r>
              <a:rPr lang="en-US" dirty="0" err="1"/>
              <a:t>tn</a:t>
            </a:r>
            <a:r>
              <a:rPr lang="en-US" dirty="0"/>
              <a:t> + </a:t>
            </a:r>
            <a:r>
              <a:rPr lang="en-US" dirty="0" err="1"/>
              <a:t>fp</a:t>
            </a:r>
            <a:r>
              <a:rPr lang="en-US" dirty="0"/>
              <a:t>}")</a:t>
            </a:r>
          </a:p>
          <a:p>
            <a:pPr algn="just">
              <a:spcAft>
                <a:spcPts val="600"/>
              </a:spcAft>
            </a:pPr>
            <a:r>
              <a:rPr lang="en-US" dirty="0"/>
              <a:t>print(f"       1   |   {</a:t>
            </a:r>
            <a:r>
              <a:rPr lang="en-US" dirty="0" err="1"/>
              <a:t>Back.LIGHTCYAN_EX</a:t>
            </a:r>
            <a:r>
              <a:rPr lang="en-US" dirty="0"/>
              <a:t>}{</a:t>
            </a:r>
            <a:r>
              <a:rPr lang="en-US" dirty="0" err="1"/>
              <a:t>fn</a:t>
            </a:r>
            <a:r>
              <a:rPr lang="en-US" dirty="0"/>
              <a:t>}{</a:t>
            </a:r>
            <a:r>
              <a:rPr lang="en-US" dirty="0" err="1"/>
              <a:t>Style.RESET_ALL</a:t>
            </a:r>
            <a:r>
              <a:rPr lang="en-US" dirty="0"/>
              <a:t>}    {</a:t>
            </a:r>
            <a:r>
              <a:rPr lang="en-US" dirty="0" err="1"/>
              <a:t>Back.LIGHTBLUE_EX</a:t>
            </a:r>
            <a:r>
              <a:rPr lang="en-US" dirty="0"/>
              <a:t>}{</a:t>
            </a:r>
            <a:r>
              <a:rPr lang="en-US" dirty="0" err="1"/>
              <a:t>tp</a:t>
            </a:r>
            <a:r>
              <a:rPr lang="en-US" dirty="0"/>
              <a:t>}{</a:t>
            </a:r>
            <a:r>
              <a:rPr lang="en-US" dirty="0" err="1"/>
              <a:t>Style.RESET_ALL</a:t>
            </a:r>
            <a:r>
              <a:rPr lang="en-US" dirty="0"/>
              <a:t>}    {</a:t>
            </a:r>
            <a:r>
              <a:rPr lang="en-US" dirty="0" err="1"/>
              <a:t>fn</a:t>
            </a:r>
            <a:r>
              <a:rPr lang="en-US" dirty="0"/>
              <a:t> + </a:t>
            </a:r>
            <a:r>
              <a:rPr lang="en-US" dirty="0" err="1"/>
              <a:t>tp</a:t>
            </a:r>
            <a:r>
              <a:rPr lang="en-US" dirty="0"/>
              <a:t>}")</a:t>
            </a:r>
          </a:p>
          <a:p>
            <a:pPr algn="just">
              <a:spcAft>
                <a:spcPts val="600"/>
              </a:spcAft>
            </a:pPr>
            <a:r>
              <a:rPr lang="en-US" dirty="0"/>
              <a:t>print(</a:t>
            </a:r>
            <a:r>
              <a:rPr lang="en-US" dirty="0" err="1"/>
              <a:t>f"Total</a:t>
            </a:r>
            <a:r>
              <a:rPr lang="en-US" dirty="0"/>
              <a:t>      |   {</a:t>
            </a:r>
            <a:r>
              <a:rPr lang="en-US" dirty="0" err="1"/>
              <a:t>tn</a:t>
            </a:r>
            <a:r>
              <a:rPr lang="en-US" dirty="0"/>
              <a:t> + </a:t>
            </a:r>
            <a:r>
              <a:rPr lang="en-US" dirty="0" err="1"/>
              <a:t>fn</a:t>
            </a:r>
            <a:r>
              <a:rPr lang="en-US" dirty="0"/>
              <a:t>}    {</a:t>
            </a:r>
            <a:r>
              <a:rPr lang="en-US" dirty="0" err="1"/>
              <a:t>fp</a:t>
            </a:r>
            <a:r>
              <a:rPr lang="en-US" dirty="0"/>
              <a:t> + </a:t>
            </a:r>
            <a:r>
              <a:rPr lang="en-US" dirty="0" err="1"/>
              <a:t>tp</a:t>
            </a:r>
            <a:r>
              <a:rPr lang="en-US" dirty="0"/>
              <a:t>}    {total}")</a:t>
            </a:r>
          </a:p>
          <a:p>
            <a:pPr algn="just">
              <a:spcAft>
                <a:spcPts val="600"/>
              </a:spcAft>
            </a:pPr>
            <a:br>
              <a:rPr lang="en-US" dirty="0"/>
            </a:br>
            <a:r>
              <a:rPr lang="en-US" dirty="0"/>
              <a:t>print(f"\n{</a:t>
            </a:r>
            <a:r>
              <a:rPr lang="en-US" dirty="0" err="1"/>
              <a:t>Fore.CYAN</a:t>
            </a:r>
            <a:r>
              <a:rPr lang="en-US" dirty="0"/>
              <a:t>}Metrics:{</a:t>
            </a:r>
            <a:r>
              <a:rPr lang="en-US" dirty="0" err="1"/>
              <a:t>Style.RESET_ALL</a:t>
            </a:r>
            <a:r>
              <a:rPr lang="en-US" dirty="0"/>
              <a:t>}")</a:t>
            </a:r>
          </a:p>
          <a:p>
            <a:pPr algn="just">
              <a:spcAft>
                <a:spcPts val="600"/>
              </a:spcAft>
            </a:pPr>
            <a:r>
              <a:rPr lang="en-US" dirty="0"/>
              <a:t>print(f"{</a:t>
            </a:r>
            <a:r>
              <a:rPr lang="en-US" dirty="0" err="1"/>
              <a:t>Fore.GREEN</a:t>
            </a:r>
            <a:r>
              <a:rPr lang="en-US" dirty="0"/>
              <a:t>}Accuracy:     ACC = {accuracy:.4f} ({accuracy * 100:.2f}%)")</a:t>
            </a:r>
          </a:p>
          <a:p>
            <a:pPr algn="just">
              <a:spcAft>
                <a:spcPts val="600"/>
              </a:spcAft>
            </a:pPr>
            <a:r>
              <a:rPr lang="en-US" dirty="0"/>
              <a:t>print(</a:t>
            </a:r>
            <a:r>
              <a:rPr lang="en-US" dirty="0" err="1"/>
              <a:t>f"Sensitivity</a:t>
            </a:r>
            <a:r>
              <a:rPr lang="en-US" dirty="0"/>
              <a:t>:  TPR = {sensitivity:.4f} ({sensitivity * 100:.2f}%)")</a:t>
            </a:r>
          </a:p>
        </p:txBody>
      </p:sp>
    </p:spTree>
    <p:extLst>
      <p:ext uri="{BB962C8B-B14F-4D97-AF65-F5344CB8AC3E}">
        <p14:creationId xmlns:p14="http://schemas.microsoft.com/office/powerpoint/2010/main" val="46084336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6C41E9-975A-79A6-69B8-E30C07C8773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45F872-C551-609D-AE05-9E969CB39DB5}"/>
              </a:ext>
            </a:extLst>
          </p:cNvPr>
          <p:cNvSpPr>
            <a:spLocks noGrp="1"/>
          </p:cNvSpPr>
          <p:nvPr>
            <p:ph idx="1"/>
          </p:nvPr>
        </p:nvSpPr>
        <p:spPr/>
        <p:txBody>
          <a:bodyPr>
            <a:normAutofit/>
          </a:bodyPr>
          <a:lstStyle/>
          <a:p>
            <a:pPr marL="0" indent="0">
              <a:buNone/>
            </a:pPr>
            <a:r>
              <a:rPr lang="en-US" sz="5400" dirty="0"/>
              <a:t>         </a:t>
            </a:r>
          </a:p>
          <a:p>
            <a:pPr marL="0" indent="0">
              <a:buNone/>
            </a:pPr>
            <a:endParaRPr lang="en-US" sz="5400" dirty="0"/>
          </a:p>
          <a:p>
            <a:pPr marL="0" indent="0">
              <a:buNone/>
            </a:pPr>
            <a:r>
              <a:rPr lang="en-US" sz="5400" dirty="0"/>
              <a:t>              </a:t>
            </a:r>
          </a:p>
        </p:txBody>
      </p:sp>
      <p:sp>
        <p:nvSpPr>
          <p:cNvPr id="5" name="Slide Number Placeholder 4">
            <a:extLst>
              <a:ext uri="{FF2B5EF4-FFF2-40B4-BE49-F238E27FC236}">
                <a16:creationId xmlns:a16="http://schemas.microsoft.com/office/drawing/2014/main" id="{E3380D03-40FB-C898-EAF0-19BB9770C734}"/>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99</a:t>
            </a:fld>
            <a:endParaRPr lang="en-US" dirty="0">
              <a:solidFill>
                <a:srgbClr val="000000"/>
              </a:solidFill>
            </a:endParaRPr>
          </a:p>
        </p:txBody>
      </p:sp>
      <p:sp>
        <p:nvSpPr>
          <p:cNvPr id="7" name="TextBox 6">
            <a:extLst>
              <a:ext uri="{FF2B5EF4-FFF2-40B4-BE49-F238E27FC236}">
                <a16:creationId xmlns:a16="http://schemas.microsoft.com/office/drawing/2014/main" id="{AA881857-D167-0C97-608D-A53052FCCDD5}"/>
              </a:ext>
            </a:extLst>
          </p:cNvPr>
          <p:cNvSpPr txBox="1"/>
          <p:nvPr/>
        </p:nvSpPr>
        <p:spPr>
          <a:xfrm>
            <a:off x="830326" y="593067"/>
            <a:ext cx="7394448" cy="5324535"/>
          </a:xfrm>
          <a:prstGeom prst="rect">
            <a:avLst/>
          </a:prstGeom>
          <a:noFill/>
        </p:spPr>
        <p:txBody>
          <a:bodyPr wrap="square">
            <a:spAutoFit/>
          </a:bodyPr>
          <a:lstStyle/>
          <a:p>
            <a:pPr algn="just">
              <a:spcAft>
                <a:spcPts val="600"/>
              </a:spcAft>
            </a:pPr>
            <a:r>
              <a:rPr lang="en-US" dirty="0"/>
              <a:t>print(</a:t>
            </a:r>
            <a:r>
              <a:rPr lang="en-US" dirty="0" err="1"/>
              <a:t>f"Precision</a:t>
            </a:r>
            <a:r>
              <a:rPr lang="en-US" dirty="0"/>
              <a:t>:    PPV = {precision:.4f} ({precision * 100:.2f}%)")</a:t>
            </a:r>
          </a:p>
          <a:p>
            <a:pPr algn="just">
              <a:spcAft>
                <a:spcPts val="600"/>
              </a:spcAft>
            </a:pPr>
            <a:r>
              <a:rPr lang="en-US" dirty="0"/>
              <a:t>print(</a:t>
            </a:r>
            <a:r>
              <a:rPr lang="en-US" dirty="0" err="1"/>
              <a:t>f"Specificity</a:t>
            </a:r>
            <a:r>
              <a:rPr lang="en-US" dirty="0"/>
              <a:t>:  SPC = {specificity:.4f} ({specificity * 100:.2f}%)</a:t>
            </a:r>
          </a:p>
          <a:p>
            <a:pPr algn="just">
              <a:spcAft>
                <a:spcPts val="600"/>
              </a:spcAft>
            </a:pPr>
            <a:endParaRPr lang="en-US" dirty="0"/>
          </a:p>
          <a:p>
            <a:pPr algn="just">
              <a:spcAft>
                <a:spcPts val="600"/>
              </a:spcAft>
            </a:pPr>
            <a:r>
              <a:rPr lang="en-US" dirty="0"/>
              <a:t># Function to train the model and evaluate only on the test set</a:t>
            </a:r>
          </a:p>
          <a:p>
            <a:pPr algn="just">
              <a:spcAft>
                <a:spcPts val="600"/>
              </a:spcAft>
            </a:pPr>
            <a:r>
              <a:rPr lang="en-US" dirty="0"/>
              <a:t>def </a:t>
            </a:r>
            <a:r>
              <a:rPr lang="en-US" dirty="0" err="1"/>
              <a:t>evaluate_model_on_test</a:t>
            </a:r>
            <a:r>
              <a:rPr lang="en-US" dirty="0"/>
              <a:t>(</a:t>
            </a:r>
            <a:r>
              <a:rPr lang="en-US" dirty="0" err="1"/>
              <a:t>x_train</a:t>
            </a:r>
            <a:r>
              <a:rPr lang="en-US" dirty="0"/>
              <a:t>, </a:t>
            </a:r>
            <a:r>
              <a:rPr lang="en-US" dirty="0" err="1"/>
              <a:t>y_train</a:t>
            </a:r>
            <a:r>
              <a:rPr lang="en-US" dirty="0"/>
              <a:t>, </a:t>
            </a:r>
            <a:r>
              <a:rPr lang="en-US" dirty="0" err="1"/>
              <a:t>x_test</a:t>
            </a:r>
            <a:r>
              <a:rPr lang="en-US" dirty="0"/>
              <a:t>, </a:t>
            </a:r>
            <a:r>
              <a:rPr lang="en-US" dirty="0" err="1"/>
              <a:t>y_test</a:t>
            </a:r>
            <a:r>
              <a:rPr lang="en-US" dirty="0"/>
              <a:t>):</a:t>
            </a:r>
          </a:p>
          <a:p>
            <a:pPr algn="just">
              <a:spcAft>
                <a:spcPts val="600"/>
              </a:spcAft>
            </a:pPr>
            <a:r>
              <a:rPr lang="en-US" dirty="0"/>
              <a:t># Initialize and train the Logistic Regression model</a:t>
            </a:r>
          </a:p>
          <a:p>
            <a:pPr algn="just">
              <a:spcAft>
                <a:spcPts val="600"/>
              </a:spcAft>
            </a:pPr>
            <a:r>
              <a:rPr lang="en-US" dirty="0" err="1"/>
              <a:t>log_reg_model</a:t>
            </a:r>
            <a:r>
              <a:rPr lang="en-US" dirty="0"/>
              <a:t> = </a:t>
            </a:r>
            <a:r>
              <a:rPr lang="en-US" dirty="0" err="1"/>
              <a:t>LogisticRegression</a:t>
            </a:r>
            <a:r>
              <a:rPr lang="en-US" dirty="0"/>
              <a:t>(solver='</a:t>
            </a:r>
            <a:r>
              <a:rPr lang="en-US" dirty="0" err="1"/>
              <a:t>liblinear</a:t>
            </a:r>
            <a:r>
              <a:rPr lang="en-US" dirty="0"/>
              <a:t>')</a:t>
            </a:r>
          </a:p>
          <a:p>
            <a:pPr algn="just">
              <a:spcAft>
                <a:spcPts val="600"/>
              </a:spcAft>
            </a:pPr>
            <a:r>
              <a:rPr lang="en-US" dirty="0" err="1"/>
              <a:t>log_reg_model.fit</a:t>
            </a:r>
            <a:r>
              <a:rPr lang="en-US" dirty="0"/>
              <a:t>(</a:t>
            </a:r>
            <a:r>
              <a:rPr lang="en-US" dirty="0" err="1"/>
              <a:t>x_train</a:t>
            </a:r>
            <a:r>
              <a:rPr lang="en-US" dirty="0"/>
              <a:t>, </a:t>
            </a:r>
            <a:r>
              <a:rPr lang="en-US" dirty="0" err="1"/>
              <a:t>y_train</a:t>
            </a:r>
            <a:r>
              <a:rPr lang="en-US" dirty="0"/>
              <a:t>)</a:t>
            </a:r>
          </a:p>
          <a:p>
            <a:pPr algn="just">
              <a:spcAft>
                <a:spcPts val="600"/>
              </a:spcAft>
            </a:pPr>
            <a:r>
              <a:rPr lang="en-US" dirty="0"/>
              <a:t># Generate predictions for the test set</a:t>
            </a:r>
          </a:p>
          <a:p>
            <a:pPr algn="just">
              <a:spcAft>
                <a:spcPts val="600"/>
              </a:spcAft>
            </a:pPr>
            <a:r>
              <a:rPr lang="en-US" dirty="0" err="1"/>
              <a:t>y_test_pred</a:t>
            </a:r>
            <a:r>
              <a:rPr lang="en-US" dirty="0"/>
              <a:t> = </a:t>
            </a:r>
            <a:r>
              <a:rPr lang="en-US" dirty="0" err="1"/>
              <a:t>log_reg_model.predict</a:t>
            </a:r>
            <a:r>
              <a:rPr lang="en-US" dirty="0"/>
              <a:t>(</a:t>
            </a:r>
            <a:r>
              <a:rPr lang="en-US" dirty="0" err="1"/>
              <a:t>x_test</a:t>
            </a:r>
            <a:r>
              <a:rPr lang="en-US" dirty="0"/>
              <a:t>)</a:t>
            </a:r>
          </a:p>
          <a:p>
            <a:pPr algn="just">
              <a:spcAft>
                <a:spcPts val="600"/>
              </a:spcAft>
            </a:pPr>
            <a:r>
              <a:rPr lang="en-US" dirty="0" err="1"/>
              <a:t>cm_test</a:t>
            </a:r>
            <a:r>
              <a:rPr lang="en-US" dirty="0"/>
              <a:t> = </a:t>
            </a:r>
            <a:r>
              <a:rPr lang="en-US" dirty="0" err="1"/>
              <a:t>confusion_matrix</a:t>
            </a:r>
            <a:r>
              <a:rPr lang="en-US" dirty="0"/>
              <a:t>(</a:t>
            </a:r>
            <a:r>
              <a:rPr lang="en-US" dirty="0" err="1"/>
              <a:t>y_test</a:t>
            </a:r>
            <a:r>
              <a:rPr lang="en-US" dirty="0"/>
              <a:t>, </a:t>
            </a:r>
            <a:r>
              <a:rPr lang="en-US" dirty="0" err="1"/>
              <a:t>y_test_pred</a:t>
            </a:r>
            <a:r>
              <a:rPr lang="en-US" dirty="0"/>
              <a:t>)</a:t>
            </a:r>
          </a:p>
          <a:p>
            <a:pPr algn="just">
              <a:spcAft>
                <a:spcPts val="600"/>
              </a:spcAft>
            </a:pPr>
            <a:r>
              <a:rPr lang="en-US" dirty="0"/>
              <a:t># Print detailed confusion matrix for test set</a:t>
            </a:r>
          </a:p>
          <a:p>
            <a:pPr algn="just">
              <a:spcAft>
                <a:spcPts val="600"/>
              </a:spcAft>
            </a:pPr>
            <a:r>
              <a:rPr lang="en-US" dirty="0" err="1"/>
              <a:t>print_confusion_matrix</a:t>
            </a:r>
            <a:r>
              <a:rPr lang="en-US" dirty="0"/>
              <a:t>(</a:t>
            </a:r>
            <a:r>
              <a:rPr lang="en-US" dirty="0" err="1"/>
              <a:t>cm_test</a:t>
            </a:r>
            <a:r>
              <a:rPr lang="en-US" dirty="0"/>
              <a:t>)</a:t>
            </a:r>
          </a:p>
          <a:p>
            <a:pPr algn="just">
              <a:spcAft>
                <a:spcPts val="600"/>
              </a:spcAft>
            </a:pPr>
            <a:r>
              <a:rPr lang="en-US" dirty="0"/>
              <a:t>return </a:t>
            </a:r>
            <a:r>
              <a:rPr lang="en-US" dirty="0" err="1"/>
              <a:t>y_test_pred</a:t>
            </a:r>
            <a:endParaRPr lang="en-US" dirty="0"/>
          </a:p>
          <a:p>
            <a:endParaRPr lang="en-US" dirty="0"/>
          </a:p>
        </p:txBody>
      </p:sp>
    </p:spTree>
    <p:extLst>
      <p:ext uri="{BB962C8B-B14F-4D97-AF65-F5344CB8AC3E}">
        <p14:creationId xmlns:p14="http://schemas.microsoft.com/office/powerpoint/2010/main" val="166582693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62715-F8F7-DAE7-78BF-7B5135EE989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C18AC5E-607E-8CCB-4BC0-56296B9B8B9C}"/>
              </a:ext>
            </a:extLst>
          </p:cNvPr>
          <p:cNvSpPr>
            <a:spLocks noGrp="1"/>
          </p:cNvSpPr>
          <p:nvPr>
            <p:ph idx="1"/>
          </p:nvPr>
        </p:nvSpPr>
        <p:spPr/>
        <p:txBody>
          <a:bodyPr>
            <a:normAutofit/>
          </a:bodyPr>
          <a:lstStyle/>
          <a:p>
            <a:pPr marL="0" indent="0">
              <a:buNone/>
            </a:pPr>
            <a:r>
              <a:rPr lang="en-US" sz="5400" dirty="0"/>
              <a:t>         </a:t>
            </a:r>
          </a:p>
          <a:p>
            <a:pPr marL="0" indent="0">
              <a:buNone/>
            </a:pPr>
            <a:endParaRPr lang="en-US" sz="5400" dirty="0"/>
          </a:p>
          <a:p>
            <a:pPr marL="0" indent="0">
              <a:buNone/>
            </a:pPr>
            <a:r>
              <a:rPr lang="en-US" sz="5400" dirty="0"/>
              <a:t>              </a:t>
            </a:r>
          </a:p>
        </p:txBody>
      </p:sp>
      <p:sp>
        <p:nvSpPr>
          <p:cNvPr id="5" name="Slide Number Placeholder 4">
            <a:extLst>
              <a:ext uri="{FF2B5EF4-FFF2-40B4-BE49-F238E27FC236}">
                <a16:creationId xmlns:a16="http://schemas.microsoft.com/office/drawing/2014/main" id="{25DE931A-8CA7-08F0-2E8F-14EC15D552A9}"/>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100</a:t>
            </a:fld>
            <a:endParaRPr lang="en-US" dirty="0">
              <a:solidFill>
                <a:srgbClr val="000000"/>
              </a:solidFill>
            </a:endParaRPr>
          </a:p>
        </p:txBody>
      </p:sp>
      <p:sp>
        <p:nvSpPr>
          <p:cNvPr id="7" name="TextBox 6">
            <a:extLst>
              <a:ext uri="{FF2B5EF4-FFF2-40B4-BE49-F238E27FC236}">
                <a16:creationId xmlns:a16="http://schemas.microsoft.com/office/drawing/2014/main" id="{4717204A-65F8-CB8F-7990-F74CAB28F639}"/>
              </a:ext>
            </a:extLst>
          </p:cNvPr>
          <p:cNvSpPr txBox="1"/>
          <p:nvPr/>
        </p:nvSpPr>
        <p:spPr>
          <a:xfrm>
            <a:off x="830326" y="593067"/>
            <a:ext cx="7394448" cy="5016758"/>
          </a:xfrm>
          <a:prstGeom prst="rect">
            <a:avLst/>
          </a:prstGeom>
          <a:noFill/>
        </p:spPr>
        <p:txBody>
          <a:bodyPr wrap="square">
            <a:spAutoFit/>
          </a:bodyPr>
          <a:lstStyle/>
          <a:p>
            <a:pPr algn="just">
              <a:spcAft>
                <a:spcPts val="600"/>
              </a:spcAft>
            </a:pPr>
            <a:r>
              <a:rPr lang="en-US" dirty="0"/>
              <a:t># Example usage</a:t>
            </a:r>
          </a:p>
          <a:p>
            <a:pPr algn="just">
              <a:spcAft>
                <a:spcPts val="600"/>
              </a:spcAft>
            </a:pPr>
            <a:r>
              <a:rPr lang="en-US" dirty="0"/>
              <a:t># Assuming </a:t>
            </a:r>
            <a:r>
              <a:rPr lang="en-US" dirty="0" err="1"/>
              <a:t>x_train</a:t>
            </a:r>
            <a:r>
              <a:rPr lang="en-US" dirty="0"/>
              <a:t> (training data features), </a:t>
            </a:r>
            <a:r>
              <a:rPr lang="en-US" dirty="0" err="1"/>
              <a:t>train_data</a:t>
            </a:r>
            <a:r>
              <a:rPr lang="en-US" dirty="0"/>
              <a:t>['label'] (training labels),</a:t>
            </a:r>
          </a:p>
          <a:p>
            <a:pPr algn="just">
              <a:spcAft>
                <a:spcPts val="600"/>
              </a:spcAft>
            </a:pPr>
            <a:r>
              <a:rPr lang="en-US" dirty="0"/>
              <a:t># </a:t>
            </a:r>
            <a:r>
              <a:rPr lang="en-US" dirty="0" err="1"/>
              <a:t>x_test</a:t>
            </a:r>
            <a:r>
              <a:rPr lang="en-US" dirty="0"/>
              <a:t> (test data features), and </a:t>
            </a:r>
            <a:r>
              <a:rPr lang="en-US" dirty="0" err="1"/>
              <a:t>test_data</a:t>
            </a:r>
            <a:r>
              <a:rPr lang="en-US" dirty="0"/>
              <a:t>['label'] (test labels) are defined</a:t>
            </a:r>
          </a:p>
          <a:p>
            <a:pPr algn="just">
              <a:spcAft>
                <a:spcPts val="600"/>
              </a:spcAft>
            </a:pPr>
            <a:r>
              <a:rPr lang="en-US" dirty="0" err="1"/>
              <a:t>y_test_pred</a:t>
            </a:r>
            <a:r>
              <a:rPr lang="en-US" dirty="0"/>
              <a:t> = </a:t>
            </a:r>
            <a:r>
              <a:rPr lang="en-US" dirty="0" err="1"/>
              <a:t>evaluate_model_on_test</a:t>
            </a:r>
            <a:r>
              <a:rPr lang="en-US" dirty="0"/>
              <a:t>(</a:t>
            </a:r>
            <a:r>
              <a:rPr lang="en-US" dirty="0" err="1"/>
              <a:t>x_train</a:t>
            </a:r>
            <a:r>
              <a:rPr lang="en-US" dirty="0"/>
              <a:t>, </a:t>
            </a:r>
            <a:r>
              <a:rPr lang="en-US" dirty="0" err="1"/>
              <a:t>train_data</a:t>
            </a:r>
            <a:r>
              <a:rPr lang="en-US" dirty="0"/>
              <a:t>['label'], </a:t>
            </a:r>
            <a:r>
              <a:rPr lang="en-US" dirty="0" err="1"/>
              <a:t>x_test</a:t>
            </a:r>
            <a:r>
              <a:rPr lang="en-US" dirty="0"/>
              <a:t>, </a:t>
            </a:r>
            <a:r>
              <a:rPr lang="en-US" dirty="0" err="1"/>
              <a:t>test_data</a:t>
            </a:r>
            <a:r>
              <a:rPr lang="en-US" dirty="0"/>
              <a:t>['label'])</a:t>
            </a:r>
          </a:p>
          <a:p>
            <a:pPr algn="just">
              <a:spcAft>
                <a:spcPts val="600"/>
              </a:spcAft>
            </a:pPr>
            <a:br>
              <a:rPr lang="en-US" dirty="0"/>
            </a:br>
            <a:endParaRPr lang="en-US" dirty="0"/>
          </a:p>
          <a:p>
            <a:pPr algn="just">
              <a:spcAft>
                <a:spcPts val="600"/>
              </a:spcAft>
            </a:pPr>
            <a:r>
              <a:rPr lang="en-US" dirty="0"/>
              <a:t># Put test predictions into a </a:t>
            </a:r>
            <a:r>
              <a:rPr lang="en-US" dirty="0" err="1"/>
              <a:t>DataFrame</a:t>
            </a:r>
            <a:endParaRPr lang="en-US" dirty="0"/>
          </a:p>
          <a:p>
            <a:pPr algn="just">
              <a:spcAft>
                <a:spcPts val="600"/>
              </a:spcAft>
            </a:pPr>
            <a:r>
              <a:rPr lang="en-US" dirty="0" err="1"/>
              <a:t>pred_test</a:t>
            </a:r>
            <a:r>
              <a:rPr lang="en-US" dirty="0"/>
              <a:t> = </a:t>
            </a:r>
            <a:r>
              <a:rPr lang="en-US" dirty="0" err="1"/>
              <a:t>pd.DataFrame</a:t>
            </a:r>
            <a:r>
              <a:rPr lang="en-US" dirty="0"/>
              <a:t>({'label': </a:t>
            </a:r>
            <a:r>
              <a:rPr lang="en-US" dirty="0" err="1"/>
              <a:t>y_test_pred</a:t>
            </a:r>
            <a:r>
              <a:rPr lang="en-US" dirty="0"/>
              <a:t>})</a:t>
            </a:r>
          </a:p>
          <a:p>
            <a:pPr algn="just">
              <a:spcAft>
                <a:spcPts val="600"/>
              </a:spcAft>
            </a:pPr>
            <a:br>
              <a:rPr lang="en-US" dirty="0"/>
            </a:br>
            <a:endParaRPr lang="en-US" dirty="0"/>
          </a:p>
          <a:p>
            <a:pPr algn="just">
              <a:spcAft>
                <a:spcPts val="600"/>
              </a:spcAft>
            </a:pPr>
            <a:r>
              <a:rPr lang="en-US" dirty="0"/>
              <a:t># Display predictions </a:t>
            </a:r>
            <a:r>
              <a:rPr lang="en-US" dirty="0" err="1"/>
              <a:t>DataFrame</a:t>
            </a:r>
            <a:r>
              <a:rPr lang="en-US" dirty="0"/>
              <a:t> for the test set</a:t>
            </a:r>
          </a:p>
          <a:p>
            <a:pPr algn="just">
              <a:spcAft>
                <a:spcPts val="600"/>
              </a:spcAft>
            </a:pPr>
            <a:r>
              <a:rPr lang="en-US" dirty="0"/>
              <a:t>print("\</a:t>
            </a:r>
            <a:r>
              <a:rPr lang="en-US" dirty="0" err="1"/>
              <a:t>nTest</a:t>
            </a:r>
            <a:r>
              <a:rPr lang="en-US" dirty="0"/>
              <a:t> Predictions </a:t>
            </a:r>
            <a:r>
              <a:rPr lang="en-US" dirty="0" err="1"/>
              <a:t>DataFrame</a:t>
            </a:r>
            <a:r>
              <a:rPr lang="en-US" dirty="0"/>
              <a:t>:")</a:t>
            </a:r>
          </a:p>
          <a:p>
            <a:pPr algn="just">
              <a:spcAft>
                <a:spcPts val="600"/>
              </a:spcAft>
            </a:pPr>
            <a:r>
              <a:rPr lang="en-US" dirty="0"/>
              <a:t>print(</a:t>
            </a:r>
            <a:r>
              <a:rPr lang="en-US" dirty="0" err="1"/>
              <a:t>pred_test.head</a:t>
            </a:r>
            <a:r>
              <a:rPr lang="en-US" dirty="0"/>
              <a:t>())  # Display the first few rows of the predictions</a:t>
            </a:r>
          </a:p>
        </p:txBody>
      </p:sp>
    </p:spTree>
    <p:extLst>
      <p:ext uri="{BB962C8B-B14F-4D97-AF65-F5344CB8AC3E}">
        <p14:creationId xmlns:p14="http://schemas.microsoft.com/office/powerpoint/2010/main" val="229983650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41034-E2DD-922B-3D56-032AC65D709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E984F12-4B0D-C8C9-8777-4D696D34FBA7}"/>
              </a:ext>
            </a:extLst>
          </p:cNvPr>
          <p:cNvSpPr>
            <a:spLocks noGrp="1"/>
          </p:cNvSpPr>
          <p:nvPr>
            <p:ph idx="1"/>
          </p:nvPr>
        </p:nvSpPr>
        <p:spPr/>
        <p:txBody>
          <a:bodyPr>
            <a:normAutofit/>
          </a:bodyPr>
          <a:lstStyle/>
          <a:p>
            <a:pPr marL="0" indent="0">
              <a:buNone/>
            </a:pPr>
            <a:r>
              <a:rPr lang="en-US" sz="5400" dirty="0"/>
              <a:t>         </a:t>
            </a:r>
          </a:p>
          <a:p>
            <a:pPr marL="0" indent="0">
              <a:buNone/>
            </a:pPr>
            <a:endParaRPr lang="en-US" sz="5400" dirty="0"/>
          </a:p>
          <a:p>
            <a:pPr marL="0" indent="0">
              <a:buNone/>
            </a:pPr>
            <a:r>
              <a:rPr lang="en-US" sz="5400" dirty="0"/>
              <a:t>              </a:t>
            </a:r>
          </a:p>
        </p:txBody>
      </p:sp>
      <p:sp>
        <p:nvSpPr>
          <p:cNvPr id="5" name="Slide Number Placeholder 4">
            <a:extLst>
              <a:ext uri="{FF2B5EF4-FFF2-40B4-BE49-F238E27FC236}">
                <a16:creationId xmlns:a16="http://schemas.microsoft.com/office/drawing/2014/main" id="{A086E015-02F5-F0C0-73F7-42E2679DA0DA}"/>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101</a:t>
            </a:fld>
            <a:endParaRPr lang="en-US" dirty="0">
              <a:solidFill>
                <a:srgbClr val="000000"/>
              </a:solidFill>
            </a:endParaRPr>
          </a:p>
        </p:txBody>
      </p:sp>
      <p:sp>
        <p:nvSpPr>
          <p:cNvPr id="7" name="TextBox 6">
            <a:extLst>
              <a:ext uri="{FF2B5EF4-FFF2-40B4-BE49-F238E27FC236}">
                <a16:creationId xmlns:a16="http://schemas.microsoft.com/office/drawing/2014/main" id="{8EAB7BE1-76B7-717C-7095-1D6BE4B85BA1}"/>
              </a:ext>
            </a:extLst>
          </p:cNvPr>
          <p:cNvSpPr txBox="1"/>
          <p:nvPr/>
        </p:nvSpPr>
        <p:spPr>
          <a:xfrm>
            <a:off x="830326" y="593067"/>
            <a:ext cx="7394448" cy="5678478"/>
          </a:xfrm>
          <a:prstGeom prst="rect">
            <a:avLst/>
          </a:prstGeom>
          <a:noFill/>
        </p:spPr>
        <p:txBody>
          <a:bodyPr wrap="square">
            <a:spAutoFit/>
          </a:bodyPr>
          <a:lstStyle/>
          <a:p>
            <a:pPr marL="429768" indent="-329184" algn="just">
              <a:spcAft>
                <a:spcPts val="600"/>
              </a:spcAft>
            </a:pPr>
            <a:r>
              <a:rPr lang="en-US" dirty="0"/>
              <a:t># Get feature names from the </a:t>
            </a:r>
            <a:r>
              <a:rPr lang="en-US" dirty="0" err="1"/>
              <a:t>CountVectorizer</a:t>
            </a:r>
            <a:r>
              <a:rPr lang="en-US" dirty="0"/>
              <a:t> inside the pipeline</a:t>
            </a:r>
          </a:p>
          <a:p>
            <a:pPr marL="429768" indent="-329184" algn="just">
              <a:spcAft>
                <a:spcPts val="600"/>
              </a:spcAft>
            </a:pPr>
            <a:r>
              <a:rPr lang="en-US" dirty="0" err="1"/>
              <a:t>feature_names</a:t>
            </a:r>
            <a:r>
              <a:rPr lang="en-US" dirty="0"/>
              <a:t> = </a:t>
            </a:r>
            <a:r>
              <a:rPr lang="en-US" dirty="0" err="1"/>
              <a:t>model.named_steps</a:t>
            </a:r>
            <a:r>
              <a:rPr lang="en-US" dirty="0"/>
              <a:t>['</a:t>
            </a:r>
            <a:r>
              <a:rPr lang="en-US" dirty="0" err="1"/>
              <a:t>vect</a:t>
            </a:r>
            <a:r>
              <a:rPr lang="en-US" dirty="0"/>
              <a:t>'].</a:t>
            </a:r>
            <a:r>
              <a:rPr lang="en-US" dirty="0" err="1"/>
              <a:t>get_feature_names_out</a:t>
            </a:r>
            <a:r>
              <a:rPr lang="en-US" dirty="0"/>
              <a:t>()</a:t>
            </a:r>
          </a:p>
          <a:p>
            <a:pPr marL="429768" indent="-329184" algn="just">
              <a:spcAft>
                <a:spcPts val="600"/>
              </a:spcAft>
            </a:pPr>
            <a:endParaRPr lang="en-US" dirty="0"/>
          </a:p>
          <a:p>
            <a:pPr marL="429768" indent="-329184" algn="just">
              <a:spcAft>
                <a:spcPts val="600"/>
              </a:spcAft>
            </a:pPr>
            <a:r>
              <a:rPr lang="en-US" dirty="0"/>
              <a:t># Get coefficients from the </a:t>
            </a:r>
            <a:r>
              <a:rPr lang="en-US" dirty="0" err="1"/>
              <a:t>LogisticRegression</a:t>
            </a:r>
            <a:r>
              <a:rPr lang="en-US" dirty="0"/>
              <a:t> inside the pipeline</a:t>
            </a:r>
          </a:p>
          <a:p>
            <a:pPr marL="429768" indent="-329184" algn="just">
              <a:spcAft>
                <a:spcPts val="600"/>
              </a:spcAft>
            </a:pPr>
            <a:r>
              <a:rPr lang="en-US" dirty="0" err="1"/>
              <a:t>coef</a:t>
            </a:r>
            <a:r>
              <a:rPr lang="en-US" dirty="0"/>
              <a:t> = </a:t>
            </a:r>
            <a:r>
              <a:rPr lang="en-US" dirty="0" err="1"/>
              <a:t>model.named_steps</a:t>
            </a:r>
            <a:r>
              <a:rPr lang="en-US" dirty="0"/>
              <a:t>['</a:t>
            </a:r>
            <a:r>
              <a:rPr lang="en-US" dirty="0" err="1"/>
              <a:t>clf</a:t>
            </a:r>
            <a:r>
              <a:rPr lang="en-US" dirty="0"/>
              <a:t>'].</a:t>
            </a:r>
            <a:r>
              <a:rPr lang="en-US" dirty="0" err="1"/>
              <a:t>coef</a:t>
            </a:r>
            <a:r>
              <a:rPr lang="en-US" dirty="0"/>
              <a:t>_[0]</a:t>
            </a:r>
          </a:p>
          <a:p>
            <a:pPr marL="429768" indent="-329184" algn="just">
              <a:spcAft>
                <a:spcPts val="600"/>
              </a:spcAft>
            </a:pPr>
            <a:r>
              <a:rPr lang="en-US" dirty="0" err="1"/>
              <a:t>coef_df</a:t>
            </a:r>
            <a:r>
              <a:rPr lang="en-US" dirty="0"/>
              <a:t> = </a:t>
            </a:r>
            <a:r>
              <a:rPr lang="en-US" dirty="0" err="1"/>
              <a:t>pd.DataFrame</a:t>
            </a:r>
            <a:r>
              <a:rPr lang="en-US" dirty="0"/>
              <a:t>({"Word": </a:t>
            </a:r>
            <a:r>
              <a:rPr lang="en-US" dirty="0" err="1"/>
              <a:t>feature_names</a:t>
            </a:r>
            <a:r>
              <a:rPr lang="en-US" dirty="0"/>
              <a:t>, "Coefficient": </a:t>
            </a:r>
            <a:r>
              <a:rPr lang="en-US" dirty="0" err="1"/>
              <a:t>coef</a:t>
            </a:r>
            <a:r>
              <a:rPr lang="en-US" dirty="0"/>
              <a:t>})</a:t>
            </a:r>
          </a:p>
          <a:p>
            <a:pPr marL="429768" indent="-329184" algn="just">
              <a:spcAft>
                <a:spcPts val="600"/>
              </a:spcAft>
            </a:pPr>
            <a:endParaRPr lang="en-US" dirty="0"/>
          </a:p>
          <a:p>
            <a:pPr marL="429768" indent="-329184" algn="just">
              <a:spcAft>
                <a:spcPts val="600"/>
              </a:spcAft>
            </a:pPr>
            <a:r>
              <a:rPr lang="en-US" dirty="0"/>
              <a:t># Threshold range</a:t>
            </a:r>
          </a:p>
          <a:p>
            <a:pPr marL="429768" indent="-329184" algn="just">
              <a:spcAft>
                <a:spcPts val="600"/>
              </a:spcAft>
            </a:pPr>
            <a:r>
              <a:rPr lang="en-US" dirty="0" err="1"/>
              <a:t>threshold_low</a:t>
            </a:r>
            <a:r>
              <a:rPr lang="en-US" dirty="0"/>
              <a:t> = -0.05</a:t>
            </a:r>
          </a:p>
          <a:p>
            <a:pPr marL="429768" indent="-329184" algn="just">
              <a:spcAft>
                <a:spcPts val="600"/>
              </a:spcAft>
            </a:pPr>
            <a:r>
              <a:rPr lang="en-US" dirty="0" err="1"/>
              <a:t>threshold_high</a:t>
            </a:r>
            <a:r>
              <a:rPr lang="en-US" dirty="0"/>
              <a:t> = 0.05</a:t>
            </a:r>
          </a:p>
          <a:p>
            <a:pPr marL="429768" indent="-329184" algn="just">
              <a:spcAft>
                <a:spcPts val="600"/>
              </a:spcAft>
            </a:pPr>
            <a:endParaRPr lang="en-US" dirty="0"/>
          </a:p>
          <a:p>
            <a:pPr marL="429768" indent="-329184" algn="just">
              <a:spcAft>
                <a:spcPts val="600"/>
              </a:spcAft>
            </a:pPr>
            <a:r>
              <a:rPr lang="en-US" dirty="0"/>
              <a:t># Count coefficients close to zero</a:t>
            </a:r>
          </a:p>
          <a:p>
            <a:pPr marL="429768" indent="-329184" algn="just">
              <a:spcAft>
                <a:spcPts val="600"/>
              </a:spcAft>
            </a:pPr>
            <a:r>
              <a:rPr lang="en-US" dirty="0" err="1"/>
              <a:t>close_to_zero</a:t>
            </a:r>
            <a:r>
              <a:rPr lang="en-US" dirty="0"/>
              <a:t> = </a:t>
            </a:r>
            <a:r>
              <a:rPr lang="en-US" dirty="0" err="1"/>
              <a:t>coef_df</a:t>
            </a:r>
            <a:r>
              <a:rPr lang="en-US" dirty="0"/>
              <a:t>[(</a:t>
            </a:r>
            <a:r>
              <a:rPr lang="en-US" dirty="0" err="1"/>
              <a:t>coef_df</a:t>
            </a:r>
            <a:r>
              <a:rPr lang="en-US" dirty="0"/>
              <a:t>["Coefficient"] &gt;= </a:t>
            </a:r>
            <a:r>
              <a:rPr lang="en-US" dirty="0" err="1"/>
              <a:t>threshold_low</a:t>
            </a:r>
            <a:r>
              <a:rPr lang="en-US" dirty="0"/>
              <a:t>) &amp;</a:t>
            </a:r>
          </a:p>
          <a:p>
            <a:pPr marL="429768" indent="-329184" algn="just">
              <a:spcAft>
                <a:spcPts val="600"/>
              </a:spcAft>
            </a:pPr>
            <a:r>
              <a:rPr lang="en-US" dirty="0"/>
              <a:t>                        (</a:t>
            </a:r>
            <a:r>
              <a:rPr lang="en-US" dirty="0" err="1"/>
              <a:t>coef_df</a:t>
            </a:r>
            <a:r>
              <a:rPr lang="en-US" dirty="0"/>
              <a:t>["Coefficient"] &lt;= </a:t>
            </a:r>
            <a:r>
              <a:rPr lang="en-US" dirty="0" err="1"/>
              <a:t>threshold_high</a:t>
            </a:r>
            <a:r>
              <a:rPr lang="en-US" dirty="0"/>
              <a:t>)]</a:t>
            </a:r>
          </a:p>
          <a:p>
            <a:pPr marL="429768" indent="-329184" algn="just">
              <a:spcAft>
                <a:spcPts val="600"/>
              </a:spcAft>
            </a:pPr>
            <a:r>
              <a:rPr lang="en-US" dirty="0" err="1"/>
              <a:t>num_close_to_zero</a:t>
            </a:r>
            <a:r>
              <a:rPr lang="en-US" dirty="0"/>
              <a:t> = </a:t>
            </a:r>
            <a:r>
              <a:rPr lang="en-US" dirty="0" err="1"/>
              <a:t>close_to_zero.shape</a:t>
            </a:r>
            <a:r>
              <a:rPr lang="en-US" dirty="0"/>
              <a:t>[0]</a:t>
            </a:r>
          </a:p>
          <a:p>
            <a:pPr marL="429768" indent="-329184" algn="just">
              <a:spcAft>
                <a:spcPts val="600"/>
              </a:spcAft>
            </a:pPr>
            <a:r>
              <a:rPr lang="en-US" dirty="0" err="1"/>
              <a:t>num_close_to_zero</a:t>
            </a:r>
            <a:endParaRPr lang="en-US" dirty="0"/>
          </a:p>
        </p:txBody>
      </p:sp>
    </p:spTree>
    <p:extLst>
      <p:ext uri="{BB962C8B-B14F-4D97-AF65-F5344CB8AC3E}">
        <p14:creationId xmlns:p14="http://schemas.microsoft.com/office/powerpoint/2010/main" val="289939709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8363BC-8EB8-327D-80B2-4738E6E5EA6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932D80-49D3-CBCA-624C-73D153DFE8BC}"/>
              </a:ext>
            </a:extLst>
          </p:cNvPr>
          <p:cNvSpPr>
            <a:spLocks noGrp="1"/>
          </p:cNvSpPr>
          <p:nvPr>
            <p:ph idx="1"/>
          </p:nvPr>
        </p:nvSpPr>
        <p:spPr/>
        <p:txBody>
          <a:bodyPr>
            <a:normAutofit/>
          </a:bodyPr>
          <a:lstStyle/>
          <a:p>
            <a:pPr marL="0" indent="0">
              <a:buNone/>
            </a:pPr>
            <a:r>
              <a:rPr lang="en-US" sz="5400" dirty="0"/>
              <a:t>         </a:t>
            </a:r>
          </a:p>
          <a:p>
            <a:pPr marL="0" indent="0">
              <a:buNone/>
            </a:pPr>
            <a:endParaRPr lang="en-US" sz="5400" dirty="0"/>
          </a:p>
          <a:p>
            <a:pPr marL="0" indent="0">
              <a:buNone/>
            </a:pPr>
            <a:r>
              <a:rPr lang="en-US" sz="5400" dirty="0"/>
              <a:t>              </a:t>
            </a:r>
          </a:p>
        </p:txBody>
      </p:sp>
      <p:sp>
        <p:nvSpPr>
          <p:cNvPr id="5" name="Slide Number Placeholder 4">
            <a:extLst>
              <a:ext uri="{FF2B5EF4-FFF2-40B4-BE49-F238E27FC236}">
                <a16:creationId xmlns:a16="http://schemas.microsoft.com/office/drawing/2014/main" id="{A5697365-6D4B-9094-1534-595A9E0B1CF8}"/>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102</a:t>
            </a:fld>
            <a:endParaRPr lang="en-US" dirty="0">
              <a:solidFill>
                <a:srgbClr val="000000"/>
              </a:solidFill>
            </a:endParaRPr>
          </a:p>
        </p:txBody>
      </p:sp>
      <p:sp>
        <p:nvSpPr>
          <p:cNvPr id="7" name="TextBox 6">
            <a:extLst>
              <a:ext uri="{FF2B5EF4-FFF2-40B4-BE49-F238E27FC236}">
                <a16:creationId xmlns:a16="http://schemas.microsoft.com/office/drawing/2014/main" id="{808681B4-7041-DC96-532A-1C40FC7158ED}"/>
              </a:ext>
            </a:extLst>
          </p:cNvPr>
          <p:cNvSpPr txBox="1"/>
          <p:nvPr/>
        </p:nvSpPr>
        <p:spPr>
          <a:xfrm>
            <a:off x="835153" y="618467"/>
            <a:ext cx="7394448" cy="4739759"/>
          </a:xfrm>
          <a:prstGeom prst="rect">
            <a:avLst/>
          </a:prstGeom>
          <a:noFill/>
        </p:spPr>
        <p:txBody>
          <a:bodyPr wrap="square">
            <a:spAutoFit/>
          </a:bodyPr>
          <a:lstStyle/>
          <a:p>
            <a:pPr algn="just">
              <a:spcAft>
                <a:spcPts val="600"/>
              </a:spcAft>
            </a:pPr>
            <a:r>
              <a:rPr lang="en-US" dirty="0">
                <a:solidFill>
                  <a:schemeClr val="accent6">
                    <a:lumMod val="75000"/>
                  </a:schemeClr>
                </a:solidFill>
              </a:rPr>
              <a:t># Getting the top POSITIVE coefficients (words that strongly indicate abusive)</a:t>
            </a:r>
          </a:p>
          <a:p>
            <a:pPr algn="just">
              <a:spcAft>
                <a:spcPts val="600"/>
              </a:spcAft>
            </a:pPr>
            <a:endParaRPr lang="en-US" dirty="0">
              <a:solidFill>
                <a:schemeClr val="accent6">
                  <a:lumMod val="75000"/>
                </a:schemeClr>
              </a:solidFill>
            </a:endParaRPr>
          </a:p>
          <a:p>
            <a:pPr algn="just">
              <a:spcAft>
                <a:spcPts val="600"/>
              </a:spcAft>
            </a:pPr>
            <a:r>
              <a:rPr lang="en-US" dirty="0">
                <a:solidFill>
                  <a:schemeClr val="accent6">
                    <a:lumMod val="75000"/>
                  </a:schemeClr>
                </a:solidFill>
              </a:rPr>
              <a:t># Extract only the TF-IDF feature names selected by the </a:t>
            </a:r>
            <a:r>
              <a:rPr lang="en-US" dirty="0" err="1">
                <a:solidFill>
                  <a:schemeClr val="accent6">
                    <a:lumMod val="75000"/>
                  </a:schemeClr>
                </a:solidFill>
              </a:rPr>
              <a:t>VarianceThreshold</a:t>
            </a:r>
            <a:r>
              <a:rPr lang="en-US" dirty="0">
                <a:solidFill>
                  <a:schemeClr val="accent6">
                    <a:lumMod val="75000"/>
                  </a:schemeClr>
                </a:solidFill>
              </a:rPr>
              <a:t> selector</a:t>
            </a:r>
          </a:p>
          <a:p>
            <a:pPr algn="just">
              <a:spcAft>
                <a:spcPts val="600"/>
              </a:spcAft>
            </a:pPr>
            <a:r>
              <a:rPr lang="en-US" dirty="0" err="1">
                <a:solidFill>
                  <a:srgbClr val="C00000"/>
                </a:solidFill>
              </a:rPr>
              <a:t>feature_names</a:t>
            </a:r>
            <a:r>
              <a:rPr lang="en-US" dirty="0"/>
              <a:t>= </a:t>
            </a:r>
            <a:r>
              <a:rPr lang="en-US" dirty="0" err="1"/>
              <a:t>tfidf_vectorizer.get_</a:t>
            </a:r>
            <a:r>
              <a:rPr lang="en-US" dirty="0" err="1">
                <a:solidFill>
                  <a:srgbClr val="C00000"/>
                </a:solidFill>
              </a:rPr>
              <a:t>feature_names</a:t>
            </a:r>
            <a:r>
              <a:rPr lang="en-US" dirty="0" err="1"/>
              <a:t>_out</a:t>
            </a:r>
            <a:r>
              <a:rPr lang="en-US" dirty="0"/>
              <a:t>()[</a:t>
            </a:r>
            <a:r>
              <a:rPr lang="en-US" dirty="0" err="1"/>
              <a:t>selector.get_support</a:t>
            </a:r>
            <a:r>
              <a:rPr lang="en-US" dirty="0"/>
              <a:t>()]</a:t>
            </a:r>
          </a:p>
          <a:p>
            <a:pPr algn="just">
              <a:spcAft>
                <a:spcPts val="600"/>
              </a:spcAft>
            </a:pPr>
            <a:r>
              <a:rPr lang="en-US" dirty="0">
                <a:solidFill>
                  <a:schemeClr val="accent6">
                    <a:lumMod val="75000"/>
                  </a:schemeClr>
                </a:solidFill>
              </a:rPr>
              <a:t># Extract the logistic regression coefficients (one per word)</a:t>
            </a:r>
          </a:p>
          <a:p>
            <a:pPr algn="just">
              <a:spcAft>
                <a:spcPts val="600"/>
              </a:spcAft>
            </a:pPr>
            <a:r>
              <a:rPr lang="en-US" dirty="0" err="1"/>
              <a:t>coef</a:t>
            </a:r>
            <a:r>
              <a:rPr lang="en-US" dirty="0"/>
              <a:t> = </a:t>
            </a:r>
            <a:r>
              <a:rPr lang="en-US" dirty="0" err="1"/>
              <a:t>model.coef</a:t>
            </a:r>
            <a:r>
              <a:rPr lang="en-US" dirty="0"/>
              <a:t>_[0]</a:t>
            </a:r>
          </a:p>
          <a:p>
            <a:pPr algn="just">
              <a:spcAft>
                <a:spcPts val="600"/>
              </a:spcAft>
            </a:pPr>
            <a:r>
              <a:rPr lang="en-US" dirty="0">
                <a:solidFill>
                  <a:schemeClr val="accent6">
                    <a:lumMod val="75000"/>
                  </a:schemeClr>
                </a:solidFill>
              </a:rPr>
              <a:t># Combine words and coefficients into a </a:t>
            </a:r>
            <a:r>
              <a:rPr lang="en-US" dirty="0" err="1">
                <a:solidFill>
                  <a:schemeClr val="accent6">
                    <a:lumMod val="75000"/>
                  </a:schemeClr>
                </a:solidFill>
              </a:rPr>
              <a:t>dataframe</a:t>
            </a:r>
            <a:endParaRPr lang="en-US" dirty="0">
              <a:solidFill>
                <a:schemeClr val="accent6">
                  <a:lumMod val="75000"/>
                </a:schemeClr>
              </a:solidFill>
            </a:endParaRPr>
          </a:p>
          <a:p>
            <a:pPr algn="just">
              <a:spcAft>
                <a:spcPts val="600"/>
              </a:spcAft>
            </a:pPr>
            <a:r>
              <a:rPr lang="en-US" dirty="0" err="1"/>
              <a:t>coef_df</a:t>
            </a:r>
            <a:r>
              <a:rPr lang="en-US" dirty="0"/>
              <a:t> = </a:t>
            </a:r>
            <a:r>
              <a:rPr lang="en-US" dirty="0" err="1"/>
              <a:t>pd.DataFrame</a:t>
            </a:r>
            <a:r>
              <a:rPr lang="en-US" dirty="0"/>
              <a:t>({"Word": </a:t>
            </a:r>
            <a:r>
              <a:rPr lang="en-US" dirty="0" err="1">
                <a:solidFill>
                  <a:srgbClr val="C00000"/>
                </a:solidFill>
              </a:rPr>
              <a:t>feature_names</a:t>
            </a:r>
            <a:r>
              <a:rPr lang="en-US" dirty="0"/>
              <a:t>, "Coefficient": </a:t>
            </a:r>
            <a:r>
              <a:rPr lang="en-US" dirty="0" err="1"/>
              <a:t>coef</a:t>
            </a:r>
            <a:r>
              <a:rPr lang="en-US" dirty="0"/>
              <a:t>})</a:t>
            </a:r>
          </a:p>
          <a:p>
            <a:pPr algn="just">
              <a:spcAft>
                <a:spcPts val="600"/>
              </a:spcAft>
            </a:pPr>
            <a:r>
              <a:rPr lang="en-US" dirty="0">
                <a:solidFill>
                  <a:schemeClr val="accent6">
                    <a:lumMod val="75000"/>
                  </a:schemeClr>
                </a:solidFill>
              </a:rPr>
              <a:t># Show the top 20 words with the highest positive coefficients</a:t>
            </a:r>
          </a:p>
          <a:p>
            <a:pPr algn="just">
              <a:spcAft>
                <a:spcPts val="600"/>
              </a:spcAft>
            </a:pPr>
            <a:r>
              <a:rPr lang="en-US" dirty="0">
                <a:solidFill>
                  <a:schemeClr val="accent6">
                    <a:lumMod val="75000"/>
                  </a:schemeClr>
                </a:solidFill>
              </a:rPr>
              <a:t># These words increase the probability of a comment being classified as abusive.</a:t>
            </a:r>
          </a:p>
          <a:p>
            <a:pPr algn="just">
              <a:spcAft>
                <a:spcPts val="600"/>
              </a:spcAft>
            </a:pPr>
            <a:r>
              <a:rPr lang="en-US" dirty="0" err="1"/>
              <a:t>coef_df.sort_values</a:t>
            </a:r>
            <a:r>
              <a:rPr lang="en-US" dirty="0"/>
              <a:t>(by="</a:t>
            </a:r>
            <a:r>
              <a:rPr lang="en-US" dirty="0">
                <a:solidFill>
                  <a:srgbClr val="C00000"/>
                </a:solidFill>
              </a:rPr>
              <a:t>Coefficient</a:t>
            </a:r>
            <a:r>
              <a:rPr lang="en-US" dirty="0">
                <a:solidFill>
                  <a:srgbClr val="000000"/>
                </a:solidFill>
              </a:rPr>
              <a:t>",</a:t>
            </a:r>
            <a:r>
              <a:rPr lang="en-US" dirty="0"/>
              <a:t> ascending=False).head(20)</a:t>
            </a:r>
          </a:p>
        </p:txBody>
      </p:sp>
    </p:spTree>
    <p:extLst>
      <p:ext uri="{BB962C8B-B14F-4D97-AF65-F5344CB8AC3E}">
        <p14:creationId xmlns:p14="http://schemas.microsoft.com/office/powerpoint/2010/main" val="228058832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BCA65-8501-7C9B-0C2B-B07B483002D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002A3EF-BCA1-C515-2910-32626FFB9A02}"/>
              </a:ext>
            </a:extLst>
          </p:cNvPr>
          <p:cNvSpPr>
            <a:spLocks noGrp="1"/>
          </p:cNvSpPr>
          <p:nvPr>
            <p:ph idx="1"/>
          </p:nvPr>
        </p:nvSpPr>
        <p:spPr/>
        <p:txBody>
          <a:bodyPr>
            <a:normAutofit/>
          </a:bodyPr>
          <a:lstStyle/>
          <a:p>
            <a:pPr marL="0" indent="0">
              <a:buNone/>
            </a:pPr>
            <a:r>
              <a:rPr lang="en-US" sz="5400" dirty="0"/>
              <a:t>         </a:t>
            </a:r>
          </a:p>
          <a:p>
            <a:pPr marL="0" indent="0">
              <a:buNone/>
            </a:pPr>
            <a:endParaRPr lang="en-US" sz="5400" dirty="0"/>
          </a:p>
          <a:p>
            <a:pPr marL="0" indent="0">
              <a:buNone/>
            </a:pPr>
            <a:r>
              <a:rPr lang="en-US" sz="5400" dirty="0"/>
              <a:t>              </a:t>
            </a:r>
          </a:p>
        </p:txBody>
      </p:sp>
      <p:sp>
        <p:nvSpPr>
          <p:cNvPr id="5" name="Slide Number Placeholder 4">
            <a:extLst>
              <a:ext uri="{FF2B5EF4-FFF2-40B4-BE49-F238E27FC236}">
                <a16:creationId xmlns:a16="http://schemas.microsoft.com/office/drawing/2014/main" id="{588B9DDC-9EEF-327E-F1D2-D0BCD7C9868F}"/>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103</a:t>
            </a:fld>
            <a:endParaRPr lang="en-US" dirty="0">
              <a:solidFill>
                <a:srgbClr val="000000"/>
              </a:solidFill>
            </a:endParaRPr>
          </a:p>
        </p:txBody>
      </p:sp>
      <p:sp>
        <p:nvSpPr>
          <p:cNvPr id="7" name="TextBox 6">
            <a:extLst>
              <a:ext uri="{FF2B5EF4-FFF2-40B4-BE49-F238E27FC236}">
                <a16:creationId xmlns:a16="http://schemas.microsoft.com/office/drawing/2014/main" id="{A42A1465-54EA-6A06-9A30-E9214127C0E6}"/>
              </a:ext>
            </a:extLst>
          </p:cNvPr>
          <p:cNvSpPr txBox="1"/>
          <p:nvPr/>
        </p:nvSpPr>
        <p:spPr>
          <a:xfrm>
            <a:off x="835153" y="593067"/>
            <a:ext cx="7394448" cy="4524315"/>
          </a:xfrm>
          <a:prstGeom prst="rect">
            <a:avLst/>
          </a:prstGeom>
          <a:noFill/>
        </p:spPr>
        <p:txBody>
          <a:bodyPr wrap="square">
            <a:spAutoFit/>
          </a:bodyPr>
          <a:lstStyle/>
          <a:p>
            <a:r>
              <a:rPr lang="en-US" dirty="0">
                <a:solidFill>
                  <a:schemeClr val="accent6">
                    <a:lumMod val="75000"/>
                  </a:schemeClr>
                </a:solidFill>
              </a:rPr>
              <a:t># Getting the top NEGATIVE coefficients (words that strongly indicate non-abusive)</a:t>
            </a:r>
          </a:p>
          <a:p>
            <a:r>
              <a:rPr lang="en-US" dirty="0">
                <a:solidFill>
                  <a:schemeClr val="accent6">
                    <a:lumMod val="75000"/>
                  </a:schemeClr>
                </a:solidFill>
              </a:rPr>
              <a:t> </a:t>
            </a:r>
          </a:p>
          <a:p>
            <a:r>
              <a:rPr lang="en-US" dirty="0">
                <a:solidFill>
                  <a:schemeClr val="accent6">
                    <a:lumMod val="75000"/>
                  </a:schemeClr>
                </a:solidFill>
              </a:rPr>
              <a:t># Get all feature names from the TF-IDF vectorizer inside the pipeline</a:t>
            </a:r>
          </a:p>
          <a:p>
            <a:r>
              <a:rPr lang="en-US" dirty="0" err="1">
                <a:solidFill>
                  <a:srgbClr val="C00000"/>
                </a:solidFill>
              </a:rPr>
              <a:t>feature_names</a:t>
            </a:r>
            <a:r>
              <a:rPr lang="en-US" dirty="0">
                <a:solidFill>
                  <a:srgbClr val="C00000"/>
                </a:solidFill>
              </a:rPr>
              <a:t> </a:t>
            </a:r>
            <a:r>
              <a:rPr lang="en-US" dirty="0"/>
              <a:t>= </a:t>
            </a:r>
            <a:r>
              <a:rPr lang="en-US" dirty="0" err="1"/>
              <a:t>model.named_steps</a:t>
            </a:r>
            <a:r>
              <a:rPr lang="en-US" dirty="0"/>
              <a:t>['</a:t>
            </a:r>
            <a:r>
              <a:rPr lang="en-US" dirty="0" err="1"/>
              <a:t>vect</a:t>
            </a:r>
            <a:r>
              <a:rPr lang="en-US" dirty="0"/>
              <a:t>'].</a:t>
            </a:r>
            <a:r>
              <a:rPr lang="en-US" dirty="0" err="1"/>
              <a:t>get_</a:t>
            </a:r>
            <a:r>
              <a:rPr lang="en-US" dirty="0" err="1">
                <a:solidFill>
                  <a:srgbClr val="C00000"/>
                </a:solidFill>
              </a:rPr>
              <a:t>feature_names</a:t>
            </a:r>
            <a:r>
              <a:rPr lang="en-US" dirty="0" err="1"/>
              <a:t>_out</a:t>
            </a:r>
            <a:r>
              <a:rPr lang="en-US" dirty="0"/>
              <a:t>()</a:t>
            </a:r>
          </a:p>
          <a:p>
            <a:r>
              <a:rPr lang="en-US" dirty="0"/>
              <a:t> </a:t>
            </a:r>
          </a:p>
          <a:p>
            <a:r>
              <a:rPr lang="en-US" dirty="0">
                <a:solidFill>
                  <a:schemeClr val="accent6">
                    <a:lumMod val="75000"/>
                  </a:schemeClr>
                </a:solidFill>
              </a:rPr>
              <a:t># Get the logistic regression coefficients from the classifier inside the pipeline</a:t>
            </a:r>
          </a:p>
          <a:p>
            <a:r>
              <a:rPr lang="en-US" dirty="0" err="1"/>
              <a:t>coef</a:t>
            </a:r>
            <a:r>
              <a:rPr lang="en-US" dirty="0"/>
              <a:t> = </a:t>
            </a:r>
            <a:r>
              <a:rPr lang="en-US" dirty="0" err="1"/>
              <a:t>model.named_steps</a:t>
            </a:r>
            <a:r>
              <a:rPr lang="en-US" dirty="0"/>
              <a:t>['</a:t>
            </a:r>
            <a:r>
              <a:rPr lang="en-US" dirty="0" err="1"/>
              <a:t>clf</a:t>
            </a:r>
            <a:r>
              <a:rPr lang="en-US" dirty="0"/>
              <a:t>'].</a:t>
            </a:r>
            <a:r>
              <a:rPr lang="en-US" dirty="0" err="1"/>
              <a:t>coef</a:t>
            </a:r>
            <a:r>
              <a:rPr lang="en-US" dirty="0"/>
              <a:t>_[0]</a:t>
            </a:r>
          </a:p>
          <a:p>
            <a:r>
              <a:rPr lang="en-US" dirty="0"/>
              <a:t> </a:t>
            </a:r>
          </a:p>
          <a:p>
            <a:r>
              <a:rPr lang="en-US" dirty="0">
                <a:solidFill>
                  <a:schemeClr val="accent6">
                    <a:lumMod val="75000"/>
                  </a:schemeClr>
                </a:solidFill>
              </a:rPr>
              <a:t># Create a </a:t>
            </a:r>
            <a:r>
              <a:rPr lang="en-US" dirty="0" err="1">
                <a:solidFill>
                  <a:schemeClr val="accent6">
                    <a:lumMod val="75000"/>
                  </a:schemeClr>
                </a:solidFill>
              </a:rPr>
              <a:t>dataframe</a:t>
            </a:r>
            <a:r>
              <a:rPr lang="en-US" dirty="0">
                <a:solidFill>
                  <a:schemeClr val="accent6">
                    <a:lumMod val="75000"/>
                  </a:schemeClr>
                </a:solidFill>
              </a:rPr>
              <a:t> of words and their coefficients</a:t>
            </a:r>
          </a:p>
          <a:p>
            <a:r>
              <a:rPr lang="en-US" dirty="0" err="1"/>
              <a:t>coef_df</a:t>
            </a:r>
            <a:r>
              <a:rPr lang="en-US" dirty="0"/>
              <a:t> = </a:t>
            </a:r>
            <a:r>
              <a:rPr lang="en-US" dirty="0" err="1"/>
              <a:t>pd.</a:t>
            </a:r>
            <a:r>
              <a:rPr lang="en-US" dirty="0" err="1">
                <a:solidFill>
                  <a:srgbClr val="C00000"/>
                </a:solidFill>
              </a:rPr>
              <a:t>DataFrame</a:t>
            </a:r>
            <a:r>
              <a:rPr lang="en-US" dirty="0"/>
              <a:t>({"Word": </a:t>
            </a:r>
            <a:r>
              <a:rPr lang="en-US" dirty="0" err="1">
                <a:solidFill>
                  <a:srgbClr val="C00000"/>
                </a:solidFill>
              </a:rPr>
              <a:t>feature_names</a:t>
            </a:r>
            <a:r>
              <a:rPr lang="en-US" dirty="0"/>
              <a:t>, "Coefficient": </a:t>
            </a:r>
            <a:r>
              <a:rPr lang="en-US" dirty="0" err="1"/>
              <a:t>coef</a:t>
            </a:r>
            <a:r>
              <a:rPr lang="en-US" dirty="0"/>
              <a:t>})</a:t>
            </a:r>
          </a:p>
          <a:p>
            <a:r>
              <a:rPr lang="en-US" dirty="0"/>
              <a:t> </a:t>
            </a:r>
          </a:p>
          <a:p>
            <a:r>
              <a:rPr lang="en-US" dirty="0">
                <a:solidFill>
                  <a:schemeClr val="accent6">
                    <a:lumMod val="75000"/>
                  </a:schemeClr>
                </a:solidFill>
              </a:rPr>
              <a:t># Show the top 20 words with the lowest (most negative) coefficients</a:t>
            </a:r>
          </a:p>
          <a:p>
            <a:r>
              <a:rPr lang="en-US" dirty="0">
                <a:solidFill>
                  <a:schemeClr val="accent6">
                    <a:lumMod val="75000"/>
                  </a:schemeClr>
                </a:solidFill>
              </a:rPr>
              <a:t># These words decrease the probability of a comment being classified as abusive.</a:t>
            </a:r>
          </a:p>
          <a:p>
            <a:r>
              <a:rPr lang="en-US" dirty="0" err="1"/>
              <a:t>coef_df.sort_values</a:t>
            </a:r>
            <a:r>
              <a:rPr lang="en-US" dirty="0"/>
              <a:t>(by="</a:t>
            </a:r>
            <a:r>
              <a:rPr lang="en-US" dirty="0">
                <a:solidFill>
                  <a:srgbClr val="C00000"/>
                </a:solidFill>
              </a:rPr>
              <a:t>Coefficient</a:t>
            </a:r>
            <a:r>
              <a:rPr lang="en-US" dirty="0"/>
              <a:t>", ascending=True).head(20)</a:t>
            </a:r>
          </a:p>
        </p:txBody>
      </p:sp>
    </p:spTree>
    <p:extLst>
      <p:ext uri="{BB962C8B-B14F-4D97-AF65-F5344CB8AC3E}">
        <p14:creationId xmlns:p14="http://schemas.microsoft.com/office/powerpoint/2010/main" val="141738022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E6CF27-CE3C-7F8A-13C0-765843DB1F8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E115ED6-C294-829F-F463-8BFCEC142C53}"/>
              </a:ext>
            </a:extLst>
          </p:cNvPr>
          <p:cNvSpPr>
            <a:spLocks noGrp="1"/>
          </p:cNvSpPr>
          <p:nvPr>
            <p:ph idx="1"/>
          </p:nvPr>
        </p:nvSpPr>
        <p:spPr/>
        <p:txBody>
          <a:bodyPr>
            <a:normAutofit/>
          </a:bodyPr>
          <a:lstStyle/>
          <a:p>
            <a:pPr marL="0" indent="0">
              <a:buNone/>
            </a:pPr>
            <a:r>
              <a:rPr lang="en-US" sz="5400" dirty="0"/>
              <a:t>         </a:t>
            </a:r>
          </a:p>
          <a:p>
            <a:pPr marL="0" indent="0">
              <a:buNone/>
            </a:pPr>
            <a:endParaRPr lang="en-US" sz="5400" dirty="0"/>
          </a:p>
          <a:p>
            <a:pPr marL="0" indent="0">
              <a:buNone/>
            </a:pPr>
            <a:r>
              <a:rPr lang="en-US" sz="5400" dirty="0"/>
              <a:t>              </a:t>
            </a:r>
          </a:p>
        </p:txBody>
      </p:sp>
      <p:sp>
        <p:nvSpPr>
          <p:cNvPr id="5" name="Slide Number Placeholder 4">
            <a:extLst>
              <a:ext uri="{FF2B5EF4-FFF2-40B4-BE49-F238E27FC236}">
                <a16:creationId xmlns:a16="http://schemas.microsoft.com/office/drawing/2014/main" id="{C2306599-6796-4CC2-C6E3-14CD11CC427C}"/>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104</a:t>
            </a:fld>
            <a:endParaRPr lang="en-US" dirty="0">
              <a:solidFill>
                <a:srgbClr val="000000"/>
              </a:solidFill>
            </a:endParaRPr>
          </a:p>
        </p:txBody>
      </p:sp>
      <p:sp>
        <p:nvSpPr>
          <p:cNvPr id="8" name="TextBox 7">
            <a:extLst>
              <a:ext uri="{FF2B5EF4-FFF2-40B4-BE49-F238E27FC236}">
                <a16:creationId xmlns:a16="http://schemas.microsoft.com/office/drawing/2014/main" id="{B48C44D3-B86D-C59C-0CE6-83E6155B137C}"/>
              </a:ext>
            </a:extLst>
          </p:cNvPr>
          <p:cNvSpPr txBox="1"/>
          <p:nvPr/>
        </p:nvSpPr>
        <p:spPr>
          <a:xfrm>
            <a:off x="847344" y="625524"/>
            <a:ext cx="7438353" cy="5601533"/>
          </a:xfrm>
          <a:custGeom>
            <a:avLst/>
            <a:gdLst>
              <a:gd name="connsiteX0" fmla="*/ 0 w 7377393"/>
              <a:gd name="connsiteY0" fmla="*/ 0 h 6232475"/>
              <a:gd name="connsiteX1" fmla="*/ 7377393 w 7377393"/>
              <a:gd name="connsiteY1" fmla="*/ 0 h 6232475"/>
              <a:gd name="connsiteX2" fmla="*/ 7377393 w 7377393"/>
              <a:gd name="connsiteY2" fmla="*/ 6232475 h 6232475"/>
              <a:gd name="connsiteX3" fmla="*/ 0 w 7377393"/>
              <a:gd name="connsiteY3" fmla="*/ 6232475 h 6232475"/>
              <a:gd name="connsiteX4" fmla="*/ 0 w 7377393"/>
              <a:gd name="connsiteY4" fmla="*/ 0 h 6232475"/>
              <a:gd name="connsiteX0" fmla="*/ 0 w 7377393"/>
              <a:gd name="connsiteY0" fmla="*/ 0 h 6232475"/>
              <a:gd name="connsiteX1" fmla="*/ 7377393 w 7377393"/>
              <a:gd name="connsiteY1" fmla="*/ 0 h 6232475"/>
              <a:gd name="connsiteX2" fmla="*/ 7377393 w 7377393"/>
              <a:gd name="connsiteY2" fmla="*/ 6232475 h 6232475"/>
              <a:gd name="connsiteX3" fmla="*/ 18288 w 7377393"/>
              <a:gd name="connsiteY3" fmla="*/ 5592395 h 6232475"/>
              <a:gd name="connsiteX4" fmla="*/ 0 w 7377393"/>
              <a:gd name="connsiteY4" fmla="*/ 0 h 6232475"/>
              <a:gd name="connsiteX0" fmla="*/ 0 w 7438353"/>
              <a:gd name="connsiteY0" fmla="*/ 0 h 5635067"/>
              <a:gd name="connsiteX1" fmla="*/ 7377393 w 7438353"/>
              <a:gd name="connsiteY1" fmla="*/ 0 h 5635067"/>
              <a:gd name="connsiteX2" fmla="*/ 7438353 w 7438353"/>
              <a:gd name="connsiteY2" fmla="*/ 5635067 h 5635067"/>
              <a:gd name="connsiteX3" fmla="*/ 18288 w 7438353"/>
              <a:gd name="connsiteY3" fmla="*/ 5592395 h 5635067"/>
              <a:gd name="connsiteX4" fmla="*/ 0 w 7438353"/>
              <a:gd name="connsiteY4" fmla="*/ 0 h 56350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38353" h="5635067">
                <a:moveTo>
                  <a:pt x="0" y="0"/>
                </a:moveTo>
                <a:lnTo>
                  <a:pt x="7377393" y="0"/>
                </a:lnTo>
                <a:lnTo>
                  <a:pt x="7438353" y="5635067"/>
                </a:lnTo>
                <a:lnTo>
                  <a:pt x="18288" y="5592395"/>
                </a:lnTo>
                <a:lnTo>
                  <a:pt x="0" y="0"/>
                </a:lnTo>
                <a:close/>
              </a:path>
            </a:pathLst>
          </a:custGeom>
          <a:noFill/>
        </p:spPr>
        <p:txBody>
          <a:bodyPr wrap="square">
            <a:spAutoFit/>
          </a:bodyPr>
          <a:lstStyle/>
          <a:p>
            <a:pPr algn="just">
              <a:spcAft>
                <a:spcPts val="600"/>
              </a:spcAft>
              <a:buNone/>
            </a:pPr>
            <a:r>
              <a:rPr lang="en-US" b="0" dirty="0">
                <a:solidFill>
                  <a:srgbClr val="008000"/>
                </a:solidFill>
                <a:effectLst/>
              </a:rPr>
              <a:t># Get probability scores for test set</a:t>
            </a:r>
            <a:endParaRPr lang="en-US" b="0" dirty="0">
              <a:solidFill>
                <a:srgbClr val="000000"/>
              </a:solidFill>
              <a:effectLst/>
            </a:endParaRPr>
          </a:p>
          <a:p>
            <a:pPr algn="just">
              <a:spcAft>
                <a:spcPts val="600"/>
              </a:spcAft>
              <a:buNone/>
            </a:pPr>
            <a:r>
              <a:rPr lang="en-US" b="0" dirty="0" err="1">
                <a:solidFill>
                  <a:srgbClr val="000000"/>
                </a:solidFill>
                <a:effectLst/>
              </a:rPr>
              <a:t>y_val_probs</a:t>
            </a:r>
            <a:r>
              <a:rPr lang="en-US" b="0" dirty="0">
                <a:solidFill>
                  <a:srgbClr val="000000"/>
                </a:solidFill>
                <a:effectLst/>
              </a:rPr>
              <a:t> = </a:t>
            </a:r>
            <a:r>
              <a:rPr lang="en-US" b="0" dirty="0" err="1">
                <a:solidFill>
                  <a:srgbClr val="000000"/>
                </a:solidFill>
                <a:effectLst/>
              </a:rPr>
              <a:t>model.predict_proba</a:t>
            </a:r>
            <a:r>
              <a:rPr lang="en-US" b="0" dirty="0">
                <a:solidFill>
                  <a:srgbClr val="000000"/>
                </a:solidFill>
                <a:effectLst/>
              </a:rPr>
              <a:t>(</a:t>
            </a:r>
            <a:r>
              <a:rPr lang="en-US" b="0" dirty="0" err="1">
                <a:solidFill>
                  <a:srgbClr val="000000"/>
                </a:solidFill>
                <a:effectLst/>
              </a:rPr>
              <a:t>X_test</a:t>
            </a:r>
            <a:r>
              <a:rPr lang="en-US" b="0" dirty="0">
                <a:solidFill>
                  <a:srgbClr val="000000"/>
                </a:solidFill>
                <a:effectLst/>
              </a:rPr>
              <a:t>)[:, </a:t>
            </a:r>
            <a:r>
              <a:rPr lang="en-US" b="0" dirty="0">
                <a:solidFill>
                  <a:srgbClr val="116644"/>
                </a:solidFill>
                <a:effectLst/>
              </a:rPr>
              <a:t>1</a:t>
            </a:r>
            <a:r>
              <a:rPr lang="en-US" b="0" dirty="0">
                <a:solidFill>
                  <a:srgbClr val="000000"/>
                </a:solidFill>
                <a:effectLst/>
              </a:rPr>
              <a:t>]</a:t>
            </a:r>
          </a:p>
          <a:p>
            <a:pPr algn="just">
              <a:spcAft>
                <a:spcPts val="600"/>
              </a:spcAft>
              <a:buNone/>
            </a:pPr>
            <a:r>
              <a:rPr lang="en-US" b="0" dirty="0">
                <a:solidFill>
                  <a:srgbClr val="008000"/>
                </a:solidFill>
                <a:effectLst/>
              </a:rPr>
              <a:t># Compute ROC Curve</a:t>
            </a:r>
            <a:endParaRPr lang="en-US" b="0" dirty="0">
              <a:solidFill>
                <a:srgbClr val="000000"/>
              </a:solidFill>
              <a:effectLst/>
            </a:endParaRPr>
          </a:p>
          <a:p>
            <a:pPr algn="just">
              <a:spcAft>
                <a:spcPts val="600"/>
              </a:spcAft>
              <a:buNone/>
            </a:pPr>
            <a:r>
              <a:rPr lang="en-US" b="0" dirty="0" err="1">
                <a:solidFill>
                  <a:srgbClr val="000000"/>
                </a:solidFill>
                <a:effectLst/>
              </a:rPr>
              <a:t>fpr</a:t>
            </a:r>
            <a:r>
              <a:rPr lang="en-US" b="0" dirty="0">
                <a:solidFill>
                  <a:srgbClr val="000000"/>
                </a:solidFill>
                <a:effectLst/>
              </a:rPr>
              <a:t>, </a:t>
            </a:r>
            <a:r>
              <a:rPr lang="en-US" b="0" dirty="0" err="1">
                <a:solidFill>
                  <a:srgbClr val="000000"/>
                </a:solidFill>
                <a:effectLst/>
              </a:rPr>
              <a:t>tpr</a:t>
            </a:r>
            <a:r>
              <a:rPr lang="en-US" b="0" dirty="0">
                <a:solidFill>
                  <a:srgbClr val="000000"/>
                </a:solidFill>
                <a:effectLst/>
              </a:rPr>
              <a:t>, _ = </a:t>
            </a:r>
            <a:r>
              <a:rPr lang="en-US" b="0" dirty="0" err="1">
                <a:solidFill>
                  <a:srgbClr val="000000"/>
                </a:solidFill>
                <a:effectLst/>
              </a:rPr>
              <a:t>roc_curve</a:t>
            </a:r>
            <a:r>
              <a:rPr lang="en-US" b="0" dirty="0">
                <a:solidFill>
                  <a:srgbClr val="000000"/>
                </a:solidFill>
                <a:effectLst/>
              </a:rPr>
              <a:t>(</a:t>
            </a:r>
            <a:r>
              <a:rPr lang="en-US" b="0" dirty="0" err="1">
                <a:solidFill>
                  <a:srgbClr val="000000"/>
                </a:solidFill>
                <a:effectLst/>
              </a:rPr>
              <a:t>y_test</a:t>
            </a:r>
            <a:r>
              <a:rPr lang="en-US" b="0" dirty="0">
                <a:solidFill>
                  <a:srgbClr val="000000"/>
                </a:solidFill>
                <a:effectLst/>
              </a:rPr>
              <a:t>, </a:t>
            </a:r>
            <a:r>
              <a:rPr lang="en-US" b="0" dirty="0" err="1">
                <a:solidFill>
                  <a:srgbClr val="000000"/>
                </a:solidFill>
                <a:effectLst/>
              </a:rPr>
              <a:t>y_val_probs</a:t>
            </a:r>
            <a:r>
              <a:rPr lang="en-US" b="0" dirty="0">
                <a:solidFill>
                  <a:srgbClr val="000000"/>
                </a:solidFill>
                <a:effectLst/>
              </a:rPr>
              <a:t>)</a:t>
            </a:r>
          </a:p>
          <a:p>
            <a:pPr algn="just">
              <a:spcAft>
                <a:spcPts val="600"/>
              </a:spcAft>
              <a:buNone/>
            </a:pPr>
            <a:r>
              <a:rPr lang="en-US" b="0" dirty="0" err="1">
                <a:solidFill>
                  <a:srgbClr val="000000"/>
                </a:solidFill>
                <a:effectLst/>
              </a:rPr>
              <a:t>roc_auc</a:t>
            </a:r>
            <a:r>
              <a:rPr lang="en-US" b="0" dirty="0">
                <a:solidFill>
                  <a:srgbClr val="000000"/>
                </a:solidFill>
                <a:effectLst/>
              </a:rPr>
              <a:t> = </a:t>
            </a:r>
            <a:r>
              <a:rPr lang="en-US" b="0" dirty="0" err="1">
                <a:solidFill>
                  <a:srgbClr val="000000"/>
                </a:solidFill>
                <a:effectLst/>
              </a:rPr>
              <a:t>auc</a:t>
            </a:r>
            <a:r>
              <a:rPr lang="en-US" b="0" dirty="0">
                <a:solidFill>
                  <a:srgbClr val="000000"/>
                </a:solidFill>
                <a:effectLst/>
              </a:rPr>
              <a:t>(</a:t>
            </a:r>
            <a:r>
              <a:rPr lang="en-US" b="0" dirty="0" err="1">
                <a:solidFill>
                  <a:srgbClr val="000000"/>
                </a:solidFill>
                <a:effectLst/>
              </a:rPr>
              <a:t>fpr</a:t>
            </a:r>
            <a:r>
              <a:rPr lang="en-US" b="0" dirty="0">
                <a:solidFill>
                  <a:srgbClr val="000000"/>
                </a:solidFill>
                <a:effectLst/>
              </a:rPr>
              <a:t>, </a:t>
            </a:r>
            <a:r>
              <a:rPr lang="en-US" b="0" dirty="0" err="1">
                <a:solidFill>
                  <a:srgbClr val="000000"/>
                </a:solidFill>
                <a:effectLst/>
              </a:rPr>
              <a:t>tpr</a:t>
            </a:r>
            <a:r>
              <a:rPr lang="en-US" b="0" dirty="0">
                <a:solidFill>
                  <a:srgbClr val="000000"/>
                </a:solidFill>
                <a:effectLst/>
              </a:rPr>
              <a:t>)</a:t>
            </a:r>
          </a:p>
          <a:p>
            <a:pPr algn="just">
              <a:spcAft>
                <a:spcPts val="600"/>
              </a:spcAft>
              <a:buNone/>
            </a:pPr>
            <a:r>
              <a:rPr lang="en-US" b="0" dirty="0">
                <a:solidFill>
                  <a:srgbClr val="008000"/>
                </a:solidFill>
                <a:effectLst/>
              </a:rPr>
              <a:t># Plot ROC Curve</a:t>
            </a:r>
            <a:endParaRPr lang="en-US" b="0" dirty="0">
              <a:solidFill>
                <a:srgbClr val="000000"/>
              </a:solidFill>
              <a:effectLst/>
            </a:endParaRPr>
          </a:p>
          <a:p>
            <a:pPr algn="just">
              <a:spcAft>
                <a:spcPts val="600"/>
              </a:spcAft>
              <a:buNone/>
            </a:pPr>
            <a:r>
              <a:rPr lang="en-US" b="0" dirty="0" err="1">
                <a:solidFill>
                  <a:srgbClr val="000000"/>
                </a:solidFill>
                <a:effectLst/>
              </a:rPr>
              <a:t>plt.figure</a:t>
            </a:r>
            <a:r>
              <a:rPr lang="en-US" b="0" dirty="0">
                <a:solidFill>
                  <a:srgbClr val="000000"/>
                </a:solidFill>
                <a:effectLst/>
              </a:rPr>
              <a:t>(</a:t>
            </a:r>
            <a:r>
              <a:rPr lang="en-US" b="0" dirty="0" err="1">
                <a:solidFill>
                  <a:srgbClr val="000000"/>
                </a:solidFill>
                <a:effectLst/>
              </a:rPr>
              <a:t>figsize</a:t>
            </a:r>
            <a:r>
              <a:rPr lang="en-US" b="0" dirty="0">
                <a:solidFill>
                  <a:srgbClr val="000000"/>
                </a:solidFill>
                <a:effectLst/>
              </a:rPr>
              <a:t>=(</a:t>
            </a:r>
            <a:r>
              <a:rPr lang="en-US" b="0" dirty="0">
                <a:solidFill>
                  <a:srgbClr val="116644"/>
                </a:solidFill>
                <a:effectLst/>
              </a:rPr>
              <a:t>9</a:t>
            </a:r>
            <a:r>
              <a:rPr lang="en-US" b="0" dirty="0">
                <a:solidFill>
                  <a:srgbClr val="000000"/>
                </a:solidFill>
                <a:effectLst/>
              </a:rPr>
              <a:t>, </a:t>
            </a:r>
            <a:r>
              <a:rPr lang="en-US" b="0" dirty="0">
                <a:solidFill>
                  <a:srgbClr val="116644"/>
                </a:solidFill>
                <a:effectLst/>
              </a:rPr>
              <a:t>7</a:t>
            </a:r>
            <a:r>
              <a:rPr lang="en-US" b="0" dirty="0">
                <a:solidFill>
                  <a:srgbClr val="000000"/>
                </a:solidFill>
                <a:effectLst/>
              </a:rPr>
              <a:t>))</a:t>
            </a:r>
          </a:p>
          <a:p>
            <a:pPr algn="just">
              <a:spcAft>
                <a:spcPts val="600"/>
              </a:spcAft>
              <a:buNone/>
            </a:pPr>
            <a:r>
              <a:rPr lang="en-US" b="0" dirty="0" err="1">
                <a:solidFill>
                  <a:srgbClr val="000000"/>
                </a:solidFill>
                <a:effectLst/>
              </a:rPr>
              <a:t>plt.plot</a:t>
            </a:r>
            <a:r>
              <a:rPr lang="en-US" b="0" dirty="0">
                <a:solidFill>
                  <a:srgbClr val="000000"/>
                </a:solidFill>
                <a:effectLst/>
              </a:rPr>
              <a:t>(</a:t>
            </a:r>
            <a:r>
              <a:rPr lang="en-US" b="0" dirty="0" err="1">
                <a:solidFill>
                  <a:srgbClr val="000000"/>
                </a:solidFill>
                <a:effectLst/>
              </a:rPr>
              <a:t>fpr</a:t>
            </a:r>
            <a:r>
              <a:rPr lang="en-US" b="0" dirty="0">
                <a:solidFill>
                  <a:srgbClr val="000000"/>
                </a:solidFill>
                <a:effectLst/>
              </a:rPr>
              <a:t>, </a:t>
            </a:r>
            <a:r>
              <a:rPr lang="en-US" b="0" dirty="0" err="1">
                <a:solidFill>
                  <a:srgbClr val="000000"/>
                </a:solidFill>
                <a:effectLst/>
              </a:rPr>
              <a:t>tpr</a:t>
            </a:r>
            <a:r>
              <a:rPr lang="en-US" b="0" dirty="0">
                <a:solidFill>
                  <a:srgbClr val="000000"/>
                </a:solidFill>
                <a:effectLst/>
              </a:rPr>
              <a:t>, color=</a:t>
            </a:r>
            <a:r>
              <a:rPr lang="en-US" b="0" dirty="0">
                <a:solidFill>
                  <a:srgbClr val="A31515"/>
                </a:solidFill>
                <a:effectLst/>
              </a:rPr>
              <a:t>'blue'</a:t>
            </a:r>
            <a:r>
              <a:rPr lang="en-US" b="0" dirty="0">
                <a:solidFill>
                  <a:srgbClr val="000000"/>
                </a:solidFill>
                <a:effectLst/>
              </a:rPr>
              <a:t>, </a:t>
            </a:r>
            <a:r>
              <a:rPr lang="en-US" b="0" dirty="0" err="1">
                <a:solidFill>
                  <a:srgbClr val="000000"/>
                </a:solidFill>
                <a:effectLst/>
              </a:rPr>
              <a:t>lw</a:t>
            </a:r>
            <a:r>
              <a:rPr lang="en-US" b="0" dirty="0">
                <a:solidFill>
                  <a:srgbClr val="000000"/>
                </a:solidFill>
                <a:effectLst/>
              </a:rPr>
              <a:t>=</a:t>
            </a:r>
            <a:r>
              <a:rPr lang="en-US" b="0" dirty="0">
                <a:solidFill>
                  <a:srgbClr val="116644"/>
                </a:solidFill>
                <a:effectLst/>
              </a:rPr>
              <a:t>2</a:t>
            </a:r>
            <a:r>
              <a:rPr lang="en-US" b="0" dirty="0">
                <a:solidFill>
                  <a:srgbClr val="000000"/>
                </a:solidFill>
                <a:effectLst/>
              </a:rPr>
              <a:t>, label=</a:t>
            </a:r>
            <a:r>
              <a:rPr lang="en-US" b="0" dirty="0" err="1">
                <a:solidFill>
                  <a:srgbClr val="0000FF"/>
                </a:solidFill>
                <a:effectLst/>
              </a:rPr>
              <a:t>f</a:t>
            </a:r>
            <a:r>
              <a:rPr lang="en-US" b="0" dirty="0" err="1">
                <a:solidFill>
                  <a:srgbClr val="A31515"/>
                </a:solidFill>
                <a:effectLst/>
              </a:rPr>
              <a:t>'Logistic</a:t>
            </a:r>
            <a:r>
              <a:rPr lang="en-US" b="0" dirty="0">
                <a:solidFill>
                  <a:srgbClr val="A31515"/>
                </a:solidFill>
                <a:effectLst/>
              </a:rPr>
              <a:t> Regression (AUC = </a:t>
            </a:r>
            <a:r>
              <a:rPr lang="en-US" b="0" dirty="0">
                <a:solidFill>
                  <a:srgbClr val="000000"/>
                </a:solidFill>
                <a:effectLst/>
              </a:rPr>
              <a:t>{roc_auc</a:t>
            </a:r>
            <a:r>
              <a:rPr lang="en-US" b="0" dirty="0">
                <a:solidFill>
                  <a:srgbClr val="116644"/>
                </a:solidFill>
                <a:effectLst/>
              </a:rPr>
              <a:t>:.4f</a:t>
            </a:r>
            <a:r>
              <a:rPr lang="en-US" b="0" dirty="0">
                <a:solidFill>
                  <a:srgbClr val="000000"/>
                </a:solidFill>
                <a:effectLst/>
              </a:rPr>
              <a:t>}</a:t>
            </a:r>
            <a:r>
              <a:rPr lang="en-US" b="0" dirty="0">
                <a:solidFill>
                  <a:srgbClr val="A31515"/>
                </a:solidFill>
                <a:effectLst/>
              </a:rPr>
              <a:t>)'</a:t>
            </a:r>
            <a:r>
              <a:rPr lang="en-US" b="0" dirty="0">
                <a:solidFill>
                  <a:srgbClr val="000000"/>
                </a:solidFill>
                <a:effectLst/>
              </a:rPr>
              <a:t>)</a:t>
            </a:r>
          </a:p>
          <a:p>
            <a:pPr algn="just">
              <a:spcAft>
                <a:spcPts val="600"/>
              </a:spcAft>
              <a:buNone/>
            </a:pPr>
            <a:r>
              <a:rPr lang="en-US" b="0" dirty="0" err="1">
                <a:solidFill>
                  <a:srgbClr val="000000"/>
                </a:solidFill>
                <a:effectLst/>
              </a:rPr>
              <a:t>plt.plot</a:t>
            </a:r>
            <a:r>
              <a:rPr lang="en-US" b="0" dirty="0">
                <a:solidFill>
                  <a:srgbClr val="000000"/>
                </a:solidFill>
                <a:effectLst/>
              </a:rPr>
              <a:t>([</a:t>
            </a:r>
            <a:r>
              <a:rPr lang="en-US" b="0" dirty="0">
                <a:solidFill>
                  <a:srgbClr val="116644"/>
                </a:solidFill>
                <a:effectLst/>
              </a:rPr>
              <a:t>0</a:t>
            </a:r>
            <a:r>
              <a:rPr lang="en-US" b="0" dirty="0">
                <a:solidFill>
                  <a:srgbClr val="000000"/>
                </a:solidFill>
                <a:effectLst/>
              </a:rPr>
              <a:t>, </a:t>
            </a:r>
            <a:r>
              <a:rPr lang="en-US" b="0" dirty="0">
                <a:solidFill>
                  <a:srgbClr val="116644"/>
                </a:solidFill>
                <a:effectLst/>
              </a:rPr>
              <a:t>1</a:t>
            </a:r>
            <a:r>
              <a:rPr lang="en-US" b="0" dirty="0">
                <a:solidFill>
                  <a:srgbClr val="000000"/>
                </a:solidFill>
                <a:effectLst/>
              </a:rPr>
              <a:t>], [</a:t>
            </a:r>
            <a:r>
              <a:rPr lang="en-US" b="0" dirty="0">
                <a:solidFill>
                  <a:srgbClr val="116644"/>
                </a:solidFill>
                <a:effectLst/>
              </a:rPr>
              <a:t>0</a:t>
            </a:r>
            <a:r>
              <a:rPr lang="en-US" b="0" dirty="0">
                <a:solidFill>
                  <a:srgbClr val="000000"/>
                </a:solidFill>
                <a:effectLst/>
              </a:rPr>
              <a:t>, </a:t>
            </a:r>
            <a:r>
              <a:rPr lang="en-US" b="0" dirty="0">
                <a:solidFill>
                  <a:srgbClr val="116644"/>
                </a:solidFill>
                <a:effectLst/>
              </a:rPr>
              <a:t>1</a:t>
            </a:r>
            <a:r>
              <a:rPr lang="en-US" b="0" dirty="0">
                <a:solidFill>
                  <a:srgbClr val="000000"/>
                </a:solidFill>
                <a:effectLst/>
              </a:rPr>
              <a:t>], color=</a:t>
            </a:r>
            <a:r>
              <a:rPr lang="en-US" b="0" dirty="0">
                <a:solidFill>
                  <a:srgbClr val="A31515"/>
                </a:solidFill>
                <a:effectLst/>
              </a:rPr>
              <a:t>'gray'</a:t>
            </a:r>
            <a:r>
              <a:rPr lang="en-US" b="0" dirty="0">
                <a:solidFill>
                  <a:srgbClr val="000000"/>
                </a:solidFill>
                <a:effectLst/>
              </a:rPr>
              <a:t>, </a:t>
            </a:r>
            <a:r>
              <a:rPr lang="en-US" b="0" dirty="0" err="1">
                <a:solidFill>
                  <a:srgbClr val="000000"/>
                </a:solidFill>
                <a:effectLst/>
              </a:rPr>
              <a:t>linestyle</a:t>
            </a:r>
            <a:r>
              <a:rPr lang="en-US" b="0" dirty="0">
                <a:solidFill>
                  <a:srgbClr val="000000"/>
                </a:solidFill>
                <a:effectLst/>
              </a:rPr>
              <a:t>=</a:t>
            </a:r>
            <a:r>
              <a:rPr lang="en-US" b="0" dirty="0">
                <a:solidFill>
                  <a:srgbClr val="A31515"/>
                </a:solidFill>
                <a:effectLst/>
              </a:rPr>
              <a:t>'--'</a:t>
            </a:r>
            <a:r>
              <a:rPr lang="en-US" b="0" dirty="0">
                <a:solidFill>
                  <a:srgbClr val="000000"/>
                </a:solidFill>
                <a:effectLst/>
              </a:rPr>
              <a:t>)  </a:t>
            </a:r>
            <a:r>
              <a:rPr lang="en-US" b="0" dirty="0">
                <a:solidFill>
                  <a:srgbClr val="008000"/>
                </a:solidFill>
                <a:effectLst/>
              </a:rPr>
              <a:t># Random guess line</a:t>
            </a:r>
            <a:endParaRPr lang="en-US" b="0" dirty="0">
              <a:solidFill>
                <a:srgbClr val="000000"/>
              </a:solidFill>
              <a:effectLst/>
            </a:endParaRPr>
          </a:p>
          <a:p>
            <a:pPr algn="just">
              <a:spcAft>
                <a:spcPts val="600"/>
              </a:spcAft>
              <a:buNone/>
            </a:pPr>
            <a:r>
              <a:rPr lang="en-US" b="0" dirty="0" err="1">
                <a:solidFill>
                  <a:srgbClr val="000000"/>
                </a:solidFill>
                <a:effectLst/>
              </a:rPr>
              <a:t>plt.xlabel</a:t>
            </a:r>
            <a:r>
              <a:rPr lang="en-US" b="0" dirty="0">
                <a:solidFill>
                  <a:srgbClr val="000000"/>
                </a:solidFill>
                <a:effectLst/>
              </a:rPr>
              <a:t>(</a:t>
            </a:r>
            <a:r>
              <a:rPr lang="en-US" b="0" dirty="0">
                <a:solidFill>
                  <a:srgbClr val="A31515"/>
                </a:solidFill>
                <a:effectLst/>
              </a:rPr>
              <a:t>'False Positive Rate'</a:t>
            </a:r>
            <a:r>
              <a:rPr lang="en-US" b="0" dirty="0">
                <a:solidFill>
                  <a:srgbClr val="000000"/>
                </a:solidFill>
                <a:effectLst/>
              </a:rPr>
              <a:t>)</a:t>
            </a:r>
          </a:p>
          <a:p>
            <a:pPr algn="just">
              <a:spcAft>
                <a:spcPts val="600"/>
              </a:spcAft>
              <a:buNone/>
            </a:pPr>
            <a:r>
              <a:rPr lang="en-US" b="0" dirty="0" err="1">
                <a:solidFill>
                  <a:srgbClr val="000000"/>
                </a:solidFill>
                <a:effectLst/>
              </a:rPr>
              <a:t>plt.ylabel</a:t>
            </a:r>
            <a:r>
              <a:rPr lang="en-US" b="0" dirty="0">
                <a:solidFill>
                  <a:srgbClr val="000000"/>
                </a:solidFill>
                <a:effectLst/>
              </a:rPr>
              <a:t>(</a:t>
            </a:r>
            <a:r>
              <a:rPr lang="en-US" b="0" dirty="0">
                <a:solidFill>
                  <a:srgbClr val="A31515"/>
                </a:solidFill>
                <a:effectLst/>
              </a:rPr>
              <a:t>'True Positive Rate'</a:t>
            </a:r>
            <a:r>
              <a:rPr lang="en-US" b="0" dirty="0">
                <a:solidFill>
                  <a:srgbClr val="000000"/>
                </a:solidFill>
                <a:effectLst/>
              </a:rPr>
              <a:t>)</a:t>
            </a:r>
          </a:p>
          <a:p>
            <a:pPr algn="just">
              <a:spcAft>
                <a:spcPts val="600"/>
              </a:spcAft>
              <a:buNone/>
            </a:pPr>
            <a:r>
              <a:rPr lang="en-US" b="0" dirty="0" err="1">
                <a:solidFill>
                  <a:srgbClr val="000000"/>
                </a:solidFill>
                <a:effectLst/>
              </a:rPr>
              <a:t>plt.title</a:t>
            </a:r>
            <a:r>
              <a:rPr lang="en-US" b="0" dirty="0">
                <a:solidFill>
                  <a:srgbClr val="000000"/>
                </a:solidFill>
                <a:effectLst/>
              </a:rPr>
              <a:t>(</a:t>
            </a:r>
            <a:r>
              <a:rPr lang="en-US" b="0" dirty="0">
                <a:solidFill>
                  <a:srgbClr val="A31515"/>
                </a:solidFill>
                <a:effectLst/>
              </a:rPr>
              <a:t>'ROC Curve for Logistic Regression'</a:t>
            </a:r>
            <a:r>
              <a:rPr lang="en-US" b="0" dirty="0">
                <a:solidFill>
                  <a:srgbClr val="000000"/>
                </a:solidFill>
                <a:effectLst/>
              </a:rPr>
              <a:t>)</a:t>
            </a:r>
          </a:p>
          <a:p>
            <a:pPr algn="just">
              <a:spcAft>
                <a:spcPts val="600"/>
              </a:spcAft>
              <a:buNone/>
            </a:pPr>
            <a:r>
              <a:rPr lang="en-US" b="0" dirty="0" err="1">
                <a:solidFill>
                  <a:srgbClr val="000000"/>
                </a:solidFill>
                <a:effectLst/>
              </a:rPr>
              <a:t>plt.legend</a:t>
            </a:r>
            <a:r>
              <a:rPr lang="en-US" b="0" dirty="0">
                <a:solidFill>
                  <a:srgbClr val="000000"/>
                </a:solidFill>
                <a:effectLst/>
              </a:rPr>
              <a:t>(loc=</a:t>
            </a:r>
            <a:r>
              <a:rPr lang="en-US" b="0" dirty="0">
                <a:solidFill>
                  <a:srgbClr val="A31515"/>
                </a:solidFill>
                <a:effectLst/>
              </a:rPr>
              <a:t>"lower right"</a:t>
            </a:r>
            <a:r>
              <a:rPr lang="en-US" b="0" dirty="0">
                <a:solidFill>
                  <a:srgbClr val="000000"/>
                </a:solidFill>
                <a:effectLst/>
              </a:rPr>
              <a:t>)</a:t>
            </a:r>
          </a:p>
          <a:p>
            <a:pPr algn="just">
              <a:spcAft>
                <a:spcPts val="600"/>
              </a:spcAft>
              <a:buNone/>
            </a:pPr>
            <a:r>
              <a:rPr lang="en-US" b="0" dirty="0" err="1">
                <a:solidFill>
                  <a:srgbClr val="000000"/>
                </a:solidFill>
                <a:effectLst/>
              </a:rPr>
              <a:t>plt.show</a:t>
            </a:r>
            <a:r>
              <a:rPr lang="en-US" b="0" dirty="0">
                <a:solidFill>
                  <a:srgbClr val="000000"/>
                </a:solidFill>
                <a:effectLst/>
              </a:rPr>
              <a:t>()</a:t>
            </a:r>
          </a:p>
          <a:p>
            <a:pPr algn="just">
              <a:spcAft>
                <a:spcPts val="600"/>
              </a:spcAft>
              <a:buNone/>
            </a:pPr>
            <a:r>
              <a:rPr lang="en-US" b="0" dirty="0">
                <a:solidFill>
                  <a:srgbClr val="008000"/>
                </a:solidFill>
                <a:effectLst/>
              </a:rPr>
              <a:t># print(</a:t>
            </a:r>
            <a:r>
              <a:rPr lang="en-US" b="0" dirty="0" err="1">
                <a:solidFill>
                  <a:srgbClr val="008000"/>
                </a:solidFill>
                <a:effectLst/>
              </a:rPr>
              <a:t>f"Logistic</a:t>
            </a:r>
            <a:r>
              <a:rPr lang="en-US" b="0" dirty="0">
                <a:solidFill>
                  <a:srgbClr val="008000"/>
                </a:solidFill>
                <a:effectLst/>
              </a:rPr>
              <a:t> Regression AUC Score: {roc_auc:.4f}")</a:t>
            </a:r>
            <a:endParaRPr lang="en-US" b="0" dirty="0">
              <a:solidFill>
                <a:srgbClr val="000000"/>
              </a:solidFill>
              <a:effectLst/>
            </a:endParaRPr>
          </a:p>
        </p:txBody>
      </p:sp>
      <p:sp>
        <p:nvSpPr>
          <p:cNvPr id="9" name="object 2">
            <a:extLst>
              <a:ext uri="{FF2B5EF4-FFF2-40B4-BE49-F238E27FC236}">
                <a16:creationId xmlns:a16="http://schemas.microsoft.com/office/drawing/2014/main" id="{7E03873F-D1CA-207D-0177-053B77717090}"/>
              </a:ext>
            </a:extLst>
          </p:cNvPr>
          <p:cNvSpPr txBox="1">
            <a:spLocks/>
          </p:cNvSpPr>
          <p:nvPr/>
        </p:nvSpPr>
        <p:spPr>
          <a:xfrm>
            <a:off x="228600" y="128017"/>
            <a:ext cx="8686800" cy="590472"/>
          </a:xfrm>
          <a:prstGeom prst="rect">
            <a:avLst/>
          </a:prstGeom>
        </p:spPr>
        <p:txBody>
          <a:bodyPr vert="horz" wrap="square"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n-US" dirty="0">
                <a:solidFill>
                  <a:srgbClr val="1F1F1F"/>
                </a:solidFill>
              </a:rPr>
              <a:t>ROC CURVE</a:t>
            </a:r>
          </a:p>
        </p:txBody>
      </p:sp>
    </p:spTree>
    <p:extLst>
      <p:ext uri="{BB962C8B-B14F-4D97-AF65-F5344CB8AC3E}">
        <p14:creationId xmlns:p14="http://schemas.microsoft.com/office/powerpoint/2010/main" val="929066410"/>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4CFC2-D61D-282F-F0D2-A0F8D01B3F5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172691-3B8A-75D0-C231-74DB5315A000}"/>
              </a:ext>
            </a:extLst>
          </p:cNvPr>
          <p:cNvSpPr>
            <a:spLocks noGrp="1"/>
          </p:cNvSpPr>
          <p:nvPr>
            <p:ph idx="1"/>
          </p:nvPr>
        </p:nvSpPr>
        <p:spPr>
          <a:xfrm>
            <a:off x="971550" y="736258"/>
            <a:ext cx="7886700" cy="5461342"/>
          </a:xfrm>
        </p:spPr>
        <p:txBody>
          <a:bodyPr>
            <a:normAutofit/>
          </a:bodyPr>
          <a:lstStyle/>
          <a:p>
            <a:pPr marL="0" indent="0">
              <a:buNone/>
            </a:pPr>
            <a:endParaRPr lang="en-US" sz="5400" dirty="0"/>
          </a:p>
          <a:p>
            <a:pPr marL="0" indent="0">
              <a:buNone/>
            </a:pPr>
            <a:endParaRPr lang="en-US" sz="5400" dirty="0"/>
          </a:p>
          <a:p>
            <a:pPr marL="0" indent="0">
              <a:buNone/>
            </a:pPr>
            <a:r>
              <a:rPr lang="en-US" sz="5400" dirty="0"/>
              <a:t>                    END </a:t>
            </a:r>
          </a:p>
        </p:txBody>
      </p:sp>
      <p:sp>
        <p:nvSpPr>
          <p:cNvPr id="5" name="Slide Number Placeholder 4">
            <a:extLst>
              <a:ext uri="{FF2B5EF4-FFF2-40B4-BE49-F238E27FC236}">
                <a16:creationId xmlns:a16="http://schemas.microsoft.com/office/drawing/2014/main" id="{0D9BEEF2-37F9-655B-E79C-1D0CD6FF4D4A}"/>
              </a:ext>
            </a:extLst>
          </p:cNvPr>
          <p:cNvSpPr txBox="1">
            <a:spLocks/>
          </p:cNvSpPr>
          <p:nvPr/>
        </p:nvSpPr>
        <p:spPr>
          <a:xfrm>
            <a:off x="6679626" y="6576291"/>
            <a:ext cx="2057400" cy="281708"/>
          </a:xfrm>
          <a:prstGeom prst="rect">
            <a:avLst/>
          </a:prstGeom>
        </p:spPr>
        <p:txBody>
          <a:bodyPr vert="horz" wrap="none" lIns="0" tIns="0" rIns="0" bIns="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1DD23E2-BA1B-8049-8B7E-58F2712DF32D}" type="slidenum">
              <a:rPr lang="en-US" smtClean="0">
                <a:solidFill>
                  <a:srgbClr val="000000"/>
                </a:solidFill>
              </a:rPr>
              <a:pPr/>
              <a:t>105</a:t>
            </a:fld>
            <a:endParaRPr lang="en-US" dirty="0">
              <a:solidFill>
                <a:srgbClr val="000000"/>
              </a:solidFill>
            </a:endParaRPr>
          </a:p>
        </p:txBody>
      </p:sp>
    </p:spTree>
    <p:extLst>
      <p:ext uri="{BB962C8B-B14F-4D97-AF65-F5344CB8AC3E}">
        <p14:creationId xmlns:p14="http://schemas.microsoft.com/office/powerpoint/2010/main" val="202557667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_dlc_DocId xmlns="881cbc62-9c94-4650-91c8-fbcdad032e96">65M42YJNURMD-241562491-20</_dlc_DocId>
    <_dlc_DocIdUrl xmlns="881cbc62-9c94-4650-91c8-fbcdad032e96">
      <Url>https://www.findlay.edu/offices/marketing-communication/_layouts/15/DocIdRedir.aspx?ID=65M42YJNURMD-241562491-20</Url>
      <Description>65M42YJNURMD-241562491-20</Description>
    </_dlc_DocIdUrl>
    <_dlc_DocIdPersistId xmlns="881cbc62-9c94-4650-91c8-fbcdad032e96">false</_dlc_DocIdPersistId>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Version=15.0.0.0, Culture=neutral, PublicKeyToken=71e9bce111e9429c</Assembly>
    <Class>Microsoft.Office.DocumentManagement.Internal.DocIdHandler</Class>
    <Data/>
    <Filter/>
  </Receiver>
</spe:Receivers>
</file>

<file path=customXml/item4.xml><?xml version="1.0" encoding="utf-8"?>
<ct:contentTypeSchema xmlns:ct="http://schemas.microsoft.com/office/2006/metadata/contentType" xmlns:ma="http://schemas.microsoft.com/office/2006/metadata/properties/metaAttributes" ct:_="" ma:_="" ma:contentTypeName="Document" ma:contentTypeID="0x0101008F6E503ACCA46442BFF61DFBA1C6F8EC" ma:contentTypeVersion="5" ma:contentTypeDescription="Create a new document." ma:contentTypeScope="" ma:versionID="3166e219251c1128606b532e38cb2061">
  <xsd:schema xmlns:xsd="http://www.w3.org/2001/XMLSchema" xmlns:xs="http://www.w3.org/2001/XMLSchema" xmlns:p="http://schemas.microsoft.com/office/2006/metadata/properties" xmlns:ns1="http://schemas.microsoft.com/sharepoint/v3" xmlns:ns2="881cbc62-9c94-4650-91c8-fbcdad032e96" targetNamespace="http://schemas.microsoft.com/office/2006/metadata/properties" ma:root="true" ma:fieldsID="f114224510ac45b4fd4df78dc3c11c2b" ns1:_="" ns2:_="">
    <xsd:import namespace="http://schemas.microsoft.com/sharepoint/v3"/>
    <xsd:import namespace="881cbc62-9c94-4650-91c8-fbcdad032e96"/>
    <xsd:element name="properties">
      <xsd:complexType>
        <xsd:sequence>
          <xsd:element name="documentManagement">
            <xsd:complexType>
              <xsd:all>
                <xsd:element ref="ns1:PublishingStartDate" minOccurs="0"/>
                <xsd:element ref="ns1:PublishingExpirationDate" minOccurs="0"/>
                <xsd:element ref="ns2:_dlc_DocId" minOccurs="0"/>
                <xsd:element ref="ns2:_dlc_DocIdUrl" minOccurs="0"/>
                <xsd:element ref="ns2:_dlc_DocIdPersistId" minOccurs="0"/>
                <xsd:element ref="ns2: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4" nillable="true" ma:displayName="Scheduling Start Date" ma:description="" ma:internalName="PublishingStartDate">
      <xsd:simpleType>
        <xsd:restriction base="dms:Unknown"/>
      </xsd:simpleType>
    </xsd:element>
    <xsd:element name="PublishingExpirationDate" ma:index="5" nillable="true" ma:displayName="Scheduling End Date" ma:description=""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881cbc62-9c94-4650-91c8-fbcdad032e96" elementFormDefault="qualified">
    <xsd:import namespace="http://schemas.microsoft.com/office/2006/documentManagement/types"/>
    <xsd:import namespace="http://schemas.microsoft.com/office/infopath/2007/PartnerControls"/>
    <xsd:element name="_dlc_DocId" ma:index="10" nillable="true" ma:displayName="Document ID Value" ma:description="The value of the document ID assigned to this item." ma:internalName="_dlc_DocId" ma:readOnly="true">
      <xsd:simpleType>
        <xsd:restriction base="dms:Text"/>
      </xsd:simpleType>
    </xsd:element>
    <xsd:element name="_dlc_DocIdUrl" ma:index="11"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2" nillable="true" ma:displayName="Persist ID" ma:description="Keep ID on add." ma:hidden="true" ma:internalName="_dlc_DocIdPersistId" ma:readOnly="true">
      <xsd:simpleType>
        <xsd:restriction base="dms:Boolean"/>
      </xsd:simpleType>
    </xsd:element>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6" ma:displayName="Content Type"/>
        <xsd:element ref="dc:title" minOccurs="0" maxOccurs="1" ma:index="3"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20B89CE-6EB9-4E03-BD3E-C4F2FFE62935}">
  <ds:schemaRefs>
    <ds:schemaRef ds:uri="881cbc62-9c94-4650-91c8-fbcdad032e96"/>
    <ds:schemaRef ds:uri="http://schemas.microsoft.com/office/2006/documentManagement/types"/>
    <ds:schemaRef ds:uri="http://www.w3.org/XML/1998/namespace"/>
    <ds:schemaRef ds:uri="http://schemas.microsoft.com/office/2006/metadata/properties"/>
    <ds:schemaRef ds:uri="http://schemas.openxmlformats.org/package/2006/metadata/core-properties"/>
    <ds:schemaRef ds:uri="http://purl.org/dc/elements/1.1/"/>
    <ds:schemaRef ds:uri="http://purl.org/dc/dcmitype/"/>
    <ds:schemaRef ds:uri="http://schemas.microsoft.com/office/infopath/2007/PartnerControls"/>
    <ds:schemaRef ds:uri="http://schemas.microsoft.com/sharepoint/v3"/>
    <ds:schemaRef ds:uri="http://purl.org/dc/terms/"/>
  </ds:schemaRefs>
</ds:datastoreItem>
</file>

<file path=customXml/itemProps2.xml><?xml version="1.0" encoding="utf-8"?>
<ds:datastoreItem xmlns:ds="http://schemas.openxmlformats.org/officeDocument/2006/customXml" ds:itemID="{ABE26954-27F0-48B5-966D-857E0ED42382}">
  <ds:schemaRefs>
    <ds:schemaRef ds:uri="http://schemas.microsoft.com/sharepoint/v3/contenttype/forms"/>
  </ds:schemaRefs>
</ds:datastoreItem>
</file>

<file path=customXml/itemProps3.xml><?xml version="1.0" encoding="utf-8"?>
<ds:datastoreItem xmlns:ds="http://schemas.openxmlformats.org/officeDocument/2006/customXml" ds:itemID="{F1E76B47-93EA-40B2-BEEE-28B6AAD2E4F9}">
  <ds:schemaRefs>
    <ds:schemaRef ds:uri="http://schemas.microsoft.com/sharepoint/events"/>
  </ds:schemaRefs>
</ds:datastoreItem>
</file>

<file path=customXml/itemProps4.xml><?xml version="1.0" encoding="utf-8"?>
<ds:datastoreItem xmlns:ds="http://schemas.openxmlformats.org/officeDocument/2006/customXml" ds:itemID="{59E6B777-D760-4968-8A10-D5F7C5E1FC8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881cbc62-9c94-4650-91c8-fbcdad032e9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TM04033919[[fn=Circuit]]</Template>
  <TotalTime>68497</TotalTime>
  <Words>12115</Words>
  <Application>Microsoft Office PowerPoint</Application>
  <PresentationFormat>On-screen Show (4:3)</PresentationFormat>
  <Paragraphs>1265</Paragraphs>
  <Slides>105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105</vt:i4>
      </vt:variant>
    </vt:vector>
  </HeadingPairs>
  <TitlesOfParts>
    <vt:vector size="114" baseType="lpstr">
      <vt:lpstr>Aptos</vt:lpstr>
      <vt:lpstr>Arial</vt:lpstr>
      <vt:lpstr>Arial MT</vt:lpstr>
      <vt:lpstr>Calibri</vt:lpstr>
      <vt:lpstr>Courier New</vt:lpstr>
      <vt:lpstr>Times New Roman</vt:lpstr>
      <vt:lpstr>Tw Cen MT</vt:lpstr>
      <vt:lpstr>Wingdings</vt:lpstr>
      <vt:lpstr>Circuit</vt:lpstr>
      <vt:lpstr>Detecting Abusive Comments in INdian Languages</vt:lpstr>
      <vt:lpstr>Abstract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Kevin Collert</dc:creator>
  <cp:lastModifiedBy>Ram Arun Balthu</cp:lastModifiedBy>
  <cp:revision>265</cp:revision>
  <dcterms:created xsi:type="dcterms:W3CDTF">2016-02-10T20:28:14Z</dcterms:created>
  <dcterms:modified xsi:type="dcterms:W3CDTF">2026-02-21T18:46:50Z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0x0101008F6E503ACCA46442BFF61DFBA1C6F8EC</vt:lpwstr>
  </property>
  <property fmtid="{D5CDD505-2E9C-101B-9397-08002B2CF9AE}" pid="3" name="_dlc_DocIdItemGuid">
    <vt:lpwstr>2074c342-3636-4e30-9fc2-0fc77fdc0a6f</vt:lpwstr>
  </property>
  <property fmtid="{D5CDD505-2E9C-101B-9397-08002B2CF9AE}" pid="4" name="xd_Signature">
    <vt:bool>false</vt:bool>
  </property>
  <property fmtid="{D5CDD505-2E9C-101B-9397-08002B2CF9AE}" pid="5" name="xd_ProgID">
    <vt:lpwstr/>
  </property>
  <property fmtid="{D5CDD505-2E9C-101B-9397-08002B2CF9AE}" pid="6" name="_SourceUrl">
    <vt:lpwstr/>
  </property>
  <property fmtid="{D5CDD505-2E9C-101B-9397-08002B2CF9AE}" pid="7" name="_SharedFileIndex">
    <vt:lpwstr/>
  </property>
  <property fmtid="{D5CDD505-2E9C-101B-9397-08002B2CF9AE}" pid="8" name="TemplateUrl">
    <vt:lpwstr/>
  </property>
</Properties>
</file>